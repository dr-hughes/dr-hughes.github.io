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er" id="{bca070cb-7f6c-f883-cc79-28589b3ec552}">
          <p14:sldIdLst>
            <p14:sldId id="256"/>
          </p14:sldIdLst>
        </p14:section>
        <p14:section name="Default-1" id="{edf5a477-fce4-1ad4-bce2-2bd3bc5ecbc7}">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1B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EEF2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rgbClr val="001B40"/>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1000" dirty="0">
                <a:solidFill>
                  <a:srgbClr val="5D6B80"/>
                </a:solidFill>
                <a:latin typeface="Arial" pitchFamily="34" charset="0"/>
                <a:ea typeface="Arial" pitchFamily="34" charset="-122"/>
                <a:cs typeface="Arial" pitchFamily="34" charset="-120"/>
              </a:rPr>
              <a:t>Y12 Networks L3  |  Dr. Hughes</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SW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rtlCol="0"/>
          <a:lstStyle>
            <a:lvl1pPr algn="l" indent="0" marL="0">
              <a:buNone/>
              <a:defRPr lang="en-US" sz="2800" b="1" dirty="0">
                <a:solidFill>
                  <a:srgbClr val="001B40"/>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1000" dirty="0">
                <a:solidFill>
                  <a:srgbClr val="5D6B80"/>
                </a:solidFill>
                <a:latin typeface="Arial" pitchFamily="34" charset="0"/>
                <a:ea typeface="Arial" pitchFamily="34" charset="-122"/>
                <a:cs typeface="Arial" pitchFamily="34" charset="-120"/>
              </a:rPr>
              <a:t>Y12 Networks L3  |  Dr. Hughes</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5-A-DAY on SmartRevise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STARTER</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Log in and complete today's 5-A-DAY.</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5 minutes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Y12 Networks L3: Build the network: hardware, client-server and peer-to-peer</a:t>
            </a:r>
            <a:endParaRPr lang="en-US" sz="3400" dirty="0"/>
          </a:p>
        </p:txBody>
      </p:sp>
      <p:sp>
        <p:nvSpPr>
          <p:cNvPr id="3" name="Text 1"/>
          <p:cNvSpPr txBox="1"/>
          <p:nvPr/>
        </p:nvSpPr>
        <p:spPr>
          <a:xfrm>
            <a:off x="548640" y="3017520"/>
            <a:ext cx="7315200" cy="457200"/>
          </a:xfrm>
          <a:prstGeom prst="rect">
            <a:avLst/>
          </a:prstGeom>
          <a:noFill/>
          <a:ln/>
        </p:spPr>
        <p:txBody>
          <a:bodyPr wrap="square" lIns="0" tIns="0" rIns="0" bIns="0" rtlCol="0" anchor="ctr"/>
          <a:lstStyle/>
          <a:p>
            <a:pPr indent="0" marL="0">
              <a:buNone/>
            </a:pPr>
            <a:r>
              <a:rPr lang="en-US" sz="1600" dirty="0">
                <a:solidFill>
                  <a:srgbClr val="C5D1E3"/>
                </a:solidFill>
                <a:latin typeface="Arial" pitchFamily="34" charset="0"/>
                <a:ea typeface="Arial" pitchFamily="34" charset="-122"/>
                <a:cs typeface="Arial" pitchFamily="34" charset="-120"/>
              </a:rPr>
              <a:t>OCR A Level Computer Science H446, 1.3.3 Networks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Today's objective</a:t>
            </a:r>
            <a:endParaRPr lang="en-US" sz="3000" dirty="0"/>
          </a:p>
        </p:txBody>
      </p:sp>
      <p:sp>
        <p:nvSpPr>
          <p:cNvPr id="3" name="Card"/>
          <p:cNvSpPr/>
          <p:nvPr/>
        </p:nvSpPr>
        <p:spPr>
          <a:xfrm>
            <a:off x="457200" y="1188720"/>
            <a:ext cx="8229600" cy="822960"/>
          </a:xfrm>
          <a:prstGeom prst="roundRect">
            <a:avLst>
              <a:gd name="adj" fmla="val 13333"/>
            </a:avLst>
          </a:prstGeom>
          <a:solidFill>
            <a:srgbClr val="EEF2F7"/>
          </a:solidFill>
          <a:ln w="9525">
            <a:solidFill>
              <a:srgbClr val="C5D1E3"/>
            </a:solidFill>
            <a:prstDash val="solid"/>
          </a:ln>
        </p:spPr>
      </p:sp>
      <p:sp>
        <p:nvSpPr>
          <p:cNvPr id="4" name="Text 2"/>
          <p:cNvSpPr txBox="1"/>
          <p:nvPr/>
        </p:nvSpPr>
        <p:spPr>
          <a:xfrm>
            <a:off x="731520" y="118872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To describe the purpose of common network hardware</a:t>
            </a:r>
            <a:endParaRPr lang="en-US" sz="1800" dirty="0"/>
          </a:p>
        </p:txBody>
      </p:sp>
      <p:sp>
        <p:nvSpPr>
          <p:cNvPr id="5" name="Card"/>
          <p:cNvSpPr/>
          <p:nvPr/>
        </p:nvSpPr>
        <p:spPr>
          <a:xfrm>
            <a:off x="457200" y="2148840"/>
            <a:ext cx="8229600" cy="822960"/>
          </a:xfrm>
          <a:prstGeom prst="roundRect">
            <a:avLst>
              <a:gd name="adj" fmla="val 13333"/>
            </a:avLst>
          </a:prstGeom>
          <a:solidFill>
            <a:srgbClr val="EEF2F7"/>
          </a:solidFill>
          <a:ln w="9525">
            <a:solidFill>
              <a:srgbClr val="C5D1E3"/>
            </a:solidFill>
            <a:prstDash val="solid"/>
          </a:ln>
        </p:spPr>
      </p:sp>
      <p:sp>
        <p:nvSpPr>
          <p:cNvPr id="6" name="Text 4"/>
          <p:cNvSpPr txBox="1"/>
          <p:nvPr/>
        </p:nvSpPr>
        <p:spPr>
          <a:xfrm>
            <a:off x="731520" y="214884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To compare client-server with peer-to-peer networks</a:t>
            </a:r>
            <a:endParaRPr lang="en-US" sz="1800" dirty="0"/>
          </a:p>
        </p:txBody>
      </p:sp>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1: Retrieval</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Answer three questions on L2 with no notes.</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5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2: Identify the hardware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Identify each piece of hardware from its photo and explain what it does, then answer the exam question on switches.</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10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Hardware you need to know</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5852160"/>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Device</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Purpose</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Modem</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Converts digital to analogue and back for a phone or cable line</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Router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Connects networks together, forwards data between them</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Switch</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Active, works at the data link layer: sends data only to the device it is addressed to, using MAC addresses</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Hub</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Passive, works at the physical layer: broadcasts to every connected device, so it floods the network</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WAP</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Creates a wireless LAN, connects to a wired router or switch</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NIC</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Connects a device to a network, holds the MAC address (physical and data link layer)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bl>
          </a:graphicData>
        </a:graphic>
      </p:graphicFrame>
      <p:sp>
        <p:nvSpPr>
          <p:cNvPr id="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Cables</a:t>
            </a:r>
            <a:endParaRPr lang="en-US" sz="3000" dirty="0"/>
          </a:p>
        </p:txBody>
      </p:sp>
      <p:sp>
        <p:nvSpPr>
          <p:cNvPr id="3" name="@1 Card"/>
          <p:cNvSpPr/>
          <p:nvPr/>
        </p:nvSpPr>
        <p:spPr>
          <a:xfrm>
            <a:off x="457200" y="1188720"/>
            <a:ext cx="2621280" cy="2743200"/>
          </a:xfrm>
          <a:prstGeom prst="roundRect">
            <a:avLst>
              <a:gd name="adj" fmla="val 4186"/>
            </a:avLst>
          </a:prstGeom>
          <a:solidFill>
            <a:srgbClr val="EEF2F7"/>
          </a:solidFill>
          <a:ln w="9525">
            <a:solidFill>
              <a:srgbClr val="C5D1E3"/>
            </a:solidFill>
            <a:prstDash val="solid"/>
          </a:ln>
        </p:spPr>
      </p:sp>
      <p:sp>
        <p:nvSpPr>
          <p:cNvPr id="4" name="@1 addText"/>
          <p:cNvSpPr txBox="1"/>
          <p:nvPr/>
        </p:nvSpPr>
        <p:spPr>
          <a:xfrm>
            <a:off x="594360" y="1280160"/>
            <a:ext cx="2346960"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Twisted pair</a:t>
            </a:r>
            <a:endParaRPr lang="en-US" sz="2000" dirty="0"/>
          </a:p>
        </p:txBody>
      </p:sp>
      <p:sp>
        <p:nvSpPr>
          <p:cNvPr id="5" name="@1 addText"/>
          <p:cNvSpPr txBox="1"/>
          <p:nvPr/>
        </p:nvSpPr>
        <p:spPr>
          <a:xfrm>
            <a:off x="594360" y="1783080"/>
            <a:ext cx="2346960" cy="2011680"/>
          </a:xfrm>
          <a:prstGeom prst="rect">
            <a:avLst/>
          </a:prstGeom>
          <a:noFill/>
          <a:ln/>
        </p:spPr>
        <p:txBody>
          <a:bodyPr wrap="square" lIns="0" tIns="0" rIns="0" bIns="0" rtlCol="0" anchor="t"/>
          <a:lstStyle/>
          <a:p>
            <a:pPr indent="0" marL="0">
              <a:buNone/>
            </a:pPr>
            <a:r>
              <a:rPr lang="en-US" sz="1600" dirty="0">
                <a:solidFill>
                  <a:srgbClr val="22262E"/>
                </a:solidFill>
                <a:latin typeface="Arial" pitchFamily="34" charset="0"/>
                <a:ea typeface="Arial" pitchFamily="34" charset="-122"/>
                <a:cs typeface="Arial" pitchFamily="34" charset="-120"/>
              </a:rPr>
              <a:t>Cheapest, lowest bandwidth, affected by noise</a:t>
            </a:r>
            <a:endParaRPr lang="en-US" sz="1600" dirty="0"/>
          </a:p>
        </p:txBody>
      </p:sp>
      <p:sp>
        <p:nvSpPr>
          <p:cNvPr id="6" name="@2 Card"/>
          <p:cNvSpPr/>
          <p:nvPr/>
        </p:nvSpPr>
        <p:spPr>
          <a:xfrm>
            <a:off x="3261360" y="1188720"/>
            <a:ext cx="2621280" cy="2743200"/>
          </a:xfrm>
          <a:prstGeom prst="roundRect">
            <a:avLst>
              <a:gd name="adj" fmla="val 4186"/>
            </a:avLst>
          </a:prstGeom>
          <a:solidFill>
            <a:srgbClr val="EEF2F7"/>
          </a:solidFill>
          <a:ln w="9525">
            <a:solidFill>
              <a:srgbClr val="C5D1E3"/>
            </a:solidFill>
            <a:prstDash val="solid"/>
          </a:ln>
        </p:spPr>
      </p:sp>
      <p:sp>
        <p:nvSpPr>
          <p:cNvPr id="7" name="@2 addText"/>
          <p:cNvSpPr txBox="1"/>
          <p:nvPr/>
        </p:nvSpPr>
        <p:spPr>
          <a:xfrm>
            <a:off x="3398520" y="1280160"/>
            <a:ext cx="2346960"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Coaxial</a:t>
            </a:r>
            <a:endParaRPr lang="en-US" sz="2000" dirty="0"/>
          </a:p>
        </p:txBody>
      </p:sp>
      <p:sp>
        <p:nvSpPr>
          <p:cNvPr id="8" name="@2 addText"/>
          <p:cNvSpPr txBox="1"/>
          <p:nvPr/>
        </p:nvSpPr>
        <p:spPr>
          <a:xfrm>
            <a:off x="3398520" y="1783080"/>
            <a:ext cx="2346960" cy="2011680"/>
          </a:xfrm>
          <a:prstGeom prst="rect">
            <a:avLst/>
          </a:prstGeom>
          <a:noFill/>
          <a:ln/>
        </p:spPr>
        <p:txBody>
          <a:bodyPr wrap="square" lIns="0" tIns="0" rIns="0" bIns="0" rtlCol="0" anchor="t"/>
          <a:lstStyle/>
          <a:p>
            <a:pPr indent="0" marL="0">
              <a:buNone/>
            </a:pPr>
            <a:r>
              <a:rPr lang="en-US" sz="1600" dirty="0">
                <a:solidFill>
                  <a:srgbClr val="22262E"/>
                </a:solidFill>
                <a:latin typeface="Arial" pitchFamily="34" charset="0"/>
                <a:ea typeface="Arial" pitchFamily="34" charset="-122"/>
                <a:cs typeface="Arial" pitchFamily="34" charset="-120"/>
              </a:rPr>
              <a:t>Moderate bandwidth and cost, less affected by noise</a:t>
            </a:r>
            <a:endParaRPr lang="en-US" sz="1600" dirty="0"/>
          </a:p>
        </p:txBody>
      </p:sp>
      <p:sp>
        <p:nvSpPr>
          <p:cNvPr id="9" name="@3 Card"/>
          <p:cNvSpPr/>
          <p:nvPr/>
        </p:nvSpPr>
        <p:spPr>
          <a:xfrm>
            <a:off x="6065520" y="1188720"/>
            <a:ext cx="2621280" cy="2743200"/>
          </a:xfrm>
          <a:prstGeom prst="roundRect">
            <a:avLst>
              <a:gd name="adj" fmla="val 4186"/>
            </a:avLst>
          </a:prstGeom>
          <a:solidFill>
            <a:srgbClr val="EEF2F7"/>
          </a:solidFill>
          <a:ln w="9525">
            <a:solidFill>
              <a:srgbClr val="C5D1E3"/>
            </a:solidFill>
            <a:prstDash val="solid"/>
          </a:ln>
        </p:spPr>
      </p:sp>
      <p:sp>
        <p:nvSpPr>
          <p:cNvPr id="10" name="@3 addText"/>
          <p:cNvSpPr txBox="1"/>
          <p:nvPr/>
        </p:nvSpPr>
        <p:spPr>
          <a:xfrm>
            <a:off x="6202680" y="1280160"/>
            <a:ext cx="2346960"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Fibre optic</a:t>
            </a:r>
            <a:endParaRPr lang="en-US" sz="2000" dirty="0"/>
          </a:p>
        </p:txBody>
      </p:sp>
      <p:sp>
        <p:nvSpPr>
          <p:cNvPr id="11" name="@3 addText"/>
          <p:cNvSpPr txBox="1"/>
          <p:nvPr/>
        </p:nvSpPr>
        <p:spPr>
          <a:xfrm>
            <a:off x="6202680" y="1783080"/>
            <a:ext cx="2346960" cy="2011680"/>
          </a:xfrm>
          <a:prstGeom prst="rect">
            <a:avLst/>
          </a:prstGeom>
          <a:noFill/>
          <a:ln/>
        </p:spPr>
        <p:txBody>
          <a:bodyPr wrap="square" lIns="0" tIns="0" rIns="0" bIns="0" rtlCol="0" anchor="t"/>
          <a:lstStyle/>
          <a:p>
            <a:pPr indent="0" marL="0">
              <a:buNone/>
            </a:pPr>
            <a:r>
              <a:rPr lang="en-US" sz="1600" dirty="0">
                <a:solidFill>
                  <a:srgbClr val="22262E"/>
                </a:solidFill>
                <a:latin typeface="Arial" pitchFamily="34" charset="0"/>
                <a:ea typeface="Arial" pitchFamily="34" charset="-122"/>
                <a:cs typeface="Arial" pitchFamily="34" charset="-120"/>
              </a:rPr>
              <a:t>Highest bandwidth, immune to electrical noise, most expensive</a:t>
            </a:r>
            <a:endParaRPr lang="en-US" sz="1600" dirty="0"/>
          </a:p>
        </p:txBody>
      </p:sp>
      <p:sp>
        <p:nvSpPr>
          <p:cNvPr id="1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2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2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
                                        <p:tgtEl>
                                          <p:spTgt spid="5"/>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LAN or WAN?</a:t>
            </a:r>
            <a:endParaRPr lang="en-US" sz="3000" dirty="0"/>
          </a:p>
        </p:txBody>
      </p:sp>
      <p:sp>
        <p:nvSpPr>
          <p:cNvPr id="3" name="@1 Card"/>
          <p:cNvSpPr/>
          <p:nvPr/>
        </p:nvSpPr>
        <p:spPr>
          <a:xfrm>
            <a:off x="457200" y="1188720"/>
            <a:ext cx="4023360" cy="2743200"/>
          </a:xfrm>
          <a:prstGeom prst="roundRect">
            <a:avLst>
              <a:gd name="adj" fmla="val 4000"/>
            </a:avLst>
          </a:prstGeom>
          <a:solidFill>
            <a:srgbClr val="EEF2F7"/>
          </a:solidFill>
          <a:ln w="9525">
            <a:solidFill>
              <a:srgbClr val="C5D1E3"/>
            </a:solidFill>
            <a:prstDash val="solid"/>
          </a:ln>
        </p:spPr>
      </p:sp>
      <p:sp>
        <p:nvSpPr>
          <p:cNvPr id="4" name="@1 addText"/>
          <p:cNvSpPr txBox="1"/>
          <p:nvPr/>
        </p:nvSpPr>
        <p:spPr>
          <a:xfrm>
            <a:off x="594360" y="1280160"/>
            <a:ext cx="3749040"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LAN</a:t>
            </a:r>
            <a:endParaRPr lang="en-US" sz="2000" dirty="0"/>
          </a:p>
        </p:txBody>
      </p:sp>
      <p:sp>
        <p:nvSpPr>
          <p:cNvPr id="5" name="@1 addText"/>
          <p:cNvSpPr txBox="1"/>
          <p:nvPr/>
        </p:nvSpPr>
        <p:spPr>
          <a:xfrm>
            <a:off x="594360" y="1783080"/>
            <a:ext cx="3749040" cy="2011680"/>
          </a:xfrm>
          <a:prstGeom prst="rect">
            <a:avLst/>
          </a:prstGeom>
          <a:noFill/>
          <a:ln/>
        </p:spPr>
        <p:txBody>
          <a:bodyPr wrap="square" lIns="0" tIns="0" rIns="0" bIns="0" rtlCol="0" anchor="t"/>
          <a:lstStyle/>
          <a:p>
            <a:pPr indent="0" marL="0">
              <a:buNone/>
            </a:pPr>
            <a:r>
              <a:rPr lang="en-US" sz="1800" dirty="0">
                <a:solidFill>
                  <a:srgbClr val="22262E"/>
                </a:solidFill>
                <a:latin typeface="Arial" pitchFamily="34" charset="0"/>
                <a:ea typeface="Arial" pitchFamily="34" charset="-122"/>
                <a:cs typeface="Arial" pitchFamily="34" charset="-120"/>
              </a:rPr>
              <a:t>Small area, one site, owned by the organisation, connected by UTP, fibre or Wi-Fi</a:t>
            </a:r>
            <a:endParaRPr lang="en-US" sz="1800" dirty="0"/>
          </a:p>
        </p:txBody>
      </p:sp>
      <p:sp>
        <p:nvSpPr>
          <p:cNvPr id="6" name="@2 Card"/>
          <p:cNvSpPr/>
          <p:nvPr/>
        </p:nvSpPr>
        <p:spPr>
          <a:xfrm>
            <a:off x="4663440" y="1188720"/>
            <a:ext cx="4023360" cy="2743200"/>
          </a:xfrm>
          <a:prstGeom prst="roundRect">
            <a:avLst>
              <a:gd name="adj" fmla="val 4000"/>
            </a:avLst>
          </a:prstGeom>
          <a:solidFill>
            <a:srgbClr val="EEF2F7"/>
          </a:solidFill>
          <a:ln w="9525">
            <a:solidFill>
              <a:srgbClr val="C5D1E3"/>
            </a:solidFill>
            <a:prstDash val="solid"/>
          </a:ln>
        </p:spPr>
      </p:sp>
      <p:sp>
        <p:nvSpPr>
          <p:cNvPr id="7" name="@2 addText"/>
          <p:cNvSpPr txBox="1"/>
          <p:nvPr/>
        </p:nvSpPr>
        <p:spPr>
          <a:xfrm>
            <a:off x="4800600" y="1280160"/>
            <a:ext cx="3749040"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WAN</a:t>
            </a:r>
            <a:endParaRPr lang="en-US" sz="2000" dirty="0"/>
          </a:p>
        </p:txBody>
      </p:sp>
      <p:sp>
        <p:nvSpPr>
          <p:cNvPr id="8" name="@2 addText"/>
          <p:cNvSpPr txBox="1"/>
          <p:nvPr/>
        </p:nvSpPr>
        <p:spPr>
          <a:xfrm>
            <a:off x="4800600" y="1783080"/>
            <a:ext cx="3749040" cy="2011680"/>
          </a:xfrm>
          <a:prstGeom prst="rect">
            <a:avLst/>
          </a:prstGeom>
          <a:noFill/>
          <a:ln/>
        </p:spPr>
        <p:txBody>
          <a:bodyPr wrap="square" lIns="0" tIns="0" rIns="0" bIns="0" rtlCol="0" anchor="t"/>
          <a:lstStyle/>
          <a:p>
            <a:pPr indent="0" marL="0">
              <a:buNone/>
            </a:pPr>
            <a:r>
              <a:rPr lang="en-US" sz="1800" dirty="0">
                <a:solidFill>
                  <a:srgbClr val="22262E"/>
                </a:solidFill>
                <a:latin typeface="Arial" pitchFamily="34" charset="0"/>
                <a:ea typeface="Arial" pitchFamily="34" charset="-122"/>
                <a:cs typeface="Arial" pitchFamily="34" charset="-120"/>
              </a:rPr>
              <a:t>Large area, links LANs together, infrastructure leased from telecoms companies</a:t>
            </a:r>
            <a:endParaRPr lang="en-US" sz="1800" dirty="0"/>
          </a:p>
        </p:txBody>
      </p:sp>
      <p:sp>
        <p:nvSpPr>
          <p:cNvPr id="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2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2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
                                        <p:tgtEl>
                                          <p:spTgt spid="5"/>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3: Build a LAN</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Build a peer-to-peer LAN, then convert it to client-server.</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25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Client-server or peer-to-peer?</a:t>
            </a:r>
            <a:endParaRPr lang="en-US" sz="3000" dirty="0"/>
          </a:p>
        </p:txBody>
      </p:sp>
      <p:sp>
        <p:nvSpPr>
          <p:cNvPr id="3" name="@1 Card"/>
          <p:cNvSpPr/>
          <p:nvPr/>
        </p:nvSpPr>
        <p:spPr>
          <a:xfrm>
            <a:off x="457200" y="1188720"/>
            <a:ext cx="4023360" cy="2743200"/>
          </a:xfrm>
          <a:prstGeom prst="roundRect">
            <a:avLst>
              <a:gd name="adj" fmla="val 4000"/>
            </a:avLst>
          </a:prstGeom>
          <a:solidFill>
            <a:srgbClr val="EEF2F7"/>
          </a:solidFill>
          <a:ln w="9525">
            <a:solidFill>
              <a:srgbClr val="C5D1E3"/>
            </a:solidFill>
            <a:prstDash val="solid"/>
          </a:ln>
        </p:spPr>
      </p:sp>
      <p:sp>
        <p:nvSpPr>
          <p:cNvPr id="4" name="@1 addText"/>
          <p:cNvSpPr txBox="1"/>
          <p:nvPr/>
        </p:nvSpPr>
        <p:spPr>
          <a:xfrm>
            <a:off x="594360" y="1280160"/>
            <a:ext cx="3749040"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Client-server</a:t>
            </a:r>
            <a:endParaRPr lang="en-US" sz="2000" dirty="0"/>
          </a:p>
        </p:txBody>
      </p:sp>
      <p:sp>
        <p:nvSpPr>
          <p:cNvPr id="5" name="@1 addText"/>
          <p:cNvSpPr txBox="1"/>
          <p:nvPr/>
        </p:nvSpPr>
        <p:spPr>
          <a:xfrm>
            <a:off x="594360" y="1783080"/>
            <a:ext cx="3749040" cy="2011680"/>
          </a:xfrm>
          <a:prstGeom prst="rect">
            <a:avLst/>
          </a:prstGeom>
          <a:noFill/>
          <a:ln/>
        </p:spPr>
        <p:txBody>
          <a:bodyPr wrap="square" lIns="0" tIns="0" rIns="0" bIns="0" rtlCol="0" anchor="t"/>
          <a:lstStyle/>
          <a:p>
            <a:pPr indent="0" marL="0">
              <a:buNone/>
            </a:pPr>
            <a:r>
              <a:rPr lang="en-US" sz="1800" dirty="0">
                <a:solidFill>
                  <a:srgbClr val="22262E"/>
                </a:solidFill>
                <a:latin typeface="Arial" pitchFamily="34" charset="0"/>
                <a:ea typeface="Arial" pitchFamily="34" charset="-122"/>
                <a:cs typeface="Arial" pitchFamily="34" charset="-120"/>
              </a:rPr>
              <a:t>Server controls access and security, backups and the shared file store. Easier to manage but costly, needs specialists and the server is a single point of failure.</a:t>
            </a:r>
            <a:endParaRPr lang="en-US" sz="1800" dirty="0"/>
          </a:p>
        </p:txBody>
      </p:sp>
      <p:sp>
        <p:nvSpPr>
          <p:cNvPr id="6" name="@2 Card"/>
          <p:cNvSpPr/>
          <p:nvPr/>
        </p:nvSpPr>
        <p:spPr>
          <a:xfrm>
            <a:off x="4663440" y="1188720"/>
            <a:ext cx="4023360" cy="2743200"/>
          </a:xfrm>
          <a:prstGeom prst="roundRect">
            <a:avLst>
              <a:gd name="adj" fmla="val 4000"/>
            </a:avLst>
          </a:prstGeom>
          <a:solidFill>
            <a:srgbClr val="EEF2F7"/>
          </a:solidFill>
          <a:ln w="9525">
            <a:solidFill>
              <a:srgbClr val="C5D1E3"/>
            </a:solidFill>
            <a:prstDash val="solid"/>
          </a:ln>
        </p:spPr>
      </p:sp>
      <p:sp>
        <p:nvSpPr>
          <p:cNvPr id="7" name="@2 addText"/>
          <p:cNvSpPr txBox="1"/>
          <p:nvPr/>
        </p:nvSpPr>
        <p:spPr>
          <a:xfrm>
            <a:off x="4800600" y="1280160"/>
            <a:ext cx="3749040"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Peer-to-peer</a:t>
            </a:r>
            <a:endParaRPr lang="en-US" sz="2000" dirty="0"/>
          </a:p>
        </p:txBody>
      </p:sp>
      <p:sp>
        <p:nvSpPr>
          <p:cNvPr id="8" name="@2 addText"/>
          <p:cNvSpPr txBox="1"/>
          <p:nvPr/>
        </p:nvSpPr>
        <p:spPr>
          <a:xfrm>
            <a:off x="4800600" y="1783080"/>
            <a:ext cx="3749040" cy="2011680"/>
          </a:xfrm>
          <a:prstGeom prst="rect">
            <a:avLst/>
          </a:prstGeom>
          <a:noFill/>
          <a:ln/>
        </p:spPr>
        <p:txBody>
          <a:bodyPr wrap="square" lIns="0" tIns="0" rIns="0" bIns="0" rtlCol="0" anchor="t"/>
          <a:lstStyle/>
          <a:p>
            <a:pPr indent="0" marL="0">
              <a:buNone/>
            </a:pPr>
            <a:r>
              <a:rPr lang="en-US" sz="1800" dirty="0">
                <a:solidFill>
                  <a:srgbClr val="22262E"/>
                </a:solidFill>
                <a:latin typeface="Arial" pitchFamily="34" charset="0"/>
                <a:ea typeface="Arial" pitchFamily="34" charset="-122"/>
                <a:cs typeface="Arial" pitchFamily="34" charset="-120"/>
              </a:rPr>
              <a:t>Every peer is equal and serves its own files. Cheap and easy but each peer looks after its own security and backups.</a:t>
            </a:r>
            <a:endParaRPr lang="en-US" sz="1800" dirty="0"/>
          </a:p>
        </p:txBody>
      </p:sp>
      <p:sp>
        <p:nvSpPr>
          <p:cNvPr id="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2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2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
                                        <p:tgtEl>
                                          <p:spTgt spid="5"/>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4: Design and justify</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Answer the real exam questions on client-server and peer-to-peer.</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15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5: Draw the network</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Use OneNote's drawing tools to draw the network you built.</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5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Plenary</a:t>
            </a:r>
            <a:endParaRPr lang="en-US" sz="3000" dirty="0"/>
          </a:p>
        </p:txBody>
      </p:sp>
      <p:sp>
        <p:nvSpPr>
          <p:cNvPr id="3" name="Card"/>
          <p:cNvSpPr/>
          <p:nvPr/>
        </p:nvSpPr>
        <p:spPr>
          <a:xfrm>
            <a:off x="457200" y="1188720"/>
            <a:ext cx="8229600" cy="742950"/>
          </a:xfrm>
          <a:prstGeom prst="roundRect">
            <a:avLst>
              <a:gd name="adj" fmla="val 14769"/>
            </a:avLst>
          </a:prstGeom>
          <a:solidFill>
            <a:srgbClr val="EEF2F7"/>
          </a:solidFill>
          <a:ln w="9525">
            <a:solidFill>
              <a:srgbClr val="C5D1E3"/>
            </a:solidFill>
            <a:prstDash val="solid"/>
          </a:ln>
        </p:spPr>
      </p:sp>
      <p:sp>
        <p:nvSpPr>
          <p:cNvPr id="4" name="Text 2"/>
          <p:cNvSpPr txBox="1"/>
          <p:nvPr/>
        </p:nvSpPr>
        <p:spPr>
          <a:xfrm>
            <a:off x="731520" y="1188720"/>
            <a:ext cx="7680960" cy="74295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Hub or switch: which and why?</a:t>
            </a:r>
            <a:endParaRPr lang="en-US" sz="1800" dirty="0"/>
          </a:p>
        </p:txBody>
      </p:sp>
      <p:sp>
        <p:nvSpPr>
          <p:cNvPr id="5" name="Card"/>
          <p:cNvSpPr/>
          <p:nvPr/>
        </p:nvSpPr>
        <p:spPr>
          <a:xfrm>
            <a:off x="457200" y="2068830"/>
            <a:ext cx="8229600" cy="742950"/>
          </a:xfrm>
          <a:prstGeom prst="roundRect">
            <a:avLst>
              <a:gd name="adj" fmla="val 14769"/>
            </a:avLst>
          </a:prstGeom>
          <a:solidFill>
            <a:srgbClr val="EEF2F7"/>
          </a:solidFill>
          <a:ln w="9525">
            <a:solidFill>
              <a:srgbClr val="C5D1E3"/>
            </a:solidFill>
            <a:prstDash val="solid"/>
          </a:ln>
        </p:spPr>
      </p:sp>
      <p:sp>
        <p:nvSpPr>
          <p:cNvPr id="6" name="Text 4"/>
          <p:cNvSpPr txBox="1"/>
          <p:nvPr/>
        </p:nvSpPr>
        <p:spPr>
          <a:xfrm>
            <a:off x="731520" y="2068830"/>
            <a:ext cx="7680960" cy="74295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Client-server or P2P: which for a school?</a:t>
            </a:r>
            <a:endParaRPr lang="en-US" sz="1800" dirty="0"/>
          </a:p>
        </p:txBody>
      </p:sp>
      <p:sp>
        <p:nvSpPr>
          <p:cNvPr id="7" name="Card"/>
          <p:cNvSpPr/>
          <p:nvPr/>
        </p:nvSpPr>
        <p:spPr>
          <a:xfrm>
            <a:off x="457200" y="2948940"/>
            <a:ext cx="8229600" cy="742950"/>
          </a:xfrm>
          <a:prstGeom prst="roundRect">
            <a:avLst>
              <a:gd name="adj" fmla="val 14769"/>
            </a:avLst>
          </a:prstGeom>
          <a:solidFill>
            <a:srgbClr val="EEF2F7"/>
          </a:solidFill>
          <a:ln w="9525">
            <a:solidFill>
              <a:srgbClr val="C5D1E3"/>
            </a:solidFill>
            <a:prstDash val="solid"/>
          </a:ln>
        </p:spPr>
      </p:sp>
      <p:sp>
        <p:nvSpPr>
          <p:cNvPr id="8" name="Text 6"/>
          <p:cNvSpPr txBox="1"/>
          <p:nvPr/>
        </p:nvSpPr>
        <p:spPr>
          <a:xfrm>
            <a:off x="731520" y="2948940"/>
            <a:ext cx="7680960" cy="74295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Craig'n'Dave practice: one advantage and one disadvantage of client-server over P2P</a:t>
            </a:r>
            <a:endParaRPr lang="en-US" sz="1800" dirty="0"/>
          </a:p>
        </p:txBody>
      </p:sp>
      <p:sp>
        <p:nvSpPr>
          <p:cNvPr id="9" name="Card"/>
          <p:cNvSpPr/>
          <p:nvPr/>
        </p:nvSpPr>
        <p:spPr>
          <a:xfrm>
            <a:off x="457200" y="3829050"/>
            <a:ext cx="8229600" cy="742950"/>
          </a:xfrm>
          <a:prstGeom prst="roundRect">
            <a:avLst>
              <a:gd name="adj" fmla="val 14769"/>
            </a:avLst>
          </a:prstGeom>
          <a:solidFill>
            <a:srgbClr val="EEF2F7"/>
          </a:solidFill>
          <a:ln w="9525">
            <a:solidFill>
              <a:srgbClr val="C5D1E3"/>
            </a:solidFill>
            <a:prstDash val="solid"/>
          </a:ln>
        </p:spPr>
      </p:sp>
      <p:sp>
        <p:nvSpPr>
          <p:cNvPr id="10" name="Text 8"/>
          <p:cNvSpPr txBox="1"/>
          <p:nvPr/>
        </p:nvSpPr>
        <p:spPr>
          <a:xfrm>
            <a:off x="731520" y="3829050"/>
            <a:ext cx="7680960" cy="74295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Next lesson: the TCP/IP stack</a:t>
            </a:r>
            <a:endParaRPr lang="en-US" sz="1800" dirty="0"/>
          </a:p>
        </p:txBody>
      </p:sp>
      <p:sp>
        <p:nvSpPr>
          <p:cNvPr id="11"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Check together</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ANSWERS</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Task 2: the hardware (Craig'n'Dave 05-1)</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114800"/>
                <a:gridCol w="4114800"/>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Device</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From the Craig'n'Dave answer deck</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NIC</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Receives and sends electrical signals. Every device connected to a network needs one. Often integrated directly into a motherboard. Assigned a physical MAC address by the manufacturer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Router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Receives packets on a network and forwards them to the correct destination based on the IP address. Is intelligent and uses a table and algorithm to decide the best route onwards</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WAP</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Allows devices in a network to connect to the network wirelessly. Connection distance varies, around 100 meters</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Switch</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Connects devices to other devices on a network. Is intelligent and uses packet switching to send data on to specific destinations based on the hardware MAC address</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Hub</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Cheaper than switches but not as common. Simply broadcasts the signal received to all possible destinations it is connected to</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2262E"/>
                          </a:solidFill>
                          <a:latin typeface="Arial" pitchFamily="34" charset="0"/>
                          <a:ea typeface="Arial" pitchFamily="34" charset="-122"/>
                          <a:cs typeface="Arial" pitchFamily="34" charset="-120"/>
                        </a:rPr>
                        <a:t>Cables</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Copper variants are cheap to use and still very common. Fibre optic is more expensive but the data capacity is much higher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bl>
          </a:graphicData>
        </a:graphic>
      </p:graphicFrame>
      <p:sp>
        <p:nvSpPr>
          <p:cNvPr id="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H446 Nov 2020, Q1 [3]</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8229600" cy="2228850"/>
          </a:xfrm>
          <a:prstGeom prst="roundRect">
            <a:avLst>
              <a:gd name="adj" fmla="val 4923"/>
            </a:avLst>
          </a:prstGeom>
          <a:solidFill>
            <a:srgbClr val="FFFFFF"/>
          </a:solidFill>
          <a:ln w="15875">
            <a:solidFill>
              <a:srgbClr val="002D6A"/>
            </a:solidFill>
            <a:prstDash val="solid"/>
          </a:ln>
        </p:spPr>
      </p:sp>
      <p:sp>
        <p:nvSpPr>
          <p:cNvPr id="6" name="Text 4"/>
          <p:cNvSpPr txBox="1"/>
          <p:nvPr/>
        </p:nvSpPr>
        <p:spPr>
          <a:xfrm>
            <a:off x="640080" y="1188720"/>
            <a:ext cx="7863840" cy="2045970"/>
          </a:xfrm>
          <a:prstGeom prst="rect">
            <a:avLst/>
          </a:prstGeom>
          <a:noFill/>
          <a:ln/>
        </p:spPr>
        <p:txBody>
          <a:bodyPr wrap="square" lIns="0" tIns="0" rIns="0" bIns="0" rtlCol="0" anchor="t"/>
          <a:lstStyle/>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Joins computers/devices together on a LAN</a:t>
            </a:r>
            <a:endParaRPr lang="en-US" sz="1800" dirty="0"/>
          </a:p>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Receives packets/data</a:t>
            </a:r>
            <a:endParaRPr lang="en-US" sz="1800" dirty="0"/>
          </a:p>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Recipient's address is given in packet header/it uses the mac address</a:t>
            </a:r>
            <a:endParaRPr lang="en-US" sz="1800" dirty="0"/>
          </a:p>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Send packets/data</a:t>
            </a:r>
            <a:endParaRPr lang="en-US" sz="1800" dirty="0"/>
          </a:p>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Out the correct port /to the specific computer device</a:t>
            </a:r>
            <a:endParaRPr lang="en-US" sz="1800" dirty="0"/>
          </a:p>
        </p:txBody>
      </p:sp>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H046 June 2023 [9] (1/4)</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8229600" cy="2441448"/>
          </a:xfrm>
          <a:prstGeom prst="roundRect">
            <a:avLst>
              <a:gd name="adj" fmla="val 4494"/>
            </a:avLst>
          </a:prstGeom>
          <a:solidFill>
            <a:srgbClr val="FFFFFF"/>
          </a:solidFill>
          <a:ln w="15875">
            <a:solidFill>
              <a:srgbClr val="002D6A"/>
            </a:solidFill>
            <a:prstDash val="solid"/>
          </a:ln>
        </p:spPr>
      </p:sp>
      <p:sp>
        <p:nvSpPr>
          <p:cNvPr id="6" name="Text 4"/>
          <p:cNvSpPr txBox="1"/>
          <p:nvPr/>
        </p:nvSpPr>
        <p:spPr>
          <a:xfrm>
            <a:off x="640080" y="1188720"/>
            <a:ext cx="7863840" cy="2258568"/>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Levels of response: Mark Band 3 (7-9), Mark Band 2 (4-6), Mark Band 1 (1-3), 0 marks. AO1.1 (2), AO1.2 (2), AO2.1 (2), AO3.3 (3)</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AO1, P2P: Each computer can act independently; Each computer is responsible for it's own security and login; Each computer will maintain and possibly share its own connected hardware (printer/external storage/internet connection); Each computer will maintain and possibly share its own secondary storage; If a computer is powered down it's shared resources will not be available; There are no resources not shared by a peer machine; Adding a machine is simple; Very little administration is needed</a:t>
            </a:r>
            <a:endParaRPr lang="en-US" sz="1400" dirty="0"/>
          </a:p>
        </p:txBody>
      </p:sp>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H046 June 2023 [9] (2/4)</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8229600" cy="2386584"/>
          </a:xfrm>
          <a:prstGeom prst="roundRect">
            <a:avLst>
              <a:gd name="adj" fmla="val 4598"/>
            </a:avLst>
          </a:prstGeom>
          <a:solidFill>
            <a:srgbClr val="FFFFFF"/>
          </a:solidFill>
          <a:ln w="15875">
            <a:solidFill>
              <a:srgbClr val="002D6A"/>
            </a:solidFill>
            <a:prstDash val="solid"/>
          </a:ln>
        </p:spPr>
      </p:sp>
      <p:sp>
        <p:nvSpPr>
          <p:cNvPr id="6" name="Text 4"/>
          <p:cNvSpPr txBox="1"/>
          <p:nvPr/>
        </p:nvSpPr>
        <p:spPr>
          <a:xfrm>
            <a:off x="640080" y="1188720"/>
            <a:ext cx="7863840" cy="2203704"/>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AO1, Client Server: All network functionality can be provided by servers; A server is a process running on a machine, usually dedicated to providing these services; A server machine is designed to never be powered down; Login/security is handled centrally; Shared storage may be managed by a server; Shared resources (printer/internet connection etc) my be managed by a server; If a server process or machine fails, network functionality, including the ability login is lost; Adding a new machine can mean installing specialist client software and setting up OS policies; IT skills and a lot of time are needed to administer a client server network</a:t>
            </a:r>
            <a:endParaRPr lang="en-US" sz="1400" dirty="0"/>
          </a:p>
        </p:txBody>
      </p:sp>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H046 June 2023 [9] (3/4)</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8229600" cy="2441448"/>
          </a:xfrm>
          <a:prstGeom prst="roundRect">
            <a:avLst>
              <a:gd name="adj" fmla="val 4494"/>
            </a:avLst>
          </a:prstGeom>
          <a:solidFill>
            <a:srgbClr val="FFFFFF"/>
          </a:solidFill>
          <a:ln w="15875">
            <a:solidFill>
              <a:srgbClr val="002D6A"/>
            </a:solidFill>
            <a:prstDash val="solid"/>
          </a:ln>
        </p:spPr>
      </p:sp>
      <p:sp>
        <p:nvSpPr>
          <p:cNvPr id="6" name="Text 4"/>
          <p:cNvSpPr txBox="1"/>
          <p:nvPr/>
        </p:nvSpPr>
        <p:spPr>
          <a:xfrm>
            <a:off x="640080" y="1188720"/>
            <a:ext cx="7863840" cy="2258568"/>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AO2, P2P: As Zak is looking to expand his staff, P2P would offer flexibility in adding staff ad hoc; Zak's company is still small and may struggle to pay for the IT administrator skills needed for a client server</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AO2, Client Server: As Zak's firm is an accountancy firm it will have sensitive customer data; Client server would allow stronger centralised security; As Zak is taking on multiple staff, they may wish to work collaboratively, which shared storage would allow; Zak could share a single printer/other hardware with all staff and not worry about an individual computer being switched on</a:t>
            </a:r>
            <a:endParaRPr lang="en-US" sz="1400" dirty="0"/>
          </a:p>
        </p:txBody>
      </p:sp>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H046 June 2023 [9] (4/4)</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5394960" cy="3566160"/>
          </a:xfrm>
          <a:prstGeom prst="roundRect">
            <a:avLst>
              <a:gd name="adj" fmla="val 3077"/>
            </a:avLst>
          </a:prstGeom>
          <a:solidFill>
            <a:srgbClr val="FFFFFF"/>
          </a:solidFill>
          <a:ln w="15875">
            <a:solidFill>
              <a:srgbClr val="002D6A"/>
            </a:solidFill>
            <a:prstDash val="solid"/>
          </a:ln>
        </p:spPr>
      </p:sp>
      <p:sp>
        <p:nvSpPr>
          <p:cNvPr id="6" name="Text 4"/>
          <p:cNvSpPr txBox="1"/>
          <p:nvPr/>
        </p:nvSpPr>
        <p:spPr>
          <a:xfrm>
            <a:off x="640080" y="1188720"/>
            <a:ext cx="5029200" cy="3383280"/>
          </a:xfrm>
          <a:prstGeom prst="rect">
            <a:avLst/>
          </a:prstGeom>
          <a:noFill/>
          <a:ln/>
        </p:spPr>
        <p:txBody>
          <a:bodyPr wrap="square" lIns="0" tIns="0" rIns="0" bIns="0" rtlCol="0" anchor="t"/>
          <a:lstStyle/>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AO3: Candidates can conclude either method, but to score in the top MB must have a clear line of reasoning to justify their choice.</a:t>
            </a:r>
            <a:endParaRPr lang="en-US" sz="1800" dirty="0"/>
          </a:p>
        </p:txBody>
      </p:sp>
      <p:sp>
        <p:nvSpPr>
          <p:cNvPr id="7" name="Guidance card"/>
          <p:cNvSpPr/>
          <p:nvPr/>
        </p:nvSpPr>
        <p:spPr>
          <a:xfrm>
            <a:off x="6035040" y="1097280"/>
            <a:ext cx="2651760" cy="3566160"/>
          </a:xfrm>
          <a:prstGeom prst="roundRect">
            <a:avLst>
              <a:gd name="adj" fmla="val 4138"/>
            </a:avLst>
          </a:prstGeom>
          <a:solidFill>
            <a:srgbClr val="EEF2F7"/>
          </a:solidFill>
          <a:ln w="9525">
            <a:solidFill>
              <a:srgbClr val="C5D1E3"/>
            </a:solidFill>
            <a:prstDash val="solid"/>
          </a:ln>
        </p:spPr>
      </p:sp>
      <p:sp>
        <p:nvSpPr>
          <p:cNvPr id="8" name="Text 6"/>
          <p:cNvSpPr txBox="1"/>
          <p:nvPr/>
        </p:nvSpPr>
        <p:spPr>
          <a:xfrm>
            <a:off x="6172200" y="1143000"/>
            <a:ext cx="2377440" cy="365760"/>
          </a:xfrm>
          <a:prstGeom prst="rect">
            <a:avLst/>
          </a:prstGeom>
          <a:noFill/>
          <a:ln/>
        </p:spPr>
        <p:txBody>
          <a:bodyPr wrap="square" lIns="0" tIns="0" rIns="0" bIns="0" rtlCol="0" anchor="ctr"/>
          <a:lstStyle/>
          <a:p>
            <a:pPr indent="0" marL="0">
              <a:buNone/>
            </a:pPr>
            <a:r>
              <a:rPr lang="en-US" sz="1400" b="1" dirty="0">
                <a:solidFill>
                  <a:srgbClr val="002D6A"/>
                </a:solidFill>
                <a:latin typeface="Arial" pitchFamily="34" charset="0"/>
                <a:ea typeface="Arial" pitchFamily="34" charset="-122"/>
                <a:cs typeface="Arial" pitchFamily="34" charset="-120"/>
              </a:rPr>
              <a:t>Guidance</a:t>
            </a:r>
            <a:endParaRPr lang="en-US" sz="1400" dirty="0"/>
          </a:p>
        </p:txBody>
      </p:sp>
      <p:sp>
        <p:nvSpPr>
          <p:cNvPr id="9" name="Text 7"/>
          <p:cNvSpPr txBox="1"/>
          <p:nvPr/>
        </p:nvSpPr>
        <p:spPr>
          <a:xfrm>
            <a:off x="6172200" y="1554480"/>
            <a:ext cx="23774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Full level descriptors are on pages 7 and 8 of the mark scheme PDF: pmt-networks-setB-2020-2024-mark-scheme.pdf</a:t>
            </a:r>
            <a:endParaRPr lang="en-US" sz="1200" dirty="0"/>
          </a:p>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Examiner: some candidates discussed topologies, which was not relevant</a:t>
            </a:r>
            <a:endParaRPr lang="en-US" sz="12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H446 Nov 2020, Q1 [2]</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5394960" cy="3566160"/>
          </a:xfrm>
          <a:prstGeom prst="roundRect">
            <a:avLst>
              <a:gd name="adj" fmla="val 3077"/>
            </a:avLst>
          </a:prstGeom>
          <a:solidFill>
            <a:srgbClr val="FFFFFF"/>
          </a:solidFill>
          <a:ln w="15875">
            <a:solidFill>
              <a:srgbClr val="002D6A"/>
            </a:solidFill>
            <a:prstDash val="solid"/>
          </a:ln>
        </p:spPr>
      </p:sp>
      <p:sp>
        <p:nvSpPr>
          <p:cNvPr id="6" name="Text 4"/>
          <p:cNvSpPr txBox="1"/>
          <p:nvPr/>
        </p:nvSpPr>
        <p:spPr>
          <a:xfrm>
            <a:off x="640080" y="1188720"/>
            <a:ext cx="5029200" cy="3383280"/>
          </a:xfrm>
          <a:prstGeom prst="rect">
            <a:avLst/>
          </a:prstGeom>
          <a:noFill/>
          <a:ln/>
        </p:spPr>
        <p:txBody>
          <a:bodyPr wrap="square" lIns="0" tIns="0" rIns="0" bIns="0" rtlCol="0" anchor="t"/>
          <a:lstStyle/>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e.g.</a:t>
            </a:r>
            <a:endParaRPr lang="en-US" sz="1800" dirty="0"/>
          </a:p>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only one point of failure</a:t>
            </a:r>
            <a:endParaRPr lang="en-US" sz="1800" dirty="0"/>
          </a:p>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easier to manage users/access</a:t>
            </a:r>
            <a:endParaRPr lang="en-US" sz="1800" dirty="0"/>
          </a:p>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Easier to backup</a:t>
            </a:r>
            <a:endParaRPr lang="en-US" sz="1800" dirty="0"/>
          </a:p>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Easier to keep data secure.</a:t>
            </a:r>
            <a:endParaRPr lang="en-US" sz="1800" dirty="0"/>
          </a:p>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Technicians can more easily remotely install / monitor.</a:t>
            </a:r>
            <a:endParaRPr lang="en-US" sz="1800" dirty="0"/>
          </a:p>
        </p:txBody>
      </p:sp>
      <p:sp>
        <p:nvSpPr>
          <p:cNvPr id="7" name="Guidance card"/>
          <p:cNvSpPr/>
          <p:nvPr/>
        </p:nvSpPr>
        <p:spPr>
          <a:xfrm>
            <a:off x="6035040" y="1097280"/>
            <a:ext cx="2651760" cy="3566160"/>
          </a:xfrm>
          <a:prstGeom prst="roundRect">
            <a:avLst>
              <a:gd name="adj" fmla="val 4138"/>
            </a:avLst>
          </a:prstGeom>
          <a:solidFill>
            <a:srgbClr val="EEF2F7"/>
          </a:solidFill>
          <a:ln w="9525">
            <a:solidFill>
              <a:srgbClr val="C5D1E3"/>
            </a:solidFill>
            <a:prstDash val="solid"/>
          </a:ln>
        </p:spPr>
      </p:sp>
      <p:sp>
        <p:nvSpPr>
          <p:cNvPr id="8" name="Text 6"/>
          <p:cNvSpPr txBox="1"/>
          <p:nvPr/>
        </p:nvSpPr>
        <p:spPr>
          <a:xfrm>
            <a:off x="6172200" y="1143000"/>
            <a:ext cx="2377440" cy="365760"/>
          </a:xfrm>
          <a:prstGeom prst="rect">
            <a:avLst/>
          </a:prstGeom>
          <a:noFill/>
          <a:ln/>
        </p:spPr>
        <p:txBody>
          <a:bodyPr wrap="square" lIns="0" tIns="0" rIns="0" bIns="0" rtlCol="0" anchor="ctr"/>
          <a:lstStyle/>
          <a:p>
            <a:pPr indent="0" marL="0">
              <a:buNone/>
            </a:pPr>
            <a:r>
              <a:rPr lang="en-US" sz="1400" b="1" dirty="0">
                <a:solidFill>
                  <a:srgbClr val="002D6A"/>
                </a:solidFill>
                <a:latin typeface="Arial" pitchFamily="34" charset="0"/>
                <a:ea typeface="Arial" pitchFamily="34" charset="-122"/>
                <a:cs typeface="Arial" pitchFamily="34" charset="-120"/>
              </a:rPr>
              <a:t>Guidance</a:t>
            </a:r>
            <a:endParaRPr lang="en-US" sz="1400" dirty="0"/>
          </a:p>
        </p:txBody>
      </p:sp>
      <p:sp>
        <p:nvSpPr>
          <p:cNvPr id="9" name="Text 7"/>
          <p:cNvSpPr txBox="1"/>
          <p:nvPr/>
        </p:nvSpPr>
        <p:spPr>
          <a:xfrm>
            <a:off x="6172200" y="1554480"/>
            <a:ext cx="23774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Teacher note (not OCR): 'only one point of failure' is printed as an advantage in this mark scheme. Most sources treat a single server as a single point of failure, which is a drawback. Do not teach it as an advantage.</a:t>
            </a:r>
            <a:endParaRPr lang="en-US" sz="12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Discussion: games developer (Craig'n'Dave 06-1)</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600" b="1" dirty="0">
                          <a:solidFill>
                            <a:srgbClr val="FFFFFF"/>
                          </a:solidFill>
                          <a:latin typeface="Arial" pitchFamily="34" charset="0"/>
                          <a:ea typeface="Arial" pitchFamily="34" charset="-122"/>
                          <a:cs typeface="Arial" pitchFamily="34" charset="-120"/>
                        </a:rPr>
                        <a:t>Dedicated servers</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Peer-to-peer</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Listen server (third option)</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r>
              <a:tr h="0">
                <a:tc>
                  <a:txBody>
                    <a:bodyPr/>
                    <a:lstStyle/>
                    <a:p>
                      <a:pPr indent="0" marL="0">
                        <a:buNone/>
                      </a:pPr>
                      <a:r>
                        <a:rPr lang="en-US" sz="1600" b="1" dirty="0">
                          <a:solidFill>
                            <a:srgbClr val="22262E"/>
                          </a:solidFill>
                          <a:latin typeface="Arial" pitchFamily="34" charset="0"/>
                          <a:ea typeface="Arial" pitchFamily="34" charset="-122"/>
                          <a:cs typeface="Arial" pitchFamily="34" charset="-120"/>
                        </a:rPr>
                        <a:t>Server farms in professional data centres. Costly to set up and maintain. Extremely reliable. Low latency. Same latency for all players. High performance</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600" dirty="0">
                          <a:solidFill>
                            <a:srgbClr val="22262E"/>
                          </a:solidFill>
                          <a:latin typeface="Arial" pitchFamily="34" charset="0"/>
                          <a:ea typeface="Arial" pitchFamily="34" charset="-122"/>
                          <a:cs typeface="Arial" pitchFamily="34" charset="-120"/>
                        </a:rPr>
                        <a:t>All data is sent as raw streams to all other computers in the game. No specialist infrastructure required. Number of connections and players is limited. Hard to keep synchronised. Difficult to support new players joining</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600" dirty="0">
                          <a:solidFill>
                            <a:srgbClr val="22262E"/>
                          </a:solidFill>
                          <a:latin typeface="Arial" pitchFamily="34" charset="0"/>
                          <a:ea typeface="Arial" pitchFamily="34" charset="-122"/>
                          <a:cs typeface="Arial" pitchFamily="34" charset="-120"/>
                        </a:rPr>
                        <a:t>Half-way between dedicated client-server and peer-to-peer. One client acts as a temporary server. No specialist infrastructure required. Dependent on speed of host internet connection. Host advantage requires lag compensation. Host migration if host leaves</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bl>
          </a:graphicData>
        </a:graphic>
      </p:graphicFrame>
      <p:sp>
        <p:nvSpPr>
          <p:cNvPr id="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Y12 Networks L3</dc:title>
  <dc:subject>PptxGenJS Presentation</dc:subject>
  <dc:creator/>
  <cp:lastModifiedBy/>
  <cp:revision>1</cp:revision>
  <dcterms:created xsi:type="dcterms:W3CDTF">2026-10-21T13:01:41Z</dcterms:created>
  <dcterms:modified xsi:type="dcterms:W3CDTF">2026-10-21T13:01:41Z</dcterms:modified>
</cp:coreProperties>
</file>