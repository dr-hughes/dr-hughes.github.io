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" id="{5cb8e007-790d-d128-9c0e-0ae3e4ee58c4}">
          <p14:sldIdLst>
            <p14:sldId id="256"/>
          </p14:sldIdLst>
        </p14:section>
        <p14:section name="Default-1" id="{d756a2dc-3004-0676-d7c9-346c6ec402c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Y11 Flowcharts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Y11 Flowcharts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5-A-DAY: Knowledge Recall</a:t>
            </a:r>
            <a:endParaRPr lang="en-US" sz="3000" dirty="0"/>
          </a:p>
        </p:txBody>
      </p:sp>
      <p:sp>
        <p:nvSpPr>
          <p:cNvPr id="3" name="STARTER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1325880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Number 1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traditional media sectors.</a:t>
            </a:r>
            <a:endParaRPr lang="en-US" sz="1400" dirty="0"/>
          </a:p>
        </p:txBody>
      </p:sp>
      <p:sp>
        <p:nvSpPr>
          <p:cNvPr id="11" name="@1 Answer card"/>
          <p:cNvSpPr/>
          <p:nvPr/>
        </p:nvSpPr>
        <p:spPr>
          <a:xfrm>
            <a:off x="4846320" y="1325880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1 addText"/>
          <p:cNvSpPr txBox="1"/>
          <p:nvPr/>
        </p:nvSpPr>
        <p:spPr>
          <a:xfrm>
            <a:off x="4983480" y="13258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Film, television, radio and print publishing.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002536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2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025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new media sectors.</a:t>
            </a:r>
            <a:endParaRPr lang="en-US" sz="1400" dirty="0"/>
          </a:p>
        </p:txBody>
      </p:sp>
      <p:sp>
        <p:nvSpPr>
          <p:cNvPr id="17" name="@2 Answer card"/>
          <p:cNvSpPr/>
          <p:nvPr/>
        </p:nvSpPr>
        <p:spPr>
          <a:xfrm>
            <a:off x="4846320" y="2002536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8" name="@2 addText"/>
          <p:cNvSpPr txBox="1"/>
          <p:nvPr/>
        </p:nvSpPr>
        <p:spPr>
          <a:xfrm>
            <a:off x="4983480" y="200253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games, interactive media, internet and digital publishing.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679192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Number 3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679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advantage of new media over traditional media.</a:t>
            </a:r>
            <a:endParaRPr lang="en-US" sz="1400" dirty="0"/>
          </a:p>
        </p:txBody>
      </p:sp>
      <p:sp>
        <p:nvSpPr>
          <p:cNvPr id="23" name="@3 Answer card"/>
          <p:cNvSpPr/>
          <p:nvPr/>
        </p:nvSpPr>
        <p:spPr>
          <a:xfrm>
            <a:off x="4846320" y="2679192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4" name="@3 addText"/>
          <p:cNvSpPr txBox="1"/>
          <p:nvPr/>
        </p:nvSpPr>
        <p:spPr>
          <a:xfrm>
            <a:off x="4983480" y="26791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interactivity, precise audience targeting or a broader global reach.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457200" y="335584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6" name="Number 4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35584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has radio adapted to competition from streaming services?</a:t>
            </a:r>
            <a:endParaRPr lang="en-US" sz="1400" dirty="0"/>
          </a:p>
        </p:txBody>
      </p:sp>
      <p:sp>
        <p:nvSpPr>
          <p:cNvPr id="29" name="@4 Answer card"/>
          <p:cNvSpPr/>
          <p:nvPr/>
        </p:nvSpPr>
        <p:spPr>
          <a:xfrm>
            <a:off x="4846320" y="3355848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0" name="@4 addText"/>
          <p:cNvSpPr txBox="1"/>
          <p:nvPr/>
        </p:nvSpPr>
        <p:spPr>
          <a:xfrm>
            <a:off x="4983480" y="335584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became multi-platform: video content, live streams and on-demand podcasts.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457200" y="4032504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32" name="Number 5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032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two examples of interactive media.</a:t>
            </a:r>
            <a:endParaRPr lang="en-US" sz="1400" dirty="0"/>
          </a:p>
        </p:txBody>
      </p:sp>
      <p:sp>
        <p:nvSpPr>
          <p:cNvPr id="35" name="@5 Answer card"/>
          <p:cNvSpPr/>
          <p:nvPr/>
        </p:nvSpPr>
        <p:spPr>
          <a:xfrm>
            <a:off x="4846320" y="4032504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6" name="@5 addText"/>
          <p:cNvSpPr txBox="1"/>
          <p:nvPr/>
        </p:nvSpPr>
        <p:spPr>
          <a:xfrm>
            <a:off x="4983480" y="403250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apps, digital kiosks and interactive (smart) television.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23" grpId="0" animBg="1"/>
      <p:bldP spid="24" grpId="0" animBg="1"/>
      <p:bldP spid="29" grpId="0" animBg="1"/>
      <p:bldP spid="30" grpId="0" animBg="1"/>
      <p:bldP spid="35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chart shapes</a:t>
            </a:r>
            <a:endParaRPr lang="en-US" sz="2800" dirty="0"/>
          </a:p>
        </p:txBody>
      </p:sp>
      <p:sp>
        <p:nvSpPr>
          <p:cNvPr id="3" name="LEGEND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515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rminator"/>
          <p:cNvSpPr/>
          <p:nvPr/>
        </p:nvSpPr>
        <p:spPr>
          <a:xfrm>
            <a:off x="640080" y="1152144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57400" y="10515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Terminator: where the chart starts and where it ends.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16459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9" name="process"/>
          <p:cNvSpPr/>
          <p:nvPr/>
        </p:nvSpPr>
        <p:spPr>
          <a:xfrm>
            <a:off x="640080" y="1746504"/>
            <a:ext cx="10972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D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16459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one action the chart does.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2402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input output"/>
          <p:cNvSpPr/>
          <p:nvPr/>
        </p:nvSpPr>
        <p:spPr>
          <a:xfrm>
            <a:off x="640080" y="2340864"/>
            <a:ext cx="1188720" cy="36576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02D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22402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output: asks for information, or gives information out.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28346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5" name="decision"/>
          <p:cNvSpPr/>
          <p:nvPr/>
        </p:nvSpPr>
        <p:spPr>
          <a:xfrm>
            <a:off x="685800" y="2862072"/>
            <a:ext cx="1097280" cy="51206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2D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57400" y="28346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asks a question. Each answer leaves by its own arrow.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57200" y="34290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8" name="arrow"/>
          <p:cNvSpPr/>
          <p:nvPr/>
        </p:nvSpPr>
        <p:spPr>
          <a:xfrm>
            <a:off x="640080" y="3712464"/>
            <a:ext cx="10972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057400" y="34290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Arrow: joins one shape to the next and points at the step which comes next.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1" name="chip Yes"/>
          <p:cNvSpPr txBox="1"/>
          <p:nvPr/>
        </p:nvSpPr>
        <p:spPr>
          <a:xfrm>
            <a:off x="640080" y="415137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22" name="chip No"/>
          <p:cNvSpPr txBox="1"/>
          <p:nvPr/>
        </p:nvSpPr>
        <p:spPr>
          <a:xfrm>
            <a:off x="1234440" y="415137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40233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chips: stick YES or NO on an arrow which leaves a decision.</a:t>
            </a:r>
            <a:endParaRPr lang="en-US" sz="14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Pre-shoot check</a:t>
            </a:r>
            <a:endParaRPr lang="en-US" sz="2800" dirty="0"/>
          </a:p>
        </p:txBody>
      </p:sp>
      <p:sp>
        <p:nvSpPr>
          <p:cNvPr id="3" name="PROBLE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INT. DRAMA STUDIO, MORNING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 is about to film a scene for the school showreel and checks her camera first.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011680"/>
            <a:ext cx="8229600" cy="2286000"/>
          </a:xfrm>
          <a:prstGeom prst="roundRect">
            <a:avLst>
              <a:gd name="adj" fmla="val 48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the camera on and look at the battery.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battery is over twenty percent we start filming.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lower we plug in the charger. Either way that is all we do before the shoot.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shapes do we need, and in what order?</a:t>
            </a:r>
            <a:endParaRPr lang="en-US" sz="16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Pre-shoot check: solution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Start"/>
          <p:cNvSpPr txBox="1"/>
          <p:nvPr/>
        </p:nvSpPr>
        <p:spPr>
          <a:xfrm>
            <a:off x="502920" y="163677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6" name="@2 Switch on the camera"/>
          <p:cNvSpPr txBox="1"/>
          <p:nvPr/>
        </p:nvSpPr>
        <p:spPr>
          <a:xfrm>
            <a:off x="2286000" y="163677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on the camera</a:t>
            </a:r>
            <a:endParaRPr lang="en-US" sz="1400" dirty="0"/>
          </a:p>
        </p:txBody>
      </p:sp>
      <p:sp>
        <p:nvSpPr>
          <p:cNvPr id="7" name="@2 flow line"/>
          <p:cNvSpPr/>
          <p:nvPr/>
        </p:nvSpPr>
        <p:spPr>
          <a:xfrm>
            <a:off x="1691640" y="1920240"/>
            <a:ext cx="5943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8" name="@3 Enough battery?"/>
          <p:cNvSpPr txBox="1"/>
          <p:nvPr/>
        </p:nvSpPr>
        <p:spPr>
          <a:xfrm>
            <a:off x="3886200" y="1417320"/>
            <a:ext cx="155448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battery?</a:t>
            </a:r>
            <a:endParaRPr lang="en-US" sz="1400" dirty="0"/>
          </a:p>
        </p:txBody>
      </p:sp>
      <p:sp>
        <p:nvSpPr>
          <p:cNvPr id="9" name="@3 flow line"/>
          <p:cNvSpPr/>
          <p:nvPr/>
        </p:nvSpPr>
        <p:spPr>
          <a:xfrm>
            <a:off x="3474720" y="192024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0" name="@4 Start filming"/>
          <p:cNvSpPr txBox="1"/>
          <p:nvPr/>
        </p:nvSpPr>
        <p:spPr>
          <a:xfrm>
            <a:off x="5852160" y="163677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filming</a:t>
            </a:r>
            <a:endParaRPr lang="en-US" sz="1400" dirty="0"/>
          </a:p>
        </p:txBody>
      </p:sp>
      <p:sp>
        <p:nvSpPr>
          <p:cNvPr id="11" name="@4 flow line"/>
          <p:cNvSpPr/>
          <p:nvPr/>
        </p:nvSpPr>
        <p:spPr>
          <a:xfrm>
            <a:off x="5440680" y="192024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2" name="@4 chip Yes"/>
          <p:cNvSpPr txBox="1"/>
          <p:nvPr/>
        </p:nvSpPr>
        <p:spPr>
          <a:xfrm>
            <a:off x="5458968" y="1609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13" name="@5 Plug in the charger"/>
          <p:cNvSpPr txBox="1"/>
          <p:nvPr/>
        </p:nvSpPr>
        <p:spPr>
          <a:xfrm>
            <a:off x="4069080" y="309981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in the charger</a:t>
            </a:r>
            <a:endParaRPr lang="en-US" sz="1400" dirty="0"/>
          </a:p>
        </p:txBody>
      </p:sp>
      <p:sp>
        <p:nvSpPr>
          <p:cNvPr id="14" name="@5 flow line"/>
          <p:cNvSpPr/>
          <p:nvPr/>
        </p:nvSpPr>
        <p:spPr>
          <a:xfrm>
            <a:off x="4663440" y="2423160"/>
            <a:ext cx="0" cy="67665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5" name="@5 chip No"/>
          <p:cNvSpPr txBox="1"/>
          <p:nvPr/>
        </p:nvSpPr>
        <p:spPr>
          <a:xfrm>
            <a:off x="4754880" y="2624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16" name="@6 End"/>
          <p:cNvSpPr txBox="1"/>
          <p:nvPr/>
        </p:nvSpPr>
        <p:spPr>
          <a:xfrm>
            <a:off x="7635240" y="163677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400" dirty="0"/>
          </a:p>
        </p:txBody>
      </p:sp>
      <p:sp>
        <p:nvSpPr>
          <p:cNvPr id="17" name="@6 flow line"/>
          <p:cNvSpPr/>
          <p:nvPr/>
        </p:nvSpPr>
        <p:spPr>
          <a:xfrm>
            <a:off x="7040880" y="1920240"/>
            <a:ext cx="5943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8" name="@6 flow line"/>
          <p:cNvSpPr/>
          <p:nvPr/>
        </p:nvSpPr>
        <p:spPr>
          <a:xfrm>
            <a:off x="5257800" y="3383280"/>
            <a:ext cx="2971800" cy="0"/>
          </a:xfrm>
          <a:prstGeom prst="line">
            <a:avLst/>
          </a:prstGeom>
          <a:noFill/>
          <a:ln w="28575">
            <a:solidFill>
              <a:srgbClr val="002D6A"/>
            </a:solidFill>
            <a:prstDash val="solid"/>
          </a:ln>
        </p:spPr>
      </p:sp>
      <p:sp>
        <p:nvSpPr>
          <p:cNvPr id="19" name="@6 flow line"/>
          <p:cNvSpPr/>
          <p:nvPr/>
        </p:nvSpPr>
        <p:spPr>
          <a:xfrm flipV="1">
            <a:off x="8229600" y="2203704"/>
            <a:ext cx="0" cy="117957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Photo upload</a:t>
            </a:r>
            <a:endParaRPr lang="en-US" sz="2800" dirty="0"/>
          </a:p>
        </p:txBody>
      </p:sp>
      <p:sp>
        <p:nvSpPr>
          <p:cNvPr id="3" name="PROBLE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INT. IT SUITE, AFTER SCHOOL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and Lena are adding photos to the school website, and every photo needs alt text.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011680"/>
            <a:ext cx="8229600" cy="2286000"/>
          </a:xfrm>
          <a:prstGeom prst="roundRect">
            <a:avLst>
              <a:gd name="adj" fmla="val 48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photo first, then check whether it already has alt text.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LENA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has none we type the alt text in before we go any further.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alt text is there we upload the photo and we are finished.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shapes do we need, and in what order?</a:t>
            </a:r>
            <a:endParaRPr lang="en-US" sz="16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Photo upload: solution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Start"/>
          <p:cNvSpPr txBox="1"/>
          <p:nvPr/>
        </p:nvSpPr>
        <p:spPr>
          <a:xfrm>
            <a:off x="502920" y="163677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6" name="@2 Choose a photo"/>
          <p:cNvSpPr txBox="1"/>
          <p:nvPr/>
        </p:nvSpPr>
        <p:spPr>
          <a:xfrm>
            <a:off x="2194560" y="155448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photo</a:t>
            </a:r>
            <a:endParaRPr lang="en-US" sz="1400" dirty="0"/>
          </a:p>
        </p:txBody>
      </p:sp>
      <p:sp>
        <p:nvSpPr>
          <p:cNvPr id="7" name="@2 flow line"/>
          <p:cNvSpPr/>
          <p:nvPr/>
        </p:nvSpPr>
        <p:spPr>
          <a:xfrm>
            <a:off x="1691640" y="1920240"/>
            <a:ext cx="5029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8" name="@3 Alt text added?"/>
          <p:cNvSpPr txBox="1"/>
          <p:nvPr/>
        </p:nvSpPr>
        <p:spPr>
          <a:xfrm>
            <a:off x="3886200" y="1417320"/>
            <a:ext cx="155448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text added?</a:t>
            </a:r>
            <a:endParaRPr lang="en-US" sz="1400" dirty="0"/>
          </a:p>
        </p:txBody>
      </p:sp>
      <p:sp>
        <p:nvSpPr>
          <p:cNvPr id="9" name="@3 flow line"/>
          <p:cNvSpPr/>
          <p:nvPr/>
        </p:nvSpPr>
        <p:spPr>
          <a:xfrm>
            <a:off x="3566160" y="1920240"/>
            <a:ext cx="3200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0" name="@4 Upload the photo"/>
          <p:cNvSpPr txBox="1"/>
          <p:nvPr/>
        </p:nvSpPr>
        <p:spPr>
          <a:xfrm>
            <a:off x="5852160" y="163677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photo</a:t>
            </a:r>
            <a:endParaRPr lang="en-US" sz="1400" dirty="0"/>
          </a:p>
        </p:txBody>
      </p:sp>
      <p:sp>
        <p:nvSpPr>
          <p:cNvPr id="11" name="@4 flow line"/>
          <p:cNvSpPr/>
          <p:nvPr/>
        </p:nvSpPr>
        <p:spPr>
          <a:xfrm>
            <a:off x="5440680" y="192024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2" name="@4 chip Yes"/>
          <p:cNvSpPr txBox="1"/>
          <p:nvPr/>
        </p:nvSpPr>
        <p:spPr>
          <a:xfrm>
            <a:off x="5458968" y="1609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13" name="@5 Type the alt text"/>
          <p:cNvSpPr txBox="1"/>
          <p:nvPr/>
        </p:nvSpPr>
        <p:spPr>
          <a:xfrm>
            <a:off x="3977640" y="301752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alt text</a:t>
            </a:r>
            <a:endParaRPr lang="en-US" sz="1400" dirty="0"/>
          </a:p>
        </p:txBody>
      </p:sp>
      <p:sp>
        <p:nvSpPr>
          <p:cNvPr id="14" name="@5 flow line"/>
          <p:cNvSpPr/>
          <p:nvPr/>
        </p:nvSpPr>
        <p:spPr>
          <a:xfrm>
            <a:off x="4663440" y="2423160"/>
            <a:ext cx="0" cy="59436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5" name="@5 chip No"/>
          <p:cNvSpPr txBox="1"/>
          <p:nvPr/>
        </p:nvSpPr>
        <p:spPr>
          <a:xfrm>
            <a:off x="4754880" y="25831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16" name="@5 flow line"/>
          <p:cNvSpPr/>
          <p:nvPr/>
        </p:nvSpPr>
        <p:spPr>
          <a:xfrm>
            <a:off x="5349240" y="3383280"/>
            <a:ext cx="1097280" cy="0"/>
          </a:xfrm>
          <a:prstGeom prst="line">
            <a:avLst/>
          </a:prstGeom>
          <a:noFill/>
          <a:ln w="28575">
            <a:solidFill>
              <a:srgbClr val="002D6A"/>
            </a:solidFill>
            <a:prstDash val="solid"/>
          </a:ln>
        </p:spPr>
      </p:sp>
      <p:sp>
        <p:nvSpPr>
          <p:cNvPr id="17" name="@5 flow line"/>
          <p:cNvSpPr/>
          <p:nvPr/>
        </p:nvSpPr>
        <p:spPr>
          <a:xfrm flipV="1">
            <a:off x="6446520" y="2203704"/>
            <a:ext cx="0" cy="117957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8" name="@6 End"/>
          <p:cNvSpPr txBox="1"/>
          <p:nvPr/>
        </p:nvSpPr>
        <p:spPr>
          <a:xfrm>
            <a:off x="7635240" y="163677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400" dirty="0"/>
          </a:p>
        </p:txBody>
      </p:sp>
      <p:sp>
        <p:nvSpPr>
          <p:cNvPr id="19" name="@6 flow line"/>
          <p:cNvSpPr/>
          <p:nvPr/>
        </p:nvSpPr>
        <p:spPr>
          <a:xfrm>
            <a:off x="7040880" y="1920240"/>
            <a:ext cx="5943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School radio intro</a:t>
            </a:r>
            <a:endParaRPr lang="en-US" sz="2800" dirty="0"/>
          </a:p>
        </p:txBody>
      </p:sp>
      <p:sp>
        <p:nvSpPr>
          <p:cNvPr id="3" name="PROBLE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INT. RADIO ROOM, MORNING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school radio station records its own intro before a five-minute show goes out.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011680"/>
            <a:ext cx="8229600" cy="2286000"/>
          </a:xfrm>
          <a:prstGeom prst="roundRect">
            <a:avLst>
              <a:gd name="adj" fmla="val 48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words first and check they are right.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listening to Northgate Radio. That was our intro.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Good. Press record and say it again, but louder this time.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flow chart with the shapes on your tray.</a:t>
            </a:r>
            <a:endParaRPr lang="en-US" sz="16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School radio intro: solution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Start"/>
          <p:cNvSpPr txBox="1"/>
          <p:nvPr/>
        </p:nvSpPr>
        <p:spPr>
          <a:xfrm>
            <a:off x="502920" y="236829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6" name="@2 Read intro script"/>
          <p:cNvSpPr txBox="1"/>
          <p:nvPr/>
        </p:nvSpPr>
        <p:spPr>
          <a:xfrm>
            <a:off x="2194560" y="228600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intro script</a:t>
            </a:r>
            <a:endParaRPr lang="en-US" sz="1400" dirty="0"/>
          </a:p>
        </p:txBody>
      </p:sp>
      <p:sp>
        <p:nvSpPr>
          <p:cNvPr id="7" name="@2 flow line"/>
          <p:cNvSpPr/>
          <p:nvPr/>
        </p:nvSpPr>
        <p:spPr>
          <a:xfrm>
            <a:off x="1691640" y="2651760"/>
            <a:ext cx="5029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8" name="@3 Press record"/>
          <p:cNvSpPr txBox="1"/>
          <p:nvPr/>
        </p:nvSpPr>
        <p:spPr>
          <a:xfrm>
            <a:off x="4069080" y="236829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record</a:t>
            </a:r>
            <a:endParaRPr lang="en-US" sz="1400" dirty="0"/>
          </a:p>
        </p:txBody>
      </p:sp>
      <p:sp>
        <p:nvSpPr>
          <p:cNvPr id="9" name="@3 flow line"/>
          <p:cNvSpPr/>
          <p:nvPr/>
        </p:nvSpPr>
        <p:spPr>
          <a:xfrm>
            <a:off x="3566160" y="2651760"/>
            <a:ext cx="5029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0" name="@4 Speak the intro"/>
          <p:cNvSpPr txBox="1"/>
          <p:nvPr/>
        </p:nvSpPr>
        <p:spPr>
          <a:xfrm>
            <a:off x="5852160" y="236829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the intro</a:t>
            </a:r>
            <a:endParaRPr lang="en-US" sz="1400" dirty="0"/>
          </a:p>
        </p:txBody>
      </p:sp>
      <p:sp>
        <p:nvSpPr>
          <p:cNvPr id="11" name="@4 flow line"/>
          <p:cNvSpPr/>
          <p:nvPr/>
        </p:nvSpPr>
        <p:spPr>
          <a:xfrm>
            <a:off x="5257800" y="2651760"/>
            <a:ext cx="5943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2" name="@5 End"/>
          <p:cNvSpPr txBox="1"/>
          <p:nvPr/>
        </p:nvSpPr>
        <p:spPr>
          <a:xfrm>
            <a:off x="7635240" y="236829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400" dirty="0"/>
          </a:p>
        </p:txBody>
      </p:sp>
      <p:sp>
        <p:nvSpPr>
          <p:cNvPr id="13" name="@5 flow line"/>
          <p:cNvSpPr/>
          <p:nvPr/>
        </p:nvSpPr>
        <p:spPr>
          <a:xfrm>
            <a:off x="7040880" y="2651760"/>
            <a:ext cx="5943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Ticket machine</a:t>
            </a:r>
            <a:endParaRPr lang="en-US" sz="2800" dirty="0"/>
          </a:p>
        </p:txBody>
      </p:sp>
      <p:sp>
        <p:nvSpPr>
          <p:cNvPr id="3" name="PROBLE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INT. STATION TICKET MACHINE, LATE AFTERNOON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Freya and Dev stand at the platform ticket machine, each needing a single for the match.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011680"/>
            <a:ext cx="8229600" cy="2286000"/>
          </a:xfrm>
          <a:prstGeom prst="roundRect">
            <a:avLst>
              <a:gd name="adj" fmla="val 48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screen and choose the ticket you want.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money in and let the machine check whether it covers the fare.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FREYA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fare is covered it prints the ticket and you walk straight through the barrier.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it is short, and the machine asks you for more money before it stops.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flow chart with the shapes on your tray.</a:t>
            </a:r>
            <a:endParaRPr lang="en-US" sz="16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Ticket machine: solution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Start"/>
          <p:cNvSpPr txBox="1"/>
          <p:nvPr/>
        </p:nvSpPr>
        <p:spPr>
          <a:xfrm>
            <a:off x="502920" y="163677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6" name="@2 Select a ticket"/>
          <p:cNvSpPr txBox="1"/>
          <p:nvPr/>
        </p:nvSpPr>
        <p:spPr>
          <a:xfrm>
            <a:off x="2194560" y="155448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ticket</a:t>
            </a:r>
            <a:endParaRPr lang="en-US" sz="1400" dirty="0"/>
          </a:p>
        </p:txBody>
      </p:sp>
      <p:sp>
        <p:nvSpPr>
          <p:cNvPr id="7" name="@2 flow line"/>
          <p:cNvSpPr/>
          <p:nvPr/>
        </p:nvSpPr>
        <p:spPr>
          <a:xfrm>
            <a:off x="1691640" y="1920240"/>
            <a:ext cx="5029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8" name="@3 Pay the fare"/>
          <p:cNvSpPr txBox="1"/>
          <p:nvPr/>
        </p:nvSpPr>
        <p:spPr>
          <a:xfrm>
            <a:off x="4069080" y="163677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fare</a:t>
            </a:r>
            <a:endParaRPr lang="en-US" sz="1400" dirty="0"/>
          </a:p>
        </p:txBody>
      </p:sp>
      <p:sp>
        <p:nvSpPr>
          <p:cNvPr id="9" name="@3 flow line"/>
          <p:cNvSpPr/>
          <p:nvPr/>
        </p:nvSpPr>
        <p:spPr>
          <a:xfrm>
            <a:off x="3566160" y="1920240"/>
            <a:ext cx="5029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0" name="@4 Money enough?"/>
          <p:cNvSpPr txBox="1"/>
          <p:nvPr/>
        </p:nvSpPr>
        <p:spPr>
          <a:xfrm>
            <a:off x="5669280" y="1417320"/>
            <a:ext cx="155448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enough?</a:t>
            </a:r>
            <a:endParaRPr lang="en-US" sz="1400" dirty="0"/>
          </a:p>
        </p:txBody>
      </p:sp>
      <p:sp>
        <p:nvSpPr>
          <p:cNvPr id="11" name="@4 flow line"/>
          <p:cNvSpPr/>
          <p:nvPr/>
        </p:nvSpPr>
        <p:spPr>
          <a:xfrm>
            <a:off x="5257800" y="192024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2" name="@5 Print the ticket"/>
          <p:cNvSpPr txBox="1"/>
          <p:nvPr/>
        </p:nvSpPr>
        <p:spPr>
          <a:xfrm>
            <a:off x="7635240" y="163677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ticket</a:t>
            </a:r>
            <a:endParaRPr lang="en-US" sz="1400" dirty="0"/>
          </a:p>
        </p:txBody>
      </p:sp>
      <p:sp>
        <p:nvSpPr>
          <p:cNvPr id="13" name="@5 flow line"/>
          <p:cNvSpPr/>
          <p:nvPr/>
        </p:nvSpPr>
        <p:spPr>
          <a:xfrm>
            <a:off x="7223760" y="192024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4" name="@5 chip Yes"/>
          <p:cNvSpPr txBox="1"/>
          <p:nvPr/>
        </p:nvSpPr>
        <p:spPr>
          <a:xfrm>
            <a:off x="7242048" y="1609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15" name="@6 Ask for more money"/>
          <p:cNvSpPr txBox="1"/>
          <p:nvPr/>
        </p:nvSpPr>
        <p:spPr>
          <a:xfrm>
            <a:off x="5760720" y="301752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more money</a:t>
            </a:r>
            <a:endParaRPr lang="en-US" sz="1400" dirty="0"/>
          </a:p>
        </p:txBody>
      </p:sp>
      <p:sp>
        <p:nvSpPr>
          <p:cNvPr id="16" name="@6 flow line"/>
          <p:cNvSpPr/>
          <p:nvPr/>
        </p:nvSpPr>
        <p:spPr>
          <a:xfrm>
            <a:off x="6446520" y="2423160"/>
            <a:ext cx="0" cy="59436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7" name="@6 chip No"/>
          <p:cNvSpPr txBox="1"/>
          <p:nvPr/>
        </p:nvSpPr>
        <p:spPr>
          <a:xfrm>
            <a:off x="6537960" y="25831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18" name="@7 End"/>
          <p:cNvSpPr txBox="1"/>
          <p:nvPr/>
        </p:nvSpPr>
        <p:spPr>
          <a:xfrm>
            <a:off x="7635240" y="309981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400" dirty="0"/>
          </a:p>
        </p:txBody>
      </p:sp>
      <p:sp>
        <p:nvSpPr>
          <p:cNvPr id="19" name="@7 flow line"/>
          <p:cNvSpPr/>
          <p:nvPr/>
        </p:nvSpPr>
        <p:spPr>
          <a:xfrm>
            <a:off x="8229600" y="2203704"/>
            <a:ext cx="0" cy="896112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0" name="@7 flow line"/>
          <p:cNvSpPr/>
          <p:nvPr/>
        </p:nvSpPr>
        <p:spPr>
          <a:xfrm>
            <a:off x="7132320" y="3383280"/>
            <a:ext cx="5029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Museum decades</a:t>
            </a:r>
            <a:endParaRPr lang="en-US" sz="2800" dirty="0"/>
          </a:p>
        </p:txBody>
      </p:sp>
      <p:sp>
        <p:nvSpPr>
          <p:cNvPr id="3" name="PROBLE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INT. SCHOOL LIBRARY, LUNCHTIME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and Tomasz are testing a virtual museum about their town, with one room for each era.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011680"/>
            <a:ext cx="8229600" cy="2286000"/>
          </a:xfrm>
          <a:prstGeom prst="roundRect">
            <a:avLst>
              <a:gd name="adj" fmla="val 48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visitor walks in at the entrance and types the year they want to explore.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TOMASZ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year is before 1980 they go straight into the 1970s room.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later gets a second look. If it is before 2000 they see the 1990s room, and everyone else gets the modern room.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TOMASZ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visit finishes at the exit, whichever room they were in.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flow chart with the shapes on your tray.</a:t>
            </a:r>
            <a:endParaRPr lang="en-US" sz="16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Museum decades: solution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Start"/>
          <p:cNvSpPr txBox="1"/>
          <p:nvPr/>
        </p:nvSpPr>
        <p:spPr>
          <a:xfrm>
            <a:off x="502920" y="140817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6" name="@2 Choose a year"/>
          <p:cNvSpPr txBox="1"/>
          <p:nvPr/>
        </p:nvSpPr>
        <p:spPr>
          <a:xfrm>
            <a:off x="2194560" y="132588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year</a:t>
            </a:r>
            <a:endParaRPr lang="en-US" sz="1400" dirty="0"/>
          </a:p>
        </p:txBody>
      </p:sp>
      <p:sp>
        <p:nvSpPr>
          <p:cNvPr id="7" name="@2 flow line"/>
          <p:cNvSpPr/>
          <p:nvPr/>
        </p:nvSpPr>
        <p:spPr>
          <a:xfrm>
            <a:off x="1691640" y="1691640"/>
            <a:ext cx="5029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8" name="@3 Before 1980?"/>
          <p:cNvSpPr txBox="1"/>
          <p:nvPr/>
        </p:nvSpPr>
        <p:spPr>
          <a:xfrm>
            <a:off x="3886200" y="1188720"/>
            <a:ext cx="155448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1980?</a:t>
            </a:r>
            <a:endParaRPr lang="en-US" sz="1400" dirty="0"/>
          </a:p>
        </p:txBody>
      </p:sp>
      <p:sp>
        <p:nvSpPr>
          <p:cNvPr id="9" name="@3 flow line"/>
          <p:cNvSpPr/>
          <p:nvPr/>
        </p:nvSpPr>
        <p:spPr>
          <a:xfrm>
            <a:off x="3566160" y="1691640"/>
            <a:ext cx="3200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0" name="@4 Show 1970s room"/>
          <p:cNvSpPr txBox="1"/>
          <p:nvPr/>
        </p:nvSpPr>
        <p:spPr>
          <a:xfrm>
            <a:off x="5852160" y="140817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1970s room</a:t>
            </a:r>
            <a:endParaRPr lang="en-US" sz="1400" dirty="0"/>
          </a:p>
        </p:txBody>
      </p:sp>
      <p:sp>
        <p:nvSpPr>
          <p:cNvPr id="11" name="@4 flow line"/>
          <p:cNvSpPr/>
          <p:nvPr/>
        </p:nvSpPr>
        <p:spPr>
          <a:xfrm>
            <a:off x="5440680" y="169164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2" name="@4 chip Yes"/>
          <p:cNvSpPr txBox="1"/>
          <p:nvPr/>
        </p:nvSpPr>
        <p:spPr>
          <a:xfrm>
            <a:off x="5458968" y="1380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13" name="@5 Before 2000?"/>
          <p:cNvSpPr txBox="1"/>
          <p:nvPr/>
        </p:nvSpPr>
        <p:spPr>
          <a:xfrm>
            <a:off x="3886200" y="2468880"/>
            <a:ext cx="155448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2000?</a:t>
            </a:r>
            <a:endParaRPr lang="en-US" sz="1400" dirty="0"/>
          </a:p>
        </p:txBody>
      </p:sp>
      <p:sp>
        <p:nvSpPr>
          <p:cNvPr id="14" name="@5 flow line"/>
          <p:cNvSpPr/>
          <p:nvPr/>
        </p:nvSpPr>
        <p:spPr>
          <a:xfrm>
            <a:off x="4663440" y="2194560"/>
            <a:ext cx="0" cy="27432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5" name="@5 chip No"/>
          <p:cNvSpPr txBox="1"/>
          <p:nvPr/>
        </p:nvSpPr>
        <p:spPr>
          <a:xfrm>
            <a:off x="475488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16" name="@6 Show 1990s room"/>
          <p:cNvSpPr txBox="1"/>
          <p:nvPr/>
        </p:nvSpPr>
        <p:spPr>
          <a:xfrm>
            <a:off x="5852160" y="268833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1990s room</a:t>
            </a:r>
            <a:endParaRPr lang="en-US" sz="1400" dirty="0"/>
          </a:p>
        </p:txBody>
      </p:sp>
      <p:sp>
        <p:nvSpPr>
          <p:cNvPr id="17" name="@6 flow line"/>
          <p:cNvSpPr/>
          <p:nvPr/>
        </p:nvSpPr>
        <p:spPr>
          <a:xfrm>
            <a:off x="5440680" y="297180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8" name="@6 chip Yes"/>
          <p:cNvSpPr txBox="1"/>
          <p:nvPr/>
        </p:nvSpPr>
        <p:spPr>
          <a:xfrm>
            <a:off x="5458968" y="2660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19" name="@7 Show modern room"/>
          <p:cNvSpPr txBox="1"/>
          <p:nvPr/>
        </p:nvSpPr>
        <p:spPr>
          <a:xfrm>
            <a:off x="4069080" y="396849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modern room</a:t>
            </a:r>
            <a:endParaRPr lang="en-US" sz="1400" dirty="0"/>
          </a:p>
        </p:txBody>
      </p:sp>
      <p:sp>
        <p:nvSpPr>
          <p:cNvPr id="20" name="@7 flow line"/>
          <p:cNvSpPr/>
          <p:nvPr/>
        </p:nvSpPr>
        <p:spPr>
          <a:xfrm>
            <a:off x="4663440" y="3474720"/>
            <a:ext cx="0" cy="49377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1" name="@7 chip No"/>
          <p:cNvSpPr txBox="1"/>
          <p:nvPr/>
        </p:nvSpPr>
        <p:spPr>
          <a:xfrm>
            <a:off x="4754880" y="3584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22" name="@8 End"/>
          <p:cNvSpPr txBox="1"/>
          <p:nvPr/>
        </p:nvSpPr>
        <p:spPr>
          <a:xfrm>
            <a:off x="7635240" y="268833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400" dirty="0"/>
          </a:p>
        </p:txBody>
      </p:sp>
      <p:sp>
        <p:nvSpPr>
          <p:cNvPr id="23" name="@8 flow line"/>
          <p:cNvSpPr/>
          <p:nvPr/>
        </p:nvSpPr>
        <p:spPr>
          <a:xfrm>
            <a:off x="7040880" y="1691640"/>
            <a:ext cx="1188720" cy="0"/>
          </a:xfrm>
          <a:prstGeom prst="line">
            <a:avLst/>
          </a:prstGeom>
          <a:noFill/>
          <a:ln w="28575">
            <a:solidFill>
              <a:srgbClr val="002D6A"/>
            </a:solidFill>
            <a:prstDash val="solid"/>
          </a:ln>
        </p:spPr>
      </p:sp>
      <p:sp>
        <p:nvSpPr>
          <p:cNvPr id="24" name="@8 flow line"/>
          <p:cNvSpPr/>
          <p:nvPr/>
        </p:nvSpPr>
        <p:spPr>
          <a:xfrm>
            <a:off x="8229600" y="1691640"/>
            <a:ext cx="0" cy="99669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5" name="@8 flow line"/>
          <p:cNvSpPr/>
          <p:nvPr/>
        </p:nvSpPr>
        <p:spPr>
          <a:xfrm>
            <a:off x="7040880" y="2971800"/>
            <a:ext cx="5943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6" name="@8 flow line"/>
          <p:cNvSpPr/>
          <p:nvPr/>
        </p:nvSpPr>
        <p:spPr>
          <a:xfrm>
            <a:off x="5257800" y="4251960"/>
            <a:ext cx="2971800" cy="0"/>
          </a:xfrm>
          <a:prstGeom prst="line">
            <a:avLst/>
          </a:prstGeom>
          <a:noFill/>
          <a:ln w="28575">
            <a:solidFill>
              <a:srgbClr val="002D6A"/>
            </a:solidFill>
            <a:prstDash val="solid"/>
          </a:ln>
        </p:spPr>
      </p:sp>
      <p:sp>
        <p:nvSpPr>
          <p:cNvPr id="27" name="@8 flow line"/>
          <p:cNvSpPr/>
          <p:nvPr/>
        </p:nvSpPr>
        <p:spPr>
          <a:xfrm flipV="1">
            <a:off x="8229600" y="3255264"/>
            <a:ext cx="0" cy="99669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4: Video export</a:t>
            </a:r>
            <a:endParaRPr lang="en-US" sz="2800" dirty="0"/>
          </a:p>
        </p:txBody>
      </p:sp>
      <p:sp>
        <p:nvSpPr>
          <p:cNvPr id="3" name="PROBLE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INT. EDIT SUITE, AFTER SCHOOL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 and Kofi have finished a ninety second trailer and need to email it to the teacher.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011680"/>
            <a:ext cx="8229600" cy="2286000"/>
          </a:xfrm>
          <a:prstGeom prst="roundRect">
            <a:avLst>
              <a:gd name="adj" fmla="val 48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export format first, then the editor checks whether the file is small enough for email.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KOFI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big and it squeezes the video harder, then it checks the size all over again.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squeezing until the file is small enough. Then it saves the file and we are done.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flow chart with the shapes on your tray.</a:t>
            </a:r>
            <a:endParaRPr lang="en-US" sz="16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4: Video export: solution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Start"/>
          <p:cNvSpPr txBox="1"/>
          <p:nvPr/>
        </p:nvSpPr>
        <p:spPr>
          <a:xfrm>
            <a:off x="1394460" y="200253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6" name="@2 Choose export format"/>
          <p:cNvSpPr txBox="1"/>
          <p:nvPr/>
        </p:nvSpPr>
        <p:spPr>
          <a:xfrm>
            <a:off x="3086100" y="192024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export format</a:t>
            </a:r>
            <a:endParaRPr lang="en-US" sz="1400" dirty="0"/>
          </a:p>
        </p:txBody>
      </p:sp>
      <p:sp>
        <p:nvSpPr>
          <p:cNvPr id="7" name="@2 flow line"/>
          <p:cNvSpPr/>
          <p:nvPr/>
        </p:nvSpPr>
        <p:spPr>
          <a:xfrm>
            <a:off x="2583180" y="2286000"/>
            <a:ext cx="5029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8" name="@3 Under 25 MB?"/>
          <p:cNvSpPr txBox="1"/>
          <p:nvPr/>
        </p:nvSpPr>
        <p:spPr>
          <a:xfrm>
            <a:off x="4777740" y="1783080"/>
            <a:ext cx="155448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25 MB?</a:t>
            </a:r>
            <a:endParaRPr lang="en-US" sz="1400" dirty="0"/>
          </a:p>
        </p:txBody>
      </p:sp>
      <p:sp>
        <p:nvSpPr>
          <p:cNvPr id="9" name="@3 flow line"/>
          <p:cNvSpPr/>
          <p:nvPr/>
        </p:nvSpPr>
        <p:spPr>
          <a:xfrm>
            <a:off x="4457700" y="2286000"/>
            <a:ext cx="3200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0" name="@4 Compress video"/>
          <p:cNvSpPr txBox="1"/>
          <p:nvPr/>
        </p:nvSpPr>
        <p:spPr>
          <a:xfrm>
            <a:off x="6743700" y="200253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 video</a:t>
            </a:r>
            <a:endParaRPr lang="en-US" sz="1400" dirty="0"/>
          </a:p>
        </p:txBody>
      </p:sp>
      <p:sp>
        <p:nvSpPr>
          <p:cNvPr id="11" name="@4 flow line"/>
          <p:cNvSpPr/>
          <p:nvPr/>
        </p:nvSpPr>
        <p:spPr>
          <a:xfrm>
            <a:off x="6332220" y="228600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2" name="@4 chip No"/>
          <p:cNvSpPr txBox="1"/>
          <p:nvPr/>
        </p:nvSpPr>
        <p:spPr>
          <a:xfrm>
            <a:off x="6350508" y="1975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13" name="@4 flow line"/>
          <p:cNvSpPr/>
          <p:nvPr/>
        </p:nvSpPr>
        <p:spPr>
          <a:xfrm>
            <a:off x="7338060" y="1417320"/>
            <a:ext cx="0" cy="585216"/>
          </a:xfrm>
          <a:prstGeom prst="line">
            <a:avLst/>
          </a:prstGeom>
          <a:noFill/>
          <a:ln w="28575">
            <a:solidFill>
              <a:srgbClr val="002D6A"/>
            </a:solidFill>
            <a:prstDash val="solid"/>
          </a:ln>
        </p:spPr>
      </p:sp>
      <p:sp>
        <p:nvSpPr>
          <p:cNvPr id="14" name="@4 flow line"/>
          <p:cNvSpPr/>
          <p:nvPr/>
        </p:nvSpPr>
        <p:spPr>
          <a:xfrm>
            <a:off x="5554980" y="1417320"/>
            <a:ext cx="1783080" cy="0"/>
          </a:xfrm>
          <a:prstGeom prst="line">
            <a:avLst/>
          </a:prstGeom>
          <a:noFill/>
          <a:ln w="28575">
            <a:solidFill>
              <a:srgbClr val="002D6A"/>
            </a:solidFill>
            <a:prstDash val="solid"/>
          </a:ln>
        </p:spPr>
      </p:sp>
      <p:sp>
        <p:nvSpPr>
          <p:cNvPr id="15" name="@4 flow line"/>
          <p:cNvSpPr/>
          <p:nvPr/>
        </p:nvSpPr>
        <p:spPr>
          <a:xfrm>
            <a:off x="5554980" y="1417320"/>
            <a:ext cx="0" cy="36576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6" name="@5 Save the file"/>
          <p:cNvSpPr txBox="1"/>
          <p:nvPr/>
        </p:nvSpPr>
        <p:spPr>
          <a:xfrm>
            <a:off x="4960620" y="346557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file</a:t>
            </a:r>
            <a:endParaRPr lang="en-US" sz="1400" dirty="0"/>
          </a:p>
        </p:txBody>
      </p:sp>
      <p:sp>
        <p:nvSpPr>
          <p:cNvPr id="17" name="@5 flow line"/>
          <p:cNvSpPr/>
          <p:nvPr/>
        </p:nvSpPr>
        <p:spPr>
          <a:xfrm>
            <a:off x="5554980" y="2788920"/>
            <a:ext cx="0" cy="67665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8" name="@5 chip Yes"/>
          <p:cNvSpPr txBox="1"/>
          <p:nvPr/>
        </p:nvSpPr>
        <p:spPr>
          <a:xfrm>
            <a:off x="5646420" y="2990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19" name="@6 End"/>
          <p:cNvSpPr txBox="1"/>
          <p:nvPr/>
        </p:nvSpPr>
        <p:spPr>
          <a:xfrm>
            <a:off x="6743700" y="346557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400" dirty="0"/>
          </a:p>
        </p:txBody>
      </p:sp>
      <p:sp>
        <p:nvSpPr>
          <p:cNvPr id="20" name="@6 flow line"/>
          <p:cNvSpPr/>
          <p:nvPr/>
        </p:nvSpPr>
        <p:spPr>
          <a:xfrm>
            <a:off x="6149340" y="3749040"/>
            <a:ext cx="5943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5: Hide and seek</a:t>
            </a:r>
            <a:endParaRPr lang="en-US" sz="2800" dirty="0"/>
          </a:p>
        </p:txBody>
      </p:sp>
      <p:sp>
        <p:nvSpPr>
          <p:cNvPr id="3" name="PROBLE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INT. GAMES LAB, THURSDAY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Ines and Ravi are playtesting their Hide and Seek prototype, where the player hunts for a cat in one of the rooms.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011680"/>
            <a:ext cx="8229600" cy="2286000"/>
          </a:xfrm>
          <a:prstGeom prst="roundRect">
            <a:avLst>
              <a:gd name="adj" fmla="val 48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starts by giving the player three lives. Then the player picks a room.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INES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cat is in that room we show the win screen and the game finishes.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not there the player loses a life. With any lives left they pick a room again.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INES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lives left we show the game over screen and the game finishes there.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flow chart with the shapes on your tray.</a:t>
            </a:r>
            <a:endParaRPr lang="en-US" sz="16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5: Hide and seek: solution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Start"/>
          <p:cNvSpPr txBox="1"/>
          <p:nvPr/>
        </p:nvSpPr>
        <p:spPr>
          <a:xfrm>
            <a:off x="502920" y="149961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6" name="@2 Set 3 lives"/>
          <p:cNvSpPr txBox="1"/>
          <p:nvPr/>
        </p:nvSpPr>
        <p:spPr>
          <a:xfrm>
            <a:off x="2286000" y="149961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3 lives</a:t>
            </a:r>
            <a:endParaRPr lang="en-US" sz="1400" dirty="0"/>
          </a:p>
        </p:txBody>
      </p:sp>
      <p:sp>
        <p:nvSpPr>
          <p:cNvPr id="7" name="@2 flow line"/>
          <p:cNvSpPr/>
          <p:nvPr/>
        </p:nvSpPr>
        <p:spPr>
          <a:xfrm>
            <a:off x="1691640" y="1783080"/>
            <a:ext cx="59436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8" name="@3 Pick a room"/>
          <p:cNvSpPr txBox="1"/>
          <p:nvPr/>
        </p:nvSpPr>
        <p:spPr>
          <a:xfrm>
            <a:off x="3977640" y="141732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room</a:t>
            </a:r>
            <a:endParaRPr lang="en-US" sz="1400" dirty="0"/>
          </a:p>
        </p:txBody>
      </p:sp>
      <p:sp>
        <p:nvSpPr>
          <p:cNvPr id="9" name="@3 flow line"/>
          <p:cNvSpPr/>
          <p:nvPr/>
        </p:nvSpPr>
        <p:spPr>
          <a:xfrm>
            <a:off x="3474720" y="1783080"/>
            <a:ext cx="50292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0" name="@4 Found the cat?"/>
          <p:cNvSpPr txBox="1"/>
          <p:nvPr/>
        </p:nvSpPr>
        <p:spPr>
          <a:xfrm>
            <a:off x="5669280" y="1280160"/>
            <a:ext cx="155448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the cat?</a:t>
            </a:r>
            <a:endParaRPr lang="en-US" sz="1400" dirty="0"/>
          </a:p>
        </p:txBody>
      </p:sp>
      <p:sp>
        <p:nvSpPr>
          <p:cNvPr id="11" name="@4 flow line"/>
          <p:cNvSpPr/>
          <p:nvPr/>
        </p:nvSpPr>
        <p:spPr>
          <a:xfrm>
            <a:off x="5349240" y="1783080"/>
            <a:ext cx="3200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2" name="@5 Show win screen"/>
          <p:cNvSpPr txBox="1"/>
          <p:nvPr/>
        </p:nvSpPr>
        <p:spPr>
          <a:xfrm>
            <a:off x="7543800" y="141732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win screen</a:t>
            </a:r>
            <a:endParaRPr lang="en-US" sz="1400" dirty="0"/>
          </a:p>
        </p:txBody>
      </p:sp>
      <p:sp>
        <p:nvSpPr>
          <p:cNvPr id="13" name="@5 flow line"/>
          <p:cNvSpPr/>
          <p:nvPr/>
        </p:nvSpPr>
        <p:spPr>
          <a:xfrm>
            <a:off x="7223760" y="1783080"/>
            <a:ext cx="3200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4" name="@5 chip Yes"/>
          <p:cNvSpPr txBox="1"/>
          <p:nvPr/>
        </p:nvSpPr>
        <p:spPr>
          <a:xfrm>
            <a:off x="7242048" y="1472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15" name="@6 Lose a life"/>
          <p:cNvSpPr txBox="1"/>
          <p:nvPr/>
        </p:nvSpPr>
        <p:spPr>
          <a:xfrm>
            <a:off x="5852160" y="2779776"/>
            <a:ext cx="11887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a life</a:t>
            </a:r>
            <a:endParaRPr lang="en-US" sz="1400" dirty="0"/>
          </a:p>
        </p:txBody>
      </p:sp>
      <p:sp>
        <p:nvSpPr>
          <p:cNvPr id="16" name="@6 flow line"/>
          <p:cNvSpPr/>
          <p:nvPr/>
        </p:nvSpPr>
        <p:spPr>
          <a:xfrm>
            <a:off x="6446520" y="2286000"/>
            <a:ext cx="0" cy="49377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7" name="@6 chip No"/>
          <p:cNvSpPr txBox="1"/>
          <p:nvPr/>
        </p:nvSpPr>
        <p:spPr>
          <a:xfrm>
            <a:off x="653796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18" name="@7 Lives left?"/>
          <p:cNvSpPr txBox="1"/>
          <p:nvPr/>
        </p:nvSpPr>
        <p:spPr>
          <a:xfrm>
            <a:off x="3886200" y="2560320"/>
            <a:ext cx="155448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left?</a:t>
            </a:r>
            <a:endParaRPr lang="en-US" sz="1400" dirty="0"/>
          </a:p>
        </p:txBody>
      </p:sp>
      <p:sp>
        <p:nvSpPr>
          <p:cNvPr id="19" name="@7 flow line"/>
          <p:cNvSpPr/>
          <p:nvPr/>
        </p:nvSpPr>
        <p:spPr>
          <a:xfrm flipH="1">
            <a:off x="5440680" y="306324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0" name="@7 flow line"/>
          <p:cNvSpPr/>
          <p:nvPr/>
        </p:nvSpPr>
        <p:spPr>
          <a:xfrm flipV="1">
            <a:off x="4663440" y="2148840"/>
            <a:ext cx="0" cy="41148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1" name="@7 chip Yes"/>
          <p:cNvSpPr txBox="1"/>
          <p:nvPr/>
        </p:nvSpPr>
        <p:spPr>
          <a:xfrm>
            <a:off x="4754880" y="22174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22" name="@8 Show game over"/>
          <p:cNvSpPr txBox="1"/>
          <p:nvPr/>
        </p:nvSpPr>
        <p:spPr>
          <a:xfrm>
            <a:off x="2194560" y="2697480"/>
            <a:ext cx="1371600" cy="731520"/>
          </a:xfrm>
          <a:prstGeom prst="parallelogram">
            <a:avLst/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game over</a:t>
            </a:r>
            <a:endParaRPr lang="en-US" sz="1400" dirty="0"/>
          </a:p>
        </p:txBody>
      </p:sp>
      <p:sp>
        <p:nvSpPr>
          <p:cNvPr id="23" name="@8 flow line"/>
          <p:cNvSpPr/>
          <p:nvPr/>
        </p:nvSpPr>
        <p:spPr>
          <a:xfrm flipH="1">
            <a:off x="3566160" y="3063240"/>
            <a:ext cx="3200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4" name="@8 chip No"/>
          <p:cNvSpPr txBox="1"/>
          <p:nvPr/>
        </p:nvSpPr>
        <p:spPr>
          <a:xfrm>
            <a:off x="3584448" y="2752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25" name="@9 End"/>
          <p:cNvSpPr txBox="1"/>
          <p:nvPr/>
        </p:nvSpPr>
        <p:spPr>
          <a:xfrm>
            <a:off x="7635240" y="2779776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2D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400" dirty="0"/>
          </a:p>
        </p:txBody>
      </p:sp>
      <p:sp>
        <p:nvSpPr>
          <p:cNvPr id="26" name="@9 flow line"/>
          <p:cNvSpPr/>
          <p:nvPr/>
        </p:nvSpPr>
        <p:spPr>
          <a:xfrm>
            <a:off x="8229600" y="2148840"/>
            <a:ext cx="0" cy="63093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27" name="@9 flow line"/>
          <p:cNvSpPr/>
          <p:nvPr/>
        </p:nvSpPr>
        <p:spPr>
          <a:xfrm>
            <a:off x="2880360" y="3429000"/>
            <a:ext cx="0" cy="685800"/>
          </a:xfrm>
          <a:prstGeom prst="line">
            <a:avLst/>
          </a:prstGeom>
          <a:noFill/>
          <a:ln w="28575">
            <a:solidFill>
              <a:srgbClr val="002D6A"/>
            </a:solidFill>
            <a:prstDash val="solid"/>
          </a:ln>
        </p:spPr>
      </p:sp>
      <p:sp>
        <p:nvSpPr>
          <p:cNvPr id="28" name="@9 flow line"/>
          <p:cNvSpPr/>
          <p:nvPr/>
        </p:nvSpPr>
        <p:spPr>
          <a:xfrm>
            <a:off x="2880360" y="4114800"/>
            <a:ext cx="5349240" cy="0"/>
          </a:xfrm>
          <a:prstGeom prst="line">
            <a:avLst/>
          </a:prstGeom>
          <a:noFill/>
          <a:ln w="28575">
            <a:solidFill>
              <a:srgbClr val="002D6A"/>
            </a:solidFill>
            <a:prstDash val="solid"/>
          </a:ln>
        </p:spPr>
      </p:sp>
      <p:sp>
        <p:nvSpPr>
          <p:cNvPr id="29" name="@9 flow line"/>
          <p:cNvSpPr/>
          <p:nvPr/>
        </p:nvSpPr>
        <p:spPr>
          <a:xfrm flipV="1">
            <a:off x="8229600" y="3346704"/>
            <a:ext cx="0" cy="768096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Y11 Flowcharts</dc:title>
  <dc:subject>PptxGenJS Presentation</dc:subject>
  <dc:creator/>
  <cp:lastModifiedBy/>
  <cp:revision>1</cp:revision>
  <dcterms:created xsi:type="dcterms:W3CDTF">2026-10-20T08:17:17Z</dcterms:created>
  <dcterms:modified xsi:type="dcterms:W3CDTF">2026-10-20T08:17:17Z</dcterms:modified>
</cp:coreProperties>
</file>