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er" id="{13874cbe-876f-2690-d299-0039f94d9c78}">
          <p14:sldIdLst>
            <p14:sldId id="256"/>
          </p14:sldIdLst>
        </p14:section>
        <p14:section name="Default-1" id="{05e989f3-4437-c8be-c4af-19380acbb2ab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0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Y10 Creative iMedia  |  Media Sectors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SW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Y10 Creative iMedia  |  Media Sectors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5-A-DAY: Knowledge Recall</a:t>
            </a:r>
            <a:endParaRPr lang="en-US" sz="3000" dirty="0"/>
          </a:p>
        </p:txBody>
      </p:sp>
      <p:sp>
        <p:nvSpPr>
          <p:cNvPr id="3" name="STARTER pill"/>
          <p:cNvSpPr/>
          <p:nvPr/>
        </p:nvSpPr>
        <p:spPr>
          <a:xfrm>
            <a:off x="7132320" y="4114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0" y="411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960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57200" y="1325880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8" name="Number 1"/>
          <p:cNvSpPr/>
          <p:nvPr/>
        </p:nvSpPr>
        <p:spPr>
          <a:xfrm>
            <a:off x="548640" y="1444752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132588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four traditional media sectors.</a:t>
            </a:r>
            <a:endParaRPr lang="en-US" sz="1400" dirty="0"/>
          </a:p>
        </p:txBody>
      </p:sp>
      <p:sp>
        <p:nvSpPr>
          <p:cNvPr id="11" name="@1 Answer card"/>
          <p:cNvSpPr/>
          <p:nvPr/>
        </p:nvSpPr>
        <p:spPr>
          <a:xfrm>
            <a:off x="4846320" y="1325880"/>
            <a:ext cx="384048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2" name="@1 addText"/>
          <p:cNvSpPr txBox="1"/>
          <p:nvPr/>
        </p:nvSpPr>
        <p:spPr>
          <a:xfrm>
            <a:off x="4983480" y="1325880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Film, television, radio and print publishing.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457200" y="2002536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4" name="Number 2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2002536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four new media sectors.</a:t>
            </a:r>
            <a:endParaRPr lang="en-US" sz="1400" dirty="0"/>
          </a:p>
        </p:txBody>
      </p:sp>
      <p:sp>
        <p:nvSpPr>
          <p:cNvPr id="17" name="@2 Answer card"/>
          <p:cNvSpPr/>
          <p:nvPr/>
        </p:nvSpPr>
        <p:spPr>
          <a:xfrm>
            <a:off x="4846320" y="2002536"/>
            <a:ext cx="384048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8" name="@2 addText"/>
          <p:cNvSpPr txBox="1"/>
          <p:nvPr/>
        </p:nvSpPr>
        <p:spPr>
          <a:xfrm>
            <a:off x="4983480" y="2002536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games, interactive media, internet and digital publishing.</a:t>
            </a:r>
            <a:endParaRPr lang="en-US" sz="1300" dirty="0"/>
          </a:p>
        </p:txBody>
      </p:sp>
      <p:sp>
        <p:nvSpPr>
          <p:cNvPr id="19" name="Card"/>
          <p:cNvSpPr/>
          <p:nvPr/>
        </p:nvSpPr>
        <p:spPr>
          <a:xfrm>
            <a:off x="457200" y="2679192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20" name="Number 3"/>
          <p:cNvSpPr/>
          <p:nvPr/>
        </p:nvSpPr>
        <p:spPr>
          <a:xfrm>
            <a:off x="548640" y="2798064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2798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2679192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one advantage of new media over traditional media.</a:t>
            </a:r>
            <a:endParaRPr lang="en-US" sz="1400" dirty="0"/>
          </a:p>
        </p:txBody>
      </p:sp>
      <p:sp>
        <p:nvSpPr>
          <p:cNvPr id="23" name="@3 Answer card"/>
          <p:cNvSpPr/>
          <p:nvPr/>
        </p:nvSpPr>
        <p:spPr>
          <a:xfrm>
            <a:off x="4846320" y="2679192"/>
            <a:ext cx="384048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24" name="@3 addText"/>
          <p:cNvSpPr txBox="1"/>
          <p:nvPr/>
        </p:nvSpPr>
        <p:spPr>
          <a:xfrm>
            <a:off x="4983480" y="2679192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interactivity, precise audience targeting or a broader global reach.</a:t>
            </a:r>
            <a:endParaRPr lang="en-US" sz="1300" dirty="0"/>
          </a:p>
        </p:txBody>
      </p:sp>
      <p:sp>
        <p:nvSpPr>
          <p:cNvPr id="25" name="Card"/>
          <p:cNvSpPr/>
          <p:nvPr/>
        </p:nvSpPr>
        <p:spPr>
          <a:xfrm>
            <a:off x="457200" y="3355848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26" name="Number 4"/>
          <p:cNvSpPr/>
          <p:nvPr/>
        </p:nvSpPr>
        <p:spPr>
          <a:xfrm>
            <a:off x="548640" y="3474720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005840" y="3355848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is the oldest form of media?</a:t>
            </a:r>
            <a:endParaRPr lang="en-US" sz="1400" dirty="0"/>
          </a:p>
        </p:txBody>
      </p:sp>
      <p:sp>
        <p:nvSpPr>
          <p:cNvPr id="29" name="@4 Answer card"/>
          <p:cNvSpPr/>
          <p:nvPr/>
        </p:nvSpPr>
        <p:spPr>
          <a:xfrm>
            <a:off x="4846320" y="3355848"/>
            <a:ext cx="384048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30" name="@4 addText"/>
          <p:cNvSpPr txBox="1"/>
          <p:nvPr/>
        </p:nvSpPr>
        <p:spPr>
          <a:xfrm>
            <a:off x="4983480" y="3355848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publishing (Gutenberg's printing press, 1450).</a:t>
            </a:r>
            <a:endParaRPr lang="en-US" sz="1300" dirty="0"/>
          </a:p>
        </p:txBody>
      </p:sp>
      <p:sp>
        <p:nvSpPr>
          <p:cNvPr id="31" name="Card"/>
          <p:cNvSpPr/>
          <p:nvPr/>
        </p:nvSpPr>
        <p:spPr>
          <a:xfrm>
            <a:off x="457200" y="4032504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32" name="Number 5"/>
          <p:cNvSpPr/>
          <p:nvPr/>
        </p:nvSpPr>
        <p:spPr>
          <a:xfrm>
            <a:off x="548640" y="4151376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8640" y="4151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1005840" y="4032504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digital publishing?</a:t>
            </a:r>
            <a:endParaRPr lang="en-US" sz="1400" dirty="0"/>
          </a:p>
        </p:txBody>
      </p:sp>
      <p:sp>
        <p:nvSpPr>
          <p:cNvPr id="35" name="@5 Answer card"/>
          <p:cNvSpPr/>
          <p:nvPr/>
        </p:nvSpPr>
        <p:spPr>
          <a:xfrm>
            <a:off x="4846320" y="4032504"/>
            <a:ext cx="384048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36" name="@5 addText"/>
          <p:cNvSpPr txBox="1"/>
          <p:nvPr/>
        </p:nvSpPr>
        <p:spPr>
          <a:xfrm>
            <a:off x="4983480" y="4032504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material distributed electronically, such as ebooks and digital magazines.</a:t>
            </a:r>
            <a:endParaRPr lang="en-US" sz="13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7" grpId="0" animBg="1"/>
      <p:bldP spid="18" grpId="0" animBg="1"/>
      <p:bldP spid="23" grpId="0" animBg="1"/>
      <p:bldP spid="24" grpId="0" animBg="1"/>
      <p:bldP spid="29" grpId="0" animBg="1"/>
      <p:bldP spid="30" grpId="0" animBg="1"/>
      <p:bldP spid="35" grpId="0" animBg="1"/>
      <p:bldP spid="3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Sectors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R093 Traditional and New Media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Hughes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 adapting</a:t>
            </a:r>
            <a:endParaRPr lang="en-US" sz="3000" dirty="0"/>
          </a:p>
        </p:txBody>
      </p:sp>
      <p:sp>
        <p:nvSpPr>
          <p:cNvPr id="3" name="OCR R093 1.1 pill"/>
          <p:cNvSpPr/>
          <p:nvPr/>
        </p:nvSpPr>
        <p:spPr>
          <a:xfrm>
            <a:off x="7077456" y="411480"/>
            <a:ext cx="1609344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77456" y="4114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R093 1.1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has radio adapted to competition from streaming services?</a:t>
            </a:r>
            <a:endParaRPr lang="en-US" sz="2200" dirty="0"/>
          </a:p>
        </p:txBody>
      </p:sp>
      <p:sp>
        <p:nvSpPr>
          <p:cNvPr id="6" name="rule"/>
          <p:cNvSpPr/>
          <p:nvPr/>
        </p:nvSpPr>
        <p:spPr>
          <a:xfrm>
            <a:off x="457200" y="2121408"/>
            <a:ext cx="8229600" cy="27432"/>
          </a:xfrm>
          <a:prstGeom prst="rect">
            <a:avLst/>
          </a:prstGeom>
          <a:solidFill>
            <a:srgbClr val="C5D1E3"/>
          </a:solidFill>
          <a:ln w="12700">
            <a:solidFill>
              <a:srgbClr val="C5D1E3"/>
            </a:solidFill>
            <a:prstDash val="solid"/>
          </a:ln>
        </p:spPr>
      </p:sp>
      <p:sp>
        <p:nvSpPr>
          <p:cNvPr id="7" name="@1 Answer card"/>
          <p:cNvSpPr/>
          <p:nvPr/>
        </p:nvSpPr>
        <p:spPr>
          <a:xfrm>
            <a:off x="457200" y="2560320"/>
            <a:ext cx="82296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8" name="@1 addText"/>
          <p:cNvSpPr txBox="1"/>
          <p:nvPr/>
        </p:nvSpPr>
        <p:spPr>
          <a:xfrm>
            <a:off x="822960" y="256032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became multi-platform: video content, live streams and on-demand podcasts.</a:t>
            </a:r>
            <a:endParaRPr lang="en-US" sz="2000" dirty="0"/>
          </a:p>
        </p:txBody>
      </p:sp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 adapting</a:t>
            </a:r>
            <a:endParaRPr lang="en-US" sz="3000" dirty="0"/>
          </a:p>
        </p:txBody>
      </p:sp>
      <p:sp>
        <p:nvSpPr>
          <p:cNvPr id="3" name="OCR R093 1.1 pill"/>
          <p:cNvSpPr/>
          <p:nvPr/>
        </p:nvSpPr>
        <p:spPr>
          <a:xfrm>
            <a:off x="7077456" y="411480"/>
            <a:ext cx="1609344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77456" y="4114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R093 1.1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has television adapted to Netflix and YouTube?</a:t>
            </a:r>
            <a:endParaRPr lang="en-US" sz="2200" dirty="0"/>
          </a:p>
        </p:txBody>
      </p:sp>
      <p:sp>
        <p:nvSpPr>
          <p:cNvPr id="6" name="rule"/>
          <p:cNvSpPr/>
          <p:nvPr/>
        </p:nvSpPr>
        <p:spPr>
          <a:xfrm>
            <a:off x="457200" y="2121408"/>
            <a:ext cx="8229600" cy="27432"/>
          </a:xfrm>
          <a:prstGeom prst="rect">
            <a:avLst/>
          </a:prstGeom>
          <a:solidFill>
            <a:srgbClr val="C5D1E3"/>
          </a:solidFill>
          <a:ln w="12700">
            <a:solidFill>
              <a:srgbClr val="C5D1E3"/>
            </a:solidFill>
            <a:prstDash val="solid"/>
          </a:ln>
        </p:spPr>
      </p:sp>
      <p:sp>
        <p:nvSpPr>
          <p:cNvPr id="7" name="@1 Answer card"/>
          <p:cNvSpPr/>
          <p:nvPr/>
        </p:nvSpPr>
        <p:spPr>
          <a:xfrm>
            <a:off x="457200" y="2560320"/>
            <a:ext cx="82296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8" name="@1 addText"/>
          <p:cNvSpPr txBox="1"/>
          <p:nvPr/>
        </p:nvSpPr>
        <p:spPr>
          <a:xfrm>
            <a:off x="822960" y="256032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now offers on-demand streaming services alongside traditional broadcasts.</a:t>
            </a:r>
            <a:endParaRPr lang="en-US" sz="2000" dirty="0"/>
          </a:p>
        </p:txBody>
      </p:sp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media</a:t>
            </a:r>
            <a:endParaRPr lang="en-US" sz="3000" dirty="0"/>
          </a:p>
        </p:txBody>
      </p:sp>
      <p:sp>
        <p:nvSpPr>
          <p:cNvPr id="3" name="OCR R093 1.1 pill"/>
          <p:cNvSpPr/>
          <p:nvPr/>
        </p:nvSpPr>
        <p:spPr>
          <a:xfrm>
            <a:off x="7077456" y="411480"/>
            <a:ext cx="1609344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77456" y="4114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R093 1.1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two examples of interactive media.</a:t>
            </a:r>
            <a:endParaRPr lang="en-US" sz="2200" dirty="0"/>
          </a:p>
        </p:txBody>
      </p:sp>
      <p:sp>
        <p:nvSpPr>
          <p:cNvPr id="6" name="rule"/>
          <p:cNvSpPr/>
          <p:nvPr/>
        </p:nvSpPr>
        <p:spPr>
          <a:xfrm>
            <a:off x="457200" y="2121408"/>
            <a:ext cx="8229600" cy="27432"/>
          </a:xfrm>
          <a:prstGeom prst="rect">
            <a:avLst/>
          </a:prstGeom>
          <a:solidFill>
            <a:srgbClr val="C5D1E3"/>
          </a:solidFill>
          <a:ln w="12700">
            <a:solidFill>
              <a:srgbClr val="C5D1E3"/>
            </a:solidFill>
            <a:prstDash val="solid"/>
          </a:ln>
        </p:spPr>
      </p:sp>
      <p:sp>
        <p:nvSpPr>
          <p:cNvPr id="7" name="@1 Answer card"/>
          <p:cNvSpPr/>
          <p:nvPr/>
        </p:nvSpPr>
        <p:spPr>
          <a:xfrm>
            <a:off x="457200" y="2560320"/>
            <a:ext cx="82296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8" name="@1 addText"/>
          <p:cNvSpPr txBox="1"/>
          <p:nvPr/>
        </p:nvSpPr>
        <p:spPr>
          <a:xfrm>
            <a:off x="822960" y="256032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apps, digital kiosks and interactive (smart) television.</a:t>
            </a:r>
            <a:endParaRPr lang="en-US" sz="2000" dirty="0"/>
          </a:p>
        </p:txBody>
      </p:sp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website</a:t>
            </a:r>
            <a:endParaRPr lang="en-US" sz="3000" dirty="0"/>
          </a:p>
        </p:txBody>
      </p:sp>
      <p:sp>
        <p:nvSpPr>
          <p:cNvPr id="3" name="OCR R093 1.1 pill"/>
          <p:cNvSpPr/>
          <p:nvPr/>
        </p:nvSpPr>
        <p:spPr>
          <a:xfrm>
            <a:off x="7077456" y="411480"/>
            <a:ext cx="1609344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77456" y="4114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R093 1.1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developed the first website in 1991?</a:t>
            </a:r>
            <a:endParaRPr lang="en-US" sz="2200" dirty="0"/>
          </a:p>
        </p:txBody>
      </p:sp>
      <p:sp>
        <p:nvSpPr>
          <p:cNvPr id="6" name="rule"/>
          <p:cNvSpPr/>
          <p:nvPr/>
        </p:nvSpPr>
        <p:spPr>
          <a:xfrm>
            <a:off x="457200" y="2121408"/>
            <a:ext cx="8229600" cy="27432"/>
          </a:xfrm>
          <a:prstGeom prst="rect">
            <a:avLst/>
          </a:prstGeom>
          <a:solidFill>
            <a:srgbClr val="C5D1E3"/>
          </a:solidFill>
          <a:ln w="12700">
            <a:solidFill>
              <a:srgbClr val="C5D1E3"/>
            </a:solidFill>
            <a:prstDash val="solid"/>
          </a:ln>
        </p:spPr>
      </p:sp>
      <p:sp>
        <p:nvSpPr>
          <p:cNvPr id="7" name="@1 Answer card"/>
          <p:cNvSpPr/>
          <p:nvPr/>
        </p:nvSpPr>
        <p:spPr>
          <a:xfrm>
            <a:off x="457200" y="2560320"/>
            <a:ext cx="82296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8" name="@1 addText"/>
          <p:cNvSpPr txBox="1"/>
          <p:nvPr/>
        </p:nvSpPr>
        <p:spPr>
          <a:xfrm>
            <a:off x="822960" y="256032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 Tim Berners-Lee.</a:t>
            </a:r>
            <a:endParaRPr lang="en-US" sz="2000" dirty="0"/>
          </a:p>
        </p:txBody>
      </p:sp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cost</a:t>
            </a:r>
            <a:endParaRPr lang="en-US" sz="3000" dirty="0"/>
          </a:p>
        </p:txBody>
      </p:sp>
      <p:sp>
        <p:nvSpPr>
          <p:cNvPr id="3" name="OCR R093 1.1 pill"/>
          <p:cNvSpPr/>
          <p:nvPr/>
        </p:nvSpPr>
        <p:spPr>
          <a:xfrm>
            <a:off x="7077456" y="411480"/>
            <a:ext cx="1609344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77456" y="4114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R093 1.1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traditional media often cost more to produce?</a:t>
            </a:r>
            <a:endParaRPr lang="en-US" sz="2200" dirty="0"/>
          </a:p>
        </p:txBody>
      </p:sp>
      <p:sp>
        <p:nvSpPr>
          <p:cNvPr id="6" name="rule"/>
          <p:cNvSpPr/>
          <p:nvPr/>
        </p:nvSpPr>
        <p:spPr>
          <a:xfrm>
            <a:off x="457200" y="2121408"/>
            <a:ext cx="8229600" cy="27432"/>
          </a:xfrm>
          <a:prstGeom prst="rect">
            <a:avLst/>
          </a:prstGeom>
          <a:solidFill>
            <a:srgbClr val="C5D1E3"/>
          </a:solidFill>
          <a:ln w="12700">
            <a:solidFill>
              <a:srgbClr val="C5D1E3"/>
            </a:solidFill>
            <a:prstDash val="solid"/>
          </a:ln>
        </p:spPr>
      </p:sp>
      <p:sp>
        <p:nvSpPr>
          <p:cNvPr id="7" name="@1 Answer card"/>
          <p:cNvSpPr/>
          <p:nvPr/>
        </p:nvSpPr>
        <p:spPr>
          <a:xfrm>
            <a:off x="457200" y="2560320"/>
            <a:ext cx="82296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8" name="@1 addText"/>
          <p:cNvSpPr txBox="1"/>
          <p:nvPr/>
        </p:nvSpPr>
        <p:spPr>
          <a:xfrm>
            <a:off x="822960" y="256032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usually needs more financial resources than newer media forms.</a:t>
            </a:r>
            <a:endParaRPr lang="en-US" sz="2000" dirty="0"/>
          </a:p>
        </p:txBody>
      </p:sp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Y10 Media Sectors 5-A-DAY</dc:title>
  <dc:subject>PptxGenJS Presentation</dc:subject>
  <dc:creator/>
  <cp:lastModifiedBy/>
  <cp:revision>1</cp:revision>
  <dcterms:created xsi:type="dcterms:W3CDTF">2026-10-19T17:48:42Z</dcterms:created>
  <dcterms:modified xsi:type="dcterms:W3CDTF">2026-10-19T17:48:42Z</dcterms:modified>
</cp:coreProperties>
</file>