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rter" id="{efd12f3d-0950-6ad1-71db-efe5689c6067}">
          <p14:sldIdLst>
            <p14:sldId id="256"/>
          </p14:sldIdLst>
        </p14:section>
        <p14:section name="Default-1" id="{0785e360-4a57-8c6a-9c19-95420476ce8a}">
          <p14:sldIdLst>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01B4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6583680" cy="1371600"/>
          </a:xfrm>
          <a:prstGeom prst="rect">
            <a:avLst/>
          </a:prstGeom>
          <a:noFill/>
          <a:ln/>
        </p:spPr>
        <p:txBody>
          <a:bodyPr wrap="square" rtlCol="0"/>
          <a:lstStyle>
            <a:lvl1pPr algn="l" indent="0" marL="0">
              <a:buNone/>
              <a:defRPr lang="en-US" sz="3400" b="1" dirty="0">
                <a:solidFill>
                  <a:srgbClr val="FFFFFF"/>
                </a:solidFill>
                <a:latin typeface="Arial" pitchFamily="34" charset="0"/>
                <a:ea typeface="Arial" pitchFamily="34" charset="-122"/>
                <a:cs typeface="Arial" pitchFamily="34" charset="-120"/>
              </a:defRPr>
            </a:lvl1pPr>
          </a:lstStyle>
          <a:p>
            <a:pPr algn="l" indent="0" marL="0">
              <a:buNone/>
            </a:pPr>
            <a:endParaRPr lang="en-US" sz="3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LAIN">
    <p:bg>
      <p:bgPr>
        <a:solidFill>
          <a:srgbClr val="EEF2F7"/>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3000" b="1" dirty="0">
                <a:solidFill>
                  <a:srgbClr val="001B40"/>
                </a:solidFill>
                <a:latin typeface="Arial" pitchFamily="34" charset="0"/>
                <a:ea typeface="Arial" pitchFamily="34" charset="-122"/>
                <a:cs typeface="Arial" pitchFamily="34" charset="-120"/>
              </a:defRPr>
            </a:lvl1pPr>
          </a:lstStyle>
          <a:p>
            <a:pPr algn="l" indent="0" marL="0">
              <a:buNone/>
            </a:pPr>
            <a:endParaRPr lang="en-US" sz="3000" dirty="0"/>
          </a:p>
        </p:txBody>
      </p:sp>
      <p:sp>
        <p:nvSpPr>
          <p:cNvPr id="3" name="Text 0"/>
          <p:cNvSpPr/>
          <p:nvPr/>
        </p:nvSpPr>
        <p:spPr>
          <a:xfrm>
            <a:off x="457200" y="4828032"/>
            <a:ext cx="5486400" cy="228600"/>
          </a:xfrm>
          <a:prstGeom prst="rect">
            <a:avLst/>
          </a:prstGeom>
          <a:noFill/>
          <a:ln/>
        </p:spPr>
        <p:txBody>
          <a:bodyPr wrap="square" lIns="0" tIns="0" rIns="0" bIns="0" rtlCol="0" anchor="ctr"/>
          <a:lstStyle/>
          <a:p>
            <a:pPr indent="0" marL="0">
              <a:buNone/>
            </a:pPr>
            <a:r>
              <a:rPr lang="en-US" sz="1000" dirty="0">
                <a:solidFill>
                  <a:srgbClr val="5D6B80"/>
                </a:solidFill>
                <a:latin typeface="Arial" pitchFamily="34" charset="0"/>
                <a:ea typeface="Arial" pitchFamily="34" charset="-122"/>
                <a:cs typeface="Arial" pitchFamily="34" charset="-120"/>
              </a:rPr>
              <a:t>Y12 Networks L5  |  Dr. Hughes</a:t>
            </a:r>
            <a:endParaRPr lang="en-US" sz="10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NSWER">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949440" cy="685800"/>
          </a:xfrm>
          <a:prstGeom prst="rect">
            <a:avLst/>
          </a:prstGeom>
          <a:noFill/>
          <a:ln/>
        </p:spPr>
        <p:txBody>
          <a:bodyPr wrap="square" rtlCol="0"/>
          <a:lstStyle>
            <a:lvl1pPr algn="l" indent="0" marL="0">
              <a:buNone/>
              <a:defRPr lang="en-US" sz="2800" b="1" dirty="0">
                <a:solidFill>
                  <a:srgbClr val="001B40"/>
                </a:solidFill>
                <a:latin typeface="Arial" pitchFamily="34" charset="0"/>
                <a:ea typeface="Arial" pitchFamily="34" charset="-122"/>
                <a:cs typeface="Arial" pitchFamily="34" charset="-120"/>
              </a:defRPr>
            </a:lvl1pPr>
          </a:lstStyle>
          <a:p>
            <a:pPr algn="l" indent="0" marL="0">
              <a:buNone/>
            </a:pPr>
            <a:endParaRPr lang="en-US" sz="2800" dirty="0"/>
          </a:p>
        </p:txBody>
      </p:sp>
      <p:sp>
        <p:nvSpPr>
          <p:cNvPr id="3" name="Text 0"/>
          <p:cNvSpPr/>
          <p:nvPr/>
        </p:nvSpPr>
        <p:spPr>
          <a:xfrm>
            <a:off x="457200" y="4828032"/>
            <a:ext cx="5486400" cy="228600"/>
          </a:xfrm>
          <a:prstGeom prst="rect">
            <a:avLst/>
          </a:prstGeom>
          <a:noFill/>
          <a:ln/>
        </p:spPr>
        <p:txBody>
          <a:bodyPr wrap="square" lIns="0" tIns="0" rIns="0" bIns="0" rtlCol="0" anchor="ctr"/>
          <a:lstStyle/>
          <a:p>
            <a:pPr indent="0" marL="0">
              <a:buNone/>
            </a:pPr>
            <a:r>
              <a:rPr lang="en-US" sz="1000" dirty="0">
                <a:solidFill>
                  <a:srgbClr val="5D6B80"/>
                </a:solidFill>
                <a:latin typeface="Arial" pitchFamily="34" charset="0"/>
                <a:ea typeface="Arial" pitchFamily="34" charset="-122"/>
                <a:cs typeface="Arial" pitchFamily="34" charset="-120"/>
              </a:rPr>
              <a:t>Y12 Networks L5  |  Dr. Hughes</a:t>
            </a:r>
            <a:endParaRPr lang="en-US" sz="10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6583680" cy="1371600"/>
          </a:xfrm>
          <a:prstGeom prst="rect">
            <a:avLst/>
          </a:prstGeom>
          <a:noFill/>
          <a:ln/>
        </p:spPr>
        <p:txBody>
          <a:bodyPr wrap="square" lIns="0" tIns="0" rIns="0" bIns="0" rtlCol="0" anchor="t"/>
          <a:lstStyle/>
          <a:p>
            <a:pPr algn="l" indent="0" marL="0">
              <a:buNone/>
            </a:pPr>
            <a:r>
              <a:rPr lang="en-US" sz="3400" b="1" dirty="0">
                <a:solidFill>
                  <a:srgbClr val="FFFFFF"/>
                </a:solidFill>
                <a:latin typeface="Arial" pitchFamily="34" charset="0"/>
                <a:ea typeface="Arial" pitchFamily="34" charset="-122"/>
                <a:cs typeface="Arial" pitchFamily="34" charset="-120"/>
              </a:rPr>
              <a:t>5-A-DAY on SmartRevise</a:t>
            </a:r>
            <a:endParaRPr lang="en-US" sz="3400" dirty="0"/>
          </a:p>
        </p:txBody>
      </p:sp>
      <p:sp>
        <p:nvSpPr>
          <p:cNvPr id="3" name="Text 1"/>
          <p:cNvSpPr txBox="1"/>
          <p:nvPr/>
        </p:nvSpPr>
        <p:spPr>
          <a:xfrm>
            <a:off x="548640" y="640080"/>
            <a:ext cx="3657600" cy="457200"/>
          </a:xfrm>
          <a:prstGeom prst="rect">
            <a:avLst/>
          </a:prstGeom>
          <a:noFill/>
          <a:ln/>
        </p:spPr>
        <p:txBody>
          <a:bodyPr wrap="square" lIns="0" tIns="0" rIns="0" bIns="0" rtlCol="0" anchor="ctr"/>
          <a:lstStyle/>
          <a:p>
            <a:pPr indent="0" marL="0">
              <a:buNone/>
            </a:pPr>
            <a:r>
              <a:rPr lang="en-US" sz="2200" b="1" spc="400" kern="0" dirty="0">
                <a:solidFill>
                  <a:srgbClr val="A9C4E8"/>
                </a:solidFill>
                <a:latin typeface="Arial" pitchFamily="34" charset="0"/>
                <a:ea typeface="Arial" pitchFamily="34" charset="-122"/>
                <a:cs typeface="Arial" pitchFamily="34" charset="-120"/>
              </a:rPr>
              <a:t>STARTER</a:t>
            </a:r>
            <a:endParaRPr lang="en-US" sz="2200" dirty="0"/>
          </a:p>
        </p:txBody>
      </p:sp>
      <p:sp>
        <p:nvSpPr>
          <p:cNvPr id="4" name="Text 2"/>
          <p:cNvSpPr txBox="1"/>
          <p:nvPr/>
        </p:nvSpPr>
        <p:spPr>
          <a:xfrm>
            <a:off x="548640" y="2743200"/>
            <a:ext cx="5852160" cy="822960"/>
          </a:xfrm>
          <a:prstGeom prst="rect">
            <a:avLst/>
          </a:prstGeom>
          <a:noFill/>
          <a:ln/>
        </p:spPr>
        <p:txBody>
          <a:bodyPr wrap="square" lIns="0" tIns="0" rIns="0" bIns="0" rtlCol="0" anchor="t"/>
          <a:lstStyle/>
          <a:p>
            <a:pPr indent="0" marL="0">
              <a:buNone/>
            </a:pPr>
            <a:r>
              <a:rPr lang="en-US" sz="1800" dirty="0">
                <a:solidFill>
                  <a:srgbClr val="C5D1E3"/>
                </a:solidFill>
                <a:latin typeface="Arial" pitchFamily="34" charset="0"/>
                <a:ea typeface="Arial" pitchFamily="34" charset="-122"/>
                <a:cs typeface="Arial" pitchFamily="34" charset="-120"/>
              </a:rPr>
              <a:t>Log in and complete today's 5-A-DAY.</a:t>
            </a:r>
            <a:endParaRPr lang="en-US" sz="1800" dirty="0"/>
          </a:p>
        </p:txBody>
      </p:sp>
      <p:sp>
        <p:nvSpPr>
          <p:cNvPr id="5" name="Timer pill"/>
          <p:cNvSpPr/>
          <p:nvPr/>
        </p:nvSpPr>
        <p:spPr>
          <a:xfrm>
            <a:off x="548640" y="3840480"/>
            <a:ext cx="2194560" cy="640080"/>
          </a:xfrm>
          <a:prstGeom prst="roundRect">
            <a:avLst>
              <a:gd name="adj" fmla="val 50000"/>
            </a:avLst>
          </a:prstGeom>
          <a:solidFill>
            <a:srgbClr val="A9C4E8"/>
          </a:solidFill>
          <a:ln w="12700">
            <a:solidFill>
              <a:srgbClr val="A9C4E8"/>
            </a:solidFill>
            <a:prstDash val="solid"/>
          </a:ln>
        </p:spPr>
      </p:sp>
      <p:pic>
        <p:nvPicPr>
          <p:cNvPr id="6" name="Image 0" descr="clock">    </p:cNvPr>
          <p:cNvPicPr>
            <a:picLocks noChangeAspect="1"/>
          </p:cNvPicPr>
          <p:nvPr/>
        </p:nvPicPr>
        <p:blipFill>
          <a:blip r:embed="rId1"/>
          <a:stretch>
            <a:fillRect/>
          </a:stretch>
        </p:blipFill>
        <p:spPr>
          <a:xfrm>
            <a:off x="749808" y="3995928"/>
            <a:ext cx="329184" cy="329184"/>
          </a:xfrm>
          <a:prstGeom prst="rect">
            <a:avLst/>
          </a:prstGeom>
        </p:spPr>
      </p:pic>
      <p:sp>
        <p:nvSpPr>
          <p:cNvPr id="7" name="Text 4"/>
          <p:cNvSpPr txBox="1"/>
          <p:nvPr/>
        </p:nvSpPr>
        <p:spPr>
          <a:xfrm>
            <a:off x="1170432" y="3840480"/>
            <a:ext cx="1463040" cy="640080"/>
          </a:xfrm>
          <a:prstGeom prst="rect">
            <a:avLst/>
          </a:prstGeom>
          <a:noFill/>
          <a:ln/>
        </p:spPr>
        <p:txBody>
          <a:bodyPr wrap="square" lIns="0" tIns="0" rIns="0" bIns="0" rtlCol="0" anchor="ctr"/>
          <a:lstStyle/>
          <a:p>
            <a:pPr indent="0" marL="0">
              <a:buNone/>
            </a:pPr>
            <a:r>
              <a:rPr lang="en-US" sz="2000" b="1" dirty="0">
                <a:solidFill>
                  <a:srgbClr val="001B40"/>
                </a:solidFill>
                <a:latin typeface="Arial" pitchFamily="34" charset="0"/>
                <a:ea typeface="Arial" pitchFamily="34" charset="-122"/>
                <a:cs typeface="Arial" pitchFamily="34" charset="-120"/>
              </a:rPr>
              <a:t>5 minutes</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6583680" cy="1371600"/>
          </a:xfrm>
          <a:prstGeom prst="rect">
            <a:avLst/>
          </a:prstGeom>
          <a:noFill/>
          <a:ln/>
        </p:spPr>
        <p:txBody>
          <a:bodyPr wrap="square" lIns="0" tIns="0" rIns="0" bIns="0" rtlCol="0" anchor="t"/>
          <a:lstStyle/>
          <a:p>
            <a:pPr algn="l" indent="0" marL="0">
              <a:buNone/>
            </a:pPr>
            <a:r>
              <a:rPr lang="en-US" sz="3400" b="1" dirty="0">
                <a:solidFill>
                  <a:srgbClr val="FFFFFF"/>
                </a:solidFill>
                <a:latin typeface="Arial" pitchFamily="34" charset="0"/>
                <a:ea typeface="Arial" pitchFamily="34" charset="-122"/>
                <a:cs typeface="Arial" pitchFamily="34" charset="-120"/>
              </a:rPr>
              <a:t>Y12 Networks L5: DNS, routing, packet switching and circuit switching</a:t>
            </a:r>
            <a:endParaRPr lang="en-US" sz="3400" dirty="0"/>
          </a:p>
        </p:txBody>
      </p:sp>
      <p:sp>
        <p:nvSpPr>
          <p:cNvPr id="3" name="Text 1"/>
          <p:cNvSpPr txBox="1"/>
          <p:nvPr/>
        </p:nvSpPr>
        <p:spPr>
          <a:xfrm>
            <a:off x="548640" y="3017520"/>
            <a:ext cx="7315200" cy="457200"/>
          </a:xfrm>
          <a:prstGeom prst="rect">
            <a:avLst/>
          </a:prstGeom>
          <a:noFill/>
          <a:ln/>
        </p:spPr>
        <p:txBody>
          <a:bodyPr wrap="square" lIns="0" tIns="0" rIns="0" bIns="0" rtlCol="0" anchor="ctr"/>
          <a:lstStyle/>
          <a:p>
            <a:pPr indent="0" marL="0">
              <a:buNone/>
            </a:pPr>
            <a:r>
              <a:rPr lang="en-US" sz="1600" dirty="0">
                <a:solidFill>
                  <a:srgbClr val="C5D1E3"/>
                </a:solidFill>
                <a:latin typeface="Arial" pitchFamily="34" charset="0"/>
                <a:ea typeface="Arial" pitchFamily="34" charset="-122"/>
                <a:cs typeface="Arial" pitchFamily="34" charset="-120"/>
              </a:rPr>
              <a:t>OCR A Level Computer Science H446, 1.3.3 Networks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rgbClr val="001B40"/>
                </a:solidFill>
                <a:latin typeface="Arial" pitchFamily="34" charset="0"/>
                <a:ea typeface="Arial" pitchFamily="34" charset="-122"/>
                <a:cs typeface="Arial" pitchFamily="34" charset="-120"/>
              </a:rPr>
              <a:t>Today's objective</a:t>
            </a:r>
            <a:endParaRPr lang="en-US" sz="3000" dirty="0"/>
          </a:p>
        </p:txBody>
      </p:sp>
      <p:sp>
        <p:nvSpPr>
          <p:cNvPr id="3" name="Card"/>
          <p:cNvSpPr/>
          <p:nvPr/>
        </p:nvSpPr>
        <p:spPr>
          <a:xfrm>
            <a:off x="457200" y="1188720"/>
            <a:ext cx="8229600" cy="822960"/>
          </a:xfrm>
          <a:prstGeom prst="roundRect">
            <a:avLst>
              <a:gd name="adj" fmla="val 13333"/>
            </a:avLst>
          </a:prstGeom>
          <a:solidFill>
            <a:srgbClr val="EEF2F7"/>
          </a:solidFill>
          <a:ln w="9525">
            <a:solidFill>
              <a:srgbClr val="C5D1E3"/>
            </a:solidFill>
            <a:prstDash val="solid"/>
          </a:ln>
        </p:spPr>
      </p:sp>
      <p:sp>
        <p:nvSpPr>
          <p:cNvPr id="4" name="Text 2"/>
          <p:cNvSpPr txBox="1"/>
          <p:nvPr/>
        </p:nvSpPr>
        <p:spPr>
          <a:xfrm>
            <a:off x="731520" y="1188720"/>
            <a:ext cx="7680960" cy="822960"/>
          </a:xfrm>
          <a:prstGeom prst="rect">
            <a:avLst/>
          </a:prstGeom>
          <a:noFill/>
          <a:ln/>
        </p:spPr>
        <p:txBody>
          <a:bodyPr wrap="square" lIns="0" tIns="0" rIns="0" bIns="0" rtlCol="0" anchor="ctr"/>
          <a:lstStyle/>
          <a:p>
            <a:pPr indent="0" marL="0">
              <a:buNone/>
            </a:pPr>
            <a:r>
              <a:rPr lang="en-US" sz="1800" dirty="0">
                <a:solidFill>
                  <a:srgbClr val="22262E"/>
                </a:solidFill>
                <a:latin typeface="Arial" pitchFamily="34" charset="0"/>
                <a:ea typeface="Arial" pitchFamily="34" charset="-122"/>
                <a:cs typeface="Arial" pitchFamily="34" charset="-120"/>
              </a:rPr>
              <a:t>To explain how DNS finds an IP address</a:t>
            </a:r>
            <a:endParaRPr lang="en-US" sz="1800" dirty="0"/>
          </a:p>
        </p:txBody>
      </p:sp>
      <p:sp>
        <p:nvSpPr>
          <p:cNvPr id="5" name="Card"/>
          <p:cNvSpPr/>
          <p:nvPr/>
        </p:nvSpPr>
        <p:spPr>
          <a:xfrm>
            <a:off x="457200" y="2148840"/>
            <a:ext cx="8229600" cy="822960"/>
          </a:xfrm>
          <a:prstGeom prst="roundRect">
            <a:avLst>
              <a:gd name="adj" fmla="val 13333"/>
            </a:avLst>
          </a:prstGeom>
          <a:solidFill>
            <a:srgbClr val="EEF2F7"/>
          </a:solidFill>
          <a:ln w="9525">
            <a:solidFill>
              <a:srgbClr val="C5D1E3"/>
            </a:solidFill>
            <a:prstDash val="solid"/>
          </a:ln>
        </p:spPr>
      </p:sp>
      <p:sp>
        <p:nvSpPr>
          <p:cNvPr id="6" name="Text 4"/>
          <p:cNvSpPr txBox="1"/>
          <p:nvPr/>
        </p:nvSpPr>
        <p:spPr>
          <a:xfrm>
            <a:off x="731520" y="2148840"/>
            <a:ext cx="7680960" cy="822960"/>
          </a:xfrm>
          <a:prstGeom prst="rect">
            <a:avLst/>
          </a:prstGeom>
          <a:noFill/>
          <a:ln/>
        </p:spPr>
        <p:txBody>
          <a:bodyPr wrap="square" lIns="0" tIns="0" rIns="0" bIns="0" rtlCol="0" anchor="ctr"/>
          <a:lstStyle/>
          <a:p>
            <a:pPr indent="0" marL="0">
              <a:buNone/>
            </a:pPr>
            <a:r>
              <a:rPr lang="en-US" sz="1800" dirty="0">
                <a:solidFill>
                  <a:srgbClr val="22262E"/>
                </a:solidFill>
                <a:latin typeface="Arial" pitchFamily="34" charset="0"/>
                <a:ea typeface="Arial" pitchFamily="34" charset="-122"/>
                <a:cs typeface="Arial" pitchFamily="34" charset="-120"/>
              </a:rPr>
              <a:t>To compare packet switching with circuit switching</a:t>
            </a:r>
            <a:endParaRPr lang="en-US" sz="1800" dirty="0"/>
          </a:p>
        </p:txBody>
      </p:sp>
      <p:sp>
        <p:nvSpPr>
          <p:cNvPr id="7"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6583680" cy="1371600"/>
          </a:xfrm>
          <a:prstGeom prst="rect">
            <a:avLst/>
          </a:prstGeom>
          <a:noFill/>
          <a:ln/>
        </p:spPr>
        <p:txBody>
          <a:bodyPr wrap="square" lIns="0" tIns="0" rIns="0" bIns="0" rtlCol="0" anchor="t"/>
          <a:lstStyle/>
          <a:p>
            <a:pPr algn="l" indent="0" marL="0">
              <a:buNone/>
            </a:pPr>
            <a:r>
              <a:rPr lang="en-US" sz="3400" b="1" dirty="0">
                <a:solidFill>
                  <a:srgbClr val="FFFFFF"/>
                </a:solidFill>
                <a:latin typeface="Arial" pitchFamily="34" charset="0"/>
                <a:ea typeface="Arial" pitchFamily="34" charset="-122"/>
                <a:cs typeface="Arial" pitchFamily="34" charset="-120"/>
              </a:rPr>
              <a:t>Task 1: Retrieval</a:t>
            </a:r>
            <a:endParaRPr lang="en-US" sz="3400" dirty="0"/>
          </a:p>
        </p:txBody>
      </p:sp>
      <p:sp>
        <p:nvSpPr>
          <p:cNvPr id="3" name="Text 1"/>
          <p:cNvSpPr txBox="1"/>
          <p:nvPr/>
        </p:nvSpPr>
        <p:spPr>
          <a:xfrm>
            <a:off x="548640" y="640080"/>
            <a:ext cx="3657600" cy="457200"/>
          </a:xfrm>
          <a:prstGeom prst="rect">
            <a:avLst/>
          </a:prstGeom>
          <a:noFill/>
          <a:ln/>
        </p:spPr>
        <p:txBody>
          <a:bodyPr wrap="square" lIns="0" tIns="0" rIns="0" bIns="0" rtlCol="0" anchor="ctr"/>
          <a:lstStyle/>
          <a:p>
            <a:pPr indent="0" marL="0">
              <a:buNone/>
            </a:pPr>
            <a:r>
              <a:rPr lang="en-US" sz="2200" b="1" spc="400" kern="0" dirty="0">
                <a:solidFill>
                  <a:srgbClr val="A9C4E8"/>
                </a:solidFill>
                <a:latin typeface="Arial" pitchFamily="34" charset="0"/>
                <a:ea typeface="Arial" pitchFamily="34" charset="-122"/>
                <a:cs typeface="Arial" pitchFamily="34" charset="-120"/>
              </a:rPr>
              <a:t>TASK</a:t>
            </a:r>
            <a:endParaRPr lang="en-US" sz="2200" dirty="0"/>
          </a:p>
        </p:txBody>
      </p:sp>
      <p:sp>
        <p:nvSpPr>
          <p:cNvPr id="4" name="Text 2"/>
          <p:cNvSpPr txBox="1"/>
          <p:nvPr/>
        </p:nvSpPr>
        <p:spPr>
          <a:xfrm>
            <a:off x="548640" y="2743200"/>
            <a:ext cx="5852160" cy="822960"/>
          </a:xfrm>
          <a:prstGeom prst="rect">
            <a:avLst/>
          </a:prstGeom>
          <a:noFill/>
          <a:ln/>
        </p:spPr>
        <p:txBody>
          <a:bodyPr wrap="square" lIns="0" tIns="0" rIns="0" bIns="0" rtlCol="0" anchor="t"/>
          <a:lstStyle/>
          <a:p>
            <a:pPr indent="0" marL="0">
              <a:buNone/>
            </a:pPr>
            <a:r>
              <a:rPr lang="en-US" sz="1800" dirty="0">
                <a:solidFill>
                  <a:srgbClr val="C5D1E3"/>
                </a:solidFill>
                <a:latin typeface="Arial" pitchFamily="34" charset="0"/>
                <a:ea typeface="Arial" pitchFamily="34" charset="-122"/>
                <a:cs typeface="Arial" pitchFamily="34" charset="-120"/>
              </a:rPr>
              <a:t>Answer three layer questions with no notes.</a:t>
            </a:r>
            <a:endParaRPr lang="en-US" sz="1800" dirty="0"/>
          </a:p>
        </p:txBody>
      </p:sp>
      <p:sp>
        <p:nvSpPr>
          <p:cNvPr id="5" name="Timer pill"/>
          <p:cNvSpPr/>
          <p:nvPr/>
        </p:nvSpPr>
        <p:spPr>
          <a:xfrm>
            <a:off x="548640" y="3840480"/>
            <a:ext cx="2194560" cy="640080"/>
          </a:xfrm>
          <a:prstGeom prst="roundRect">
            <a:avLst>
              <a:gd name="adj" fmla="val 50000"/>
            </a:avLst>
          </a:prstGeom>
          <a:solidFill>
            <a:srgbClr val="A9C4E8"/>
          </a:solidFill>
          <a:ln w="12700">
            <a:solidFill>
              <a:srgbClr val="A9C4E8"/>
            </a:solidFill>
            <a:prstDash val="solid"/>
          </a:ln>
        </p:spPr>
      </p:sp>
      <p:pic>
        <p:nvPicPr>
          <p:cNvPr id="6" name="Image 0" descr="clock">    </p:cNvPr>
          <p:cNvPicPr>
            <a:picLocks noChangeAspect="1"/>
          </p:cNvPicPr>
          <p:nvPr/>
        </p:nvPicPr>
        <p:blipFill>
          <a:blip r:embed="rId1"/>
          <a:stretch>
            <a:fillRect/>
          </a:stretch>
        </p:blipFill>
        <p:spPr>
          <a:xfrm>
            <a:off x="749808" y="3995928"/>
            <a:ext cx="329184" cy="329184"/>
          </a:xfrm>
          <a:prstGeom prst="rect">
            <a:avLst/>
          </a:prstGeom>
        </p:spPr>
      </p:pic>
      <p:sp>
        <p:nvSpPr>
          <p:cNvPr id="7" name="Text 4"/>
          <p:cNvSpPr txBox="1"/>
          <p:nvPr/>
        </p:nvSpPr>
        <p:spPr>
          <a:xfrm>
            <a:off x="1170432" y="3840480"/>
            <a:ext cx="1463040" cy="640080"/>
          </a:xfrm>
          <a:prstGeom prst="rect">
            <a:avLst/>
          </a:prstGeom>
          <a:noFill/>
          <a:ln/>
        </p:spPr>
        <p:txBody>
          <a:bodyPr wrap="square" lIns="0" tIns="0" rIns="0" bIns="0" rtlCol="0" anchor="ctr"/>
          <a:lstStyle/>
          <a:p>
            <a:pPr indent="0" marL="0">
              <a:buNone/>
            </a:pPr>
            <a:r>
              <a:rPr lang="en-US" sz="2000" b="1" dirty="0">
                <a:solidFill>
                  <a:srgbClr val="001B40"/>
                </a:solidFill>
                <a:latin typeface="Arial" pitchFamily="34" charset="0"/>
                <a:ea typeface="Arial" pitchFamily="34" charset="-122"/>
                <a:cs typeface="Arial" pitchFamily="34" charset="-120"/>
              </a:rPr>
              <a:t>5 min</a:t>
            </a:r>
            <a:endParaRPr lang="en-US" sz="2000" dirty="0"/>
          </a:p>
        </p:txBody>
      </p:sp>
      <p:sp>
        <p:nvSpPr>
          <p:cNvPr id="8" name="Text 5"/>
          <p:cNvSpPr txBox="1"/>
          <p:nvPr/>
        </p:nvSpPr>
        <p:spPr>
          <a:xfrm>
            <a:off x="548640" y="4617720"/>
            <a:ext cx="5486400" cy="274320"/>
          </a:xfrm>
          <a:prstGeom prst="rect">
            <a:avLst/>
          </a:prstGeom>
          <a:noFill/>
          <a:ln/>
        </p:spPr>
        <p:txBody>
          <a:bodyPr wrap="square" lIns="0" tIns="0" rIns="0" bIns="0" rtlCol="0" anchor="ctr"/>
          <a:lstStyle/>
          <a:p>
            <a:pPr indent="0" marL="0">
              <a:buNone/>
            </a:pPr>
            <a:r>
              <a:rPr lang="en-US" sz="1200" dirty="0">
                <a:solidFill>
                  <a:srgbClr val="C5D1E3"/>
                </a:solidFill>
                <a:latin typeface="Arial" pitchFamily="34" charset="0"/>
                <a:ea typeface="Arial" pitchFamily="34" charset="-122"/>
                <a:cs typeface="Arial" pitchFamily="34" charset="-120"/>
              </a:rPr>
              <a:t>OneNote: Lesson Tasks, Task 1</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6583680" cy="1371600"/>
          </a:xfrm>
          <a:prstGeom prst="rect">
            <a:avLst/>
          </a:prstGeom>
          <a:noFill/>
          <a:ln/>
        </p:spPr>
        <p:txBody>
          <a:bodyPr wrap="square" lIns="0" tIns="0" rIns="0" bIns="0" rtlCol="0" anchor="t"/>
          <a:lstStyle/>
          <a:p>
            <a:pPr algn="l" indent="0" marL="0">
              <a:buNone/>
            </a:pPr>
            <a:r>
              <a:rPr lang="en-US" sz="3400" b="1" dirty="0">
                <a:solidFill>
                  <a:srgbClr val="FFFFFF"/>
                </a:solidFill>
                <a:latin typeface="Arial" pitchFamily="34" charset="0"/>
                <a:ea typeface="Arial" pitchFamily="34" charset="-122"/>
                <a:cs typeface="Arial" pitchFamily="34" charset="-120"/>
              </a:rPr>
              <a:t>Task 1b: Define and test the commands</a:t>
            </a:r>
            <a:endParaRPr lang="en-US" sz="3400" dirty="0"/>
          </a:p>
        </p:txBody>
      </p:sp>
      <p:sp>
        <p:nvSpPr>
          <p:cNvPr id="3" name="Text 1"/>
          <p:cNvSpPr txBox="1"/>
          <p:nvPr/>
        </p:nvSpPr>
        <p:spPr>
          <a:xfrm>
            <a:off x="548640" y="640080"/>
            <a:ext cx="3657600" cy="457200"/>
          </a:xfrm>
          <a:prstGeom prst="rect">
            <a:avLst/>
          </a:prstGeom>
          <a:noFill/>
          <a:ln/>
        </p:spPr>
        <p:txBody>
          <a:bodyPr wrap="square" lIns="0" tIns="0" rIns="0" bIns="0" rtlCol="0" anchor="ctr"/>
          <a:lstStyle/>
          <a:p>
            <a:pPr indent="0" marL="0">
              <a:buNone/>
            </a:pPr>
            <a:r>
              <a:rPr lang="en-US" sz="2200" b="1" spc="400" kern="0" dirty="0">
                <a:solidFill>
                  <a:srgbClr val="A9C4E8"/>
                </a:solidFill>
                <a:latin typeface="Arial" pitchFamily="34" charset="0"/>
                <a:ea typeface="Arial" pitchFamily="34" charset="-122"/>
                <a:cs typeface="Arial" pitchFamily="34" charset="-120"/>
              </a:rPr>
              <a:t>TASK</a:t>
            </a:r>
            <a:endParaRPr lang="en-US" sz="2200" dirty="0"/>
          </a:p>
        </p:txBody>
      </p:sp>
      <p:sp>
        <p:nvSpPr>
          <p:cNvPr id="4" name="Text 2"/>
          <p:cNvSpPr txBox="1"/>
          <p:nvPr/>
        </p:nvSpPr>
        <p:spPr>
          <a:xfrm>
            <a:off x="548640" y="2743200"/>
            <a:ext cx="5852160" cy="822960"/>
          </a:xfrm>
          <a:prstGeom prst="rect">
            <a:avLst/>
          </a:prstGeom>
          <a:noFill/>
          <a:ln/>
        </p:spPr>
        <p:txBody>
          <a:bodyPr wrap="square" lIns="0" tIns="0" rIns="0" bIns="0" rtlCol="0" anchor="t"/>
          <a:lstStyle/>
          <a:p>
            <a:pPr indent="0" marL="0">
              <a:buNone/>
            </a:pPr>
            <a:r>
              <a:rPr lang="en-US" sz="1800" dirty="0">
                <a:solidFill>
                  <a:srgbClr val="C5D1E3"/>
                </a:solidFill>
                <a:latin typeface="Arial" pitchFamily="34" charset="0"/>
                <a:ea typeface="Arial" pitchFamily="34" charset="-122"/>
                <a:cs typeface="Arial" pitchFamily="34" charset="-120"/>
              </a:rPr>
              <a:t>Define dns, ping and traceroute, then test each one on bbc.co.uk, screenshot it and annotate it.</a:t>
            </a:r>
            <a:endParaRPr lang="en-US" sz="1800" dirty="0"/>
          </a:p>
        </p:txBody>
      </p:sp>
      <p:sp>
        <p:nvSpPr>
          <p:cNvPr id="5" name="Timer pill"/>
          <p:cNvSpPr/>
          <p:nvPr/>
        </p:nvSpPr>
        <p:spPr>
          <a:xfrm>
            <a:off x="548640" y="3840480"/>
            <a:ext cx="2194560" cy="640080"/>
          </a:xfrm>
          <a:prstGeom prst="roundRect">
            <a:avLst>
              <a:gd name="adj" fmla="val 50000"/>
            </a:avLst>
          </a:prstGeom>
          <a:solidFill>
            <a:srgbClr val="A9C4E8"/>
          </a:solidFill>
          <a:ln w="12700">
            <a:solidFill>
              <a:srgbClr val="A9C4E8"/>
            </a:solidFill>
            <a:prstDash val="solid"/>
          </a:ln>
        </p:spPr>
      </p:sp>
      <p:pic>
        <p:nvPicPr>
          <p:cNvPr id="6" name="Image 0" descr="clock">    </p:cNvPr>
          <p:cNvPicPr>
            <a:picLocks noChangeAspect="1"/>
          </p:cNvPicPr>
          <p:nvPr/>
        </p:nvPicPr>
        <p:blipFill>
          <a:blip r:embed="rId1"/>
          <a:stretch>
            <a:fillRect/>
          </a:stretch>
        </p:blipFill>
        <p:spPr>
          <a:xfrm>
            <a:off x="749808" y="3995928"/>
            <a:ext cx="329184" cy="329184"/>
          </a:xfrm>
          <a:prstGeom prst="rect">
            <a:avLst/>
          </a:prstGeom>
        </p:spPr>
      </p:pic>
      <p:sp>
        <p:nvSpPr>
          <p:cNvPr id="7" name="Text 4"/>
          <p:cNvSpPr txBox="1"/>
          <p:nvPr/>
        </p:nvSpPr>
        <p:spPr>
          <a:xfrm>
            <a:off x="1170432" y="3840480"/>
            <a:ext cx="1463040" cy="640080"/>
          </a:xfrm>
          <a:prstGeom prst="rect">
            <a:avLst/>
          </a:prstGeom>
          <a:noFill/>
          <a:ln/>
        </p:spPr>
        <p:txBody>
          <a:bodyPr wrap="square" lIns="0" tIns="0" rIns="0" bIns="0" rtlCol="0" anchor="ctr"/>
          <a:lstStyle/>
          <a:p>
            <a:pPr indent="0" marL="0">
              <a:buNone/>
            </a:pPr>
            <a:r>
              <a:rPr lang="en-US" sz="2000" b="1" dirty="0">
                <a:solidFill>
                  <a:srgbClr val="001B40"/>
                </a:solidFill>
                <a:latin typeface="Arial" pitchFamily="34" charset="0"/>
                <a:ea typeface="Arial" pitchFamily="34" charset="-122"/>
                <a:cs typeface="Arial" pitchFamily="34" charset="-120"/>
              </a:rPr>
              <a:t>10 min</a:t>
            </a:r>
            <a:endParaRPr lang="en-US" sz="2000" dirty="0"/>
          </a:p>
        </p:txBody>
      </p:sp>
      <p:sp>
        <p:nvSpPr>
          <p:cNvPr id="8" name="Text 5"/>
          <p:cNvSpPr txBox="1"/>
          <p:nvPr/>
        </p:nvSpPr>
        <p:spPr>
          <a:xfrm>
            <a:off x="548640" y="4617720"/>
            <a:ext cx="5486400" cy="274320"/>
          </a:xfrm>
          <a:prstGeom prst="rect">
            <a:avLst/>
          </a:prstGeom>
          <a:noFill/>
          <a:ln/>
        </p:spPr>
        <p:txBody>
          <a:bodyPr wrap="square" lIns="0" tIns="0" rIns="0" bIns="0" rtlCol="0" anchor="ctr"/>
          <a:lstStyle/>
          <a:p>
            <a:pPr indent="0" marL="0">
              <a:buNone/>
            </a:pPr>
            <a:r>
              <a:rPr lang="en-US" sz="1200" dirty="0">
                <a:solidFill>
                  <a:srgbClr val="C5D1E3"/>
                </a:solidFill>
                <a:latin typeface="Arial" pitchFamily="34" charset="0"/>
                <a:ea typeface="Arial" pitchFamily="34" charset="-122"/>
                <a:cs typeface="Arial" pitchFamily="34" charset="-120"/>
              </a:rPr>
              <a:t>OneNote: Lesson Tasks, Task 1b</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rgbClr val="001B40"/>
                </a:solidFill>
                <a:latin typeface="Arial" pitchFamily="34" charset="0"/>
                <a:ea typeface="Arial" pitchFamily="34" charset="-122"/>
                <a:cs typeface="Arial" pitchFamily="34" charset="-120"/>
              </a:rPr>
              <a:t>How DNS works</a:t>
            </a:r>
            <a:endParaRPr lang="en-US" sz="3000" dirty="0"/>
          </a:p>
        </p:txBody>
      </p:sp>
      <p:sp>
        <p:nvSpPr>
          <p:cNvPr id="3" name="@1 Card"/>
          <p:cNvSpPr/>
          <p:nvPr/>
        </p:nvSpPr>
        <p:spPr>
          <a:xfrm>
            <a:off x="457200" y="1554480"/>
            <a:ext cx="1389888" cy="2377440"/>
          </a:xfrm>
          <a:prstGeom prst="roundRect">
            <a:avLst>
              <a:gd name="adj" fmla="val 7895"/>
            </a:avLst>
          </a:prstGeom>
          <a:solidFill>
            <a:srgbClr val="FFFFFF"/>
          </a:solidFill>
          <a:ln w="15875">
            <a:solidFill>
              <a:srgbClr val="002D6A"/>
            </a:solidFill>
            <a:prstDash val="solid"/>
          </a:ln>
        </p:spPr>
      </p:sp>
      <p:sp>
        <p:nvSpPr>
          <p:cNvPr id="4" name="@1 addText"/>
          <p:cNvSpPr txBox="1"/>
          <p:nvPr/>
        </p:nvSpPr>
        <p:spPr>
          <a:xfrm>
            <a:off x="548640" y="1645920"/>
            <a:ext cx="1207008" cy="548640"/>
          </a:xfrm>
          <a:prstGeom prst="rect">
            <a:avLst/>
          </a:prstGeom>
          <a:noFill/>
          <a:ln/>
        </p:spPr>
        <p:txBody>
          <a:bodyPr wrap="square" lIns="0" tIns="0" rIns="0" bIns="0" rtlCol="0" anchor="ctr"/>
          <a:lstStyle/>
          <a:p>
            <a:pPr algn="ctr" indent="0" marL="0">
              <a:buNone/>
            </a:pPr>
            <a:r>
              <a:rPr lang="en-US" sz="1600" b="1" dirty="0">
                <a:solidFill>
                  <a:srgbClr val="002D6A"/>
                </a:solidFill>
                <a:latin typeface="Arial" pitchFamily="34" charset="0"/>
                <a:ea typeface="Arial" pitchFamily="34" charset="-122"/>
                <a:cs typeface="Arial" pitchFamily="34" charset="-120"/>
              </a:rPr>
              <a:t>1 Browser</a:t>
            </a:r>
            <a:endParaRPr lang="en-US" sz="1600" dirty="0"/>
          </a:p>
        </p:txBody>
      </p:sp>
      <p:sp>
        <p:nvSpPr>
          <p:cNvPr id="5" name="@1 addText"/>
          <p:cNvSpPr txBox="1"/>
          <p:nvPr/>
        </p:nvSpPr>
        <p:spPr>
          <a:xfrm>
            <a:off x="548640" y="2240280"/>
            <a:ext cx="1207008" cy="1554480"/>
          </a:xfrm>
          <a:prstGeom prst="rect">
            <a:avLst/>
          </a:prstGeom>
          <a:noFill/>
          <a:ln/>
        </p:spPr>
        <p:txBody>
          <a:bodyPr wrap="square" lIns="0" tIns="0" rIns="0" bIns="0" rtlCol="0" anchor="t"/>
          <a:lstStyle/>
          <a:p>
            <a:pPr algn="ctr" indent="0" marL="0">
              <a:buNone/>
            </a:pPr>
            <a:r>
              <a:rPr lang="en-US" sz="1400" dirty="0">
                <a:solidFill>
                  <a:srgbClr val="22262E"/>
                </a:solidFill>
                <a:latin typeface="Arial" pitchFamily="34" charset="0"/>
                <a:ea typeface="Arial" pitchFamily="34" charset="-122"/>
                <a:cs typeface="Arial" pitchFamily="34" charset="-120"/>
              </a:rPr>
              <a:t>asks the resolver for the IP of www.example.co.uk</a:t>
            </a:r>
            <a:endParaRPr lang="en-US" sz="1400" dirty="0"/>
          </a:p>
        </p:txBody>
      </p:sp>
      <p:sp>
        <p:nvSpPr>
          <p:cNvPr id="6" name="@1 arrow"/>
          <p:cNvSpPr/>
          <p:nvPr/>
        </p:nvSpPr>
        <p:spPr>
          <a:xfrm>
            <a:off x="1874520" y="2743200"/>
            <a:ext cx="265176" cy="0"/>
          </a:xfrm>
          <a:prstGeom prst="line">
            <a:avLst/>
          </a:prstGeom>
          <a:noFill/>
          <a:ln w="38100">
            <a:solidFill>
              <a:srgbClr val="002D6A"/>
            </a:solidFill>
            <a:prstDash val="solid"/>
            <a:tailEnd type="triangle"/>
          </a:ln>
        </p:spPr>
      </p:sp>
      <p:sp>
        <p:nvSpPr>
          <p:cNvPr id="7" name="@2 Card"/>
          <p:cNvSpPr/>
          <p:nvPr/>
        </p:nvSpPr>
        <p:spPr>
          <a:xfrm>
            <a:off x="2167128" y="1554480"/>
            <a:ext cx="1389888" cy="2377440"/>
          </a:xfrm>
          <a:prstGeom prst="roundRect">
            <a:avLst>
              <a:gd name="adj" fmla="val 7895"/>
            </a:avLst>
          </a:prstGeom>
          <a:solidFill>
            <a:srgbClr val="FFFFFF"/>
          </a:solidFill>
          <a:ln w="15875">
            <a:solidFill>
              <a:srgbClr val="002D6A"/>
            </a:solidFill>
            <a:prstDash val="solid"/>
          </a:ln>
        </p:spPr>
      </p:sp>
      <p:sp>
        <p:nvSpPr>
          <p:cNvPr id="8" name="@2 addText"/>
          <p:cNvSpPr txBox="1"/>
          <p:nvPr/>
        </p:nvSpPr>
        <p:spPr>
          <a:xfrm>
            <a:off x="2258568" y="1645920"/>
            <a:ext cx="1207008" cy="548640"/>
          </a:xfrm>
          <a:prstGeom prst="rect">
            <a:avLst/>
          </a:prstGeom>
          <a:noFill/>
          <a:ln/>
        </p:spPr>
        <p:txBody>
          <a:bodyPr wrap="square" lIns="0" tIns="0" rIns="0" bIns="0" rtlCol="0" anchor="ctr"/>
          <a:lstStyle/>
          <a:p>
            <a:pPr algn="ctr" indent="0" marL="0">
              <a:buNone/>
            </a:pPr>
            <a:r>
              <a:rPr lang="en-US" sz="1600" b="1" dirty="0">
                <a:solidFill>
                  <a:srgbClr val="002D6A"/>
                </a:solidFill>
                <a:latin typeface="Arial" pitchFamily="34" charset="0"/>
                <a:ea typeface="Arial" pitchFamily="34" charset="-122"/>
                <a:cs typeface="Arial" pitchFamily="34" charset="-120"/>
              </a:rPr>
              <a:t>2 Root</a:t>
            </a:r>
            <a:endParaRPr lang="en-US" sz="1600" dirty="0"/>
          </a:p>
        </p:txBody>
      </p:sp>
      <p:sp>
        <p:nvSpPr>
          <p:cNvPr id="9" name="@2 addText"/>
          <p:cNvSpPr txBox="1"/>
          <p:nvPr/>
        </p:nvSpPr>
        <p:spPr>
          <a:xfrm>
            <a:off x="2258568" y="2240280"/>
            <a:ext cx="1207008" cy="1554480"/>
          </a:xfrm>
          <a:prstGeom prst="rect">
            <a:avLst/>
          </a:prstGeom>
          <a:noFill/>
          <a:ln/>
        </p:spPr>
        <p:txBody>
          <a:bodyPr wrap="square" lIns="0" tIns="0" rIns="0" bIns="0" rtlCol="0" anchor="t"/>
          <a:lstStyle/>
          <a:p>
            <a:pPr algn="ctr" indent="0" marL="0">
              <a:buNone/>
            </a:pPr>
            <a:r>
              <a:rPr lang="en-US" sz="1400" dirty="0">
                <a:solidFill>
                  <a:srgbClr val="22262E"/>
                </a:solidFill>
                <a:latin typeface="Arial" pitchFamily="34" charset="0"/>
                <a:ea typeface="Arial" pitchFamily="34" charset="-122"/>
                <a:cs typeface="Arial" pitchFamily="34" charset="-120"/>
              </a:rPr>
              <a:t>points to the .uk TLD server</a:t>
            </a:r>
            <a:endParaRPr lang="en-US" sz="1400" dirty="0"/>
          </a:p>
        </p:txBody>
      </p:sp>
      <p:sp>
        <p:nvSpPr>
          <p:cNvPr id="10" name="@2 arrow"/>
          <p:cNvSpPr/>
          <p:nvPr/>
        </p:nvSpPr>
        <p:spPr>
          <a:xfrm>
            <a:off x="3584448" y="2743200"/>
            <a:ext cx="265176" cy="0"/>
          </a:xfrm>
          <a:prstGeom prst="line">
            <a:avLst/>
          </a:prstGeom>
          <a:noFill/>
          <a:ln w="38100">
            <a:solidFill>
              <a:srgbClr val="002D6A"/>
            </a:solidFill>
            <a:prstDash val="solid"/>
            <a:tailEnd type="triangle"/>
          </a:ln>
        </p:spPr>
      </p:sp>
      <p:sp>
        <p:nvSpPr>
          <p:cNvPr id="11" name="@3 Card"/>
          <p:cNvSpPr/>
          <p:nvPr/>
        </p:nvSpPr>
        <p:spPr>
          <a:xfrm>
            <a:off x="3877056" y="1554480"/>
            <a:ext cx="1389888" cy="2377440"/>
          </a:xfrm>
          <a:prstGeom prst="roundRect">
            <a:avLst>
              <a:gd name="adj" fmla="val 7895"/>
            </a:avLst>
          </a:prstGeom>
          <a:solidFill>
            <a:srgbClr val="FFFFFF"/>
          </a:solidFill>
          <a:ln w="15875">
            <a:solidFill>
              <a:srgbClr val="002D6A"/>
            </a:solidFill>
            <a:prstDash val="solid"/>
          </a:ln>
        </p:spPr>
      </p:sp>
      <p:sp>
        <p:nvSpPr>
          <p:cNvPr id="12" name="@3 addText"/>
          <p:cNvSpPr txBox="1"/>
          <p:nvPr/>
        </p:nvSpPr>
        <p:spPr>
          <a:xfrm>
            <a:off x="3968496" y="1645920"/>
            <a:ext cx="1207008" cy="548640"/>
          </a:xfrm>
          <a:prstGeom prst="rect">
            <a:avLst/>
          </a:prstGeom>
          <a:noFill/>
          <a:ln/>
        </p:spPr>
        <p:txBody>
          <a:bodyPr wrap="square" lIns="0" tIns="0" rIns="0" bIns="0" rtlCol="0" anchor="ctr"/>
          <a:lstStyle/>
          <a:p>
            <a:pPr algn="ctr" indent="0" marL="0">
              <a:buNone/>
            </a:pPr>
            <a:r>
              <a:rPr lang="en-US" sz="1600" b="1" dirty="0">
                <a:solidFill>
                  <a:srgbClr val="002D6A"/>
                </a:solidFill>
                <a:latin typeface="Arial" pitchFamily="34" charset="0"/>
                <a:ea typeface="Arial" pitchFamily="34" charset="-122"/>
                <a:cs typeface="Arial" pitchFamily="34" charset="-120"/>
              </a:rPr>
              <a:t>3 TLD</a:t>
            </a:r>
            <a:endParaRPr lang="en-US" sz="1600" dirty="0"/>
          </a:p>
        </p:txBody>
      </p:sp>
      <p:sp>
        <p:nvSpPr>
          <p:cNvPr id="13" name="@3 addText"/>
          <p:cNvSpPr txBox="1"/>
          <p:nvPr/>
        </p:nvSpPr>
        <p:spPr>
          <a:xfrm>
            <a:off x="3968496" y="2240280"/>
            <a:ext cx="1207008" cy="1554480"/>
          </a:xfrm>
          <a:prstGeom prst="rect">
            <a:avLst/>
          </a:prstGeom>
          <a:noFill/>
          <a:ln/>
        </p:spPr>
        <p:txBody>
          <a:bodyPr wrap="square" lIns="0" tIns="0" rIns="0" bIns="0" rtlCol="0" anchor="t"/>
          <a:lstStyle/>
          <a:p>
            <a:pPr algn="ctr" indent="0" marL="0">
              <a:buNone/>
            </a:pPr>
            <a:r>
              <a:rPr lang="en-US" sz="1400" dirty="0">
                <a:solidFill>
                  <a:srgbClr val="22262E"/>
                </a:solidFill>
                <a:latin typeface="Arial" pitchFamily="34" charset="0"/>
                <a:ea typeface="Arial" pitchFamily="34" charset="-122"/>
                <a:cs typeface="Arial" pitchFamily="34" charset="-120"/>
              </a:rPr>
              <a:t>points to the authoritative server</a:t>
            </a:r>
            <a:endParaRPr lang="en-US" sz="1400" dirty="0"/>
          </a:p>
        </p:txBody>
      </p:sp>
      <p:sp>
        <p:nvSpPr>
          <p:cNvPr id="14" name="@3 arrow"/>
          <p:cNvSpPr/>
          <p:nvPr/>
        </p:nvSpPr>
        <p:spPr>
          <a:xfrm>
            <a:off x="5294376" y="2743200"/>
            <a:ext cx="265176" cy="0"/>
          </a:xfrm>
          <a:prstGeom prst="line">
            <a:avLst/>
          </a:prstGeom>
          <a:noFill/>
          <a:ln w="38100">
            <a:solidFill>
              <a:srgbClr val="002D6A"/>
            </a:solidFill>
            <a:prstDash val="solid"/>
            <a:tailEnd type="triangle"/>
          </a:ln>
        </p:spPr>
      </p:sp>
      <p:sp>
        <p:nvSpPr>
          <p:cNvPr id="15" name="@4 Card"/>
          <p:cNvSpPr/>
          <p:nvPr/>
        </p:nvSpPr>
        <p:spPr>
          <a:xfrm>
            <a:off x="5586984" y="1554480"/>
            <a:ext cx="1389888" cy="2377440"/>
          </a:xfrm>
          <a:prstGeom prst="roundRect">
            <a:avLst>
              <a:gd name="adj" fmla="val 7895"/>
            </a:avLst>
          </a:prstGeom>
          <a:solidFill>
            <a:srgbClr val="FFFFFF"/>
          </a:solidFill>
          <a:ln w="15875">
            <a:solidFill>
              <a:srgbClr val="002D6A"/>
            </a:solidFill>
            <a:prstDash val="solid"/>
          </a:ln>
        </p:spPr>
      </p:sp>
      <p:sp>
        <p:nvSpPr>
          <p:cNvPr id="16" name="@4 addText"/>
          <p:cNvSpPr txBox="1"/>
          <p:nvPr/>
        </p:nvSpPr>
        <p:spPr>
          <a:xfrm>
            <a:off x="5678424" y="1645920"/>
            <a:ext cx="1207008" cy="548640"/>
          </a:xfrm>
          <a:prstGeom prst="rect">
            <a:avLst/>
          </a:prstGeom>
          <a:noFill/>
          <a:ln/>
        </p:spPr>
        <p:txBody>
          <a:bodyPr wrap="square" lIns="0" tIns="0" rIns="0" bIns="0" rtlCol="0" anchor="ctr"/>
          <a:lstStyle/>
          <a:p>
            <a:pPr algn="ctr" indent="0" marL="0">
              <a:buNone/>
            </a:pPr>
            <a:r>
              <a:rPr lang="en-US" sz="1600" b="1" dirty="0">
                <a:solidFill>
                  <a:srgbClr val="002D6A"/>
                </a:solidFill>
                <a:latin typeface="Arial" pitchFamily="34" charset="0"/>
                <a:ea typeface="Arial" pitchFamily="34" charset="-122"/>
                <a:cs typeface="Arial" pitchFamily="34" charset="-120"/>
              </a:rPr>
              <a:t>4 Owner</a:t>
            </a:r>
            <a:endParaRPr lang="en-US" sz="1600" dirty="0"/>
          </a:p>
        </p:txBody>
      </p:sp>
      <p:sp>
        <p:nvSpPr>
          <p:cNvPr id="17" name="@4 addText"/>
          <p:cNvSpPr txBox="1"/>
          <p:nvPr/>
        </p:nvSpPr>
        <p:spPr>
          <a:xfrm>
            <a:off x="5678424" y="2240280"/>
            <a:ext cx="1207008" cy="1554480"/>
          </a:xfrm>
          <a:prstGeom prst="rect">
            <a:avLst/>
          </a:prstGeom>
          <a:noFill/>
          <a:ln/>
        </p:spPr>
        <p:txBody>
          <a:bodyPr wrap="square" lIns="0" tIns="0" rIns="0" bIns="0" rtlCol="0" anchor="t"/>
          <a:lstStyle/>
          <a:p>
            <a:pPr algn="ctr" indent="0" marL="0">
              <a:buNone/>
            </a:pPr>
            <a:r>
              <a:rPr lang="en-US" sz="1400" dirty="0">
                <a:solidFill>
                  <a:srgbClr val="22262E"/>
                </a:solidFill>
                <a:latin typeface="Arial" pitchFamily="34" charset="0"/>
                <a:ea typeface="Arial" pitchFamily="34" charset="-122"/>
                <a:cs typeface="Arial" pitchFamily="34" charset="-120"/>
              </a:rPr>
              <a:t>the domain's own server returns the IP address</a:t>
            </a:r>
            <a:endParaRPr lang="en-US" sz="1400" dirty="0"/>
          </a:p>
        </p:txBody>
      </p:sp>
      <p:sp>
        <p:nvSpPr>
          <p:cNvPr id="18" name="@4 arrow"/>
          <p:cNvSpPr/>
          <p:nvPr/>
        </p:nvSpPr>
        <p:spPr>
          <a:xfrm>
            <a:off x="7004304" y="2743200"/>
            <a:ext cx="265176" cy="0"/>
          </a:xfrm>
          <a:prstGeom prst="line">
            <a:avLst/>
          </a:prstGeom>
          <a:noFill/>
          <a:ln w="38100">
            <a:solidFill>
              <a:srgbClr val="002D6A"/>
            </a:solidFill>
            <a:prstDash val="solid"/>
            <a:tailEnd type="triangle"/>
          </a:ln>
        </p:spPr>
      </p:sp>
      <p:sp>
        <p:nvSpPr>
          <p:cNvPr id="19" name="@5 Card"/>
          <p:cNvSpPr/>
          <p:nvPr/>
        </p:nvSpPr>
        <p:spPr>
          <a:xfrm>
            <a:off x="7296912" y="1554480"/>
            <a:ext cx="1389888" cy="2377440"/>
          </a:xfrm>
          <a:prstGeom prst="roundRect">
            <a:avLst>
              <a:gd name="adj" fmla="val 7895"/>
            </a:avLst>
          </a:prstGeom>
          <a:solidFill>
            <a:srgbClr val="FFFFFF"/>
          </a:solidFill>
          <a:ln w="15875">
            <a:solidFill>
              <a:srgbClr val="002D6A"/>
            </a:solidFill>
            <a:prstDash val="solid"/>
          </a:ln>
        </p:spPr>
      </p:sp>
      <p:sp>
        <p:nvSpPr>
          <p:cNvPr id="20" name="@5 addText"/>
          <p:cNvSpPr txBox="1"/>
          <p:nvPr/>
        </p:nvSpPr>
        <p:spPr>
          <a:xfrm>
            <a:off x="7388352" y="1645920"/>
            <a:ext cx="1207008" cy="548640"/>
          </a:xfrm>
          <a:prstGeom prst="rect">
            <a:avLst/>
          </a:prstGeom>
          <a:noFill/>
          <a:ln/>
        </p:spPr>
        <p:txBody>
          <a:bodyPr wrap="square" lIns="0" tIns="0" rIns="0" bIns="0" rtlCol="0" anchor="ctr"/>
          <a:lstStyle/>
          <a:p>
            <a:pPr algn="ctr" indent="0" marL="0">
              <a:buNone/>
            </a:pPr>
            <a:r>
              <a:rPr lang="en-US" sz="1600" b="1" dirty="0">
                <a:solidFill>
                  <a:srgbClr val="002D6A"/>
                </a:solidFill>
                <a:latin typeface="Arial" pitchFamily="34" charset="0"/>
                <a:ea typeface="Arial" pitchFamily="34" charset="-122"/>
                <a:cs typeface="Arial" pitchFamily="34" charset="-120"/>
              </a:rPr>
              <a:t>5 Resolver</a:t>
            </a:r>
            <a:endParaRPr lang="en-US" sz="1600" dirty="0"/>
          </a:p>
        </p:txBody>
      </p:sp>
      <p:sp>
        <p:nvSpPr>
          <p:cNvPr id="21" name="@5 addText"/>
          <p:cNvSpPr txBox="1"/>
          <p:nvPr/>
        </p:nvSpPr>
        <p:spPr>
          <a:xfrm>
            <a:off x="7388352" y="2240280"/>
            <a:ext cx="1207008" cy="1554480"/>
          </a:xfrm>
          <a:prstGeom prst="rect">
            <a:avLst/>
          </a:prstGeom>
          <a:noFill/>
          <a:ln/>
        </p:spPr>
        <p:txBody>
          <a:bodyPr wrap="square" lIns="0" tIns="0" rIns="0" bIns="0" rtlCol="0" anchor="t"/>
          <a:lstStyle/>
          <a:p>
            <a:pPr algn="ctr" indent="0" marL="0">
              <a:buNone/>
            </a:pPr>
            <a:r>
              <a:rPr lang="en-US" sz="1400" dirty="0">
                <a:solidFill>
                  <a:srgbClr val="22262E"/>
                </a:solidFill>
                <a:latin typeface="Arial" pitchFamily="34" charset="0"/>
                <a:ea typeface="Arial" pitchFamily="34" charset="-122"/>
                <a:cs typeface="Arial" pitchFamily="34" charset="-120"/>
              </a:rPr>
              <a:t>returns it to the browser and caches it</a:t>
            </a:r>
            <a:endParaRPr lang="en-US" sz="1400" dirty="0"/>
          </a:p>
        </p:txBody>
      </p:sp>
      <p:sp>
        <p:nvSpPr>
          <p:cNvPr id="22"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b="0" lang="en-US"/>
              <a:t>6</a:t>
            </a:fld>
            <a:endParaRPr lang="en-US"/>
          </a:p>
        </p:txBody>
      </p:sp>
    </p:spTree>
  </p:cSld>
  <p:clrMapOvr>
    <a:masterClrMapping/>
  </p:clrMapOvr>
  <p:timing>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200"/>
                                        <p:tgtEl>
                                          <p:spTgt spid="3"/>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200"/>
                                        <p:tgtEl>
                                          <p:spTgt spid="4"/>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200"/>
                                        <p:tgtEl>
                                          <p:spTgt spid="5"/>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200"/>
                                        <p:tgtEl>
                                          <p:spTgt spid="6"/>
                                        </p:tgtEl>
                                      </p:cBhvr>
                                    </p:animEffect>
                                  </p:childTnLst>
                                </p:cTn>
                              </p:par>
                            </p:childTnLst>
                          </p:cTn>
                        </p:par>
                      </p:childTnLst>
                    </p:cTn>
                  </p:par>
                  <p:par>
                    <p:cTn id="29" fill="hold">
                      <p:stCondLst>
                        <p:cond delay="indefinite"/>
                      </p:stCondLst>
                      <p:childTnLst>
                        <p:par>
                          <p:cTn id="30"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200"/>
                                        <p:tgtEl>
                                          <p:spTgt spid="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200"/>
                                        <p:tgtEl>
                                          <p:spTgt spid="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200"/>
                                        <p:tgtEl>
                                          <p:spTgt spid="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200"/>
                                        <p:tgtEl>
                                          <p:spTgt spid="10"/>
                                        </p:tgtEl>
                                      </p:cBhvr>
                                    </p:animEffect>
                                  </p:childTnLst>
                                </p:cTn>
                              </p:par>
                            </p:childTnLst>
                          </p:cTn>
                        </p:par>
                      </p:childTnLst>
                    </p:cTn>
                  </p:par>
                  <p:par>
                    <p:cTn id="43" fill="hold">
                      <p:stCondLst>
                        <p:cond delay="indefinite"/>
                      </p:stCondLst>
                      <p:childTnLst>
                        <p:par>
                          <p:cTn id="44"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200"/>
                                        <p:tgtEl>
                                          <p:spTgt spid="1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200"/>
                                        <p:tgtEl>
                                          <p:spTgt spid="12"/>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200"/>
                                        <p:tgtEl>
                                          <p:spTgt spid="13"/>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200"/>
                                        <p:tgtEl>
                                          <p:spTgt spid="14"/>
                                        </p:tgtEl>
                                      </p:cBhvr>
                                    </p:animEffect>
                                  </p:childTnLst>
                                </p:cTn>
                              </p:par>
                            </p:childTnLst>
                          </p:cTn>
                        </p:par>
                      </p:childTnLst>
                    </p:cTn>
                  </p:par>
                  <p:par>
                    <p:cTn id="57" fill="hold">
                      <p:stCondLst>
                        <p:cond delay="indefinite"/>
                      </p:stCondLst>
                      <p:childTnLst>
                        <p:par>
                          <p:cTn id="58"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200"/>
                                        <p:tgtEl>
                                          <p:spTgt spid="15"/>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fade">
                                      <p:cBhvr>
                                        <p:cTn id="50" dur="200"/>
                                        <p:tgtEl>
                                          <p:spTgt spid="16"/>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fade">
                                      <p:cBhvr>
                                        <p:cTn id="53" dur="200"/>
                                        <p:tgtEl>
                                          <p:spTgt spid="17"/>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8"/>
                                        </p:tgtEl>
                                        <p:attrNameLst>
                                          <p:attrName>style.visibility</p:attrName>
                                        </p:attrNameLst>
                                      </p:cBhvr>
                                      <p:to>
                                        <p:strVal val="visible"/>
                                      </p:to>
                                    </p:set>
                                    <p:animEffect transition="in" filter="fade">
                                      <p:cBhvr>
                                        <p:cTn id="56" dur="200"/>
                                        <p:tgtEl>
                                          <p:spTgt spid="18"/>
                                        </p:tgtEl>
                                      </p:cBhvr>
                                    </p:animEffect>
                                  </p:childTnLst>
                                </p:cTn>
                              </p:par>
                            </p:childTnLst>
                          </p:cTn>
                        </p:par>
                      </p:childTnLst>
                    </p:cTn>
                  </p:par>
                  <p:par>
                    <p:cTn id="68" fill="hold">
                      <p:stCondLst>
                        <p:cond delay="indefinite"/>
                      </p:stCondLst>
                      <p:childTnLst>
                        <p:par>
                          <p:cTn id="69"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19"/>
                                        </p:tgtEl>
                                        <p:attrNameLst>
                                          <p:attrName>style.visibility</p:attrName>
                                        </p:attrNameLst>
                                      </p:cBhvr>
                                      <p:to>
                                        <p:strVal val="visible"/>
                                      </p:to>
                                    </p:set>
                                    <p:animEffect transition="in" filter="fade">
                                      <p:cBhvr>
                                        <p:cTn id="61" dur="200"/>
                                        <p:tgtEl>
                                          <p:spTgt spid="19"/>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0"/>
                                        </p:tgtEl>
                                        <p:attrNameLst>
                                          <p:attrName>style.visibility</p:attrName>
                                        </p:attrNameLst>
                                      </p:cBhvr>
                                      <p:to>
                                        <p:strVal val="visible"/>
                                      </p:to>
                                    </p:set>
                                    <p:animEffect transition="in" filter="fade">
                                      <p:cBhvr>
                                        <p:cTn id="64" dur="200"/>
                                        <p:tgtEl>
                                          <p:spTgt spid="20"/>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1"/>
                                        </p:tgtEl>
                                        <p:attrNameLst>
                                          <p:attrName>style.visibility</p:attrName>
                                        </p:attrNameLst>
                                      </p:cBhvr>
                                      <p:to>
                                        <p:strVal val="visible"/>
                                      </p:to>
                                    </p:set>
                                    <p:animEffect transition="in" filter="fade">
                                      <p:cBhvr>
                                        <p:cTn id="67" dur="2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rgbClr val="001B40"/>
                </a:solidFill>
                <a:latin typeface="Arial" pitchFamily="34" charset="0"/>
                <a:ea typeface="Arial" pitchFamily="34" charset="-122"/>
                <a:cs typeface="Arial" pitchFamily="34" charset="-120"/>
              </a:rPr>
              <a:t>DNS role cards</a:t>
            </a:r>
            <a:endParaRPr lang="en-US" sz="3000" dirty="0"/>
          </a:p>
        </p:txBody>
      </p:sp>
      <p:sp>
        <p:nvSpPr>
          <p:cNvPr id="3" name="@1 Card"/>
          <p:cNvSpPr/>
          <p:nvPr/>
        </p:nvSpPr>
        <p:spPr>
          <a:xfrm>
            <a:off x="457200" y="1188720"/>
            <a:ext cx="1499616" cy="2377440"/>
          </a:xfrm>
          <a:prstGeom prst="roundRect">
            <a:avLst>
              <a:gd name="adj" fmla="val 7317"/>
            </a:avLst>
          </a:prstGeom>
          <a:solidFill>
            <a:srgbClr val="EEF2F7"/>
          </a:solidFill>
          <a:ln w="9525">
            <a:solidFill>
              <a:srgbClr val="C5D1E3"/>
            </a:solidFill>
            <a:prstDash val="solid"/>
          </a:ln>
        </p:spPr>
      </p:sp>
      <p:sp>
        <p:nvSpPr>
          <p:cNvPr id="4" name="@1 addText"/>
          <p:cNvSpPr txBox="1"/>
          <p:nvPr/>
        </p:nvSpPr>
        <p:spPr>
          <a:xfrm>
            <a:off x="594360" y="1280160"/>
            <a:ext cx="1225296" cy="457200"/>
          </a:xfrm>
          <a:prstGeom prst="rect">
            <a:avLst/>
          </a:prstGeom>
          <a:noFill/>
          <a:ln/>
        </p:spPr>
        <p:txBody>
          <a:bodyPr wrap="square" lIns="0" tIns="0" rIns="0" bIns="0" rtlCol="0" anchor="ctr"/>
          <a:lstStyle/>
          <a:p>
            <a:pPr indent="0" marL="0">
              <a:buNone/>
            </a:pPr>
            <a:r>
              <a:rPr lang="en-US" sz="2000" b="1" dirty="0">
                <a:solidFill>
                  <a:srgbClr val="002D6A"/>
                </a:solidFill>
                <a:latin typeface="Arial" pitchFamily="34" charset="0"/>
                <a:ea typeface="Arial" pitchFamily="34" charset="-122"/>
                <a:cs typeface="Arial" pitchFamily="34" charset="-120"/>
              </a:rPr>
              <a:t>Browser</a:t>
            </a:r>
            <a:endParaRPr lang="en-US" sz="2000" dirty="0"/>
          </a:p>
        </p:txBody>
      </p:sp>
      <p:sp>
        <p:nvSpPr>
          <p:cNvPr id="5" name="@1 addText"/>
          <p:cNvSpPr txBox="1"/>
          <p:nvPr/>
        </p:nvSpPr>
        <p:spPr>
          <a:xfrm>
            <a:off x="594360" y="1783080"/>
            <a:ext cx="1225296" cy="1645920"/>
          </a:xfrm>
          <a:prstGeom prst="rect">
            <a:avLst/>
          </a:prstGeom>
          <a:noFill/>
          <a:ln/>
        </p:spPr>
        <p:txBody>
          <a:bodyPr wrap="square" lIns="0" tIns="0" rIns="0" bIns="0" rtlCol="0" anchor="t"/>
          <a:lstStyle/>
          <a:p>
            <a:pPr indent="0" marL="0">
              <a:buNone/>
            </a:pPr>
            <a:r>
              <a:rPr lang="en-US" sz="1400" dirty="0">
                <a:solidFill>
                  <a:srgbClr val="22262E"/>
                </a:solidFill>
                <a:latin typeface="Arial" pitchFamily="34" charset="0"/>
                <a:ea typeface="Arial" pitchFamily="34" charset="-122"/>
                <a:cs typeface="Arial" pitchFamily="34" charset="-120"/>
              </a:rPr>
              <a:t>I need the IP of www.example.co.uk. I ask my local resolver.</a:t>
            </a:r>
            <a:endParaRPr lang="en-US" sz="1400" dirty="0"/>
          </a:p>
        </p:txBody>
      </p:sp>
      <p:sp>
        <p:nvSpPr>
          <p:cNvPr id="6" name="@2 Card"/>
          <p:cNvSpPr/>
          <p:nvPr/>
        </p:nvSpPr>
        <p:spPr>
          <a:xfrm>
            <a:off x="2139696" y="1188720"/>
            <a:ext cx="1499616" cy="2377440"/>
          </a:xfrm>
          <a:prstGeom prst="roundRect">
            <a:avLst>
              <a:gd name="adj" fmla="val 7317"/>
            </a:avLst>
          </a:prstGeom>
          <a:solidFill>
            <a:srgbClr val="EEF2F7"/>
          </a:solidFill>
          <a:ln w="9525">
            <a:solidFill>
              <a:srgbClr val="C5D1E3"/>
            </a:solidFill>
            <a:prstDash val="solid"/>
          </a:ln>
        </p:spPr>
      </p:sp>
      <p:sp>
        <p:nvSpPr>
          <p:cNvPr id="7" name="@2 addText"/>
          <p:cNvSpPr txBox="1"/>
          <p:nvPr/>
        </p:nvSpPr>
        <p:spPr>
          <a:xfrm>
            <a:off x="2276856" y="1280160"/>
            <a:ext cx="1225296" cy="457200"/>
          </a:xfrm>
          <a:prstGeom prst="rect">
            <a:avLst/>
          </a:prstGeom>
          <a:noFill/>
          <a:ln/>
        </p:spPr>
        <p:txBody>
          <a:bodyPr wrap="square" lIns="0" tIns="0" rIns="0" bIns="0" rtlCol="0" anchor="ctr"/>
          <a:lstStyle/>
          <a:p>
            <a:pPr indent="0" marL="0">
              <a:buNone/>
            </a:pPr>
            <a:r>
              <a:rPr lang="en-US" sz="2000" b="1" dirty="0">
                <a:solidFill>
                  <a:srgbClr val="002D6A"/>
                </a:solidFill>
                <a:latin typeface="Arial" pitchFamily="34" charset="0"/>
                <a:ea typeface="Arial" pitchFamily="34" charset="-122"/>
                <a:cs typeface="Arial" pitchFamily="34" charset="-120"/>
              </a:rPr>
              <a:t>Resolver</a:t>
            </a:r>
            <a:endParaRPr lang="en-US" sz="2000" dirty="0"/>
          </a:p>
        </p:txBody>
      </p:sp>
      <p:sp>
        <p:nvSpPr>
          <p:cNvPr id="8" name="@2 addText"/>
          <p:cNvSpPr txBox="1"/>
          <p:nvPr/>
        </p:nvSpPr>
        <p:spPr>
          <a:xfrm>
            <a:off x="2276856" y="1783080"/>
            <a:ext cx="1225296" cy="1645920"/>
          </a:xfrm>
          <a:prstGeom prst="rect">
            <a:avLst/>
          </a:prstGeom>
          <a:noFill/>
          <a:ln/>
        </p:spPr>
        <p:txBody>
          <a:bodyPr wrap="square" lIns="0" tIns="0" rIns="0" bIns="0" rtlCol="0" anchor="t"/>
          <a:lstStyle/>
          <a:p>
            <a:pPr indent="0" marL="0">
              <a:buNone/>
            </a:pPr>
            <a:r>
              <a:rPr lang="en-US" sz="1400" dirty="0">
                <a:solidFill>
                  <a:srgbClr val="22262E"/>
                </a:solidFill>
                <a:latin typeface="Arial" pitchFamily="34" charset="0"/>
                <a:ea typeface="Arial" pitchFamily="34" charset="-122"/>
                <a:cs typeface="Arial" pitchFamily="34" charset="-120"/>
              </a:rPr>
              <a:t>I do the work for the browser and ask each server in turn. I keep the answer.</a:t>
            </a:r>
            <a:endParaRPr lang="en-US" sz="1400" dirty="0"/>
          </a:p>
        </p:txBody>
      </p:sp>
      <p:sp>
        <p:nvSpPr>
          <p:cNvPr id="9" name="@3 Card"/>
          <p:cNvSpPr/>
          <p:nvPr/>
        </p:nvSpPr>
        <p:spPr>
          <a:xfrm>
            <a:off x="3822192" y="1188720"/>
            <a:ext cx="1499616" cy="2377440"/>
          </a:xfrm>
          <a:prstGeom prst="roundRect">
            <a:avLst>
              <a:gd name="adj" fmla="val 7317"/>
            </a:avLst>
          </a:prstGeom>
          <a:solidFill>
            <a:srgbClr val="EEF2F7"/>
          </a:solidFill>
          <a:ln w="9525">
            <a:solidFill>
              <a:srgbClr val="C5D1E3"/>
            </a:solidFill>
            <a:prstDash val="solid"/>
          </a:ln>
        </p:spPr>
      </p:sp>
      <p:sp>
        <p:nvSpPr>
          <p:cNvPr id="10" name="@3 addText"/>
          <p:cNvSpPr txBox="1"/>
          <p:nvPr/>
        </p:nvSpPr>
        <p:spPr>
          <a:xfrm>
            <a:off x="3959352" y="1280160"/>
            <a:ext cx="1225296" cy="457200"/>
          </a:xfrm>
          <a:prstGeom prst="rect">
            <a:avLst/>
          </a:prstGeom>
          <a:noFill/>
          <a:ln/>
        </p:spPr>
        <p:txBody>
          <a:bodyPr wrap="square" lIns="0" tIns="0" rIns="0" bIns="0" rtlCol="0" anchor="ctr"/>
          <a:lstStyle/>
          <a:p>
            <a:pPr indent="0" marL="0">
              <a:buNone/>
            </a:pPr>
            <a:r>
              <a:rPr lang="en-US" sz="2000" b="1" dirty="0">
                <a:solidFill>
                  <a:srgbClr val="002D6A"/>
                </a:solidFill>
                <a:latin typeface="Arial" pitchFamily="34" charset="0"/>
                <a:ea typeface="Arial" pitchFamily="34" charset="-122"/>
                <a:cs typeface="Arial" pitchFamily="34" charset="-120"/>
              </a:rPr>
              <a:t>Root</a:t>
            </a:r>
            <a:endParaRPr lang="en-US" sz="2000" dirty="0"/>
          </a:p>
        </p:txBody>
      </p:sp>
      <p:sp>
        <p:nvSpPr>
          <p:cNvPr id="11" name="@3 addText"/>
          <p:cNvSpPr txBox="1"/>
          <p:nvPr/>
        </p:nvSpPr>
        <p:spPr>
          <a:xfrm>
            <a:off x="3959352" y="1783080"/>
            <a:ext cx="1225296" cy="1645920"/>
          </a:xfrm>
          <a:prstGeom prst="rect">
            <a:avLst/>
          </a:prstGeom>
          <a:noFill/>
          <a:ln/>
        </p:spPr>
        <p:txBody>
          <a:bodyPr wrap="square" lIns="0" tIns="0" rIns="0" bIns="0" rtlCol="0" anchor="t"/>
          <a:lstStyle/>
          <a:p>
            <a:pPr indent="0" marL="0">
              <a:buNone/>
            </a:pPr>
            <a:r>
              <a:rPr lang="en-US" sz="1400" dirty="0">
                <a:solidFill>
                  <a:srgbClr val="22262E"/>
                </a:solidFill>
                <a:latin typeface="Arial" pitchFamily="34" charset="0"/>
                <a:ea typeface="Arial" pitchFamily="34" charset="-122"/>
                <a:cs typeface="Arial" pitchFamily="34" charset="-120"/>
              </a:rPr>
              <a:t>I only know who looks after each TLD. For .uk: ask the .uk server.</a:t>
            </a:r>
            <a:endParaRPr lang="en-US" sz="1400" dirty="0"/>
          </a:p>
        </p:txBody>
      </p:sp>
      <p:sp>
        <p:nvSpPr>
          <p:cNvPr id="12" name="@4 Card"/>
          <p:cNvSpPr/>
          <p:nvPr/>
        </p:nvSpPr>
        <p:spPr>
          <a:xfrm>
            <a:off x="5504688" y="1188720"/>
            <a:ext cx="1499616" cy="2377440"/>
          </a:xfrm>
          <a:prstGeom prst="roundRect">
            <a:avLst>
              <a:gd name="adj" fmla="val 7317"/>
            </a:avLst>
          </a:prstGeom>
          <a:solidFill>
            <a:srgbClr val="EEF2F7"/>
          </a:solidFill>
          <a:ln w="9525">
            <a:solidFill>
              <a:srgbClr val="C5D1E3"/>
            </a:solidFill>
            <a:prstDash val="solid"/>
          </a:ln>
        </p:spPr>
      </p:sp>
      <p:sp>
        <p:nvSpPr>
          <p:cNvPr id="13" name="@4 addText"/>
          <p:cNvSpPr txBox="1"/>
          <p:nvPr/>
        </p:nvSpPr>
        <p:spPr>
          <a:xfrm>
            <a:off x="5641848" y="1280160"/>
            <a:ext cx="1225296" cy="457200"/>
          </a:xfrm>
          <a:prstGeom prst="rect">
            <a:avLst/>
          </a:prstGeom>
          <a:noFill/>
          <a:ln/>
        </p:spPr>
        <p:txBody>
          <a:bodyPr wrap="square" lIns="0" tIns="0" rIns="0" bIns="0" rtlCol="0" anchor="ctr"/>
          <a:lstStyle/>
          <a:p>
            <a:pPr indent="0" marL="0">
              <a:buNone/>
            </a:pPr>
            <a:r>
              <a:rPr lang="en-US" sz="2000" b="1" dirty="0">
                <a:solidFill>
                  <a:srgbClr val="002D6A"/>
                </a:solidFill>
                <a:latin typeface="Arial" pitchFamily="34" charset="0"/>
                <a:ea typeface="Arial" pitchFamily="34" charset="-122"/>
                <a:cs typeface="Arial" pitchFamily="34" charset="-120"/>
              </a:rPr>
              <a:t>TLD (.uk)</a:t>
            </a:r>
            <a:endParaRPr lang="en-US" sz="2000" dirty="0"/>
          </a:p>
        </p:txBody>
      </p:sp>
      <p:sp>
        <p:nvSpPr>
          <p:cNvPr id="14" name="@4 addText"/>
          <p:cNvSpPr txBox="1"/>
          <p:nvPr/>
        </p:nvSpPr>
        <p:spPr>
          <a:xfrm>
            <a:off x="5641848" y="1783080"/>
            <a:ext cx="1225296" cy="1645920"/>
          </a:xfrm>
          <a:prstGeom prst="rect">
            <a:avLst/>
          </a:prstGeom>
          <a:noFill/>
          <a:ln/>
        </p:spPr>
        <p:txBody>
          <a:bodyPr wrap="square" lIns="0" tIns="0" rIns="0" bIns="0" rtlCol="0" anchor="t"/>
          <a:lstStyle/>
          <a:p>
            <a:pPr indent="0" marL="0">
              <a:buNone/>
            </a:pPr>
            <a:r>
              <a:rPr lang="en-US" sz="1400" dirty="0">
                <a:solidFill>
                  <a:srgbClr val="22262E"/>
                </a:solidFill>
                <a:latin typeface="Arial" pitchFamily="34" charset="0"/>
                <a:ea typeface="Arial" pitchFamily="34" charset="-122"/>
                <a:cs typeface="Arial" pitchFamily="34" charset="-120"/>
              </a:rPr>
              <a:t>I know who looks after example.co.uk: ask that domain's own server.</a:t>
            </a:r>
            <a:endParaRPr lang="en-US" sz="1400" dirty="0"/>
          </a:p>
        </p:txBody>
      </p:sp>
      <p:sp>
        <p:nvSpPr>
          <p:cNvPr id="15" name="@5 Card"/>
          <p:cNvSpPr/>
          <p:nvPr/>
        </p:nvSpPr>
        <p:spPr>
          <a:xfrm>
            <a:off x="7187184" y="1188720"/>
            <a:ext cx="1499616" cy="2377440"/>
          </a:xfrm>
          <a:prstGeom prst="roundRect">
            <a:avLst>
              <a:gd name="adj" fmla="val 7317"/>
            </a:avLst>
          </a:prstGeom>
          <a:solidFill>
            <a:srgbClr val="EEF2F7"/>
          </a:solidFill>
          <a:ln w="9525">
            <a:solidFill>
              <a:srgbClr val="C5D1E3"/>
            </a:solidFill>
            <a:prstDash val="solid"/>
          </a:ln>
        </p:spPr>
      </p:sp>
      <p:sp>
        <p:nvSpPr>
          <p:cNvPr id="16" name="@5 addText"/>
          <p:cNvSpPr txBox="1"/>
          <p:nvPr/>
        </p:nvSpPr>
        <p:spPr>
          <a:xfrm>
            <a:off x="7324344" y="1280160"/>
            <a:ext cx="1225296" cy="457200"/>
          </a:xfrm>
          <a:prstGeom prst="rect">
            <a:avLst/>
          </a:prstGeom>
          <a:noFill/>
          <a:ln/>
        </p:spPr>
        <p:txBody>
          <a:bodyPr wrap="square" lIns="0" tIns="0" rIns="0" bIns="0" rtlCol="0" anchor="ctr"/>
          <a:lstStyle/>
          <a:p>
            <a:pPr indent="0" marL="0">
              <a:buNone/>
            </a:pPr>
            <a:r>
              <a:rPr lang="en-US" sz="2000" b="1" dirty="0">
                <a:solidFill>
                  <a:srgbClr val="002D6A"/>
                </a:solidFill>
                <a:latin typeface="Arial" pitchFamily="34" charset="0"/>
                <a:ea typeface="Arial" pitchFamily="34" charset="-122"/>
                <a:cs typeface="Arial" pitchFamily="34" charset="-120"/>
              </a:rPr>
              <a:t>Owner</a:t>
            </a:r>
            <a:endParaRPr lang="en-US" sz="2000" dirty="0"/>
          </a:p>
        </p:txBody>
      </p:sp>
      <p:sp>
        <p:nvSpPr>
          <p:cNvPr id="17" name="@5 addText"/>
          <p:cNvSpPr txBox="1"/>
          <p:nvPr/>
        </p:nvSpPr>
        <p:spPr>
          <a:xfrm>
            <a:off x="7324344" y="1783080"/>
            <a:ext cx="1225296" cy="1645920"/>
          </a:xfrm>
          <a:prstGeom prst="rect">
            <a:avLst/>
          </a:prstGeom>
          <a:noFill/>
          <a:ln/>
        </p:spPr>
        <p:txBody>
          <a:bodyPr wrap="square" lIns="0" tIns="0" rIns="0" bIns="0" rtlCol="0" anchor="t"/>
          <a:lstStyle/>
          <a:p>
            <a:pPr indent="0" marL="0">
              <a:buNone/>
            </a:pPr>
            <a:r>
              <a:rPr lang="en-US" sz="1400" dirty="0">
                <a:solidFill>
                  <a:srgbClr val="22262E"/>
                </a:solidFill>
                <a:latin typeface="Arial" pitchFamily="34" charset="0"/>
                <a:ea typeface="Arial" pitchFamily="34" charset="-122"/>
                <a:cs typeface="Arial" pitchFamily="34" charset="-120"/>
              </a:rPr>
              <a:t>I hold the record. www.example.co.uk is 203.0.113.10.</a:t>
            </a:r>
            <a:endParaRPr lang="en-US" sz="1400" dirty="0"/>
          </a:p>
        </p:txBody>
      </p:sp>
      <p:sp>
        <p:nvSpPr>
          <p:cNvPr id="18"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b="0" lang="en-US"/>
              <a:t>7</a:t>
            </a:fld>
            <a:endParaRPr lang="en-US"/>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200"/>
                                        <p:tgtEl>
                                          <p:spTgt spid="3"/>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200"/>
                                        <p:tgtEl>
                                          <p:spTgt spid="4"/>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200"/>
                                        <p:tgtEl>
                                          <p:spTgt spid="5"/>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2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200"/>
                                        <p:tgtEl>
                                          <p:spTgt spid="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200"/>
                                        <p:tgtEl>
                                          <p:spTgt spid="8"/>
                                        </p:tgtEl>
                                      </p:cBhvr>
                                    </p:animEffect>
                                  </p:childTnLst>
                                </p:cTn>
                              </p:par>
                            </p:childTnLst>
                          </p:cTn>
                        </p:par>
                      </p:childTnLst>
                    </p:cTn>
                  </p:par>
                  <p:par>
                    <p:cTn id="34" fill="hold">
                      <p:stCondLst>
                        <p:cond delay="indefinite"/>
                      </p:stCondLst>
                      <p:childTnLst>
                        <p:par>
                          <p:cTn id="35"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200"/>
                                        <p:tgtEl>
                                          <p:spTgt spid="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200"/>
                                        <p:tgtEl>
                                          <p:spTgt spid="1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200"/>
                                        <p:tgtEl>
                                          <p:spTgt spid="11"/>
                                        </p:tgtEl>
                                      </p:cBhvr>
                                    </p:animEffect>
                                  </p:childTnLst>
                                </p:cTn>
                              </p:par>
                            </p:childTnLst>
                          </p:cTn>
                        </p:par>
                      </p:childTnLst>
                    </p:cTn>
                  </p:par>
                  <p:par>
                    <p:cTn id="45" fill="hold">
                      <p:stCondLst>
                        <p:cond delay="indefinite"/>
                      </p:stCondLst>
                      <p:childTnLst>
                        <p:par>
                          <p:cTn id="46"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200"/>
                                        <p:tgtEl>
                                          <p:spTgt spid="12"/>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200"/>
                                        <p:tgtEl>
                                          <p:spTgt spid="13"/>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200"/>
                                        <p:tgtEl>
                                          <p:spTgt spid="14"/>
                                        </p:tgtEl>
                                      </p:cBhvr>
                                    </p:animEffect>
                                  </p:childTnLst>
                                </p:cTn>
                              </p:par>
                            </p:childTnLst>
                          </p:cTn>
                        </p:par>
                      </p:childTnLst>
                    </p:cTn>
                  </p:par>
                  <p:par>
                    <p:cTn id="56" fill="hold">
                      <p:stCondLst>
                        <p:cond delay="indefinite"/>
                      </p:stCondLst>
                      <p:childTnLst>
                        <p:par>
                          <p:cTn id="57"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5"/>
                                        </p:tgtEl>
                                        <p:attrNameLst>
                                          <p:attrName>style.visibility</p:attrName>
                                        </p:attrNameLst>
                                      </p:cBhvr>
                                      <p:to>
                                        <p:strVal val="visible"/>
                                      </p:to>
                                    </p:set>
                                    <p:animEffect transition="in" filter="fade">
                                      <p:cBhvr>
                                        <p:cTn id="49" dur="200"/>
                                        <p:tgtEl>
                                          <p:spTgt spid="15"/>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200"/>
                                        <p:tgtEl>
                                          <p:spTgt spid="16"/>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7"/>
                                        </p:tgtEl>
                                        <p:attrNameLst>
                                          <p:attrName>style.visibility</p:attrName>
                                        </p:attrNameLst>
                                      </p:cBhvr>
                                      <p:to>
                                        <p:strVal val="visible"/>
                                      </p:to>
                                    </p:set>
                                    <p:animEffect transition="in" filter="fade">
                                      <p:cBhvr>
                                        <p:cTn id="55" dur="2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6583680" cy="1371600"/>
          </a:xfrm>
          <a:prstGeom prst="rect">
            <a:avLst/>
          </a:prstGeom>
          <a:noFill/>
          <a:ln/>
        </p:spPr>
        <p:txBody>
          <a:bodyPr wrap="square" lIns="0" tIns="0" rIns="0" bIns="0" rtlCol="0" anchor="t"/>
          <a:lstStyle/>
          <a:p>
            <a:pPr algn="l" indent="0" marL="0">
              <a:buNone/>
            </a:pPr>
            <a:r>
              <a:rPr lang="en-US" sz="3400" b="1" dirty="0">
                <a:solidFill>
                  <a:srgbClr val="FFFFFF"/>
                </a:solidFill>
                <a:latin typeface="Arial" pitchFamily="34" charset="0"/>
                <a:ea typeface="Arial" pitchFamily="34" charset="-122"/>
                <a:cs typeface="Arial" pitchFamily="34" charset="-120"/>
              </a:rPr>
              <a:t>Task 2: DNS role play</a:t>
            </a:r>
            <a:endParaRPr lang="en-US" sz="3400" dirty="0"/>
          </a:p>
        </p:txBody>
      </p:sp>
      <p:sp>
        <p:nvSpPr>
          <p:cNvPr id="3" name="Text 1"/>
          <p:cNvSpPr txBox="1"/>
          <p:nvPr/>
        </p:nvSpPr>
        <p:spPr>
          <a:xfrm>
            <a:off x="548640" y="640080"/>
            <a:ext cx="3657600" cy="457200"/>
          </a:xfrm>
          <a:prstGeom prst="rect">
            <a:avLst/>
          </a:prstGeom>
          <a:noFill/>
          <a:ln/>
        </p:spPr>
        <p:txBody>
          <a:bodyPr wrap="square" lIns="0" tIns="0" rIns="0" bIns="0" rtlCol="0" anchor="ctr"/>
          <a:lstStyle/>
          <a:p>
            <a:pPr indent="0" marL="0">
              <a:buNone/>
            </a:pPr>
            <a:r>
              <a:rPr lang="en-US" sz="2200" b="1" spc="400" kern="0" dirty="0">
                <a:solidFill>
                  <a:srgbClr val="A9C4E8"/>
                </a:solidFill>
                <a:latin typeface="Arial" pitchFamily="34" charset="0"/>
                <a:ea typeface="Arial" pitchFamily="34" charset="-122"/>
                <a:cs typeface="Arial" pitchFamily="34" charset="-120"/>
              </a:rPr>
              <a:t>TASK</a:t>
            </a:r>
            <a:endParaRPr lang="en-US" sz="2200" dirty="0"/>
          </a:p>
        </p:txBody>
      </p:sp>
      <p:sp>
        <p:nvSpPr>
          <p:cNvPr id="4" name="Text 2"/>
          <p:cNvSpPr txBox="1"/>
          <p:nvPr/>
        </p:nvSpPr>
        <p:spPr>
          <a:xfrm>
            <a:off x="548640" y="2743200"/>
            <a:ext cx="5852160" cy="822960"/>
          </a:xfrm>
          <a:prstGeom prst="rect">
            <a:avLst/>
          </a:prstGeom>
          <a:noFill/>
          <a:ln/>
        </p:spPr>
        <p:txBody>
          <a:bodyPr wrap="square" lIns="0" tIns="0" rIns="0" bIns="0" rtlCol="0" anchor="t"/>
          <a:lstStyle/>
          <a:p>
            <a:pPr indent="0" marL="0">
              <a:buNone/>
            </a:pPr>
            <a:r>
              <a:rPr lang="en-US" sz="1800" dirty="0">
                <a:solidFill>
                  <a:srgbClr val="C5D1E3"/>
                </a:solidFill>
                <a:latin typeface="Arial" pitchFamily="34" charset="0"/>
                <a:ea typeface="Arial" pitchFamily="34" charset="-122"/>
                <a:cs typeface="Arial" pitchFamily="34" charset="-120"/>
              </a:rPr>
              <a:t>Act out finding the IP address of a domain name, then run the dns command in the web terminal to compare.</a:t>
            </a:r>
            <a:endParaRPr lang="en-US" sz="1800" dirty="0"/>
          </a:p>
        </p:txBody>
      </p:sp>
      <p:sp>
        <p:nvSpPr>
          <p:cNvPr id="5" name="Timer pill"/>
          <p:cNvSpPr/>
          <p:nvPr/>
        </p:nvSpPr>
        <p:spPr>
          <a:xfrm>
            <a:off x="548640" y="3840480"/>
            <a:ext cx="2194560" cy="640080"/>
          </a:xfrm>
          <a:prstGeom prst="roundRect">
            <a:avLst>
              <a:gd name="adj" fmla="val 50000"/>
            </a:avLst>
          </a:prstGeom>
          <a:solidFill>
            <a:srgbClr val="A9C4E8"/>
          </a:solidFill>
          <a:ln w="12700">
            <a:solidFill>
              <a:srgbClr val="A9C4E8"/>
            </a:solidFill>
            <a:prstDash val="solid"/>
          </a:ln>
        </p:spPr>
      </p:sp>
      <p:pic>
        <p:nvPicPr>
          <p:cNvPr id="6" name="Image 0" descr="clock">    </p:cNvPr>
          <p:cNvPicPr>
            <a:picLocks noChangeAspect="1"/>
          </p:cNvPicPr>
          <p:nvPr/>
        </p:nvPicPr>
        <p:blipFill>
          <a:blip r:embed="rId1"/>
          <a:stretch>
            <a:fillRect/>
          </a:stretch>
        </p:blipFill>
        <p:spPr>
          <a:xfrm>
            <a:off x="749808" y="3995928"/>
            <a:ext cx="329184" cy="329184"/>
          </a:xfrm>
          <a:prstGeom prst="rect">
            <a:avLst/>
          </a:prstGeom>
        </p:spPr>
      </p:pic>
      <p:sp>
        <p:nvSpPr>
          <p:cNvPr id="7" name="Text 4"/>
          <p:cNvSpPr txBox="1"/>
          <p:nvPr/>
        </p:nvSpPr>
        <p:spPr>
          <a:xfrm>
            <a:off x="1170432" y="3840480"/>
            <a:ext cx="1463040" cy="640080"/>
          </a:xfrm>
          <a:prstGeom prst="rect">
            <a:avLst/>
          </a:prstGeom>
          <a:noFill/>
          <a:ln/>
        </p:spPr>
        <p:txBody>
          <a:bodyPr wrap="square" lIns="0" tIns="0" rIns="0" bIns="0" rtlCol="0" anchor="ctr"/>
          <a:lstStyle/>
          <a:p>
            <a:pPr indent="0" marL="0">
              <a:buNone/>
            </a:pPr>
            <a:r>
              <a:rPr lang="en-US" sz="2000" b="1" dirty="0">
                <a:solidFill>
                  <a:srgbClr val="001B40"/>
                </a:solidFill>
                <a:latin typeface="Arial" pitchFamily="34" charset="0"/>
                <a:ea typeface="Arial" pitchFamily="34" charset="-122"/>
                <a:cs typeface="Arial" pitchFamily="34" charset="-120"/>
              </a:rPr>
              <a:t>15 min</a:t>
            </a:r>
            <a:endParaRPr lang="en-US" sz="2000" dirty="0"/>
          </a:p>
        </p:txBody>
      </p:sp>
      <p:sp>
        <p:nvSpPr>
          <p:cNvPr id="8" name="Text 5"/>
          <p:cNvSpPr txBox="1"/>
          <p:nvPr/>
        </p:nvSpPr>
        <p:spPr>
          <a:xfrm>
            <a:off x="548640" y="4617720"/>
            <a:ext cx="5486400" cy="274320"/>
          </a:xfrm>
          <a:prstGeom prst="rect">
            <a:avLst/>
          </a:prstGeom>
          <a:noFill/>
          <a:ln/>
        </p:spPr>
        <p:txBody>
          <a:bodyPr wrap="square" lIns="0" tIns="0" rIns="0" bIns="0" rtlCol="0" anchor="ctr"/>
          <a:lstStyle/>
          <a:p>
            <a:pPr indent="0" marL="0">
              <a:buNone/>
            </a:pPr>
            <a:r>
              <a:rPr lang="en-US" sz="1200" dirty="0">
                <a:solidFill>
                  <a:srgbClr val="C5D1E3"/>
                </a:solidFill>
                <a:latin typeface="Arial" pitchFamily="34" charset="0"/>
                <a:ea typeface="Arial" pitchFamily="34" charset="-122"/>
                <a:cs typeface="Arial" pitchFamily="34" charset="-120"/>
              </a:rPr>
              <a:t>OneNote: Lesson Tasks, Task 2</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rgbClr val="001B40"/>
                </a:solidFill>
                <a:latin typeface="Arial" pitchFamily="34" charset="0"/>
                <a:ea typeface="Arial" pitchFamily="34" charset="-122"/>
                <a:cs typeface="Arial" pitchFamily="34" charset="-120"/>
              </a:rPr>
              <a:t>Routing and TTL</a:t>
            </a:r>
            <a:endParaRPr lang="en-US" sz="3000" dirty="0"/>
          </a:p>
        </p:txBody>
      </p:sp>
      <p:sp>
        <p:nvSpPr>
          <p:cNvPr id="3" name="@1 Card"/>
          <p:cNvSpPr/>
          <p:nvPr/>
        </p:nvSpPr>
        <p:spPr>
          <a:xfrm>
            <a:off x="457200" y="1188720"/>
            <a:ext cx="8229600" cy="742950"/>
          </a:xfrm>
          <a:prstGeom prst="roundRect">
            <a:avLst>
              <a:gd name="adj" fmla="val 14769"/>
            </a:avLst>
          </a:prstGeom>
          <a:solidFill>
            <a:srgbClr val="EEF2F7"/>
          </a:solidFill>
          <a:ln w="9525">
            <a:solidFill>
              <a:srgbClr val="C5D1E3"/>
            </a:solidFill>
            <a:prstDash val="solid"/>
          </a:ln>
        </p:spPr>
      </p:sp>
      <p:sp>
        <p:nvSpPr>
          <p:cNvPr id="4" name="@1 addText"/>
          <p:cNvSpPr txBox="1"/>
          <p:nvPr/>
        </p:nvSpPr>
        <p:spPr>
          <a:xfrm>
            <a:off x="731520" y="1188720"/>
            <a:ext cx="7680960" cy="742950"/>
          </a:xfrm>
          <a:prstGeom prst="rect">
            <a:avLst/>
          </a:prstGeom>
          <a:noFill/>
          <a:ln/>
        </p:spPr>
        <p:txBody>
          <a:bodyPr wrap="square" lIns="0" tIns="0" rIns="0" bIns="0" rtlCol="0" anchor="ctr"/>
          <a:lstStyle/>
          <a:p>
            <a:pPr indent="0" marL="0">
              <a:buNone/>
            </a:pPr>
            <a:r>
              <a:rPr lang="en-US" sz="1800" dirty="0">
                <a:solidFill>
                  <a:srgbClr val="22262E"/>
                </a:solidFill>
                <a:latin typeface="Arial" pitchFamily="34" charset="0"/>
                <a:ea typeface="Arial" pitchFamily="34" charset="-122"/>
                <a:cs typeface="Arial" pitchFamily="34" charset="-120"/>
              </a:rPr>
              <a:t>A router looks at the destination IP in its routing table and forwards to the next hop</a:t>
            </a:r>
            <a:endParaRPr lang="en-US" sz="1800" dirty="0"/>
          </a:p>
        </p:txBody>
      </p:sp>
      <p:sp>
        <p:nvSpPr>
          <p:cNvPr id="5" name="@2 Card"/>
          <p:cNvSpPr/>
          <p:nvPr/>
        </p:nvSpPr>
        <p:spPr>
          <a:xfrm>
            <a:off x="457200" y="2068830"/>
            <a:ext cx="8229600" cy="742950"/>
          </a:xfrm>
          <a:prstGeom prst="roundRect">
            <a:avLst>
              <a:gd name="adj" fmla="val 14769"/>
            </a:avLst>
          </a:prstGeom>
          <a:solidFill>
            <a:srgbClr val="EEF2F7"/>
          </a:solidFill>
          <a:ln w="9525">
            <a:solidFill>
              <a:srgbClr val="C5D1E3"/>
            </a:solidFill>
            <a:prstDash val="solid"/>
          </a:ln>
        </p:spPr>
      </p:sp>
      <p:sp>
        <p:nvSpPr>
          <p:cNvPr id="6" name="@2 addText"/>
          <p:cNvSpPr txBox="1"/>
          <p:nvPr/>
        </p:nvSpPr>
        <p:spPr>
          <a:xfrm>
            <a:off x="731520" y="2068830"/>
            <a:ext cx="7680960" cy="742950"/>
          </a:xfrm>
          <a:prstGeom prst="rect">
            <a:avLst/>
          </a:prstGeom>
          <a:noFill/>
          <a:ln/>
        </p:spPr>
        <p:txBody>
          <a:bodyPr wrap="square" lIns="0" tIns="0" rIns="0" bIns="0" rtlCol="0" anchor="ctr"/>
          <a:lstStyle/>
          <a:p>
            <a:pPr indent="0" marL="0">
              <a:buNone/>
            </a:pPr>
            <a:r>
              <a:rPr lang="en-US" sz="1800" dirty="0">
                <a:solidFill>
                  <a:srgbClr val="22262E"/>
                </a:solidFill>
                <a:latin typeface="Arial" pitchFamily="34" charset="0"/>
                <a:ea typeface="Arial" pitchFamily="34" charset="-122"/>
                <a:cs typeface="Arial" pitchFamily="34" charset="-120"/>
              </a:rPr>
              <a:t>Every router reduces the TTL by one</a:t>
            </a:r>
            <a:endParaRPr lang="en-US" sz="1800" dirty="0"/>
          </a:p>
        </p:txBody>
      </p:sp>
      <p:sp>
        <p:nvSpPr>
          <p:cNvPr id="7" name="@3 Card"/>
          <p:cNvSpPr/>
          <p:nvPr/>
        </p:nvSpPr>
        <p:spPr>
          <a:xfrm>
            <a:off x="457200" y="2948940"/>
            <a:ext cx="8229600" cy="742950"/>
          </a:xfrm>
          <a:prstGeom prst="roundRect">
            <a:avLst>
              <a:gd name="adj" fmla="val 14769"/>
            </a:avLst>
          </a:prstGeom>
          <a:solidFill>
            <a:srgbClr val="EEF2F7"/>
          </a:solidFill>
          <a:ln w="9525">
            <a:solidFill>
              <a:srgbClr val="C5D1E3"/>
            </a:solidFill>
            <a:prstDash val="solid"/>
          </a:ln>
        </p:spPr>
      </p:sp>
      <p:sp>
        <p:nvSpPr>
          <p:cNvPr id="8" name="@3 addText"/>
          <p:cNvSpPr txBox="1"/>
          <p:nvPr/>
        </p:nvSpPr>
        <p:spPr>
          <a:xfrm>
            <a:off x="731520" y="2948940"/>
            <a:ext cx="7680960" cy="742950"/>
          </a:xfrm>
          <a:prstGeom prst="rect">
            <a:avLst/>
          </a:prstGeom>
          <a:noFill/>
          <a:ln/>
        </p:spPr>
        <p:txBody>
          <a:bodyPr wrap="square" lIns="0" tIns="0" rIns="0" bIns="0" rtlCol="0" anchor="ctr"/>
          <a:lstStyle/>
          <a:p>
            <a:pPr indent="0" marL="0">
              <a:buNone/>
            </a:pPr>
            <a:r>
              <a:rPr lang="en-US" sz="1800" dirty="0">
                <a:solidFill>
                  <a:srgbClr val="22262E"/>
                </a:solidFill>
                <a:latin typeface="Arial" pitchFamily="34" charset="0"/>
                <a:ea typeface="Arial" pitchFamily="34" charset="-122"/>
                <a:cs typeface="Arial" pitchFamily="34" charset="-120"/>
              </a:rPr>
              <a:t>At zero the packet is dropped, so it cannot loop forever</a:t>
            </a:r>
            <a:endParaRPr lang="en-US" sz="1800" dirty="0"/>
          </a:p>
        </p:txBody>
      </p:sp>
      <p:sp>
        <p:nvSpPr>
          <p:cNvPr id="9" name="@4 Card"/>
          <p:cNvSpPr/>
          <p:nvPr/>
        </p:nvSpPr>
        <p:spPr>
          <a:xfrm>
            <a:off x="457200" y="3829050"/>
            <a:ext cx="8229600" cy="742950"/>
          </a:xfrm>
          <a:prstGeom prst="roundRect">
            <a:avLst>
              <a:gd name="adj" fmla="val 14769"/>
            </a:avLst>
          </a:prstGeom>
          <a:solidFill>
            <a:srgbClr val="EEF2F7"/>
          </a:solidFill>
          <a:ln w="9525">
            <a:solidFill>
              <a:srgbClr val="C5D1E3"/>
            </a:solidFill>
            <a:prstDash val="solid"/>
          </a:ln>
        </p:spPr>
      </p:sp>
      <p:sp>
        <p:nvSpPr>
          <p:cNvPr id="10" name="@4 addText"/>
          <p:cNvSpPr txBox="1"/>
          <p:nvPr/>
        </p:nvSpPr>
        <p:spPr>
          <a:xfrm>
            <a:off x="731520" y="3829050"/>
            <a:ext cx="7680960" cy="742950"/>
          </a:xfrm>
          <a:prstGeom prst="rect">
            <a:avLst/>
          </a:prstGeom>
          <a:noFill/>
          <a:ln/>
        </p:spPr>
        <p:txBody>
          <a:bodyPr wrap="square" lIns="0" tIns="0" rIns="0" bIns="0" rtlCol="0" anchor="ctr"/>
          <a:lstStyle/>
          <a:p>
            <a:pPr indent="0" marL="0">
              <a:buNone/>
            </a:pPr>
            <a:r>
              <a:rPr lang="en-US" sz="1800" dirty="0">
                <a:solidFill>
                  <a:srgbClr val="22262E"/>
                </a:solidFill>
                <a:latin typeface="Arial" pitchFamily="34" charset="0"/>
                <a:ea typeface="Arial" pitchFamily="34" charset="-122"/>
                <a:cs typeface="Arial" pitchFamily="34" charset="-120"/>
              </a:rPr>
              <a:t>Traceroute uses TTL: it sends packets with TTL 1, 2, 3 and notes who replies</a:t>
            </a:r>
            <a:endParaRPr lang="en-US" sz="1800" dirty="0"/>
          </a:p>
        </p:txBody>
      </p:sp>
      <p:sp>
        <p:nvSpPr>
          <p:cNvPr id="11"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b="0" lang="en-US"/>
              <a:t>9</a:t>
            </a:fld>
            <a:endParaRPr lang="en-US"/>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200"/>
                                        <p:tgtEl>
                                          <p:spTgt spid="3"/>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200"/>
                                        <p:tgtEl>
                                          <p:spTgt spid="4"/>
                                        </p:tgtEl>
                                      </p:cBhvr>
                                    </p:animEffect>
                                  </p:childTnLst>
                                </p:cTn>
                              </p:par>
                            </p:childTnLst>
                          </p:cTn>
                        </p:par>
                      </p:childTnLst>
                    </p:cTn>
                  </p:par>
                  <p:par>
                    <p:cTn id="17" fill="hold">
                      <p:stCondLst>
                        <p:cond delay="indefinite"/>
                      </p:stCondLst>
                      <p:childTnLst>
                        <p:par>
                          <p:cTn id="18"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2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200"/>
                                        <p:tgtEl>
                                          <p:spTgt spid="6"/>
                                        </p:tgtEl>
                                      </p:cBhvr>
                                    </p:animEffect>
                                  </p:childTnLst>
                                </p:cTn>
                              </p:par>
                            </p:childTnLst>
                          </p:cTn>
                        </p:par>
                      </p:childTnLst>
                    </p:cTn>
                  </p:par>
                  <p:par>
                    <p:cTn id="25" fill="hold">
                      <p:stCondLst>
                        <p:cond delay="indefinite"/>
                      </p:stCondLst>
                      <p:childTnLst>
                        <p:par>
                          <p:cTn id="26"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200"/>
                                        <p:tgtEl>
                                          <p:spTgt spid="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200"/>
                                        <p:tgtEl>
                                          <p:spTgt spid="8"/>
                                        </p:tgtEl>
                                      </p:cBhvr>
                                    </p:animEffect>
                                  </p:childTnLst>
                                </p:cTn>
                              </p:par>
                            </p:childTnLst>
                          </p:cTn>
                        </p:par>
                      </p:childTnLst>
                    </p:cTn>
                  </p:par>
                  <p:par>
                    <p:cTn id="33" fill="hold">
                      <p:stCondLst>
                        <p:cond delay="indefinite"/>
                      </p:stCondLst>
                      <p:childTnLst>
                        <p:par>
                          <p:cTn id="34"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200"/>
                                        <p:tgtEl>
                                          <p:spTgt spid="9"/>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2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6583680" cy="1371600"/>
          </a:xfrm>
          <a:prstGeom prst="rect">
            <a:avLst/>
          </a:prstGeom>
          <a:noFill/>
          <a:ln/>
        </p:spPr>
        <p:txBody>
          <a:bodyPr wrap="square" lIns="0" tIns="0" rIns="0" bIns="0" rtlCol="0" anchor="t"/>
          <a:lstStyle/>
          <a:p>
            <a:pPr algn="l" indent="0" marL="0">
              <a:buNone/>
            </a:pPr>
            <a:r>
              <a:rPr lang="en-US" sz="3400" b="1" dirty="0">
                <a:solidFill>
                  <a:srgbClr val="FFFFFF"/>
                </a:solidFill>
                <a:latin typeface="Arial" pitchFamily="34" charset="0"/>
                <a:ea typeface="Arial" pitchFamily="34" charset="-122"/>
                <a:cs typeface="Arial" pitchFamily="34" charset="-120"/>
              </a:rPr>
              <a:t>Task 3: Traceroute on a map</a:t>
            </a:r>
            <a:endParaRPr lang="en-US" sz="3400" dirty="0"/>
          </a:p>
        </p:txBody>
      </p:sp>
      <p:sp>
        <p:nvSpPr>
          <p:cNvPr id="3" name="Text 1"/>
          <p:cNvSpPr txBox="1"/>
          <p:nvPr/>
        </p:nvSpPr>
        <p:spPr>
          <a:xfrm>
            <a:off x="548640" y="640080"/>
            <a:ext cx="3657600" cy="457200"/>
          </a:xfrm>
          <a:prstGeom prst="rect">
            <a:avLst/>
          </a:prstGeom>
          <a:noFill/>
          <a:ln/>
        </p:spPr>
        <p:txBody>
          <a:bodyPr wrap="square" lIns="0" tIns="0" rIns="0" bIns="0" rtlCol="0" anchor="ctr"/>
          <a:lstStyle/>
          <a:p>
            <a:pPr indent="0" marL="0">
              <a:buNone/>
            </a:pPr>
            <a:r>
              <a:rPr lang="en-US" sz="2200" b="1" spc="400" kern="0" dirty="0">
                <a:solidFill>
                  <a:srgbClr val="A9C4E8"/>
                </a:solidFill>
                <a:latin typeface="Arial" pitchFamily="34" charset="0"/>
                <a:ea typeface="Arial" pitchFamily="34" charset="-122"/>
                <a:cs typeface="Arial" pitchFamily="34" charset="-120"/>
              </a:rPr>
              <a:t>TASK</a:t>
            </a:r>
            <a:endParaRPr lang="en-US" sz="2200" dirty="0"/>
          </a:p>
        </p:txBody>
      </p:sp>
      <p:sp>
        <p:nvSpPr>
          <p:cNvPr id="4" name="Text 2"/>
          <p:cNvSpPr txBox="1"/>
          <p:nvPr/>
        </p:nvSpPr>
        <p:spPr>
          <a:xfrm>
            <a:off x="548640" y="2743200"/>
            <a:ext cx="5852160" cy="822960"/>
          </a:xfrm>
          <a:prstGeom prst="rect">
            <a:avLst/>
          </a:prstGeom>
          <a:noFill/>
          <a:ln/>
        </p:spPr>
        <p:txBody>
          <a:bodyPr wrap="square" lIns="0" tIns="0" rIns="0" bIns="0" rtlCol="0" anchor="t"/>
          <a:lstStyle/>
          <a:p>
            <a:pPr indent="0" marL="0">
              <a:buNone/>
            </a:pPr>
            <a:r>
              <a:rPr lang="en-US" sz="1800" dirty="0">
                <a:solidFill>
                  <a:srgbClr val="C5D1E3"/>
                </a:solidFill>
                <a:latin typeface="Arial" pitchFamily="34" charset="0"/>
                <a:ea typeface="Arial" pitchFamily="34" charset="-122"/>
                <a:cs typeface="Arial" pitchFamily="34" charset="-120"/>
              </a:rPr>
              <a:t>Trace the route to a site, then plot it on a world map.</a:t>
            </a:r>
            <a:endParaRPr lang="en-US" sz="1800" dirty="0"/>
          </a:p>
        </p:txBody>
      </p:sp>
      <p:sp>
        <p:nvSpPr>
          <p:cNvPr id="5" name="Timer pill"/>
          <p:cNvSpPr/>
          <p:nvPr/>
        </p:nvSpPr>
        <p:spPr>
          <a:xfrm>
            <a:off x="548640" y="3840480"/>
            <a:ext cx="2194560" cy="640080"/>
          </a:xfrm>
          <a:prstGeom prst="roundRect">
            <a:avLst>
              <a:gd name="adj" fmla="val 50000"/>
            </a:avLst>
          </a:prstGeom>
          <a:solidFill>
            <a:srgbClr val="A9C4E8"/>
          </a:solidFill>
          <a:ln w="12700">
            <a:solidFill>
              <a:srgbClr val="A9C4E8"/>
            </a:solidFill>
            <a:prstDash val="solid"/>
          </a:ln>
        </p:spPr>
      </p:sp>
      <p:pic>
        <p:nvPicPr>
          <p:cNvPr id="6" name="Image 0" descr="clock">    </p:cNvPr>
          <p:cNvPicPr>
            <a:picLocks noChangeAspect="1"/>
          </p:cNvPicPr>
          <p:nvPr/>
        </p:nvPicPr>
        <p:blipFill>
          <a:blip r:embed="rId1"/>
          <a:stretch>
            <a:fillRect/>
          </a:stretch>
        </p:blipFill>
        <p:spPr>
          <a:xfrm>
            <a:off x="749808" y="3995928"/>
            <a:ext cx="329184" cy="329184"/>
          </a:xfrm>
          <a:prstGeom prst="rect">
            <a:avLst/>
          </a:prstGeom>
        </p:spPr>
      </p:pic>
      <p:sp>
        <p:nvSpPr>
          <p:cNvPr id="7" name="Text 4"/>
          <p:cNvSpPr txBox="1"/>
          <p:nvPr/>
        </p:nvSpPr>
        <p:spPr>
          <a:xfrm>
            <a:off x="1170432" y="3840480"/>
            <a:ext cx="1463040" cy="640080"/>
          </a:xfrm>
          <a:prstGeom prst="rect">
            <a:avLst/>
          </a:prstGeom>
          <a:noFill/>
          <a:ln/>
        </p:spPr>
        <p:txBody>
          <a:bodyPr wrap="square" lIns="0" tIns="0" rIns="0" bIns="0" rtlCol="0" anchor="ctr"/>
          <a:lstStyle/>
          <a:p>
            <a:pPr indent="0" marL="0">
              <a:buNone/>
            </a:pPr>
            <a:r>
              <a:rPr lang="en-US" sz="2000" b="1" dirty="0">
                <a:solidFill>
                  <a:srgbClr val="001B40"/>
                </a:solidFill>
                <a:latin typeface="Arial" pitchFamily="34" charset="0"/>
                <a:ea typeface="Arial" pitchFamily="34" charset="-122"/>
                <a:cs typeface="Arial" pitchFamily="34" charset="-120"/>
              </a:rPr>
              <a:t>20 min</a:t>
            </a:r>
            <a:endParaRPr lang="en-US" sz="2000" dirty="0"/>
          </a:p>
        </p:txBody>
      </p:sp>
      <p:sp>
        <p:nvSpPr>
          <p:cNvPr id="8" name="Text 5"/>
          <p:cNvSpPr txBox="1"/>
          <p:nvPr/>
        </p:nvSpPr>
        <p:spPr>
          <a:xfrm>
            <a:off x="548640" y="4617720"/>
            <a:ext cx="5486400" cy="274320"/>
          </a:xfrm>
          <a:prstGeom prst="rect">
            <a:avLst/>
          </a:prstGeom>
          <a:noFill/>
          <a:ln/>
        </p:spPr>
        <p:txBody>
          <a:bodyPr wrap="square" lIns="0" tIns="0" rIns="0" bIns="0" rtlCol="0" anchor="ctr"/>
          <a:lstStyle/>
          <a:p>
            <a:pPr indent="0" marL="0">
              <a:buNone/>
            </a:pPr>
            <a:r>
              <a:rPr lang="en-US" sz="1200" dirty="0">
                <a:solidFill>
                  <a:srgbClr val="C5D1E3"/>
                </a:solidFill>
                <a:latin typeface="Arial" pitchFamily="34" charset="0"/>
                <a:ea typeface="Arial" pitchFamily="34" charset="-122"/>
                <a:cs typeface="Arial" pitchFamily="34" charset="-120"/>
              </a:rPr>
              <a:t>OneNote: Lesson Tasks, Task 3</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6583680" cy="1371600"/>
          </a:xfrm>
          <a:prstGeom prst="rect">
            <a:avLst/>
          </a:prstGeom>
          <a:noFill/>
          <a:ln/>
        </p:spPr>
        <p:txBody>
          <a:bodyPr wrap="square" lIns="0" tIns="0" rIns="0" bIns="0" rtlCol="0" anchor="t"/>
          <a:lstStyle/>
          <a:p>
            <a:pPr algn="l" indent="0" marL="0">
              <a:buNone/>
            </a:pPr>
            <a:r>
              <a:rPr lang="en-US" sz="3400" b="1" dirty="0">
                <a:solidFill>
                  <a:srgbClr val="FFFFFF"/>
                </a:solidFill>
                <a:latin typeface="Arial" pitchFamily="34" charset="0"/>
                <a:ea typeface="Arial" pitchFamily="34" charset="-122"/>
                <a:cs typeface="Arial" pitchFamily="34" charset="-120"/>
              </a:rPr>
              <a:t>Task 4: A 30 byte email crosses the internet</a:t>
            </a:r>
            <a:endParaRPr lang="en-US" sz="3400" dirty="0"/>
          </a:p>
        </p:txBody>
      </p:sp>
      <p:sp>
        <p:nvSpPr>
          <p:cNvPr id="3" name="Text 1"/>
          <p:cNvSpPr txBox="1"/>
          <p:nvPr/>
        </p:nvSpPr>
        <p:spPr>
          <a:xfrm>
            <a:off x="548640" y="640080"/>
            <a:ext cx="3657600" cy="457200"/>
          </a:xfrm>
          <a:prstGeom prst="rect">
            <a:avLst/>
          </a:prstGeom>
          <a:noFill/>
          <a:ln/>
        </p:spPr>
        <p:txBody>
          <a:bodyPr wrap="square" lIns="0" tIns="0" rIns="0" bIns="0" rtlCol="0" anchor="ctr"/>
          <a:lstStyle/>
          <a:p>
            <a:pPr indent="0" marL="0">
              <a:buNone/>
            </a:pPr>
            <a:r>
              <a:rPr lang="en-US" sz="2200" b="1" spc="400" kern="0" dirty="0">
                <a:solidFill>
                  <a:srgbClr val="A9C4E8"/>
                </a:solidFill>
                <a:latin typeface="Arial" pitchFamily="34" charset="0"/>
                <a:ea typeface="Arial" pitchFamily="34" charset="-122"/>
                <a:cs typeface="Arial" pitchFamily="34" charset="-120"/>
              </a:rPr>
              <a:t>TASK</a:t>
            </a:r>
            <a:endParaRPr lang="en-US" sz="2200" dirty="0"/>
          </a:p>
        </p:txBody>
      </p:sp>
      <p:sp>
        <p:nvSpPr>
          <p:cNvPr id="4" name="Text 2"/>
          <p:cNvSpPr txBox="1"/>
          <p:nvPr/>
        </p:nvSpPr>
        <p:spPr>
          <a:xfrm>
            <a:off x="548640" y="2743200"/>
            <a:ext cx="5852160" cy="822960"/>
          </a:xfrm>
          <a:prstGeom prst="rect">
            <a:avLst/>
          </a:prstGeom>
          <a:noFill/>
          <a:ln/>
        </p:spPr>
        <p:txBody>
          <a:bodyPr wrap="square" lIns="0" tIns="0" rIns="0" bIns="0" rtlCol="0" anchor="t"/>
          <a:lstStyle/>
          <a:p>
            <a:pPr indent="0" marL="0">
              <a:buNone/>
            </a:pPr>
            <a:r>
              <a:rPr lang="en-US" sz="1800" dirty="0">
                <a:solidFill>
                  <a:srgbClr val="C5D1E3"/>
                </a:solidFill>
                <a:latin typeface="Arial" pitchFamily="34" charset="0"/>
                <a:ea typeface="Arial" pitchFamily="34" charset="-122"/>
                <a:cs typeface="Arial" pitchFamily="34" charset="-120"/>
              </a:rPr>
              <a:t>Show how a 30 byte email travels from sender to receiver, then answer the exam question on packet switching.</a:t>
            </a:r>
            <a:endParaRPr lang="en-US" sz="1800" dirty="0"/>
          </a:p>
        </p:txBody>
      </p:sp>
      <p:sp>
        <p:nvSpPr>
          <p:cNvPr id="5" name="Timer pill"/>
          <p:cNvSpPr/>
          <p:nvPr/>
        </p:nvSpPr>
        <p:spPr>
          <a:xfrm>
            <a:off x="548640" y="3840480"/>
            <a:ext cx="2194560" cy="640080"/>
          </a:xfrm>
          <a:prstGeom prst="roundRect">
            <a:avLst>
              <a:gd name="adj" fmla="val 50000"/>
            </a:avLst>
          </a:prstGeom>
          <a:solidFill>
            <a:srgbClr val="A9C4E8"/>
          </a:solidFill>
          <a:ln w="12700">
            <a:solidFill>
              <a:srgbClr val="A9C4E8"/>
            </a:solidFill>
            <a:prstDash val="solid"/>
          </a:ln>
        </p:spPr>
      </p:sp>
      <p:pic>
        <p:nvPicPr>
          <p:cNvPr id="6" name="Image 0" descr="clock">    </p:cNvPr>
          <p:cNvPicPr>
            <a:picLocks noChangeAspect="1"/>
          </p:cNvPicPr>
          <p:nvPr/>
        </p:nvPicPr>
        <p:blipFill>
          <a:blip r:embed="rId1"/>
          <a:stretch>
            <a:fillRect/>
          </a:stretch>
        </p:blipFill>
        <p:spPr>
          <a:xfrm>
            <a:off x="749808" y="3995928"/>
            <a:ext cx="329184" cy="329184"/>
          </a:xfrm>
          <a:prstGeom prst="rect">
            <a:avLst/>
          </a:prstGeom>
        </p:spPr>
      </p:pic>
      <p:sp>
        <p:nvSpPr>
          <p:cNvPr id="7" name="Text 4"/>
          <p:cNvSpPr txBox="1"/>
          <p:nvPr/>
        </p:nvSpPr>
        <p:spPr>
          <a:xfrm>
            <a:off x="1170432" y="3840480"/>
            <a:ext cx="1463040" cy="640080"/>
          </a:xfrm>
          <a:prstGeom prst="rect">
            <a:avLst/>
          </a:prstGeom>
          <a:noFill/>
          <a:ln/>
        </p:spPr>
        <p:txBody>
          <a:bodyPr wrap="square" lIns="0" tIns="0" rIns="0" bIns="0" rtlCol="0" anchor="ctr"/>
          <a:lstStyle/>
          <a:p>
            <a:pPr indent="0" marL="0">
              <a:buNone/>
            </a:pPr>
            <a:r>
              <a:rPr lang="en-US" sz="2000" b="1" dirty="0">
                <a:solidFill>
                  <a:srgbClr val="001B40"/>
                </a:solidFill>
                <a:latin typeface="Arial" pitchFamily="34" charset="0"/>
                <a:ea typeface="Arial" pitchFamily="34" charset="-122"/>
                <a:cs typeface="Arial" pitchFamily="34" charset="-120"/>
              </a:rPr>
              <a:t>15 min</a:t>
            </a:r>
            <a:endParaRPr lang="en-US" sz="2000" dirty="0"/>
          </a:p>
        </p:txBody>
      </p:sp>
      <p:sp>
        <p:nvSpPr>
          <p:cNvPr id="8" name="Text 5"/>
          <p:cNvSpPr txBox="1"/>
          <p:nvPr/>
        </p:nvSpPr>
        <p:spPr>
          <a:xfrm>
            <a:off x="548640" y="4617720"/>
            <a:ext cx="5486400" cy="274320"/>
          </a:xfrm>
          <a:prstGeom prst="rect">
            <a:avLst/>
          </a:prstGeom>
          <a:noFill/>
          <a:ln/>
        </p:spPr>
        <p:txBody>
          <a:bodyPr wrap="square" lIns="0" tIns="0" rIns="0" bIns="0" rtlCol="0" anchor="ctr"/>
          <a:lstStyle/>
          <a:p>
            <a:pPr indent="0" marL="0">
              <a:buNone/>
            </a:pPr>
            <a:r>
              <a:rPr lang="en-US" sz="1200" dirty="0">
                <a:solidFill>
                  <a:srgbClr val="C5D1E3"/>
                </a:solidFill>
                <a:latin typeface="Arial" pitchFamily="34" charset="0"/>
                <a:ea typeface="Arial" pitchFamily="34" charset="-122"/>
                <a:cs typeface="Arial" pitchFamily="34" charset="-120"/>
              </a:rPr>
              <a:t>OneNote: Lesson Tasks, Task 4</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rgbClr val="001B40"/>
                </a:solidFill>
                <a:latin typeface="Arial" pitchFamily="34" charset="0"/>
                <a:ea typeface="Arial" pitchFamily="34" charset="-122"/>
                <a:cs typeface="Arial" pitchFamily="34" charset="-120"/>
              </a:rPr>
              <a:t>Packet or circuit?</a:t>
            </a:r>
            <a:endParaRPr lang="en-US" sz="3000" dirty="0"/>
          </a:p>
        </p:txBody>
      </p:sp>
      <p:sp>
        <p:nvSpPr>
          <p:cNvPr id="3" name="@1 Card"/>
          <p:cNvSpPr/>
          <p:nvPr/>
        </p:nvSpPr>
        <p:spPr>
          <a:xfrm>
            <a:off x="457200" y="1188720"/>
            <a:ext cx="4023360" cy="2743200"/>
          </a:xfrm>
          <a:prstGeom prst="roundRect">
            <a:avLst>
              <a:gd name="adj" fmla="val 4000"/>
            </a:avLst>
          </a:prstGeom>
          <a:solidFill>
            <a:srgbClr val="EEF2F7"/>
          </a:solidFill>
          <a:ln w="9525">
            <a:solidFill>
              <a:srgbClr val="C5D1E3"/>
            </a:solidFill>
            <a:prstDash val="solid"/>
          </a:ln>
        </p:spPr>
      </p:sp>
      <p:sp>
        <p:nvSpPr>
          <p:cNvPr id="4" name="@1 addText"/>
          <p:cNvSpPr txBox="1"/>
          <p:nvPr/>
        </p:nvSpPr>
        <p:spPr>
          <a:xfrm>
            <a:off x="594360" y="1280160"/>
            <a:ext cx="3749040" cy="457200"/>
          </a:xfrm>
          <a:prstGeom prst="rect">
            <a:avLst/>
          </a:prstGeom>
          <a:noFill/>
          <a:ln/>
        </p:spPr>
        <p:txBody>
          <a:bodyPr wrap="square" lIns="0" tIns="0" rIns="0" bIns="0" rtlCol="0" anchor="ctr"/>
          <a:lstStyle/>
          <a:p>
            <a:pPr indent="0" marL="0">
              <a:buNone/>
            </a:pPr>
            <a:r>
              <a:rPr lang="en-US" sz="2000" b="1" dirty="0">
                <a:solidFill>
                  <a:srgbClr val="002D6A"/>
                </a:solidFill>
                <a:latin typeface="Arial" pitchFamily="34" charset="0"/>
                <a:ea typeface="Arial" pitchFamily="34" charset="-122"/>
                <a:cs typeface="Arial" pitchFamily="34" charset="-120"/>
              </a:rPr>
              <a:t>Packet switching</a:t>
            </a:r>
            <a:endParaRPr lang="en-US" sz="2000" dirty="0"/>
          </a:p>
        </p:txBody>
      </p:sp>
      <p:sp>
        <p:nvSpPr>
          <p:cNvPr id="5" name="@1 addText"/>
          <p:cNvSpPr txBox="1"/>
          <p:nvPr/>
        </p:nvSpPr>
        <p:spPr>
          <a:xfrm>
            <a:off x="594360" y="1783080"/>
            <a:ext cx="3749040" cy="2011680"/>
          </a:xfrm>
          <a:prstGeom prst="rect">
            <a:avLst/>
          </a:prstGeom>
          <a:noFill/>
          <a:ln/>
        </p:spPr>
        <p:txBody>
          <a:bodyPr wrap="square" lIns="0" tIns="0" rIns="0" bIns="0" rtlCol="0" anchor="t"/>
          <a:lstStyle/>
          <a:p>
            <a:pPr indent="0" marL="0">
              <a:buNone/>
            </a:pPr>
            <a:r>
              <a:rPr lang="en-US" sz="1800" dirty="0">
                <a:solidFill>
                  <a:srgbClr val="22262E"/>
                </a:solidFill>
                <a:latin typeface="Arial" pitchFamily="34" charset="0"/>
                <a:ea typeface="Arial" pitchFamily="34" charset="-122"/>
                <a:cs typeface="Arial" pitchFamily="34" charset="-120"/>
              </a:rPr>
              <a:t>Data split into packets, each takes the least congested route. Efficient, resilient to failure, packets can arrive out of order.</a:t>
            </a:r>
            <a:endParaRPr lang="en-US" sz="1800" dirty="0"/>
          </a:p>
        </p:txBody>
      </p:sp>
      <p:sp>
        <p:nvSpPr>
          <p:cNvPr id="6" name="@2 Card"/>
          <p:cNvSpPr/>
          <p:nvPr/>
        </p:nvSpPr>
        <p:spPr>
          <a:xfrm>
            <a:off x="4663440" y="1188720"/>
            <a:ext cx="4023360" cy="2743200"/>
          </a:xfrm>
          <a:prstGeom prst="roundRect">
            <a:avLst>
              <a:gd name="adj" fmla="val 4000"/>
            </a:avLst>
          </a:prstGeom>
          <a:solidFill>
            <a:srgbClr val="EEF2F7"/>
          </a:solidFill>
          <a:ln w="9525">
            <a:solidFill>
              <a:srgbClr val="C5D1E3"/>
            </a:solidFill>
            <a:prstDash val="solid"/>
          </a:ln>
        </p:spPr>
      </p:sp>
      <p:sp>
        <p:nvSpPr>
          <p:cNvPr id="7" name="@2 addText"/>
          <p:cNvSpPr txBox="1"/>
          <p:nvPr/>
        </p:nvSpPr>
        <p:spPr>
          <a:xfrm>
            <a:off x="4800600" y="1280160"/>
            <a:ext cx="3749040" cy="457200"/>
          </a:xfrm>
          <a:prstGeom prst="rect">
            <a:avLst/>
          </a:prstGeom>
          <a:noFill/>
          <a:ln/>
        </p:spPr>
        <p:txBody>
          <a:bodyPr wrap="square" lIns="0" tIns="0" rIns="0" bIns="0" rtlCol="0" anchor="ctr"/>
          <a:lstStyle/>
          <a:p>
            <a:pPr indent="0" marL="0">
              <a:buNone/>
            </a:pPr>
            <a:r>
              <a:rPr lang="en-US" sz="2000" b="1" dirty="0">
                <a:solidFill>
                  <a:srgbClr val="002D6A"/>
                </a:solidFill>
                <a:latin typeface="Arial" pitchFamily="34" charset="0"/>
                <a:ea typeface="Arial" pitchFamily="34" charset="-122"/>
                <a:cs typeface="Arial" pitchFamily="34" charset="-120"/>
              </a:rPr>
              <a:t>Circuit switching</a:t>
            </a:r>
            <a:endParaRPr lang="en-US" sz="2000" dirty="0"/>
          </a:p>
        </p:txBody>
      </p:sp>
      <p:sp>
        <p:nvSpPr>
          <p:cNvPr id="8" name="@2 addText"/>
          <p:cNvSpPr txBox="1"/>
          <p:nvPr/>
        </p:nvSpPr>
        <p:spPr>
          <a:xfrm>
            <a:off x="4800600" y="1783080"/>
            <a:ext cx="3749040" cy="2011680"/>
          </a:xfrm>
          <a:prstGeom prst="rect">
            <a:avLst/>
          </a:prstGeom>
          <a:noFill/>
          <a:ln/>
        </p:spPr>
        <p:txBody>
          <a:bodyPr wrap="square" lIns="0" tIns="0" rIns="0" bIns="0" rtlCol="0" anchor="t"/>
          <a:lstStyle/>
          <a:p>
            <a:pPr indent="0" marL="0">
              <a:buNone/>
            </a:pPr>
            <a:r>
              <a:rPr lang="en-US" sz="1800" dirty="0">
                <a:solidFill>
                  <a:srgbClr val="22262E"/>
                </a:solidFill>
                <a:latin typeface="Arial" pitchFamily="34" charset="0"/>
                <a:ea typeface="Arial" pitchFamily="34" charset="-122"/>
                <a:cs typeface="Arial" pitchFamily="34" charset="-120"/>
              </a:rPr>
              <a:t>A dedicated path is reserved for the whole call. Constant quality and order, but bandwidth is wasted in silence.</a:t>
            </a:r>
            <a:endParaRPr lang="en-US" sz="1800" dirty="0"/>
          </a:p>
        </p:txBody>
      </p:sp>
      <p:sp>
        <p:nvSpPr>
          <p:cNvPr id="9"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b="0" lang="en-US"/>
              <a:t>12</a:t>
            </a:fld>
            <a:endParaRPr lang="en-US"/>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200"/>
                                        <p:tgtEl>
                                          <p:spTgt spid="3"/>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200"/>
                                        <p:tgtEl>
                                          <p:spTgt spid="4"/>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200"/>
                                        <p:tgtEl>
                                          <p:spTgt spid="5"/>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2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200"/>
                                        <p:tgtEl>
                                          <p:spTgt spid="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2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6583680" cy="1371600"/>
          </a:xfrm>
          <a:prstGeom prst="rect">
            <a:avLst/>
          </a:prstGeom>
          <a:noFill/>
          <a:ln/>
        </p:spPr>
        <p:txBody>
          <a:bodyPr wrap="square" lIns="0" tIns="0" rIns="0" bIns="0" rtlCol="0" anchor="t"/>
          <a:lstStyle/>
          <a:p>
            <a:pPr algn="l" indent="0" marL="0">
              <a:buNone/>
            </a:pPr>
            <a:r>
              <a:rPr lang="en-US" sz="3400" b="1" dirty="0">
                <a:solidFill>
                  <a:srgbClr val="FFFFFF"/>
                </a:solidFill>
                <a:latin typeface="Arial" pitchFamily="34" charset="0"/>
                <a:ea typeface="Arial" pitchFamily="34" charset="-122"/>
                <a:cs typeface="Arial" pitchFamily="34" charset="-120"/>
              </a:rPr>
              <a:t>Task 5: Packet or circuit?</a:t>
            </a:r>
            <a:endParaRPr lang="en-US" sz="3400" dirty="0"/>
          </a:p>
        </p:txBody>
      </p:sp>
      <p:sp>
        <p:nvSpPr>
          <p:cNvPr id="3" name="Text 1"/>
          <p:cNvSpPr txBox="1"/>
          <p:nvPr/>
        </p:nvSpPr>
        <p:spPr>
          <a:xfrm>
            <a:off x="548640" y="640080"/>
            <a:ext cx="3657600" cy="457200"/>
          </a:xfrm>
          <a:prstGeom prst="rect">
            <a:avLst/>
          </a:prstGeom>
          <a:noFill/>
          <a:ln/>
        </p:spPr>
        <p:txBody>
          <a:bodyPr wrap="square" lIns="0" tIns="0" rIns="0" bIns="0" rtlCol="0" anchor="ctr"/>
          <a:lstStyle/>
          <a:p>
            <a:pPr indent="0" marL="0">
              <a:buNone/>
            </a:pPr>
            <a:r>
              <a:rPr lang="en-US" sz="2200" b="1" spc="400" kern="0" dirty="0">
                <a:solidFill>
                  <a:srgbClr val="A9C4E8"/>
                </a:solidFill>
                <a:latin typeface="Arial" pitchFamily="34" charset="0"/>
                <a:ea typeface="Arial" pitchFamily="34" charset="-122"/>
                <a:cs typeface="Arial" pitchFamily="34" charset="-120"/>
              </a:rPr>
              <a:t>TASK</a:t>
            </a:r>
            <a:endParaRPr lang="en-US" sz="2200" dirty="0"/>
          </a:p>
        </p:txBody>
      </p:sp>
      <p:sp>
        <p:nvSpPr>
          <p:cNvPr id="4" name="Text 2"/>
          <p:cNvSpPr txBox="1"/>
          <p:nvPr/>
        </p:nvSpPr>
        <p:spPr>
          <a:xfrm>
            <a:off x="548640" y="2743200"/>
            <a:ext cx="5852160" cy="822960"/>
          </a:xfrm>
          <a:prstGeom prst="rect">
            <a:avLst/>
          </a:prstGeom>
          <a:noFill/>
          <a:ln/>
        </p:spPr>
        <p:txBody>
          <a:bodyPr wrap="square" lIns="0" tIns="0" rIns="0" bIns="0" rtlCol="0" anchor="t"/>
          <a:lstStyle/>
          <a:p>
            <a:pPr indent="0" marL="0">
              <a:buNone/>
            </a:pPr>
            <a:r>
              <a:rPr lang="en-US" sz="1800" dirty="0">
                <a:solidFill>
                  <a:srgbClr val="C5D1E3"/>
                </a:solidFill>
                <a:latin typeface="Arial" pitchFamily="34" charset="0"/>
                <a:ea typeface="Arial" pitchFamily="34" charset="-122"/>
                <a:cs typeface="Arial" pitchFamily="34" charset="-120"/>
              </a:rPr>
              <a:t>Compare packet and circuit switching, then answer the two exam questions.</a:t>
            </a:r>
            <a:endParaRPr lang="en-US" sz="1800" dirty="0"/>
          </a:p>
        </p:txBody>
      </p:sp>
      <p:sp>
        <p:nvSpPr>
          <p:cNvPr id="5" name="Timer pill"/>
          <p:cNvSpPr/>
          <p:nvPr/>
        </p:nvSpPr>
        <p:spPr>
          <a:xfrm>
            <a:off x="548640" y="3840480"/>
            <a:ext cx="2194560" cy="640080"/>
          </a:xfrm>
          <a:prstGeom prst="roundRect">
            <a:avLst>
              <a:gd name="adj" fmla="val 50000"/>
            </a:avLst>
          </a:prstGeom>
          <a:solidFill>
            <a:srgbClr val="A9C4E8"/>
          </a:solidFill>
          <a:ln w="12700">
            <a:solidFill>
              <a:srgbClr val="A9C4E8"/>
            </a:solidFill>
            <a:prstDash val="solid"/>
          </a:ln>
        </p:spPr>
      </p:sp>
      <p:pic>
        <p:nvPicPr>
          <p:cNvPr id="6" name="Image 0" descr="clock">    </p:cNvPr>
          <p:cNvPicPr>
            <a:picLocks noChangeAspect="1"/>
          </p:cNvPicPr>
          <p:nvPr/>
        </p:nvPicPr>
        <p:blipFill>
          <a:blip r:embed="rId1"/>
          <a:stretch>
            <a:fillRect/>
          </a:stretch>
        </p:blipFill>
        <p:spPr>
          <a:xfrm>
            <a:off x="749808" y="3995928"/>
            <a:ext cx="329184" cy="329184"/>
          </a:xfrm>
          <a:prstGeom prst="rect">
            <a:avLst/>
          </a:prstGeom>
        </p:spPr>
      </p:pic>
      <p:sp>
        <p:nvSpPr>
          <p:cNvPr id="7" name="Text 4"/>
          <p:cNvSpPr txBox="1"/>
          <p:nvPr/>
        </p:nvSpPr>
        <p:spPr>
          <a:xfrm>
            <a:off x="1170432" y="3840480"/>
            <a:ext cx="1463040" cy="640080"/>
          </a:xfrm>
          <a:prstGeom prst="rect">
            <a:avLst/>
          </a:prstGeom>
          <a:noFill/>
          <a:ln/>
        </p:spPr>
        <p:txBody>
          <a:bodyPr wrap="square" lIns="0" tIns="0" rIns="0" bIns="0" rtlCol="0" anchor="ctr"/>
          <a:lstStyle/>
          <a:p>
            <a:pPr indent="0" marL="0">
              <a:buNone/>
            </a:pPr>
            <a:r>
              <a:rPr lang="en-US" sz="2000" b="1" dirty="0">
                <a:solidFill>
                  <a:srgbClr val="001B40"/>
                </a:solidFill>
                <a:latin typeface="Arial" pitchFamily="34" charset="0"/>
                <a:ea typeface="Arial" pitchFamily="34" charset="-122"/>
                <a:cs typeface="Arial" pitchFamily="34" charset="-120"/>
              </a:rPr>
              <a:t>10 min</a:t>
            </a:r>
            <a:endParaRPr lang="en-US" sz="2000" dirty="0"/>
          </a:p>
        </p:txBody>
      </p:sp>
      <p:sp>
        <p:nvSpPr>
          <p:cNvPr id="8" name="Text 5"/>
          <p:cNvSpPr txBox="1"/>
          <p:nvPr/>
        </p:nvSpPr>
        <p:spPr>
          <a:xfrm>
            <a:off x="548640" y="4617720"/>
            <a:ext cx="5486400" cy="274320"/>
          </a:xfrm>
          <a:prstGeom prst="rect">
            <a:avLst/>
          </a:prstGeom>
          <a:noFill/>
          <a:ln/>
        </p:spPr>
        <p:txBody>
          <a:bodyPr wrap="square" lIns="0" tIns="0" rIns="0" bIns="0" rtlCol="0" anchor="ctr"/>
          <a:lstStyle/>
          <a:p>
            <a:pPr indent="0" marL="0">
              <a:buNone/>
            </a:pPr>
            <a:r>
              <a:rPr lang="en-US" sz="1200" dirty="0">
                <a:solidFill>
                  <a:srgbClr val="C5D1E3"/>
                </a:solidFill>
                <a:latin typeface="Arial" pitchFamily="34" charset="0"/>
                <a:ea typeface="Arial" pitchFamily="34" charset="-122"/>
                <a:cs typeface="Arial" pitchFamily="34" charset="-120"/>
              </a:rPr>
              <a:t>OneNote: Lesson Tasks, Task 5</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rgbClr val="001B40"/>
                </a:solidFill>
                <a:latin typeface="Arial" pitchFamily="34" charset="0"/>
                <a:ea typeface="Arial" pitchFamily="34" charset="-122"/>
                <a:cs typeface="Arial" pitchFamily="34" charset="-120"/>
              </a:rPr>
              <a:t>Plenary</a:t>
            </a:r>
            <a:endParaRPr lang="en-US" sz="3000" dirty="0"/>
          </a:p>
        </p:txBody>
      </p:sp>
      <p:sp>
        <p:nvSpPr>
          <p:cNvPr id="3" name="Card"/>
          <p:cNvSpPr/>
          <p:nvPr/>
        </p:nvSpPr>
        <p:spPr>
          <a:xfrm>
            <a:off x="457200" y="1188720"/>
            <a:ext cx="8229600" cy="822960"/>
          </a:xfrm>
          <a:prstGeom prst="roundRect">
            <a:avLst>
              <a:gd name="adj" fmla="val 13333"/>
            </a:avLst>
          </a:prstGeom>
          <a:solidFill>
            <a:srgbClr val="EEF2F7"/>
          </a:solidFill>
          <a:ln w="9525">
            <a:solidFill>
              <a:srgbClr val="C5D1E3"/>
            </a:solidFill>
            <a:prstDash val="solid"/>
          </a:ln>
        </p:spPr>
      </p:sp>
      <p:sp>
        <p:nvSpPr>
          <p:cNvPr id="4" name="Text 2"/>
          <p:cNvSpPr txBox="1"/>
          <p:nvPr/>
        </p:nvSpPr>
        <p:spPr>
          <a:xfrm>
            <a:off x="731520" y="1188720"/>
            <a:ext cx="7680960" cy="822960"/>
          </a:xfrm>
          <a:prstGeom prst="rect">
            <a:avLst/>
          </a:prstGeom>
          <a:noFill/>
          <a:ln/>
        </p:spPr>
        <p:txBody>
          <a:bodyPr wrap="square" lIns="0" tIns="0" rIns="0" bIns="0" rtlCol="0" anchor="ctr"/>
          <a:lstStyle/>
          <a:p>
            <a:pPr indent="0" marL="0">
              <a:buNone/>
            </a:pPr>
            <a:r>
              <a:rPr lang="en-US" sz="1800" dirty="0">
                <a:solidFill>
                  <a:srgbClr val="22262E"/>
                </a:solidFill>
                <a:latin typeface="Arial" pitchFamily="34" charset="0"/>
                <a:ea typeface="Arial" pitchFamily="34" charset="-122"/>
                <a:cs typeface="Arial" pitchFamily="34" charset="-120"/>
              </a:rPr>
              <a:t>Explain in four steps how a browser finds a server</a:t>
            </a:r>
            <a:endParaRPr lang="en-US" sz="1800" dirty="0"/>
          </a:p>
        </p:txBody>
      </p:sp>
      <p:sp>
        <p:nvSpPr>
          <p:cNvPr id="5" name="Card"/>
          <p:cNvSpPr/>
          <p:nvPr/>
        </p:nvSpPr>
        <p:spPr>
          <a:xfrm>
            <a:off x="457200" y="2148840"/>
            <a:ext cx="8229600" cy="822960"/>
          </a:xfrm>
          <a:prstGeom prst="roundRect">
            <a:avLst>
              <a:gd name="adj" fmla="val 13333"/>
            </a:avLst>
          </a:prstGeom>
          <a:solidFill>
            <a:srgbClr val="EEF2F7"/>
          </a:solidFill>
          <a:ln w="9525">
            <a:solidFill>
              <a:srgbClr val="C5D1E3"/>
            </a:solidFill>
            <a:prstDash val="solid"/>
          </a:ln>
        </p:spPr>
      </p:sp>
      <p:sp>
        <p:nvSpPr>
          <p:cNvPr id="6" name="Text 4"/>
          <p:cNvSpPr txBox="1"/>
          <p:nvPr/>
        </p:nvSpPr>
        <p:spPr>
          <a:xfrm>
            <a:off x="731520" y="2148840"/>
            <a:ext cx="7680960" cy="822960"/>
          </a:xfrm>
          <a:prstGeom prst="rect">
            <a:avLst/>
          </a:prstGeom>
          <a:noFill/>
          <a:ln/>
        </p:spPr>
        <p:txBody>
          <a:bodyPr wrap="square" lIns="0" tIns="0" rIns="0" bIns="0" rtlCol="0" anchor="ctr"/>
          <a:lstStyle/>
          <a:p>
            <a:pPr indent="0" marL="0">
              <a:buNone/>
            </a:pPr>
            <a:r>
              <a:rPr lang="en-US" sz="1800" dirty="0">
                <a:solidFill>
                  <a:srgbClr val="22262E"/>
                </a:solidFill>
                <a:latin typeface="Arial" pitchFamily="34" charset="0"/>
                <a:ea typeface="Arial" pitchFamily="34" charset="-122"/>
                <a:cs typeface="Arial" pitchFamily="34" charset="-120"/>
              </a:rPr>
              <a:t>One advantage of packet switching, one of circuit switching</a:t>
            </a:r>
            <a:endParaRPr lang="en-US" sz="1800" dirty="0"/>
          </a:p>
        </p:txBody>
      </p:sp>
      <p:sp>
        <p:nvSpPr>
          <p:cNvPr id="7" name="Card"/>
          <p:cNvSpPr/>
          <p:nvPr/>
        </p:nvSpPr>
        <p:spPr>
          <a:xfrm>
            <a:off x="457200" y="3108960"/>
            <a:ext cx="8229600" cy="822960"/>
          </a:xfrm>
          <a:prstGeom prst="roundRect">
            <a:avLst>
              <a:gd name="adj" fmla="val 13333"/>
            </a:avLst>
          </a:prstGeom>
          <a:solidFill>
            <a:srgbClr val="EEF2F7"/>
          </a:solidFill>
          <a:ln w="9525">
            <a:solidFill>
              <a:srgbClr val="C5D1E3"/>
            </a:solidFill>
            <a:prstDash val="solid"/>
          </a:ln>
        </p:spPr>
      </p:sp>
      <p:sp>
        <p:nvSpPr>
          <p:cNvPr id="8" name="Text 6"/>
          <p:cNvSpPr txBox="1"/>
          <p:nvPr/>
        </p:nvSpPr>
        <p:spPr>
          <a:xfrm>
            <a:off x="731520" y="3108960"/>
            <a:ext cx="7680960" cy="822960"/>
          </a:xfrm>
          <a:prstGeom prst="rect">
            <a:avLst/>
          </a:prstGeom>
          <a:noFill/>
          <a:ln/>
        </p:spPr>
        <p:txBody>
          <a:bodyPr wrap="square" lIns="0" tIns="0" rIns="0" bIns="0" rtlCol="0" anchor="ctr"/>
          <a:lstStyle/>
          <a:p>
            <a:pPr indent="0" marL="0">
              <a:buNone/>
            </a:pPr>
            <a:r>
              <a:rPr lang="en-US" sz="1800" dirty="0">
                <a:solidFill>
                  <a:srgbClr val="22262E"/>
                </a:solidFill>
                <a:latin typeface="Arial" pitchFamily="34" charset="0"/>
                <a:ea typeface="Arial" pitchFamily="34" charset="-122"/>
                <a:cs typeface="Arial" pitchFamily="34" charset="-120"/>
              </a:rPr>
              <a:t>Next lesson: consolidate and assess</a:t>
            </a:r>
            <a:endParaRPr lang="en-US" sz="1800" dirty="0"/>
          </a:p>
        </p:txBody>
      </p:sp>
      <p:sp>
        <p:nvSpPr>
          <p:cNvPr id="9"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6583680" cy="1371600"/>
          </a:xfrm>
          <a:prstGeom prst="rect">
            <a:avLst/>
          </a:prstGeom>
          <a:noFill/>
          <a:ln/>
        </p:spPr>
        <p:txBody>
          <a:bodyPr wrap="square" lIns="0" tIns="0" rIns="0" bIns="0" rtlCol="0" anchor="t"/>
          <a:lstStyle/>
          <a:p>
            <a:pPr algn="l" indent="0" marL="0">
              <a:buNone/>
            </a:pPr>
            <a:r>
              <a:rPr lang="en-US" sz="3400" b="1" dirty="0">
                <a:solidFill>
                  <a:srgbClr val="FFFFFF"/>
                </a:solidFill>
                <a:latin typeface="Arial" pitchFamily="34" charset="0"/>
                <a:ea typeface="Arial" pitchFamily="34" charset="-122"/>
                <a:cs typeface="Arial" pitchFamily="34" charset="-120"/>
              </a:rPr>
              <a:t>Check together</a:t>
            </a:r>
            <a:endParaRPr lang="en-US" sz="3400" dirty="0"/>
          </a:p>
        </p:txBody>
      </p:sp>
      <p:sp>
        <p:nvSpPr>
          <p:cNvPr id="3" name="Text 1"/>
          <p:cNvSpPr txBox="1"/>
          <p:nvPr/>
        </p:nvSpPr>
        <p:spPr>
          <a:xfrm>
            <a:off x="548640" y="640080"/>
            <a:ext cx="3657600" cy="457200"/>
          </a:xfrm>
          <a:prstGeom prst="rect">
            <a:avLst/>
          </a:prstGeom>
          <a:noFill/>
          <a:ln/>
        </p:spPr>
        <p:txBody>
          <a:bodyPr wrap="square" lIns="0" tIns="0" rIns="0" bIns="0" rtlCol="0" anchor="ctr"/>
          <a:lstStyle/>
          <a:p>
            <a:pPr indent="0" marL="0">
              <a:buNone/>
            </a:pPr>
            <a:r>
              <a:rPr lang="en-US" sz="2200" b="1" spc="400" kern="0" dirty="0">
                <a:solidFill>
                  <a:srgbClr val="A9C4E8"/>
                </a:solidFill>
                <a:latin typeface="Arial" pitchFamily="34" charset="0"/>
                <a:ea typeface="Arial" pitchFamily="34" charset="-122"/>
                <a:cs typeface="Arial" pitchFamily="34" charset="-120"/>
              </a:rPr>
              <a:t>ANSWERS</a:t>
            </a:r>
            <a:endParaRPr lang="en-US" sz="2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949440" cy="685800"/>
          </a:xfrm>
          <a:prstGeom prst="rect">
            <a:avLst/>
          </a:prstGeom>
          <a:noFill/>
          <a:ln/>
        </p:spPr>
        <p:txBody>
          <a:bodyPr wrap="square" lIns="0" tIns="0" rIns="0" bIns="0" rtlCol="0" anchor="ctr"/>
          <a:lstStyle/>
          <a:p>
            <a:pPr algn="l" indent="0" marL="0">
              <a:buNone/>
            </a:pPr>
            <a:r>
              <a:rPr lang="en-US" sz="2800" b="1" dirty="0">
                <a:solidFill>
                  <a:srgbClr val="001B40"/>
                </a:solidFill>
                <a:latin typeface="Arial" pitchFamily="34" charset="0"/>
                <a:ea typeface="Arial" pitchFamily="34" charset="-122"/>
                <a:cs typeface="Arial" pitchFamily="34" charset="-120"/>
              </a:rPr>
              <a:t>Task 1: answers</a:t>
            </a:r>
            <a:endParaRPr lang="en-US" sz="2800" dirty="0"/>
          </a:p>
        </p:txBody>
      </p:sp>
      <p:sp>
        <p:nvSpPr>
          <p:cNvPr id="3" name="ANSWERS pill"/>
          <p:cNvSpPr/>
          <p:nvPr/>
        </p:nvSpPr>
        <p:spPr>
          <a:xfrm>
            <a:off x="7589520" y="411480"/>
            <a:ext cx="1097280" cy="365760"/>
          </a:xfrm>
          <a:prstGeom prst="roundRect">
            <a:avLst>
              <a:gd name="adj" fmla="val 50000"/>
            </a:avLst>
          </a:prstGeom>
          <a:solidFill>
            <a:srgbClr val="A9C4E8"/>
          </a:solidFill>
          <a:ln w="12700">
            <a:solidFill>
              <a:srgbClr val="A9C4E8"/>
            </a:solidFill>
            <a:prstDash val="solid"/>
          </a:ln>
        </p:spPr>
      </p:sp>
      <p:sp>
        <p:nvSpPr>
          <p:cNvPr id="4" name="Text 2"/>
          <p:cNvSpPr txBox="1"/>
          <p:nvPr/>
        </p:nvSpPr>
        <p:spPr>
          <a:xfrm>
            <a:off x="7589520" y="411480"/>
            <a:ext cx="1097280" cy="365760"/>
          </a:xfrm>
          <a:prstGeom prst="rect">
            <a:avLst/>
          </a:prstGeom>
          <a:noFill/>
          <a:ln/>
        </p:spPr>
        <p:txBody>
          <a:bodyPr wrap="square" lIns="0" tIns="0" rIns="0" bIns="0" rtlCol="0" anchor="ctr"/>
          <a:lstStyle/>
          <a:p>
            <a:pPr algn="ctr" indent="0" marL="0">
              <a:buNone/>
            </a:pPr>
            <a:r>
              <a:rPr lang="en-US" sz="1200" b="1" spc="200" kern="0" dirty="0">
                <a:solidFill>
                  <a:srgbClr val="001B40"/>
                </a:solidFill>
                <a:latin typeface="Arial" pitchFamily="34" charset="0"/>
                <a:ea typeface="Arial" pitchFamily="34" charset="-122"/>
                <a:cs typeface="Arial" pitchFamily="34" charset="-120"/>
              </a:rPr>
              <a:t>ANSWERS</a:t>
            </a:r>
            <a:endParaRPr lang="en-US" sz="1200" dirty="0"/>
          </a:p>
        </p:txBody>
      </p:sp>
      <p:sp>
        <p:nvSpPr>
          <p:cNvPr id="5" name="@1 Card"/>
          <p:cNvSpPr/>
          <p:nvPr/>
        </p:nvSpPr>
        <p:spPr>
          <a:xfrm>
            <a:off x="457200" y="1188720"/>
            <a:ext cx="8229600" cy="777240"/>
          </a:xfrm>
          <a:prstGeom prst="roundRect">
            <a:avLst>
              <a:gd name="adj" fmla="val 14118"/>
            </a:avLst>
          </a:prstGeom>
          <a:solidFill>
            <a:srgbClr val="FFFFFF"/>
          </a:solidFill>
          <a:ln w="15875">
            <a:solidFill>
              <a:srgbClr val="002D6A"/>
            </a:solidFill>
            <a:prstDash val="solid"/>
          </a:ln>
        </p:spPr>
      </p:sp>
      <p:sp>
        <p:nvSpPr>
          <p:cNvPr id="6" name="@1 addText"/>
          <p:cNvSpPr txBox="1"/>
          <p:nvPr/>
        </p:nvSpPr>
        <p:spPr>
          <a:xfrm>
            <a:off x="685800" y="1188720"/>
            <a:ext cx="7772400" cy="777240"/>
          </a:xfrm>
          <a:prstGeom prst="rect">
            <a:avLst/>
          </a:prstGeom>
          <a:noFill/>
          <a:ln/>
        </p:spPr>
        <p:txBody>
          <a:bodyPr wrap="square" lIns="0" tIns="0" rIns="0" bIns="0" rtlCol="0" anchor="ctr"/>
          <a:lstStyle/>
          <a:p>
            <a:pPr indent="0" marL="0">
              <a:buNone/>
            </a:pPr>
            <a:r>
              <a:rPr lang="en-US" sz="1600" dirty="0">
                <a:solidFill>
                  <a:srgbClr val="22262E"/>
                </a:solidFill>
                <a:latin typeface="Arial" pitchFamily="34" charset="0"/>
                <a:ea typeface="Arial" pitchFamily="34" charset="-122"/>
                <a:cs typeface="Arial" pitchFamily="34" charset="-120"/>
              </a:rPr>
              <a:t>1. Application, transport, internet, link</a:t>
            </a:r>
            <a:endParaRPr lang="en-US" sz="1600" dirty="0"/>
          </a:p>
        </p:txBody>
      </p:sp>
      <p:sp>
        <p:nvSpPr>
          <p:cNvPr id="7" name="@2 Card"/>
          <p:cNvSpPr/>
          <p:nvPr/>
        </p:nvSpPr>
        <p:spPr>
          <a:xfrm>
            <a:off x="457200" y="2039112"/>
            <a:ext cx="8229600" cy="777240"/>
          </a:xfrm>
          <a:prstGeom prst="roundRect">
            <a:avLst>
              <a:gd name="adj" fmla="val 14118"/>
            </a:avLst>
          </a:prstGeom>
          <a:solidFill>
            <a:srgbClr val="FFFFFF"/>
          </a:solidFill>
          <a:ln w="15875">
            <a:solidFill>
              <a:srgbClr val="002D6A"/>
            </a:solidFill>
            <a:prstDash val="solid"/>
          </a:ln>
        </p:spPr>
      </p:sp>
      <p:sp>
        <p:nvSpPr>
          <p:cNvPr id="8" name="@2 addText"/>
          <p:cNvSpPr txBox="1"/>
          <p:nvPr/>
        </p:nvSpPr>
        <p:spPr>
          <a:xfrm>
            <a:off x="685800" y="2039112"/>
            <a:ext cx="7772400" cy="777240"/>
          </a:xfrm>
          <a:prstGeom prst="rect">
            <a:avLst/>
          </a:prstGeom>
          <a:noFill/>
          <a:ln/>
        </p:spPr>
        <p:txBody>
          <a:bodyPr wrap="square" lIns="0" tIns="0" rIns="0" bIns="0" rtlCol="0" anchor="ctr"/>
          <a:lstStyle/>
          <a:p>
            <a:pPr indent="0" marL="0">
              <a:buNone/>
            </a:pPr>
            <a:r>
              <a:rPr lang="en-US" sz="1600" dirty="0">
                <a:solidFill>
                  <a:srgbClr val="22262E"/>
                </a:solidFill>
                <a:latin typeface="Arial" pitchFamily="34" charset="0"/>
                <a:ea typeface="Arial" pitchFamily="34" charset="-122"/>
                <a:cs typeface="Arial" pitchFamily="34" charset="-120"/>
              </a:rPr>
              <a:t>2. The internet layer adds IP addresses. Routers use them to forward packets</a:t>
            </a:r>
            <a:endParaRPr lang="en-US" sz="1600" dirty="0"/>
          </a:p>
        </p:txBody>
      </p:sp>
      <p:sp>
        <p:nvSpPr>
          <p:cNvPr id="9" name="@3 Card"/>
          <p:cNvSpPr/>
          <p:nvPr/>
        </p:nvSpPr>
        <p:spPr>
          <a:xfrm>
            <a:off x="457200" y="2889504"/>
            <a:ext cx="8229600" cy="777240"/>
          </a:xfrm>
          <a:prstGeom prst="roundRect">
            <a:avLst>
              <a:gd name="adj" fmla="val 14118"/>
            </a:avLst>
          </a:prstGeom>
          <a:solidFill>
            <a:srgbClr val="FFFFFF"/>
          </a:solidFill>
          <a:ln w="15875">
            <a:solidFill>
              <a:srgbClr val="002D6A"/>
            </a:solidFill>
            <a:prstDash val="solid"/>
          </a:ln>
        </p:spPr>
      </p:sp>
      <p:sp>
        <p:nvSpPr>
          <p:cNvPr id="10" name="@3 addText"/>
          <p:cNvSpPr txBox="1"/>
          <p:nvPr/>
        </p:nvSpPr>
        <p:spPr>
          <a:xfrm>
            <a:off x="685800" y="2889504"/>
            <a:ext cx="7772400" cy="777240"/>
          </a:xfrm>
          <a:prstGeom prst="rect">
            <a:avLst/>
          </a:prstGeom>
          <a:noFill/>
          <a:ln/>
        </p:spPr>
        <p:txBody>
          <a:bodyPr wrap="square" lIns="0" tIns="0" rIns="0" bIns="0" rtlCol="0" anchor="ctr"/>
          <a:lstStyle/>
          <a:p>
            <a:pPr indent="0" marL="0">
              <a:buNone/>
            </a:pPr>
            <a:r>
              <a:rPr lang="en-US" sz="1600" dirty="0">
                <a:solidFill>
                  <a:srgbClr val="22262E"/>
                </a:solidFill>
                <a:latin typeface="Arial" pitchFamily="34" charset="0"/>
                <a:ea typeface="Arial" pitchFamily="34" charset="-122"/>
                <a:cs typeface="Arial" pitchFamily="34" charset="-120"/>
              </a:rPr>
              <a:t>3. The link layer</a:t>
            </a:r>
            <a:endParaRPr lang="en-US" sz="1600" dirty="0"/>
          </a:p>
        </p:txBody>
      </p:sp>
      <p:sp>
        <p:nvSpPr>
          <p:cNvPr id="11"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b="0" lang="en-US"/>
              <a:t>16</a:t>
            </a:fld>
            <a:endParaRPr lang="en-US"/>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200"/>
                                        <p:tgtEl>
                                          <p:spTgt spid="5"/>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200"/>
                                        <p:tgtEl>
                                          <p:spTgt spid="6"/>
                                        </p:tgtEl>
                                      </p:cBhvr>
                                    </p:animEffect>
                                  </p:childTnLst>
                                </p:cTn>
                              </p:par>
                            </p:childTnLst>
                          </p:cTn>
                        </p:par>
                      </p:childTnLst>
                    </p:cTn>
                  </p:par>
                  <p:par>
                    <p:cTn id="17" fill="hold">
                      <p:stCondLst>
                        <p:cond delay="indefinite"/>
                      </p:stCondLst>
                      <p:childTnLst>
                        <p:par>
                          <p:cTn id="18"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2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200"/>
                                        <p:tgtEl>
                                          <p:spTgt spid="8"/>
                                        </p:tgtEl>
                                      </p:cBhvr>
                                    </p:animEffect>
                                  </p:childTnLst>
                                </p:cTn>
                              </p:par>
                            </p:childTnLst>
                          </p:cTn>
                        </p:par>
                      </p:childTnLst>
                    </p:cTn>
                  </p:par>
                  <p:par>
                    <p:cTn id="25" fill="hold">
                      <p:stCondLst>
                        <p:cond delay="indefinite"/>
                      </p:stCondLst>
                      <p:childTnLst>
                        <p:par>
                          <p:cTn id="26"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2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2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949440" cy="685800"/>
          </a:xfrm>
          <a:prstGeom prst="rect">
            <a:avLst/>
          </a:prstGeom>
          <a:noFill/>
          <a:ln/>
        </p:spPr>
        <p:txBody>
          <a:bodyPr wrap="square" lIns="0" tIns="0" rIns="0" bIns="0" rtlCol="0" anchor="ctr"/>
          <a:lstStyle/>
          <a:p>
            <a:pPr algn="l" indent="0" marL="0">
              <a:buNone/>
            </a:pPr>
            <a:r>
              <a:rPr lang="en-US" sz="2800" b="1" dirty="0">
                <a:solidFill>
                  <a:srgbClr val="001B40"/>
                </a:solidFill>
                <a:latin typeface="Arial" pitchFamily="34" charset="0"/>
                <a:ea typeface="Arial" pitchFamily="34" charset="-122"/>
                <a:cs typeface="Arial" pitchFamily="34" charset="-120"/>
              </a:rPr>
              <a:t>Task 1b: definitions</a:t>
            </a:r>
            <a:endParaRPr lang="en-US" sz="2800" dirty="0"/>
          </a:p>
        </p:txBody>
      </p:sp>
      <p:sp>
        <p:nvSpPr>
          <p:cNvPr id="3" name="ANSWERS pill"/>
          <p:cNvSpPr/>
          <p:nvPr/>
        </p:nvSpPr>
        <p:spPr>
          <a:xfrm>
            <a:off x="7589520" y="411480"/>
            <a:ext cx="1097280" cy="365760"/>
          </a:xfrm>
          <a:prstGeom prst="roundRect">
            <a:avLst>
              <a:gd name="adj" fmla="val 50000"/>
            </a:avLst>
          </a:prstGeom>
          <a:solidFill>
            <a:srgbClr val="A9C4E8"/>
          </a:solidFill>
          <a:ln w="12700">
            <a:solidFill>
              <a:srgbClr val="A9C4E8"/>
            </a:solidFill>
            <a:prstDash val="solid"/>
          </a:ln>
        </p:spPr>
      </p:sp>
      <p:sp>
        <p:nvSpPr>
          <p:cNvPr id="4" name="Text 2"/>
          <p:cNvSpPr txBox="1"/>
          <p:nvPr/>
        </p:nvSpPr>
        <p:spPr>
          <a:xfrm>
            <a:off x="7589520" y="411480"/>
            <a:ext cx="1097280" cy="365760"/>
          </a:xfrm>
          <a:prstGeom prst="rect">
            <a:avLst/>
          </a:prstGeom>
          <a:noFill/>
          <a:ln/>
        </p:spPr>
        <p:txBody>
          <a:bodyPr wrap="square" lIns="0" tIns="0" rIns="0" bIns="0" rtlCol="0" anchor="ctr"/>
          <a:lstStyle/>
          <a:p>
            <a:pPr algn="ctr" indent="0" marL="0">
              <a:buNone/>
            </a:pPr>
            <a:r>
              <a:rPr lang="en-US" sz="1200" b="1" spc="200" kern="0" dirty="0">
                <a:solidFill>
                  <a:srgbClr val="001B40"/>
                </a:solidFill>
                <a:latin typeface="Arial" pitchFamily="34" charset="0"/>
                <a:ea typeface="Arial" pitchFamily="34" charset="-122"/>
                <a:cs typeface="Arial" pitchFamily="34" charset="-120"/>
              </a:rPr>
              <a:t>ANSWERS</a:t>
            </a:r>
            <a:endParaRPr lang="en-US" sz="1200" dirty="0"/>
          </a:p>
        </p:txBody>
      </p:sp>
      <p:sp>
        <p:nvSpPr>
          <p:cNvPr id="5" name="@1 Card"/>
          <p:cNvSpPr/>
          <p:nvPr/>
        </p:nvSpPr>
        <p:spPr>
          <a:xfrm>
            <a:off x="457200" y="1188720"/>
            <a:ext cx="8229600" cy="777240"/>
          </a:xfrm>
          <a:prstGeom prst="roundRect">
            <a:avLst>
              <a:gd name="adj" fmla="val 14118"/>
            </a:avLst>
          </a:prstGeom>
          <a:solidFill>
            <a:srgbClr val="FFFFFF"/>
          </a:solidFill>
          <a:ln w="15875">
            <a:solidFill>
              <a:srgbClr val="002D6A"/>
            </a:solidFill>
            <a:prstDash val="solid"/>
          </a:ln>
        </p:spPr>
      </p:sp>
      <p:sp>
        <p:nvSpPr>
          <p:cNvPr id="6" name="@1 addText"/>
          <p:cNvSpPr txBox="1"/>
          <p:nvPr/>
        </p:nvSpPr>
        <p:spPr>
          <a:xfrm>
            <a:off x="685800" y="1188720"/>
            <a:ext cx="7772400" cy="777240"/>
          </a:xfrm>
          <a:prstGeom prst="rect">
            <a:avLst/>
          </a:prstGeom>
          <a:noFill/>
          <a:ln/>
        </p:spPr>
        <p:txBody>
          <a:bodyPr wrap="square" lIns="0" tIns="0" rIns="0" bIns="0" rtlCol="0" anchor="ctr"/>
          <a:lstStyle/>
          <a:p>
            <a:pPr indent="0" marL="0">
              <a:buNone/>
            </a:pPr>
            <a:r>
              <a:rPr lang="en-US" sz="1600" dirty="0">
                <a:solidFill>
                  <a:srgbClr val="22262E"/>
                </a:solidFill>
                <a:latin typeface="Arial" pitchFamily="34" charset="0"/>
                <a:ea typeface="Arial" pitchFamily="34" charset="-122"/>
                <a:cs typeface="Arial" pitchFamily="34" charset="-120"/>
              </a:rPr>
              <a:t>DNS (Domain Name System): turns a domain name into the IP address of the server</a:t>
            </a:r>
            <a:endParaRPr lang="en-US" sz="1600" dirty="0"/>
          </a:p>
        </p:txBody>
      </p:sp>
      <p:sp>
        <p:nvSpPr>
          <p:cNvPr id="7" name="@2 Card"/>
          <p:cNvSpPr/>
          <p:nvPr/>
        </p:nvSpPr>
        <p:spPr>
          <a:xfrm>
            <a:off x="457200" y="2039112"/>
            <a:ext cx="8229600" cy="777240"/>
          </a:xfrm>
          <a:prstGeom prst="roundRect">
            <a:avLst>
              <a:gd name="adj" fmla="val 14118"/>
            </a:avLst>
          </a:prstGeom>
          <a:solidFill>
            <a:srgbClr val="FFFFFF"/>
          </a:solidFill>
          <a:ln w="15875">
            <a:solidFill>
              <a:srgbClr val="002D6A"/>
            </a:solidFill>
            <a:prstDash val="solid"/>
          </a:ln>
        </p:spPr>
      </p:sp>
      <p:sp>
        <p:nvSpPr>
          <p:cNvPr id="8" name="@2 addText"/>
          <p:cNvSpPr txBox="1"/>
          <p:nvPr/>
        </p:nvSpPr>
        <p:spPr>
          <a:xfrm>
            <a:off x="685800" y="2039112"/>
            <a:ext cx="7772400" cy="777240"/>
          </a:xfrm>
          <a:prstGeom prst="rect">
            <a:avLst/>
          </a:prstGeom>
          <a:noFill/>
          <a:ln/>
        </p:spPr>
        <p:txBody>
          <a:bodyPr wrap="square" lIns="0" tIns="0" rIns="0" bIns="0" rtlCol="0" anchor="ctr"/>
          <a:lstStyle/>
          <a:p>
            <a:pPr indent="0" marL="0">
              <a:buNone/>
            </a:pPr>
            <a:r>
              <a:rPr lang="en-US" sz="1600" dirty="0">
                <a:solidFill>
                  <a:srgbClr val="22262E"/>
                </a:solidFill>
                <a:latin typeface="Arial" pitchFamily="34" charset="0"/>
                <a:ea typeface="Arial" pitchFamily="34" charset="-122"/>
                <a:cs typeface="Arial" pitchFamily="34" charset="-120"/>
              </a:rPr>
              <a:t>ping: sends a small message to another computer and times the reply: the round trip time</a:t>
            </a:r>
            <a:endParaRPr lang="en-US" sz="1600" dirty="0"/>
          </a:p>
        </p:txBody>
      </p:sp>
      <p:sp>
        <p:nvSpPr>
          <p:cNvPr id="9" name="@3 Card"/>
          <p:cNvSpPr/>
          <p:nvPr/>
        </p:nvSpPr>
        <p:spPr>
          <a:xfrm>
            <a:off x="457200" y="2889504"/>
            <a:ext cx="8229600" cy="777240"/>
          </a:xfrm>
          <a:prstGeom prst="roundRect">
            <a:avLst>
              <a:gd name="adj" fmla="val 14118"/>
            </a:avLst>
          </a:prstGeom>
          <a:solidFill>
            <a:srgbClr val="FFFFFF"/>
          </a:solidFill>
          <a:ln w="15875">
            <a:solidFill>
              <a:srgbClr val="002D6A"/>
            </a:solidFill>
            <a:prstDash val="solid"/>
          </a:ln>
        </p:spPr>
      </p:sp>
      <p:sp>
        <p:nvSpPr>
          <p:cNvPr id="10" name="@3 addText"/>
          <p:cNvSpPr txBox="1"/>
          <p:nvPr/>
        </p:nvSpPr>
        <p:spPr>
          <a:xfrm>
            <a:off x="685800" y="2889504"/>
            <a:ext cx="7772400" cy="777240"/>
          </a:xfrm>
          <a:prstGeom prst="rect">
            <a:avLst/>
          </a:prstGeom>
          <a:noFill/>
          <a:ln/>
        </p:spPr>
        <p:txBody>
          <a:bodyPr wrap="square" lIns="0" tIns="0" rIns="0" bIns="0" rtlCol="0" anchor="ctr"/>
          <a:lstStyle/>
          <a:p>
            <a:pPr indent="0" marL="0">
              <a:buNone/>
            </a:pPr>
            <a:r>
              <a:rPr lang="en-US" sz="1600" dirty="0">
                <a:solidFill>
                  <a:srgbClr val="22262E"/>
                </a:solidFill>
                <a:latin typeface="Arial" pitchFamily="34" charset="0"/>
                <a:ea typeface="Arial" pitchFamily="34" charset="-122"/>
                <a:cs typeface="Arial" pitchFamily="34" charset="-120"/>
              </a:rPr>
              <a:t>traceroute (tracert on Windows): lists the routers a packet passes through, one line per hop, with the time for each</a:t>
            </a:r>
            <a:endParaRPr lang="en-US" sz="1600" dirty="0"/>
          </a:p>
        </p:txBody>
      </p:sp>
      <p:sp>
        <p:nvSpPr>
          <p:cNvPr id="11"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b="0" lang="en-US"/>
              <a:t>17</a:t>
            </a:fld>
            <a:endParaRPr lang="en-US"/>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200"/>
                                        <p:tgtEl>
                                          <p:spTgt spid="5"/>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200"/>
                                        <p:tgtEl>
                                          <p:spTgt spid="6"/>
                                        </p:tgtEl>
                                      </p:cBhvr>
                                    </p:animEffect>
                                  </p:childTnLst>
                                </p:cTn>
                              </p:par>
                            </p:childTnLst>
                          </p:cTn>
                        </p:par>
                      </p:childTnLst>
                    </p:cTn>
                  </p:par>
                  <p:par>
                    <p:cTn id="17" fill="hold">
                      <p:stCondLst>
                        <p:cond delay="indefinite"/>
                      </p:stCondLst>
                      <p:childTnLst>
                        <p:par>
                          <p:cTn id="18"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2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200"/>
                                        <p:tgtEl>
                                          <p:spTgt spid="8"/>
                                        </p:tgtEl>
                                      </p:cBhvr>
                                    </p:animEffect>
                                  </p:childTnLst>
                                </p:cTn>
                              </p:par>
                            </p:childTnLst>
                          </p:cTn>
                        </p:par>
                      </p:childTnLst>
                    </p:cTn>
                  </p:par>
                  <p:par>
                    <p:cTn id="25" fill="hold">
                      <p:stCondLst>
                        <p:cond delay="indefinite"/>
                      </p:stCondLst>
                      <p:childTnLst>
                        <p:par>
                          <p:cTn id="26"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2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2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949440" cy="685800"/>
          </a:xfrm>
          <a:prstGeom prst="rect">
            <a:avLst/>
          </a:prstGeom>
          <a:noFill/>
          <a:ln/>
        </p:spPr>
        <p:txBody>
          <a:bodyPr wrap="square" lIns="0" tIns="0" rIns="0" bIns="0" rtlCol="0" anchor="ctr"/>
          <a:lstStyle/>
          <a:p>
            <a:pPr algn="l" indent="0" marL="0">
              <a:buNone/>
            </a:pPr>
            <a:r>
              <a:rPr lang="en-US" sz="2800" b="1" dirty="0">
                <a:solidFill>
                  <a:srgbClr val="001B40"/>
                </a:solidFill>
                <a:latin typeface="Arial" pitchFamily="34" charset="0"/>
                <a:ea typeface="Arial" pitchFamily="34" charset="-122"/>
                <a:cs typeface="Arial" pitchFamily="34" charset="-120"/>
              </a:rPr>
              <a:t>Task 2: the DNS steps</a:t>
            </a:r>
            <a:endParaRPr lang="en-US" sz="2800" dirty="0"/>
          </a:p>
        </p:txBody>
      </p:sp>
      <p:sp>
        <p:nvSpPr>
          <p:cNvPr id="3" name="ANSWERS pill"/>
          <p:cNvSpPr/>
          <p:nvPr/>
        </p:nvSpPr>
        <p:spPr>
          <a:xfrm>
            <a:off x="7589520" y="411480"/>
            <a:ext cx="1097280" cy="365760"/>
          </a:xfrm>
          <a:prstGeom prst="roundRect">
            <a:avLst>
              <a:gd name="adj" fmla="val 50000"/>
            </a:avLst>
          </a:prstGeom>
          <a:solidFill>
            <a:srgbClr val="A9C4E8"/>
          </a:solidFill>
          <a:ln w="12700">
            <a:solidFill>
              <a:srgbClr val="A9C4E8"/>
            </a:solidFill>
            <a:prstDash val="solid"/>
          </a:ln>
        </p:spPr>
      </p:sp>
      <p:sp>
        <p:nvSpPr>
          <p:cNvPr id="4" name="Text 2"/>
          <p:cNvSpPr txBox="1"/>
          <p:nvPr/>
        </p:nvSpPr>
        <p:spPr>
          <a:xfrm>
            <a:off x="7589520" y="411480"/>
            <a:ext cx="1097280" cy="365760"/>
          </a:xfrm>
          <a:prstGeom prst="rect">
            <a:avLst/>
          </a:prstGeom>
          <a:noFill/>
          <a:ln/>
        </p:spPr>
        <p:txBody>
          <a:bodyPr wrap="square" lIns="0" tIns="0" rIns="0" bIns="0" rtlCol="0" anchor="ctr"/>
          <a:lstStyle/>
          <a:p>
            <a:pPr algn="ctr" indent="0" marL="0">
              <a:buNone/>
            </a:pPr>
            <a:r>
              <a:rPr lang="en-US" sz="1200" b="1" spc="200" kern="0" dirty="0">
                <a:solidFill>
                  <a:srgbClr val="001B40"/>
                </a:solidFill>
                <a:latin typeface="Arial" pitchFamily="34" charset="0"/>
                <a:ea typeface="Arial" pitchFamily="34" charset="-122"/>
                <a:cs typeface="Arial" pitchFamily="34" charset="-120"/>
              </a:rPr>
              <a:t>ANSWERS</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057400"/>
                <a:gridCol w="2057400"/>
                <a:gridCol w="2057400"/>
                <a:gridCol w="2057400"/>
              </a:tblGrid>
              <a:tr h="0">
                <a:tc>
                  <a:txBody>
                    <a:bodyPr/>
                    <a:lstStyle/>
                    <a:p>
                      <a:pPr indent="0" marL="0">
                        <a:buNone/>
                      </a:pPr>
                      <a:r>
                        <a:rPr lang="en-US" sz="1400" b="1" dirty="0">
                          <a:solidFill>
                            <a:srgbClr val="FFFFFF"/>
                          </a:solidFill>
                          <a:latin typeface="Arial" pitchFamily="34" charset="0"/>
                          <a:ea typeface="Arial" pitchFamily="34" charset="-122"/>
                          <a:cs typeface="Arial" pitchFamily="34" charset="-120"/>
                        </a:rPr>
                        <a:t>Step</a:t>
                      </a:r>
                      <a:endParaRPr lang="en-US" sz="1400" dirty="0">
                        <a:latin typeface="Arial" charset="0"/>
                        <a:ea typeface="Arial" charset="0"/>
                        <a:cs typeface="Arial" charset="0"/>
                      </a:endParaRPr>
                    </a:p>
                  </a:txBody>
                  <a:tcPr marL="73152" marR="73152" marT="73152" marB="73152" anchor="ctr">
                    <a:lnL w="12700" cap="flat" cmpd="sng" algn="ctr">
                      <a:solidFill>
                        <a:srgbClr val="C5D1E3"/>
                      </a:solidFill>
                      <a:prstDash val="solid"/>
                      <a:round/>
                      <a:headEnd type="none" w="med" len="med"/>
                      <a:tailEnd type="none" w="med" len="med"/>
                    </a:lnL>
                    <a:lnR w="12700" cap="flat" cmpd="sng" algn="ctr">
                      <a:solidFill>
                        <a:srgbClr val="C5D1E3"/>
                      </a:solidFill>
                      <a:prstDash val="solid"/>
                      <a:round/>
                      <a:headEnd type="none" w="med" len="med"/>
                      <a:tailEnd type="none" w="med" len="med"/>
                    </a:lnR>
                    <a:lnT w="12700" cap="flat" cmpd="sng" algn="ctr">
                      <a:solidFill>
                        <a:srgbClr val="C5D1E3"/>
                      </a:solidFill>
                      <a:prstDash val="solid"/>
                      <a:round/>
                      <a:headEnd type="none" w="med" len="med"/>
                      <a:tailEnd type="none" w="med" len="med"/>
                    </a:lnT>
                    <a:lnB w="12700" cap="flat" cmpd="sng" algn="ctr">
                      <a:solidFill>
                        <a:srgbClr val="C5D1E3"/>
                      </a:solidFill>
                      <a:prstDash val="solid"/>
                      <a:round/>
                      <a:headEnd type="none" w="med" len="med"/>
                      <a:tailEnd type="none" w="med" len="med"/>
                    </a:lnB>
                    <a:solidFill>
                      <a:srgbClr val="002D6A"/>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Who asks</a:t>
                      </a:r>
                      <a:endParaRPr lang="en-US" sz="1400" dirty="0">
                        <a:latin typeface="Arial" charset="0"/>
                        <a:ea typeface="Arial" charset="0"/>
                        <a:cs typeface="Arial" charset="0"/>
                      </a:endParaRPr>
                    </a:p>
                  </a:txBody>
                  <a:tcPr marL="73152" marR="73152" marT="73152" marB="73152" anchor="ctr">
                    <a:lnL w="12700" cap="flat" cmpd="sng" algn="ctr">
                      <a:solidFill>
                        <a:srgbClr val="C5D1E3"/>
                      </a:solidFill>
                      <a:prstDash val="solid"/>
                      <a:round/>
                      <a:headEnd type="none" w="med" len="med"/>
                      <a:tailEnd type="none" w="med" len="med"/>
                    </a:lnL>
                    <a:lnR w="12700" cap="flat" cmpd="sng" algn="ctr">
                      <a:solidFill>
                        <a:srgbClr val="C5D1E3"/>
                      </a:solidFill>
                      <a:prstDash val="solid"/>
                      <a:round/>
                      <a:headEnd type="none" w="med" len="med"/>
                      <a:tailEnd type="none" w="med" len="med"/>
                    </a:lnR>
                    <a:lnT w="12700" cap="flat" cmpd="sng" algn="ctr">
                      <a:solidFill>
                        <a:srgbClr val="C5D1E3"/>
                      </a:solidFill>
                      <a:prstDash val="solid"/>
                      <a:round/>
                      <a:headEnd type="none" w="med" len="med"/>
                      <a:tailEnd type="none" w="med" len="med"/>
                    </a:lnT>
                    <a:lnB w="12700" cap="flat" cmpd="sng" algn="ctr">
                      <a:solidFill>
                        <a:srgbClr val="C5D1E3"/>
                      </a:solidFill>
                      <a:prstDash val="solid"/>
                      <a:round/>
                      <a:headEnd type="none" w="med" len="med"/>
                      <a:tailEnd type="none" w="med" len="med"/>
                    </a:lnB>
                    <a:solidFill>
                      <a:srgbClr val="002D6A"/>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Who answers</a:t>
                      </a:r>
                      <a:endParaRPr lang="en-US" sz="1400" dirty="0">
                        <a:latin typeface="Arial" charset="0"/>
                        <a:ea typeface="Arial" charset="0"/>
                        <a:cs typeface="Arial" charset="0"/>
                      </a:endParaRPr>
                    </a:p>
                  </a:txBody>
                  <a:tcPr marL="73152" marR="73152" marT="73152" marB="73152" anchor="ctr">
                    <a:lnL w="12700" cap="flat" cmpd="sng" algn="ctr">
                      <a:solidFill>
                        <a:srgbClr val="C5D1E3"/>
                      </a:solidFill>
                      <a:prstDash val="solid"/>
                      <a:round/>
                      <a:headEnd type="none" w="med" len="med"/>
                      <a:tailEnd type="none" w="med" len="med"/>
                    </a:lnL>
                    <a:lnR w="12700" cap="flat" cmpd="sng" algn="ctr">
                      <a:solidFill>
                        <a:srgbClr val="C5D1E3"/>
                      </a:solidFill>
                      <a:prstDash val="solid"/>
                      <a:round/>
                      <a:headEnd type="none" w="med" len="med"/>
                      <a:tailEnd type="none" w="med" len="med"/>
                    </a:lnR>
                    <a:lnT w="12700" cap="flat" cmpd="sng" algn="ctr">
                      <a:solidFill>
                        <a:srgbClr val="C5D1E3"/>
                      </a:solidFill>
                      <a:prstDash val="solid"/>
                      <a:round/>
                      <a:headEnd type="none" w="med" len="med"/>
                      <a:tailEnd type="none" w="med" len="med"/>
                    </a:lnT>
                    <a:lnB w="12700" cap="flat" cmpd="sng" algn="ctr">
                      <a:solidFill>
                        <a:srgbClr val="C5D1E3"/>
                      </a:solidFill>
                      <a:prstDash val="solid"/>
                      <a:round/>
                      <a:headEnd type="none" w="med" len="med"/>
                      <a:tailEnd type="none" w="med" len="med"/>
                    </a:lnB>
                    <a:solidFill>
                      <a:srgbClr val="002D6A"/>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Answer</a:t>
                      </a:r>
                      <a:endParaRPr lang="en-US" sz="1400" dirty="0">
                        <a:latin typeface="Arial" charset="0"/>
                        <a:ea typeface="Arial" charset="0"/>
                        <a:cs typeface="Arial" charset="0"/>
                      </a:endParaRPr>
                    </a:p>
                  </a:txBody>
                  <a:tcPr marL="73152" marR="73152" marT="73152" marB="73152" anchor="ctr">
                    <a:lnL w="12700" cap="flat" cmpd="sng" algn="ctr">
                      <a:solidFill>
                        <a:srgbClr val="C5D1E3"/>
                      </a:solidFill>
                      <a:prstDash val="solid"/>
                      <a:round/>
                      <a:headEnd type="none" w="med" len="med"/>
                      <a:tailEnd type="none" w="med" len="med"/>
                    </a:lnL>
                    <a:lnR w="12700" cap="flat" cmpd="sng" algn="ctr">
                      <a:solidFill>
                        <a:srgbClr val="C5D1E3"/>
                      </a:solidFill>
                      <a:prstDash val="solid"/>
                      <a:round/>
                      <a:headEnd type="none" w="med" len="med"/>
                      <a:tailEnd type="none" w="med" len="med"/>
                    </a:lnR>
                    <a:lnT w="12700" cap="flat" cmpd="sng" algn="ctr">
                      <a:solidFill>
                        <a:srgbClr val="C5D1E3"/>
                      </a:solidFill>
                      <a:prstDash val="solid"/>
                      <a:round/>
                      <a:headEnd type="none" w="med" len="med"/>
                      <a:tailEnd type="none" w="med" len="med"/>
                    </a:lnT>
                    <a:lnB w="12700" cap="flat" cmpd="sng" algn="ctr">
                      <a:solidFill>
                        <a:srgbClr val="C5D1E3"/>
                      </a:solidFill>
                      <a:prstDash val="solid"/>
                      <a:round/>
                      <a:headEnd type="none" w="med" len="med"/>
                      <a:tailEnd type="none" w="med" len="med"/>
                    </a:lnB>
                    <a:solidFill>
                      <a:srgbClr val="002D6A"/>
                    </a:solidFill>
                  </a:tcPr>
                </a:tc>
              </a:tr>
              <a:tr h="0">
                <a:tc>
                  <a:txBody>
                    <a:bodyPr/>
                    <a:lstStyle/>
                    <a:p>
                      <a:pPr indent="0" marL="0">
                        <a:buNone/>
                      </a:pPr>
                      <a:r>
                        <a:rPr lang="en-US" sz="1400" b="1" dirty="0">
                          <a:solidFill>
                            <a:srgbClr val="22262E"/>
                          </a:solidFill>
                          <a:latin typeface="Arial" pitchFamily="34" charset="0"/>
                          <a:ea typeface="Arial" pitchFamily="34" charset="-122"/>
                          <a:cs typeface="Arial" pitchFamily="34" charset="-120"/>
                        </a:rPr>
                        <a:t>1</a:t>
                      </a:r>
                      <a:endParaRPr lang="en-US" sz="1400" dirty="0">
                        <a:latin typeface="Arial" charset="0"/>
                        <a:ea typeface="Arial" charset="0"/>
                        <a:cs typeface="Arial" charset="0"/>
                      </a:endParaRPr>
                    </a:p>
                  </a:txBody>
                  <a:tcPr marL="73152" marR="73152" marT="73152" marB="73152" anchor="ctr">
                    <a:lnL w="12700" cap="flat" cmpd="sng" algn="ctr">
                      <a:solidFill>
                        <a:srgbClr val="C5D1E3"/>
                      </a:solidFill>
                      <a:prstDash val="solid"/>
                      <a:round/>
                      <a:headEnd type="none" w="med" len="med"/>
                      <a:tailEnd type="none" w="med" len="med"/>
                    </a:lnL>
                    <a:lnR w="12700" cap="flat" cmpd="sng" algn="ctr">
                      <a:solidFill>
                        <a:srgbClr val="C5D1E3"/>
                      </a:solidFill>
                      <a:prstDash val="solid"/>
                      <a:round/>
                      <a:headEnd type="none" w="med" len="med"/>
                      <a:tailEnd type="none" w="med" len="med"/>
                    </a:lnR>
                    <a:lnT w="12700" cap="flat" cmpd="sng" algn="ctr">
                      <a:solidFill>
                        <a:srgbClr val="C5D1E3"/>
                      </a:solidFill>
                      <a:prstDash val="solid"/>
                      <a:round/>
                      <a:headEnd type="none" w="med" len="med"/>
                      <a:tailEnd type="none" w="med" len="med"/>
                    </a:lnT>
                    <a:lnB w="12700" cap="flat" cmpd="sng" algn="ctr">
                      <a:solidFill>
                        <a:srgbClr val="C5D1E3"/>
                      </a:solidFill>
                      <a:prstDash val="solid"/>
                      <a:round/>
                      <a:headEnd type="none" w="med" len="med"/>
                      <a:tailEnd type="none" w="med" len="med"/>
                    </a:lnB>
                    <a:solidFill>
                      <a:srgbClr val="FFFFFF"/>
                    </a:solidFill>
                  </a:tcPr>
                </a:tc>
                <a:tc>
                  <a:txBody>
                    <a:bodyPr/>
                    <a:lstStyle/>
                    <a:p>
                      <a:pPr indent="0" marL="0">
                        <a:buNone/>
                      </a:pPr>
                      <a:r>
                        <a:rPr lang="en-US" sz="1400" dirty="0">
                          <a:solidFill>
                            <a:srgbClr val="22262E"/>
                          </a:solidFill>
                          <a:latin typeface="Arial" pitchFamily="34" charset="0"/>
                          <a:ea typeface="Arial" pitchFamily="34" charset="-122"/>
                          <a:cs typeface="Arial" pitchFamily="34" charset="-120"/>
                        </a:rPr>
                        <a:t>Browser</a:t>
                      </a:r>
                      <a:endParaRPr lang="en-US" sz="1400" dirty="0">
                        <a:latin typeface="Arial" charset="0"/>
                        <a:ea typeface="Arial" charset="0"/>
                        <a:cs typeface="Arial" charset="0"/>
                      </a:endParaRPr>
                    </a:p>
                  </a:txBody>
                  <a:tcPr marL="73152" marR="73152" marT="73152" marB="73152" anchor="ctr">
                    <a:lnL w="12700" cap="flat" cmpd="sng" algn="ctr">
                      <a:solidFill>
                        <a:srgbClr val="C5D1E3"/>
                      </a:solidFill>
                      <a:prstDash val="solid"/>
                      <a:round/>
                      <a:headEnd type="none" w="med" len="med"/>
                      <a:tailEnd type="none" w="med" len="med"/>
                    </a:lnL>
                    <a:lnR w="12700" cap="flat" cmpd="sng" algn="ctr">
                      <a:solidFill>
                        <a:srgbClr val="C5D1E3"/>
                      </a:solidFill>
                      <a:prstDash val="solid"/>
                      <a:round/>
                      <a:headEnd type="none" w="med" len="med"/>
                      <a:tailEnd type="none" w="med" len="med"/>
                    </a:lnR>
                    <a:lnT w="12700" cap="flat" cmpd="sng" algn="ctr">
                      <a:solidFill>
                        <a:srgbClr val="C5D1E3"/>
                      </a:solidFill>
                      <a:prstDash val="solid"/>
                      <a:round/>
                      <a:headEnd type="none" w="med" len="med"/>
                      <a:tailEnd type="none" w="med" len="med"/>
                    </a:lnT>
                    <a:lnB w="12700" cap="flat" cmpd="sng" algn="ctr">
                      <a:solidFill>
                        <a:srgbClr val="C5D1E3"/>
                      </a:solidFill>
                      <a:prstDash val="solid"/>
                      <a:round/>
                      <a:headEnd type="none" w="med" len="med"/>
                      <a:tailEnd type="none" w="med" len="med"/>
                    </a:lnB>
                    <a:solidFill>
                      <a:srgbClr val="FFFFFF"/>
                    </a:solidFill>
                  </a:tcPr>
                </a:tc>
                <a:tc>
                  <a:txBody>
                    <a:bodyPr/>
                    <a:lstStyle/>
                    <a:p>
                      <a:pPr indent="0" marL="0">
                        <a:buNone/>
                      </a:pPr>
                      <a:r>
                        <a:rPr lang="en-US" sz="1400" dirty="0">
                          <a:solidFill>
                            <a:srgbClr val="22262E"/>
                          </a:solidFill>
                          <a:latin typeface="Arial" pitchFamily="34" charset="0"/>
                          <a:ea typeface="Arial" pitchFamily="34" charset="-122"/>
                          <a:cs typeface="Arial" pitchFamily="34" charset="-120"/>
                        </a:rPr>
                        <a:t>Local resolver</a:t>
                      </a:r>
                      <a:endParaRPr lang="en-US" sz="1400" dirty="0">
                        <a:latin typeface="Arial" charset="0"/>
                        <a:ea typeface="Arial" charset="0"/>
                        <a:cs typeface="Arial" charset="0"/>
                      </a:endParaRPr>
                    </a:p>
                  </a:txBody>
                  <a:tcPr marL="73152" marR="73152" marT="73152" marB="73152" anchor="ctr">
                    <a:lnL w="12700" cap="flat" cmpd="sng" algn="ctr">
                      <a:solidFill>
                        <a:srgbClr val="C5D1E3"/>
                      </a:solidFill>
                      <a:prstDash val="solid"/>
                      <a:round/>
                      <a:headEnd type="none" w="med" len="med"/>
                      <a:tailEnd type="none" w="med" len="med"/>
                    </a:lnL>
                    <a:lnR w="12700" cap="flat" cmpd="sng" algn="ctr">
                      <a:solidFill>
                        <a:srgbClr val="C5D1E3"/>
                      </a:solidFill>
                      <a:prstDash val="solid"/>
                      <a:round/>
                      <a:headEnd type="none" w="med" len="med"/>
                      <a:tailEnd type="none" w="med" len="med"/>
                    </a:lnR>
                    <a:lnT w="12700" cap="flat" cmpd="sng" algn="ctr">
                      <a:solidFill>
                        <a:srgbClr val="C5D1E3"/>
                      </a:solidFill>
                      <a:prstDash val="solid"/>
                      <a:round/>
                      <a:headEnd type="none" w="med" len="med"/>
                      <a:tailEnd type="none" w="med" len="med"/>
                    </a:lnT>
                    <a:lnB w="12700" cap="flat" cmpd="sng" algn="ctr">
                      <a:solidFill>
                        <a:srgbClr val="C5D1E3"/>
                      </a:solidFill>
                      <a:prstDash val="solid"/>
                      <a:round/>
                      <a:headEnd type="none" w="med" len="med"/>
                      <a:tailEnd type="none" w="med" len="med"/>
                    </a:lnB>
                    <a:solidFill>
                      <a:srgbClr val="FFFFFF"/>
                    </a:solidFill>
                  </a:tcPr>
                </a:tc>
                <a:tc>
                  <a:txBody>
                    <a:bodyPr/>
                    <a:lstStyle/>
                    <a:p>
                      <a:pPr indent="0" marL="0">
                        <a:buNone/>
                      </a:pPr>
                      <a:r>
                        <a:rPr lang="en-US" sz="1400" dirty="0">
                          <a:solidFill>
                            <a:srgbClr val="22262E"/>
                          </a:solidFill>
                          <a:latin typeface="Arial" pitchFamily="34" charset="0"/>
                          <a:ea typeface="Arial" pitchFamily="34" charset="-122"/>
                          <a:cs typeface="Arial" pitchFamily="34" charset="-120"/>
                        </a:rPr>
                        <a:t>Asks for the IP, cache miss</a:t>
                      </a:r>
                      <a:endParaRPr lang="en-US" sz="1400" dirty="0">
                        <a:latin typeface="Arial" charset="0"/>
                        <a:ea typeface="Arial" charset="0"/>
                        <a:cs typeface="Arial" charset="0"/>
                      </a:endParaRPr>
                    </a:p>
                  </a:txBody>
                  <a:tcPr marL="73152" marR="73152" marT="73152" marB="73152" anchor="ctr">
                    <a:lnL w="12700" cap="flat" cmpd="sng" algn="ctr">
                      <a:solidFill>
                        <a:srgbClr val="C5D1E3"/>
                      </a:solidFill>
                      <a:prstDash val="solid"/>
                      <a:round/>
                      <a:headEnd type="none" w="med" len="med"/>
                      <a:tailEnd type="none" w="med" len="med"/>
                    </a:lnL>
                    <a:lnR w="12700" cap="flat" cmpd="sng" algn="ctr">
                      <a:solidFill>
                        <a:srgbClr val="C5D1E3"/>
                      </a:solidFill>
                      <a:prstDash val="solid"/>
                      <a:round/>
                      <a:headEnd type="none" w="med" len="med"/>
                      <a:tailEnd type="none" w="med" len="med"/>
                    </a:lnR>
                    <a:lnT w="12700" cap="flat" cmpd="sng" algn="ctr">
                      <a:solidFill>
                        <a:srgbClr val="C5D1E3"/>
                      </a:solidFill>
                      <a:prstDash val="solid"/>
                      <a:round/>
                      <a:headEnd type="none" w="med" len="med"/>
                      <a:tailEnd type="none" w="med" len="med"/>
                    </a:lnT>
                    <a:lnB w="12700" cap="flat" cmpd="sng" algn="ctr">
                      <a:solidFill>
                        <a:srgbClr val="C5D1E3"/>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22262E"/>
                          </a:solidFill>
                          <a:latin typeface="Arial" pitchFamily="34" charset="0"/>
                          <a:ea typeface="Arial" pitchFamily="34" charset="-122"/>
                          <a:cs typeface="Arial" pitchFamily="34" charset="-120"/>
                        </a:rPr>
                        <a:t>2</a:t>
                      </a:r>
                      <a:endParaRPr lang="en-US" sz="1400" dirty="0">
                        <a:latin typeface="Arial" charset="0"/>
                        <a:ea typeface="Arial" charset="0"/>
                        <a:cs typeface="Arial" charset="0"/>
                      </a:endParaRPr>
                    </a:p>
                  </a:txBody>
                  <a:tcPr marL="73152" marR="73152" marT="73152" marB="73152" anchor="ctr">
                    <a:lnL w="12700" cap="flat" cmpd="sng" algn="ctr">
                      <a:solidFill>
                        <a:srgbClr val="C5D1E3"/>
                      </a:solidFill>
                      <a:prstDash val="solid"/>
                      <a:round/>
                      <a:headEnd type="none" w="med" len="med"/>
                      <a:tailEnd type="none" w="med" len="med"/>
                    </a:lnL>
                    <a:lnR w="12700" cap="flat" cmpd="sng" algn="ctr">
                      <a:solidFill>
                        <a:srgbClr val="C5D1E3"/>
                      </a:solidFill>
                      <a:prstDash val="solid"/>
                      <a:round/>
                      <a:headEnd type="none" w="med" len="med"/>
                      <a:tailEnd type="none" w="med" len="med"/>
                    </a:lnR>
                    <a:lnT w="12700" cap="flat" cmpd="sng" algn="ctr">
                      <a:solidFill>
                        <a:srgbClr val="C5D1E3"/>
                      </a:solidFill>
                      <a:prstDash val="solid"/>
                      <a:round/>
                      <a:headEnd type="none" w="med" len="med"/>
                      <a:tailEnd type="none" w="med" len="med"/>
                    </a:lnT>
                    <a:lnB w="12700" cap="flat" cmpd="sng" algn="ctr">
                      <a:solidFill>
                        <a:srgbClr val="C5D1E3"/>
                      </a:solidFill>
                      <a:prstDash val="solid"/>
                      <a:round/>
                      <a:headEnd type="none" w="med" len="med"/>
                      <a:tailEnd type="none" w="med" len="med"/>
                    </a:lnB>
                    <a:solidFill>
                      <a:srgbClr val="FFFFFF"/>
                    </a:solidFill>
                  </a:tcPr>
                </a:tc>
                <a:tc>
                  <a:txBody>
                    <a:bodyPr/>
                    <a:lstStyle/>
                    <a:p>
                      <a:pPr indent="0" marL="0">
                        <a:buNone/>
                      </a:pPr>
                      <a:r>
                        <a:rPr lang="en-US" sz="1400" dirty="0">
                          <a:solidFill>
                            <a:srgbClr val="22262E"/>
                          </a:solidFill>
                          <a:latin typeface="Arial" pitchFamily="34" charset="0"/>
                          <a:ea typeface="Arial" pitchFamily="34" charset="-122"/>
                          <a:cs typeface="Arial" pitchFamily="34" charset="-120"/>
                        </a:rPr>
                        <a:t>Resolver</a:t>
                      </a:r>
                      <a:endParaRPr lang="en-US" sz="1400" dirty="0">
                        <a:latin typeface="Arial" charset="0"/>
                        <a:ea typeface="Arial" charset="0"/>
                        <a:cs typeface="Arial" charset="0"/>
                      </a:endParaRPr>
                    </a:p>
                  </a:txBody>
                  <a:tcPr marL="73152" marR="73152" marT="73152" marB="73152" anchor="ctr">
                    <a:lnL w="12700" cap="flat" cmpd="sng" algn="ctr">
                      <a:solidFill>
                        <a:srgbClr val="C5D1E3"/>
                      </a:solidFill>
                      <a:prstDash val="solid"/>
                      <a:round/>
                      <a:headEnd type="none" w="med" len="med"/>
                      <a:tailEnd type="none" w="med" len="med"/>
                    </a:lnL>
                    <a:lnR w="12700" cap="flat" cmpd="sng" algn="ctr">
                      <a:solidFill>
                        <a:srgbClr val="C5D1E3"/>
                      </a:solidFill>
                      <a:prstDash val="solid"/>
                      <a:round/>
                      <a:headEnd type="none" w="med" len="med"/>
                      <a:tailEnd type="none" w="med" len="med"/>
                    </a:lnR>
                    <a:lnT w="12700" cap="flat" cmpd="sng" algn="ctr">
                      <a:solidFill>
                        <a:srgbClr val="C5D1E3"/>
                      </a:solidFill>
                      <a:prstDash val="solid"/>
                      <a:round/>
                      <a:headEnd type="none" w="med" len="med"/>
                      <a:tailEnd type="none" w="med" len="med"/>
                    </a:lnT>
                    <a:lnB w="12700" cap="flat" cmpd="sng" algn="ctr">
                      <a:solidFill>
                        <a:srgbClr val="C5D1E3"/>
                      </a:solidFill>
                      <a:prstDash val="solid"/>
                      <a:round/>
                      <a:headEnd type="none" w="med" len="med"/>
                      <a:tailEnd type="none" w="med" len="med"/>
                    </a:lnB>
                    <a:solidFill>
                      <a:srgbClr val="FFFFFF"/>
                    </a:solidFill>
                  </a:tcPr>
                </a:tc>
                <a:tc>
                  <a:txBody>
                    <a:bodyPr/>
                    <a:lstStyle/>
                    <a:p>
                      <a:pPr indent="0" marL="0">
                        <a:buNone/>
                      </a:pPr>
                      <a:r>
                        <a:rPr lang="en-US" sz="1400" dirty="0">
                          <a:solidFill>
                            <a:srgbClr val="22262E"/>
                          </a:solidFill>
                          <a:latin typeface="Arial" pitchFamily="34" charset="0"/>
                          <a:ea typeface="Arial" pitchFamily="34" charset="-122"/>
                          <a:cs typeface="Arial" pitchFamily="34" charset="-120"/>
                        </a:rPr>
                        <a:t>Root server</a:t>
                      </a:r>
                      <a:endParaRPr lang="en-US" sz="1400" dirty="0">
                        <a:latin typeface="Arial" charset="0"/>
                        <a:ea typeface="Arial" charset="0"/>
                        <a:cs typeface="Arial" charset="0"/>
                      </a:endParaRPr>
                    </a:p>
                  </a:txBody>
                  <a:tcPr marL="73152" marR="73152" marT="73152" marB="73152" anchor="ctr">
                    <a:lnL w="12700" cap="flat" cmpd="sng" algn="ctr">
                      <a:solidFill>
                        <a:srgbClr val="C5D1E3"/>
                      </a:solidFill>
                      <a:prstDash val="solid"/>
                      <a:round/>
                      <a:headEnd type="none" w="med" len="med"/>
                      <a:tailEnd type="none" w="med" len="med"/>
                    </a:lnL>
                    <a:lnR w="12700" cap="flat" cmpd="sng" algn="ctr">
                      <a:solidFill>
                        <a:srgbClr val="C5D1E3"/>
                      </a:solidFill>
                      <a:prstDash val="solid"/>
                      <a:round/>
                      <a:headEnd type="none" w="med" len="med"/>
                      <a:tailEnd type="none" w="med" len="med"/>
                    </a:lnR>
                    <a:lnT w="12700" cap="flat" cmpd="sng" algn="ctr">
                      <a:solidFill>
                        <a:srgbClr val="C5D1E3"/>
                      </a:solidFill>
                      <a:prstDash val="solid"/>
                      <a:round/>
                      <a:headEnd type="none" w="med" len="med"/>
                      <a:tailEnd type="none" w="med" len="med"/>
                    </a:lnT>
                    <a:lnB w="12700" cap="flat" cmpd="sng" algn="ctr">
                      <a:solidFill>
                        <a:srgbClr val="C5D1E3"/>
                      </a:solidFill>
                      <a:prstDash val="solid"/>
                      <a:round/>
                      <a:headEnd type="none" w="med" len="med"/>
                      <a:tailEnd type="none" w="med" len="med"/>
                    </a:lnB>
                    <a:solidFill>
                      <a:srgbClr val="FFFFFF"/>
                    </a:solidFill>
                  </a:tcPr>
                </a:tc>
                <a:tc>
                  <a:txBody>
                    <a:bodyPr/>
                    <a:lstStyle/>
                    <a:p>
                      <a:pPr indent="0" marL="0">
                        <a:buNone/>
                      </a:pPr>
                      <a:r>
                        <a:rPr lang="en-US" sz="1400" dirty="0">
                          <a:solidFill>
                            <a:srgbClr val="22262E"/>
                          </a:solidFill>
                          <a:latin typeface="Arial" pitchFamily="34" charset="0"/>
                          <a:ea typeface="Arial" pitchFamily="34" charset="-122"/>
                          <a:cs typeface="Arial" pitchFamily="34" charset="-120"/>
                        </a:rPr>
                        <a:t>Address of the TLD server</a:t>
                      </a:r>
                      <a:endParaRPr lang="en-US" sz="1400" dirty="0">
                        <a:latin typeface="Arial" charset="0"/>
                        <a:ea typeface="Arial" charset="0"/>
                        <a:cs typeface="Arial" charset="0"/>
                      </a:endParaRPr>
                    </a:p>
                  </a:txBody>
                  <a:tcPr marL="73152" marR="73152" marT="73152" marB="73152" anchor="ctr">
                    <a:lnL w="12700" cap="flat" cmpd="sng" algn="ctr">
                      <a:solidFill>
                        <a:srgbClr val="C5D1E3"/>
                      </a:solidFill>
                      <a:prstDash val="solid"/>
                      <a:round/>
                      <a:headEnd type="none" w="med" len="med"/>
                      <a:tailEnd type="none" w="med" len="med"/>
                    </a:lnL>
                    <a:lnR w="12700" cap="flat" cmpd="sng" algn="ctr">
                      <a:solidFill>
                        <a:srgbClr val="C5D1E3"/>
                      </a:solidFill>
                      <a:prstDash val="solid"/>
                      <a:round/>
                      <a:headEnd type="none" w="med" len="med"/>
                      <a:tailEnd type="none" w="med" len="med"/>
                    </a:lnR>
                    <a:lnT w="12700" cap="flat" cmpd="sng" algn="ctr">
                      <a:solidFill>
                        <a:srgbClr val="C5D1E3"/>
                      </a:solidFill>
                      <a:prstDash val="solid"/>
                      <a:round/>
                      <a:headEnd type="none" w="med" len="med"/>
                      <a:tailEnd type="none" w="med" len="med"/>
                    </a:lnT>
                    <a:lnB w="12700" cap="flat" cmpd="sng" algn="ctr">
                      <a:solidFill>
                        <a:srgbClr val="C5D1E3"/>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22262E"/>
                          </a:solidFill>
                          <a:latin typeface="Arial" pitchFamily="34" charset="0"/>
                          <a:ea typeface="Arial" pitchFamily="34" charset="-122"/>
                          <a:cs typeface="Arial" pitchFamily="34" charset="-120"/>
                        </a:rPr>
                        <a:t>3</a:t>
                      </a:r>
                      <a:endParaRPr lang="en-US" sz="1400" dirty="0">
                        <a:latin typeface="Arial" charset="0"/>
                        <a:ea typeface="Arial" charset="0"/>
                        <a:cs typeface="Arial" charset="0"/>
                      </a:endParaRPr>
                    </a:p>
                  </a:txBody>
                  <a:tcPr marL="73152" marR="73152" marT="73152" marB="73152" anchor="ctr">
                    <a:lnL w="12700" cap="flat" cmpd="sng" algn="ctr">
                      <a:solidFill>
                        <a:srgbClr val="C5D1E3"/>
                      </a:solidFill>
                      <a:prstDash val="solid"/>
                      <a:round/>
                      <a:headEnd type="none" w="med" len="med"/>
                      <a:tailEnd type="none" w="med" len="med"/>
                    </a:lnL>
                    <a:lnR w="12700" cap="flat" cmpd="sng" algn="ctr">
                      <a:solidFill>
                        <a:srgbClr val="C5D1E3"/>
                      </a:solidFill>
                      <a:prstDash val="solid"/>
                      <a:round/>
                      <a:headEnd type="none" w="med" len="med"/>
                      <a:tailEnd type="none" w="med" len="med"/>
                    </a:lnR>
                    <a:lnT w="12700" cap="flat" cmpd="sng" algn="ctr">
                      <a:solidFill>
                        <a:srgbClr val="C5D1E3"/>
                      </a:solidFill>
                      <a:prstDash val="solid"/>
                      <a:round/>
                      <a:headEnd type="none" w="med" len="med"/>
                      <a:tailEnd type="none" w="med" len="med"/>
                    </a:lnT>
                    <a:lnB w="12700" cap="flat" cmpd="sng" algn="ctr">
                      <a:solidFill>
                        <a:srgbClr val="C5D1E3"/>
                      </a:solidFill>
                      <a:prstDash val="solid"/>
                      <a:round/>
                      <a:headEnd type="none" w="med" len="med"/>
                      <a:tailEnd type="none" w="med" len="med"/>
                    </a:lnB>
                    <a:solidFill>
                      <a:srgbClr val="FFFFFF"/>
                    </a:solidFill>
                  </a:tcPr>
                </a:tc>
                <a:tc>
                  <a:txBody>
                    <a:bodyPr/>
                    <a:lstStyle/>
                    <a:p>
                      <a:pPr indent="0" marL="0">
                        <a:buNone/>
                      </a:pPr>
                      <a:r>
                        <a:rPr lang="en-US" sz="1400" dirty="0">
                          <a:solidFill>
                            <a:srgbClr val="22262E"/>
                          </a:solidFill>
                          <a:latin typeface="Arial" pitchFamily="34" charset="0"/>
                          <a:ea typeface="Arial" pitchFamily="34" charset="-122"/>
                          <a:cs typeface="Arial" pitchFamily="34" charset="-120"/>
                        </a:rPr>
                        <a:t>Resolver</a:t>
                      </a:r>
                      <a:endParaRPr lang="en-US" sz="1400" dirty="0">
                        <a:latin typeface="Arial" charset="0"/>
                        <a:ea typeface="Arial" charset="0"/>
                        <a:cs typeface="Arial" charset="0"/>
                      </a:endParaRPr>
                    </a:p>
                  </a:txBody>
                  <a:tcPr marL="73152" marR="73152" marT="73152" marB="73152" anchor="ctr">
                    <a:lnL w="12700" cap="flat" cmpd="sng" algn="ctr">
                      <a:solidFill>
                        <a:srgbClr val="C5D1E3"/>
                      </a:solidFill>
                      <a:prstDash val="solid"/>
                      <a:round/>
                      <a:headEnd type="none" w="med" len="med"/>
                      <a:tailEnd type="none" w="med" len="med"/>
                    </a:lnL>
                    <a:lnR w="12700" cap="flat" cmpd="sng" algn="ctr">
                      <a:solidFill>
                        <a:srgbClr val="C5D1E3"/>
                      </a:solidFill>
                      <a:prstDash val="solid"/>
                      <a:round/>
                      <a:headEnd type="none" w="med" len="med"/>
                      <a:tailEnd type="none" w="med" len="med"/>
                    </a:lnR>
                    <a:lnT w="12700" cap="flat" cmpd="sng" algn="ctr">
                      <a:solidFill>
                        <a:srgbClr val="C5D1E3"/>
                      </a:solidFill>
                      <a:prstDash val="solid"/>
                      <a:round/>
                      <a:headEnd type="none" w="med" len="med"/>
                      <a:tailEnd type="none" w="med" len="med"/>
                    </a:lnT>
                    <a:lnB w="12700" cap="flat" cmpd="sng" algn="ctr">
                      <a:solidFill>
                        <a:srgbClr val="C5D1E3"/>
                      </a:solidFill>
                      <a:prstDash val="solid"/>
                      <a:round/>
                      <a:headEnd type="none" w="med" len="med"/>
                      <a:tailEnd type="none" w="med" len="med"/>
                    </a:lnB>
                    <a:solidFill>
                      <a:srgbClr val="FFFFFF"/>
                    </a:solidFill>
                  </a:tcPr>
                </a:tc>
                <a:tc>
                  <a:txBody>
                    <a:bodyPr/>
                    <a:lstStyle/>
                    <a:p>
                      <a:pPr indent="0" marL="0">
                        <a:buNone/>
                      </a:pPr>
                      <a:r>
                        <a:rPr lang="en-US" sz="1400" dirty="0">
                          <a:solidFill>
                            <a:srgbClr val="22262E"/>
                          </a:solidFill>
                          <a:latin typeface="Arial" pitchFamily="34" charset="0"/>
                          <a:ea typeface="Arial" pitchFamily="34" charset="-122"/>
                          <a:cs typeface="Arial" pitchFamily="34" charset="-120"/>
                        </a:rPr>
                        <a:t>TLD server</a:t>
                      </a:r>
                      <a:endParaRPr lang="en-US" sz="1400" dirty="0">
                        <a:latin typeface="Arial" charset="0"/>
                        <a:ea typeface="Arial" charset="0"/>
                        <a:cs typeface="Arial" charset="0"/>
                      </a:endParaRPr>
                    </a:p>
                  </a:txBody>
                  <a:tcPr marL="73152" marR="73152" marT="73152" marB="73152" anchor="ctr">
                    <a:lnL w="12700" cap="flat" cmpd="sng" algn="ctr">
                      <a:solidFill>
                        <a:srgbClr val="C5D1E3"/>
                      </a:solidFill>
                      <a:prstDash val="solid"/>
                      <a:round/>
                      <a:headEnd type="none" w="med" len="med"/>
                      <a:tailEnd type="none" w="med" len="med"/>
                    </a:lnL>
                    <a:lnR w="12700" cap="flat" cmpd="sng" algn="ctr">
                      <a:solidFill>
                        <a:srgbClr val="C5D1E3"/>
                      </a:solidFill>
                      <a:prstDash val="solid"/>
                      <a:round/>
                      <a:headEnd type="none" w="med" len="med"/>
                      <a:tailEnd type="none" w="med" len="med"/>
                    </a:lnR>
                    <a:lnT w="12700" cap="flat" cmpd="sng" algn="ctr">
                      <a:solidFill>
                        <a:srgbClr val="C5D1E3"/>
                      </a:solidFill>
                      <a:prstDash val="solid"/>
                      <a:round/>
                      <a:headEnd type="none" w="med" len="med"/>
                      <a:tailEnd type="none" w="med" len="med"/>
                    </a:lnT>
                    <a:lnB w="12700" cap="flat" cmpd="sng" algn="ctr">
                      <a:solidFill>
                        <a:srgbClr val="C5D1E3"/>
                      </a:solidFill>
                      <a:prstDash val="solid"/>
                      <a:round/>
                      <a:headEnd type="none" w="med" len="med"/>
                      <a:tailEnd type="none" w="med" len="med"/>
                    </a:lnB>
                    <a:solidFill>
                      <a:srgbClr val="FFFFFF"/>
                    </a:solidFill>
                  </a:tcPr>
                </a:tc>
                <a:tc>
                  <a:txBody>
                    <a:bodyPr/>
                    <a:lstStyle/>
                    <a:p>
                      <a:pPr indent="0" marL="0">
                        <a:buNone/>
                      </a:pPr>
                      <a:r>
                        <a:rPr lang="en-US" sz="1400" dirty="0">
                          <a:solidFill>
                            <a:srgbClr val="22262E"/>
                          </a:solidFill>
                          <a:latin typeface="Arial" pitchFamily="34" charset="0"/>
                          <a:ea typeface="Arial" pitchFamily="34" charset="-122"/>
                          <a:cs typeface="Arial" pitchFamily="34" charset="-120"/>
                        </a:rPr>
                        <a:t>Address of the authoritative server</a:t>
                      </a:r>
                      <a:endParaRPr lang="en-US" sz="1400" dirty="0">
                        <a:latin typeface="Arial" charset="0"/>
                        <a:ea typeface="Arial" charset="0"/>
                        <a:cs typeface="Arial" charset="0"/>
                      </a:endParaRPr>
                    </a:p>
                  </a:txBody>
                  <a:tcPr marL="73152" marR="73152" marT="73152" marB="73152" anchor="ctr">
                    <a:lnL w="12700" cap="flat" cmpd="sng" algn="ctr">
                      <a:solidFill>
                        <a:srgbClr val="C5D1E3"/>
                      </a:solidFill>
                      <a:prstDash val="solid"/>
                      <a:round/>
                      <a:headEnd type="none" w="med" len="med"/>
                      <a:tailEnd type="none" w="med" len="med"/>
                    </a:lnL>
                    <a:lnR w="12700" cap="flat" cmpd="sng" algn="ctr">
                      <a:solidFill>
                        <a:srgbClr val="C5D1E3"/>
                      </a:solidFill>
                      <a:prstDash val="solid"/>
                      <a:round/>
                      <a:headEnd type="none" w="med" len="med"/>
                      <a:tailEnd type="none" w="med" len="med"/>
                    </a:lnR>
                    <a:lnT w="12700" cap="flat" cmpd="sng" algn="ctr">
                      <a:solidFill>
                        <a:srgbClr val="C5D1E3"/>
                      </a:solidFill>
                      <a:prstDash val="solid"/>
                      <a:round/>
                      <a:headEnd type="none" w="med" len="med"/>
                      <a:tailEnd type="none" w="med" len="med"/>
                    </a:lnT>
                    <a:lnB w="12700" cap="flat" cmpd="sng" algn="ctr">
                      <a:solidFill>
                        <a:srgbClr val="C5D1E3"/>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22262E"/>
                          </a:solidFill>
                          <a:latin typeface="Arial" pitchFamily="34" charset="0"/>
                          <a:ea typeface="Arial" pitchFamily="34" charset="-122"/>
                          <a:cs typeface="Arial" pitchFamily="34" charset="-120"/>
                        </a:rPr>
                        <a:t>4</a:t>
                      </a:r>
                      <a:endParaRPr lang="en-US" sz="1400" dirty="0">
                        <a:latin typeface="Arial" charset="0"/>
                        <a:ea typeface="Arial" charset="0"/>
                        <a:cs typeface="Arial" charset="0"/>
                      </a:endParaRPr>
                    </a:p>
                  </a:txBody>
                  <a:tcPr marL="73152" marR="73152" marT="73152" marB="73152" anchor="ctr">
                    <a:lnL w="12700" cap="flat" cmpd="sng" algn="ctr">
                      <a:solidFill>
                        <a:srgbClr val="C5D1E3"/>
                      </a:solidFill>
                      <a:prstDash val="solid"/>
                      <a:round/>
                      <a:headEnd type="none" w="med" len="med"/>
                      <a:tailEnd type="none" w="med" len="med"/>
                    </a:lnL>
                    <a:lnR w="12700" cap="flat" cmpd="sng" algn="ctr">
                      <a:solidFill>
                        <a:srgbClr val="C5D1E3"/>
                      </a:solidFill>
                      <a:prstDash val="solid"/>
                      <a:round/>
                      <a:headEnd type="none" w="med" len="med"/>
                      <a:tailEnd type="none" w="med" len="med"/>
                    </a:lnR>
                    <a:lnT w="12700" cap="flat" cmpd="sng" algn="ctr">
                      <a:solidFill>
                        <a:srgbClr val="C5D1E3"/>
                      </a:solidFill>
                      <a:prstDash val="solid"/>
                      <a:round/>
                      <a:headEnd type="none" w="med" len="med"/>
                      <a:tailEnd type="none" w="med" len="med"/>
                    </a:lnT>
                    <a:lnB w="12700" cap="flat" cmpd="sng" algn="ctr">
                      <a:solidFill>
                        <a:srgbClr val="C5D1E3"/>
                      </a:solidFill>
                      <a:prstDash val="solid"/>
                      <a:round/>
                      <a:headEnd type="none" w="med" len="med"/>
                      <a:tailEnd type="none" w="med" len="med"/>
                    </a:lnB>
                    <a:solidFill>
                      <a:srgbClr val="FFFFFF"/>
                    </a:solidFill>
                  </a:tcPr>
                </a:tc>
                <a:tc>
                  <a:txBody>
                    <a:bodyPr/>
                    <a:lstStyle/>
                    <a:p>
                      <a:pPr indent="0" marL="0">
                        <a:buNone/>
                      </a:pPr>
                      <a:r>
                        <a:rPr lang="en-US" sz="1400" dirty="0">
                          <a:solidFill>
                            <a:srgbClr val="22262E"/>
                          </a:solidFill>
                          <a:latin typeface="Arial" pitchFamily="34" charset="0"/>
                          <a:ea typeface="Arial" pitchFamily="34" charset="-122"/>
                          <a:cs typeface="Arial" pitchFamily="34" charset="-120"/>
                        </a:rPr>
                        <a:t>Resolver</a:t>
                      </a:r>
                      <a:endParaRPr lang="en-US" sz="1400" dirty="0">
                        <a:latin typeface="Arial" charset="0"/>
                        <a:ea typeface="Arial" charset="0"/>
                        <a:cs typeface="Arial" charset="0"/>
                      </a:endParaRPr>
                    </a:p>
                  </a:txBody>
                  <a:tcPr marL="73152" marR="73152" marT="73152" marB="73152" anchor="ctr">
                    <a:lnL w="12700" cap="flat" cmpd="sng" algn="ctr">
                      <a:solidFill>
                        <a:srgbClr val="C5D1E3"/>
                      </a:solidFill>
                      <a:prstDash val="solid"/>
                      <a:round/>
                      <a:headEnd type="none" w="med" len="med"/>
                      <a:tailEnd type="none" w="med" len="med"/>
                    </a:lnL>
                    <a:lnR w="12700" cap="flat" cmpd="sng" algn="ctr">
                      <a:solidFill>
                        <a:srgbClr val="C5D1E3"/>
                      </a:solidFill>
                      <a:prstDash val="solid"/>
                      <a:round/>
                      <a:headEnd type="none" w="med" len="med"/>
                      <a:tailEnd type="none" w="med" len="med"/>
                    </a:lnR>
                    <a:lnT w="12700" cap="flat" cmpd="sng" algn="ctr">
                      <a:solidFill>
                        <a:srgbClr val="C5D1E3"/>
                      </a:solidFill>
                      <a:prstDash val="solid"/>
                      <a:round/>
                      <a:headEnd type="none" w="med" len="med"/>
                      <a:tailEnd type="none" w="med" len="med"/>
                    </a:lnT>
                    <a:lnB w="12700" cap="flat" cmpd="sng" algn="ctr">
                      <a:solidFill>
                        <a:srgbClr val="C5D1E3"/>
                      </a:solidFill>
                      <a:prstDash val="solid"/>
                      <a:round/>
                      <a:headEnd type="none" w="med" len="med"/>
                      <a:tailEnd type="none" w="med" len="med"/>
                    </a:lnB>
                    <a:solidFill>
                      <a:srgbClr val="FFFFFF"/>
                    </a:solidFill>
                  </a:tcPr>
                </a:tc>
                <a:tc>
                  <a:txBody>
                    <a:bodyPr/>
                    <a:lstStyle/>
                    <a:p>
                      <a:pPr indent="0" marL="0">
                        <a:buNone/>
                      </a:pPr>
                      <a:r>
                        <a:rPr lang="en-US" sz="1400" dirty="0">
                          <a:solidFill>
                            <a:srgbClr val="22262E"/>
                          </a:solidFill>
                          <a:latin typeface="Arial" pitchFamily="34" charset="0"/>
                          <a:ea typeface="Arial" pitchFamily="34" charset="-122"/>
                          <a:cs typeface="Arial" pitchFamily="34" charset="-120"/>
                        </a:rPr>
                        <a:t>Authoritative server</a:t>
                      </a:r>
                      <a:endParaRPr lang="en-US" sz="1400" dirty="0">
                        <a:latin typeface="Arial" charset="0"/>
                        <a:ea typeface="Arial" charset="0"/>
                        <a:cs typeface="Arial" charset="0"/>
                      </a:endParaRPr>
                    </a:p>
                  </a:txBody>
                  <a:tcPr marL="73152" marR="73152" marT="73152" marB="73152" anchor="ctr">
                    <a:lnL w="12700" cap="flat" cmpd="sng" algn="ctr">
                      <a:solidFill>
                        <a:srgbClr val="C5D1E3"/>
                      </a:solidFill>
                      <a:prstDash val="solid"/>
                      <a:round/>
                      <a:headEnd type="none" w="med" len="med"/>
                      <a:tailEnd type="none" w="med" len="med"/>
                    </a:lnL>
                    <a:lnR w="12700" cap="flat" cmpd="sng" algn="ctr">
                      <a:solidFill>
                        <a:srgbClr val="C5D1E3"/>
                      </a:solidFill>
                      <a:prstDash val="solid"/>
                      <a:round/>
                      <a:headEnd type="none" w="med" len="med"/>
                      <a:tailEnd type="none" w="med" len="med"/>
                    </a:lnR>
                    <a:lnT w="12700" cap="flat" cmpd="sng" algn="ctr">
                      <a:solidFill>
                        <a:srgbClr val="C5D1E3"/>
                      </a:solidFill>
                      <a:prstDash val="solid"/>
                      <a:round/>
                      <a:headEnd type="none" w="med" len="med"/>
                      <a:tailEnd type="none" w="med" len="med"/>
                    </a:lnT>
                    <a:lnB w="12700" cap="flat" cmpd="sng" algn="ctr">
                      <a:solidFill>
                        <a:srgbClr val="C5D1E3"/>
                      </a:solidFill>
                      <a:prstDash val="solid"/>
                      <a:round/>
                      <a:headEnd type="none" w="med" len="med"/>
                      <a:tailEnd type="none" w="med" len="med"/>
                    </a:lnB>
                    <a:solidFill>
                      <a:srgbClr val="FFFFFF"/>
                    </a:solidFill>
                  </a:tcPr>
                </a:tc>
                <a:tc>
                  <a:txBody>
                    <a:bodyPr/>
                    <a:lstStyle/>
                    <a:p>
                      <a:pPr indent="0" marL="0">
                        <a:buNone/>
                      </a:pPr>
                      <a:r>
                        <a:rPr lang="en-US" sz="1400" dirty="0">
                          <a:solidFill>
                            <a:srgbClr val="22262E"/>
                          </a:solidFill>
                          <a:latin typeface="Arial" pitchFamily="34" charset="0"/>
                          <a:ea typeface="Arial" pitchFamily="34" charset="-122"/>
                          <a:cs typeface="Arial" pitchFamily="34" charset="-120"/>
                        </a:rPr>
                        <a:t>IP address of the site</a:t>
                      </a:r>
                      <a:endParaRPr lang="en-US" sz="1400" dirty="0">
                        <a:latin typeface="Arial" charset="0"/>
                        <a:ea typeface="Arial" charset="0"/>
                        <a:cs typeface="Arial" charset="0"/>
                      </a:endParaRPr>
                    </a:p>
                  </a:txBody>
                  <a:tcPr marL="73152" marR="73152" marT="73152" marB="73152" anchor="ctr">
                    <a:lnL w="12700" cap="flat" cmpd="sng" algn="ctr">
                      <a:solidFill>
                        <a:srgbClr val="C5D1E3"/>
                      </a:solidFill>
                      <a:prstDash val="solid"/>
                      <a:round/>
                      <a:headEnd type="none" w="med" len="med"/>
                      <a:tailEnd type="none" w="med" len="med"/>
                    </a:lnL>
                    <a:lnR w="12700" cap="flat" cmpd="sng" algn="ctr">
                      <a:solidFill>
                        <a:srgbClr val="C5D1E3"/>
                      </a:solidFill>
                      <a:prstDash val="solid"/>
                      <a:round/>
                      <a:headEnd type="none" w="med" len="med"/>
                      <a:tailEnd type="none" w="med" len="med"/>
                    </a:lnR>
                    <a:lnT w="12700" cap="flat" cmpd="sng" algn="ctr">
                      <a:solidFill>
                        <a:srgbClr val="C5D1E3"/>
                      </a:solidFill>
                      <a:prstDash val="solid"/>
                      <a:round/>
                      <a:headEnd type="none" w="med" len="med"/>
                      <a:tailEnd type="none" w="med" len="med"/>
                    </a:lnT>
                    <a:lnB w="12700" cap="flat" cmpd="sng" algn="ctr">
                      <a:solidFill>
                        <a:srgbClr val="C5D1E3"/>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22262E"/>
                          </a:solidFill>
                          <a:latin typeface="Arial" pitchFamily="34" charset="0"/>
                          <a:ea typeface="Arial" pitchFamily="34" charset="-122"/>
                          <a:cs typeface="Arial" pitchFamily="34" charset="-120"/>
                        </a:rPr>
                        <a:t>5</a:t>
                      </a:r>
                      <a:endParaRPr lang="en-US" sz="1400" dirty="0">
                        <a:latin typeface="Arial" charset="0"/>
                        <a:ea typeface="Arial" charset="0"/>
                        <a:cs typeface="Arial" charset="0"/>
                      </a:endParaRPr>
                    </a:p>
                  </a:txBody>
                  <a:tcPr marL="73152" marR="73152" marT="73152" marB="73152" anchor="ctr">
                    <a:lnL w="12700" cap="flat" cmpd="sng" algn="ctr">
                      <a:solidFill>
                        <a:srgbClr val="C5D1E3"/>
                      </a:solidFill>
                      <a:prstDash val="solid"/>
                      <a:round/>
                      <a:headEnd type="none" w="med" len="med"/>
                      <a:tailEnd type="none" w="med" len="med"/>
                    </a:lnL>
                    <a:lnR w="12700" cap="flat" cmpd="sng" algn="ctr">
                      <a:solidFill>
                        <a:srgbClr val="C5D1E3"/>
                      </a:solidFill>
                      <a:prstDash val="solid"/>
                      <a:round/>
                      <a:headEnd type="none" w="med" len="med"/>
                      <a:tailEnd type="none" w="med" len="med"/>
                    </a:lnR>
                    <a:lnT w="12700" cap="flat" cmpd="sng" algn="ctr">
                      <a:solidFill>
                        <a:srgbClr val="C5D1E3"/>
                      </a:solidFill>
                      <a:prstDash val="solid"/>
                      <a:round/>
                      <a:headEnd type="none" w="med" len="med"/>
                      <a:tailEnd type="none" w="med" len="med"/>
                    </a:lnT>
                    <a:lnB w="12700" cap="flat" cmpd="sng" algn="ctr">
                      <a:solidFill>
                        <a:srgbClr val="C5D1E3"/>
                      </a:solidFill>
                      <a:prstDash val="solid"/>
                      <a:round/>
                      <a:headEnd type="none" w="med" len="med"/>
                      <a:tailEnd type="none" w="med" len="med"/>
                    </a:lnB>
                    <a:solidFill>
                      <a:srgbClr val="FFFFFF"/>
                    </a:solidFill>
                  </a:tcPr>
                </a:tc>
                <a:tc>
                  <a:txBody>
                    <a:bodyPr/>
                    <a:lstStyle/>
                    <a:p>
                      <a:pPr indent="0" marL="0">
                        <a:buNone/>
                      </a:pPr>
                      <a:r>
                        <a:rPr lang="en-US" sz="1400" dirty="0">
                          <a:solidFill>
                            <a:srgbClr val="22262E"/>
                          </a:solidFill>
                          <a:latin typeface="Arial" pitchFamily="34" charset="0"/>
                          <a:ea typeface="Arial" pitchFamily="34" charset="-122"/>
                          <a:cs typeface="Arial" pitchFamily="34" charset="-120"/>
                        </a:rPr>
                        <a:t>Resolver</a:t>
                      </a:r>
                      <a:endParaRPr lang="en-US" sz="1400" dirty="0">
                        <a:latin typeface="Arial" charset="0"/>
                        <a:ea typeface="Arial" charset="0"/>
                        <a:cs typeface="Arial" charset="0"/>
                      </a:endParaRPr>
                    </a:p>
                  </a:txBody>
                  <a:tcPr marL="73152" marR="73152" marT="73152" marB="73152" anchor="ctr">
                    <a:lnL w="12700" cap="flat" cmpd="sng" algn="ctr">
                      <a:solidFill>
                        <a:srgbClr val="C5D1E3"/>
                      </a:solidFill>
                      <a:prstDash val="solid"/>
                      <a:round/>
                      <a:headEnd type="none" w="med" len="med"/>
                      <a:tailEnd type="none" w="med" len="med"/>
                    </a:lnL>
                    <a:lnR w="12700" cap="flat" cmpd="sng" algn="ctr">
                      <a:solidFill>
                        <a:srgbClr val="C5D1E3"/>
                      </a:solidFill>
                      <a:prstDash val="solid"/>
                      <a:round/>
                      <a:headEnd type="none" w="med" len="med"/>
                      <a:tailEnd type="none" w="med" len="med"/>
                    </a:lnR>
                    <a:lnT w="12700" cap="flat" cmpd="sng" algn="ctr">
                      <a:solidFill>
                        <a:srgbClr val="C5D1E3"/>
                      </a:solidFill>
                      <a:prstDash val="solid"/>
                      <a:round/>
                      <a:headEnd type="none" w="med" len="med"/>
                      <a:tailEnd type="none" w="med" len="med"/>
                    </a:lnT>
                    <a:lnB w="12700" cap="flat" cmpd="sng" algn="ctr">
                      <a:solidFill>
                        <a:srgbClr val="C5D1E3"/>
                      </a:solidFill>
                      <a:prstDash val="solid"/>
                      <a:round/>
                      <a:headEnd type="none" w="med" len="med"/>
                      <a:tailEnd type="none" w="med" len="med"/>
                    </a:lnB>
                    <a:solidFill>
                      <a:srgbClr val="FFFFFF"/>
                    </a:solidFill>
                  </a:tcPr>
                </a:tc>
                <a:tc>
                  <a:txBody>
                    <a:bodyPr/>
                    <a:lstStyle/>
                    <a:p>
                      <a:pPr indent="0" marL="0">
                        <a:buNone/>
                      </a:pPr>
                      <a:r>
                        <a:rPr lang="en-US" sz="1400" dirty="0">
                          <a:solidFill>
                            <a:srgbClr val="22262E"/>
                          </a:solidFill>
                          <a:latin typeface="Arial" pitchFamily="34" charset="0"/>
                          <a:ea typeface="Arial" pitchFamily="34" charset="-122"/>
                          <a:cs typeface="Arial" pitchFamily="34" charset="-120"/>
                        </a:rPr>
                        <a:t>Browser</a:t>
                      </a:r>
                      <a:endParaRPr lang="en-US" sz="1400" dirty="0">
                        <a:latin typeface="Arial" charset="0"/>
                        <a:ea typeface="Arial" charset="0"/>
                        <a:cs typeface="Arial" charset="0"/>
                      </a:endParaRPr>
                    </a:p>
                  </a:txBody>
                  <a:tcPr marL="73152" marR="73152" marT="73152" marB="73152" anchor="ctr">
                    <a:lnL w="12700" cap="flat" cmpd="sng" algn="ctr">
                      <a:solidFill>
                        <a:srgbClr val="C5D1E3"/>
                      </a:solidFill>
                      <a:prstDash val="solid"/>
                      <a:round/>
                      <a:headEnd type="none" w="med" len="med"/>
                      <a:tailEnd type="none" w="med" len="med"/>
                    </a:lnL>
                    <a:lnR w="12700" cap="flat" cmpd="sng" algn="ctr">
                      <a:solidFill>
                        <a:srgbClr val="C5D1E3"/>
                      </a:solidFill>
                      <a:prstDash val="solid"/>
                      <a:round/>
                      <a:headEnd type="none" w="med" len="med"/>
                      <a:tailEnd type="none" w="med" len="med"/>
                    </a:lnR>
                    <a:lnT w="12700" cap="flat" cmpd="sng" algn="ctr">
                      <a:solidFill>
                        <a:srgbClr val="C5D1E3"/>
                      </a:solidFill>
                      <a:prstDash val="solid"/>
                      <a:round/>
                      <a:headEnd type="none" w="med" len="med"/>
                      <a:tailEnd type="none" w="med" len="med"/>
                    </a:lnT>
                    <a:lnB w="12700" cap="flat" cmpd="sng" algn="ctr">
                      <a:solidFill>
                        <a:srgbClr val="C5D1E3"/>
                      </a:solidFill>
                      <a:prstDash val="solid"/>
                      <a:round/>
                      <a:headEnd type="none" w="med" len="med"/>
                      <a:tailEnd type="none" w="med" len="med"/>
                    </a:lnB>
                    <a:solidFill>
                      <a:srgbClr val="FFFFFF"/>
                    </a:solidFill>
                  </a:tcPr>
                </a:tc>
                <a:tc>
                  <a:txBody>
                    <a:bodyPr/>
                    <a:lstStyle/>
                    <a:p>
                      <a:pPr indent="0" marL="0">
                        <a:buNone/>
                      </a:pPr>
                      <a:r>
                        <a:rPr lang="en-US" sz="1400" dirty="0">
                          <a:solidFill>
                            <a:srgbClr val="22262E"/>
                          </a:solidFill>
                          <a:latin typeface="Arial" pitchFamily="34" charset="0"/>
                          <a:ea typeface="Arial" pitchFamily="34" charset="-122"/>
                          <a:cs typeface="Arial" pitchFamily="34" charset="-120"/>
                        </a:rPr>
                        <a:t>IP address, cached for next time</a:t>
                      </a:r>
                      <a:endParaRPr lang="en-US" sz="1400" dirty="0">
                        <a:latin typeface="Arial" charset="0"/>
                        <a:ea typeface="Arial" charset="0"/>
                        <a:cs typeface="Arial" charset="0"/>
                      </a:endParaRPr>
                    </a:p>
                  </a:txBody>
                  <a:tcPr marL="73152" marR="73152" marT="73152" marB="73152" anchor="ctr">
                    <a:lnL w="12700" cap="flat" cmpd="sng" algn="ctr">
                      <a:solidFill>
                        <a:srgbClr val="C5D1E3"/>
                      </a:solidFill>
                      <a:prstDash val="solid"/>
                      <a:round/>
                      <a:headEnd type="none" w="med" len="med"/>
                      <a:tailEnd type="none" w="med" len="med"/>
                    </a:lnL>
                    <a:lnR w="12700" cap="flat" cmpd="sng" algn="ctr">
                      <a:solidFill>
                        <a:srgbClr val="C5D1E3"/>
                      </a:solidFill>
                      <a:prstDash val="solid"/>
                      <a:round/>
                      <a:headEnd type="none" w="med" len="med"/>
                      <a:tailEnd type="none" w="med" len="med"/>
                    </a:lnR>
                    <a:lnT w="12700" cap="flat" cmpd="sng" algn="ctr">
                      <a:solidFill>
                        <a:srgbClr val="C5D1E3"/>
                      </a:solidFill>
                      <a:prstDash val="solid"/>
                      <a:round/>
                      <a:headEnd type="none" w="med" len="med"/>
                      <a:tailEnd type="none" w="med" len="med"/>
                    </a:lnT>
                    <a:lnB w="12700" cap="flat" cmpd="sng" algn="ctr">
                      <a:solidFill>
                        <a:srgbClr val="C5D1E3"/>
                      </a:solidFill>
                      <a:prstDash val="solid"/>
                      <a:round/>
                      <a:headEnd type="none" w="med" len="med"/>
                      <a:tailEnd type="none" w="med" len="med"/>
                    </a:lnB>
                    <a:solidFill>
                      <a:srgbClr val="FFFFFF"/>
                    </a:solidFill>
                  </a:tcPr>
                </a:tc>
              </a:tr>
            </a:tbl>
          </a:graphicData>
        </a:graphic>
      </p:graphicFrame>
      <p:sp>
        <p:nvSpPr>
          <p:cNvPr id="6"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949440" cy="685800"/>
          </a:xfrm>
          <a:prstGeom prst="rect">
            <a:avLst/>
          </a:prstGeom>
          <a:noFill/>
          <a:ln/>
        </p:spPr>
        <p:txBody>
          <a:bodyPr wrap="square" lIns="0" tIns="0" rIns="0" bIns="0" rtlCol="0" anchor="ctr"/>
          <a:lstStyle/>
          <a:p>
            <a:pPr algn="l" indent="0" marL="0">
              <a:buNone/>
            </a:pPr>
            <a:r>
              <a:rPr lang="en-US" sz="2800" b="1" dirty="0">
                <a:solidFill>
                  <a:srgbClr val="001B40"/>
                </a:solidFill>
                <a:latin typeface="Arial" pitchFamily="34" charset="0"/>
                <a:ea typeface="Arial" pitchFamily="34" charset="-122"/>
                <a:cs typeface="Arial" pitchFamily="34" charset="-120"/>
              </a:rPr>
              <a:t>H046 June 2016, Q2(a) [3]</a:t>
            </a:r>
            <a:endParaRPr lang="en-US" sz="2800" dirty="0"/>
          </a:p>
        </p:txBody>
      </p:sp>
      <p:sp>
        <p:nvSpPr>
          <p:cNvPr id="3" name="ANSWERS pill"/>
          <p:cNvSpPr/>
          <p:nvPr/>
        </p:nvSpPr>
        <p:spPr>
          <a:xfrm>
            <a:off x="7589520" y="411480"/>
            <a:ext cx="1097280" cy="365760"/>
          </a:xfrm>
          <a:prstGeom prst="roundRect">
            <a:avLst>
              <a:gd name="adj" fmla="val 50000"/>
            </a:avLst>
          </a:prstGeom>
          <a:solidFill>
            <a:srgbClr val="A9C4E8"/>
          </a:solidFill>
          <a:ln w="12700">
            <a:solidFill>
              <a:srgbClr val="A9C4E8"/>
            </a:solidFill>
            <a:prstDash val="solid"/>
          </a:ln>
        </p:spPr>
      </p:sp>
      <p:sp>
        <p:nvSpPr>
          <p:cNvPr id="4" name="Text 2"/>
          <p:cNvSpPr txBox="1"/>
          <p:nvPr/>
        </p:nvSpPr>
        <p:spPr>
          <a:xfrm>
            <a:off x="7589520" y="411480"/>
            <a:ext cx="1097280" cy="365760"/>
          </a:xfrm>
          <a:prstGeom prst="rect">
            <a:avLst/>
          </a:prstGeom>
          <a:noFill/>
          <a:ln/>
        </p:spPr>
        <p:txBody>
          <a:bodyPr wrap="square" lIns="0" tIns="0" rIns="0" bIns="0" rtlCol="0" anchor="ctr"/>
          <a:lstStyle/>
          <a:p>
            <a:pPr algn="ctr" indent="0" marL="0">
              <a:buNone/>
            </a:pPr>
            <a:r>
              <a:rPr lang="en-US" sz="1200" b="1" spc="200" kern="0" dirty="0">
                <a:solidFill>
                  <a:srgbClr val="001B40"/>
                </a:solidFill>
                <a:latin typeface="Arial" pitchFamily="34" charset="0"/>
                <a:ea typeface="Arial" pitchFamily="34" charset="-122"/>
                <a:cs typeface="Arial" pitchFamily="34" charset="-120"/>
              </a:rPr>
              <a:t>ANSWERS</a:t>
            </a:r>
            <a:endParaRPr lang="en-US" sz="1200" dirty="0"/>
          </a:p>
        </p:txBody>
      </p:sp>
      <p:sp>
        <p:nvSpPr>
          <p:cNvPr id="5" name="Mark scheme card"/>
          <p:cNvSpPr/>
          <p:nvPr/>
        </p:nvSpPr>
        <p:spPr>
          <a:xfrm>
            <a:off x="457200" y="1097280"/>
            <a:ext cx="8229600" cy="2660904"/>
          </a:xfrm>
          <a:prstGeom prst="roundRect">
            <a:avLst>
              <a:gd name="adj" fmla="val 4124"/>
            </a:avLst>
          </a:prstGeom>
          <a:solidFill>
            <a:srgbClr val="FFFFFF"/>
          </a:solidFill>
          <a:ln w="15875">
            <a:solidFill>
              <a:srgbClr val="002D6A"/>
            </a:solidFill>
            <a:prstDash val="solid"/>
          </a:ln>
        </p:spPr>
      </p:sp>
      <p:sp>
        <p:nvSpPr>
          <p:cNvPr id="6" name="Text 4"/>
          <p:cNvSpPr txBox="1"/>
          <p:nvPr/>
        </p:nvSpPr>
        <p:spPr>
          <a:xfrm>
            <a:off x="640080" y="1188720"/>
            <a:ext cx="7863840" cy="2478024"/>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2262E"/>
                </a:solidFill>
                <a:latin typeface="Arial" pitchFamily="34" charset="0"/>
                <a:ea typeface="Arial" pitchFamily="34" charset="-122"/>
                <a:cs typeface="Arial" pitchFamily="34" charset="-120"/>
              </a:rPr>
              <a:t>(Customers enter) domain name and this is sent to DNS servers.</a:t>
            </a:r>
            <a:endParaRPr lang="en-US" sz="1600" dirty="0"/>
          </a:p>
          <a:p>
            <a:pPr marL="342900" indent="-342900">
              <a:spcAft>
                <a:spcPts val="400"/>
              </a:spcAft>
              <a:buSzPct val="100000"/>
              <a:buChar char="•"/>
            </a:pPr>
            <a:r>
              <a:rPr lang="en-US" sz="1600" dirty="0">
                <a:solidFill>
                  <a:srgbClr val="22262E"/>
                </a:solidFill>
                <a:latin typeface="Arial" pitchFamily="34" charset="0"/>
                <a:ea typeface="Arial" pitchFamily="34" charset="-122"/>
                <a:cs typeface="Arial" pitchFamily="34" charset="-120"/>
              </a:rPr>
              <a:t>DNS servers map this domain to an IP address</a:t>
            </a:r>
            <a:endParaRPr lang="en-US" sz="1600" dirty="0"/>
          </a:p>
          <a:p>
            <a:pPr marL="342900" indent="-342900">
              <a:spcAft>
                <a:spcPts val="400"/>
              </a:spcAft>
              <a:buSzPct val="100000"/>
              <a:buChar char="•"/>
            </a:pPr>
            <a:r>
              <a:rPr lang="en-US" sz="1600" dirty="0">
                <a:solidFill>
                  <a:srgbClr val="22262E"/>
                </a:solidFill>
                <a:latin typeface="Arial" pitchFamily="34" charset="0"/>
                <a:ea typeface="Arial" pitchFamily="34" charset="-122"/>
                <a:cs typeface="Arial" pitchFamily="34" charset="-120"/>
              </a:rPr>
              <a:t>If the DNS server can't resolve, it passes the request (recursively) to another DNS server.</a:t>
            </a:r>
            <a:endParaRPr lang="en-US" sz="1600" dirty="0"/>
          </a:p>
          <a:p>
            <a:pPr marL="342900" indent="-342900">
              <a:spcAft>
                <a:spcPts val="400"/>
              </a:spcAft>
              <a:buSzPct val="100000"/>
              <a:buChar char="•"/>
            </a:pPr>
            <a:r>
              <a:rPr lang="en-US" sz="1600" dirty="0">
                <a:solidFill>
                  <a:srgbClr val="22262E"/>
                </a:solidFill>
                <a:latin typeface="Arial" pitchFamily="34" charset="0"/>
                <a:ea typeface="Arial" pitchFamily="34" charset="-122"/>
                <a:cs typeface="Arial" pitchFamily="34" charset="-120"/>
              </a:rPr>
              <a:t>DNS Server sends the IP address to browser…</a:t>
            </a:r>
            <a:endParaRPr lang="en-US" sz="1600" dirty="0"/>
          </a:p>
          <a:p>
            <a:pPr marL="342900" indent="-342900">
              <a:spcAft>
                <a:spcPts val="400"/>
              </a:spcAft>
              <a:buSzPct val="100000"/>
              <a:buChar char="•"/>
            </a:pPr>
            <a:r>
              <a:rPr lang="en-US" sz="1600" dirty="0">
                <a:solidFill>
                  <a:srgbClr val="22262E"/>
                </a:solidFill>
                <a:latin typeface="Arial" pitchFamily="34" charset="0"/>
                <a:ea typeface="Arial" pitchFamily="34" charset="-122"/>
                <a:cs typeface="Arial" pitchFamily="34" charset="-120"/>
              </a:rPr>
              <a:t>… so it can retrieve the website from server on which it is hosted.</a:t>
            </a:r>
            <a:endParaRPr lang="en-US" sz="1600" dirty="0"/>
          </a:p>
          <a:p>
            <a:pPr marL="342900" indent="-342900">
              <a:spcAft>
                <a:spcPts val="400"/>
              </a:spcAft>
              <a:buSzPct val="100000"/>
              <a:buChar char="•"/>
            </a:pPr>
            <a:r>
              <a:rPr lang="en-US" sz="1600" dirty="0">
                <a:solidFill>
                  <a:srgbClr val="22262E"/>
                </a:solidFill>
                <a:latin typeface="Arial" pitchFamily="34" charset="0"/>
                <a:ea typeface="Arial" pitchFamily="34" charset="-122"/>
                <a:cs typeface="Arial" pitchFamily="34" charset="-120"/>
              </a:rPr>
              <a:t>(1 per -, Max 3)</a:t>
            </a:r>
            <a:endParaRPr lang="en-US" sz="1600" dirty="0"/>
          </a:p>
        </p:txBody>
      </p:sp>
      <p:sp>
        <p:nvSpPr>
          <p:cNvPr id="7"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949440" cy="685800"/>
          </a:xfrm>
          <a:prstGeom prst="rect">
            <a:avLst/>
          </a:prstGeom>
          <a:noFill/>
          <a:ln/>
        </p:spPr>
        <p:txBody>
          <a:bodyPr wrap="square" lIns="0" tIns="0" rIns="0" bIns="0" rtlCol="0" anchor="ctr"/>
          <a:lstStyle/>
          <a:p>
            <a:pPr algn="l" indent="0" marL="0">
              <a:buNone/>
            </a:pPr>
            <a:r>
              <a:rPr lang="en-US" sz="2800" b="1" dirty="0">
                <a:solidFill>
                  <a:srgbClr val="001B40"/>
                </a:solidFill>
                <a:latin typeface="Arial" pitchFamily="34" charset="0"/>
                <a:ea typeface="Arial" pitchFamily="34" charset="-122"/>
                <a:cs typeface="Arial" pitchFamily="34" charset="-120"/>
              </a:rPr>
              <a:t>H046 Nov 2020, Q4(b) [4]</a:t>
            </a:r>
            <a:endParaRPr lang="en-US" sz="2800" dirty="0"/>
          </a:p>
        </p:txBody>
      </p:sp>
      <p:sp>
        <p:nvSpPr>
          <p:cNvPr id="3" name="ANSWERS pill"/>
          <p:cNvSpPr/>
          <p:nvPr/>
        </p:nvSpPr>
        <p:spPr>
          <a:xfrm>
            <a:off x="7589520" y="411480"/>
            <a:ext cx="1097280" cy="365760"/>
          </a:xfrm>
          <a:prstGeom prst="roundRect">
            <a:avLst>
              <a:gd name="adj" fmla="val 50000"/>
            </a:avLst>
          </a:prstGeom>
          <a:solidFill>
            <a:srgbClr val="A9C4E8"/>
          </a:solidFill>
          <a:ln w="12700">
            <a:solidFill>
              <a:srgbClr val="A9C4E8"/>
            </a:solidFill>
            <a:prstDash val="solid"/>
          </a:ln>
        </p:spPr>
      </p:sp>
      <p:sp>
        <p:nvSpPr>
          <p:cNvPr id="4" name="Text 2"/>
          <p:cNvSpPr txBox="1"/>
          <p:nvPr/>
        </p:nvSpPr>
        <p:spPr>
          <a:xfrm>
            <a:off x="7589520" y="411480"/>
            <a:ext cx="1097280" cy="365760"/>
          </a:xfrm>
          <a:prstGeom prst="rect">
            <a:avLst/>
          </a:prstGeom>
          <a:noFill/>
          <a:ln/>
        </p:spPr>
        <p:txBody>
          <a:bodyPr wrap="square" lIns="0" tIns="0" rIns="0" bIns="0" rtlCol="0" anchor="ctr"/>
          <a:lstStyle/>
          <a:p>
            <a:pPr algn="ctr" indent="0" marL="0">
              <a:buNone/>
            </a:pPr>
            <a:r>
              <a:rPr lang="en-US" sz="1200" b="1" spc="200" kern="0" dirty="0">
                <a:solidFill>
                  <a:srgbClr val="001B40"/>
                </a:solidFill>
                <a:latin typeface="Arial" pitchFamily="34" charset="0"/>
                <a:ea typeface="Arial" pitchFamily="34" charset="-122"/>
                <a:cs typeface="Arial" pitchFamily="34" charset="-120"/>
              </a:rPr>
              <a:t>ANSWERS</a:t>
            </a:r>
            <a:endParaRPr lang="en-US" sz="1200" dirty="0"/>
          </a:p>
        </p:txBody>
      </p:sp>
      <p:sp>
        <p:nvSpPr>
          <p:cNvPr id="5" name="Mark scheme card"/>
          <p:cNvSpPr/>
          <p:nvPr/>
        </p:nvSpPr>
        <p:spPr>
          <a:xfrm>
            <a:off x="457200" y="1097280"/>
            <a:ext cx="5394960" cy="3566160"/>
          </a:xfrm>
          <a:prstGeom prst="roundRect">
            <a:avLst>
              <a:gd name="adj" fmla="val 3077"/>
            </a:avLst>
          </a:prstGeom>
          <a:solidFill>
            <a:srgbClr val="FFFFFF"/>
          </a:solidFill>
          <a:ln w="15875">
            <a:solidFill>
              <a:srgbClr val="002D6A"/>
            </a:solidFill>
            <a:prstDash val="solid"/>
          </a:ln>
        </p:spPr>
      </p:sp>
      <p:sp>
        <p:nvSpPr>
          <p:cNvPr id="6" name="Text 4"/>
          <p:cNvSpPr txBox="1"/>
          <p:nvPr/>
        </p:nvSpPr>
        <p:spPr>
          <a:xfrm>
            <a:off x="640080" y="1188720"/>
            <a:ext cx="5029200" cy="338328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2262E"/>
                </a:solidFill>
                <a:latin typeface="Arial" pitchFamily="34" charset="0"/>
                <a:ea typeface="Arial" pitchFamily="34" charset="-122"/>
                <a:cs typeface="Arial" pitchFamily="34" charset="-120"/>
              </a:rPr>
              <a:t>DNS is used to resolve IP corresponding to URL</a:t>
            </a:r>
            <a:endParaRPr lang="en-US" sz="1600" dirty="0"/>
          </a:p>
          <a:p>
            <a:pPr marL="342900" indent="-342900">
              <a:spcAft>
                <a:spcPts val="400"/>
              </a:spcAft>
              <a:buSzPct val="100000"/>
              <a:buChar char="•"/>
            </a:pPr>
            <a:r>
              <a:rPr lang="en-US" sz="1600" dirty="0">
                <a:solidFill>
                  <a:srgbClr val="22262E"/>
                </a:solidFill>
                <a:latin typeface="Arial" pitchFamily="34" charset="0"/>
                <a:ea typeface="Arial" pitchFamily="34" charset="-122"/>
                <a:cs typeface="Arial" pitchFamily="34" charset="-120"/>
              </a:rPr>
              <a:t>Request sent to DNS resolver.</a:t>
            </a:r>
            <a:endParaRPr lang="en-US" sz="1600" dirty="0"/>
          </a:p>
          <a:p>
            <a:pPr marL="342900" indent="-342900">
              <a:spcAft>
                <a:spcPts val="400"/>
              </a:spcAft>
              <a:buSzPct val="100000"/>
              <a:buChar char="•"/>
            </a:pPr>
            <a:r>
              <a:rPr lang="en-US" sz="1600" dirty="0">
                <a:solidFill>
                  <a:srgbClr val="22262E"/>
                </a:solidFill>
                <a:latin typeface="Arial" pitchFamily="34" charset="0"/>
                <a:ea typeface="Arial" pitchFamily="34" charset="-122"/>
                <a:cs typeface="Arial" pitchFamily="34" charset="-120"/>
              </a:rPr>
              <a:t>Resolver checks its cache and if it doesn't hold the URL, it passes it in to the TLD Name server which checks its cache and returns the answer or passes on to the..</a:t>
            </a:r>
            <a:endParaRPr lang="en-US" sz="1600" dirty="0"/>
          </a:p>
          <a:p>
            <a:pPr marL="342900" indent="-342900">
              <a:spcAft>
                <a:spcPts val="400"/>
              </a:spcAft>
              <a:buSzPct val="100000"/>
              <a:buChar char="•"/>
            </a:pPr>
            <a:r>
              <a:rPr lang="en-US" sz="1600" dirty="0">
                <a:solidFill>
                  <a:srgbClr val="22262E"/>
                </a:solidFill>
                <a:latin typeface="Arial" pitchFamily="34" charset="0"/>
                <a:ea typeface="Arial" pitchFamily="34" charset="-122"/>
                <a:cs typeface="Arial" pitchFamily="34" charset="-120"/>
              </a:rPr>
              <a:t>Authoritative Name Server.</a:t>
            </a:r>
            <a:endParaRPr lang="en-US" sz="1600" dirty="0"/>
          </a:p>
          <a:p>
            <a:pPr marL="342900" indent="-342900">
              <a:spcAft>
                <a:spcPts val="400"/>
              </a:spcAft>
              <a:buSzPct val="100000"/>
              <a:buChar char="•"/>
            </a:pPr>
            <a:r>
              <a:rPr lang="en-US" sz="1600" dirty="0">
                <a:solidFill>
                  <a:srgbClr val="22262E"/>
                </a:solidFill>
                <a:latin typeface="Arial" pitchFamily="34" charset="0"/>
                <a:ea typeface="Arial" pitchFamily="34" charset="-122"/>
                <a:cs typeface="Arial" pitchFamily="34" charset="-120"/>
              </a:rPr>
              <a:t>The IP address is returned back up to the requesting client.</a:t>
            </a:r>
            <a:endParaRPr lang="en-US" sz="1600" dirty="0"/>
          </a:p>
          <a:p>
            <a:pPr marL="342900" indent="-342900">
              <a:spcAft>
                <a:spcPts val="400"/>
              </a:spcAft>
              <a:buSzPct val="100000"/>
              <a:buChar char="•"/>
            </a:pPr>
            <a:r>
              <a:rPr lang="en-US" sz="1600" dirty="0">
                <a:solidFill>
                  <a:srgbClr val="22262E"/>
                </a:solidFill>
                <a:latin typeface="Arial" pitchFamily="34" charset="0"/>
                <a:ea typeface="Arial" pitchFamily="34" charset="-122"/>
                <a:cs typeface="Arial" pitchFamily="34" charset="-120"/>
              </a:rPr>
              <a:t>Or an error if no resolution can be found.</a:t>
            </a:r>
            <a:endParaRPr lang="en-US" sz="1600" dirty="0"/>
          </a:p>
        </p:txBody>
      </p:sp>
      <p:sp>
        <p:nvSpPr>
          <p:cNvPr id="7" name="Guidance card"/>
          <p:cNvSpPr/>
          <p:nvPr/>
        </p:nvSpPr>
        <p:spPr>
          <a:xfrm>
            <a:off x="6035040" y="1097280"/>
            <a:ext cx="2651760" cy="3566160"/>
          </a:xfrm>
          <a:prstGeom prst="roundRect">
            <a:avLst>
              <a:gd name="adj" fmla="val 4138"/>
            </a:avLst>
          </a:prstGeom>
          <a:solidFill>
            <a:srgbClr val="EEF2F7"/>
          </a:solidFill>
          <a:ln w="9525">
            <a:solidFill>
              <a:srgbClr val="C5D1E3"/>
            </a:solidFill>
            <a:prstDash val="solid"/>
          </a:ln>
        </p:spPr>
      </p:sp>
      <p:sp>
        <p:nvSpPr>
          <p:cNvPr id="8" name="Text 6"/>
          <p:cNvSpPr txBox="1"/>
          <p:nvPr/>
        </p:nvSpPr>
        <p:spPr>
          <a:xfrm>
            <a:off x="6172200" y="1143000"/>
            <a:ext cx="2377440" cy="365760"/>
          </a:xfrm>
          <a:prstGeom prst="rect">
            <a:avLst/>
          </a:prstGeom>
          <a:noFill/>
          <a:ln/>
        </p:spPr>
        <p:txBody>
          <a:bodyPr wrap="square" lIns="0" tIns="0" rIns="0" bIns="0" rtlCol="0" anchor="ctr"/>
          <a:lstStyle/>
          <a:p>
            <a:pPr indent="0" marL="0">
              <a:buNone/>
            </a:pPr>
            <a:r>
              <a:rPr lang="en-US" sz="1400" b="1" dirty="0">
                <a:solidFill>
                  <a:srgbClr val="002D6A"/>
                </a:solidFill>
                <a:latin typeface="Arial" pitchFamily="34" charset="0"/>
                <a:ea typeface="Arial" pitchFamily="34" charset="-122"/>
                <a:cs typeface="Arial" pitchFamily="34" charset="-120"/>
              </a:rPr>
              <a:t>Guidance</a:t>
            </a:r>
            <a:endParaRPr lang="en-US" sz="1400" dirty="0"/>
          </a:p>
        </p:txBody>
      </p:sp>
      <p:sp>
        <p:nvSpPr>
          <p:cNvPr id="9" name="Text 7"/>
          <p:cNvSpPr txBox="1"/>
          <p:nvPr/>
        </p:nvSpPr>
        <p:spPr>
          <a:xfrm>
            <a:off x="6172200" y="1554480"/>
            <a:ext cx="2377440" cy="301752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22262E"/>
                </a:solidFill>
                <a:latin typeface="Arial" pitchFamily="34" charset="0"/>
                <a:ea typeface="Arial" pitchFamily="34" charset="-122"/>
                <a:cs typeface="Arial" pitchFamily="34" charset="-120"/>
              </a:rPr>
              <a:t>Award the mark for checking of cache at any of the stages but limit to one mark for this aspect.</a:t>
            </a:r>
            <a:endParaRPr lang="en-US" sz="1200" dirty="0"/>
          </a:p>
        </p:txBody>
      </p:sp>
      <p:sp>
        <p:nvSpPr>
          <p:cNvPr id="10"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949440" cy="685800"/>
          </a:xfrm>
          <a:prstGeom prst="rect">
            <a:avLst/>
          </a:prstGeom>
          <a:noFill/>
          <a:ln/>
        </p:spPr>
        <p:txBody>
          <a:bodyPr wrap="square" lIns="0" tIns="0" rIns="0" bIns="0" rtlCol="0" anchor="ctr"/>
          <a:lstStyle/>
          <a:p>
            <a:pPr algn="l" indent="0" marL="0">
              <a:buNone/>
            </a:pPr>
            <a:r>
              <a:rPr lang="en-US" sz="2800" b="1" dirty="0">
                <a:solidFill>
                  <a:srgbClr val="001B40"/>
                </a:solidFill>
                <a:latin typeface="Arial" pitchFamily="34" charset="0"/>
                <a:ea typeface="Arial" pitchFamily="34" charset="-122"/>
                <a:cs typeface="Arial" pitchFamily="34" charset="-120"/>
              </a:rPr>
              <a:t>Task 4: the 30 byte email (Craig'n'Dave 03-1)</a:t>
            </a:r>
            <a:endParaRPr lang="en-US" sz="2800" dirty="0"/>
          </a:p>
        </p:txBody>
      </p:sp>
      <p:sp>
        <p:nvSpPr>
          <p:cNvPr id="3" name="ANSWERS pill"/>
          <p:cNvSpPr/>
          <p:nvPr/>
        </p:nvSpPr>
        <p:spPr>
          <a:xfrm>
            <a:off x="7589520" y="411480"/>
            <a:ext cx="1097280" cy="365760"/>
          </a:xfrm>
          <a:prstGeom prst="roundRect">
            <a:avLst>
              <a:gd name="adj" fmla="val 50000"/>
            </a:avLst>
          </a:prstGeom>
          <a:solidFill>
            <a:srgbClr val="A9C4E8"/>
          </a:solidFill>
          <a:ln w="12700">
            <a:solidFill>
              <a:srgbClr val="A9C4E8"/>
            </a:solidFill>
            <a:prstDash val="solid"/>
          </a:ln>
        </p:spPr>
      </p:sp>
      <p:sp>
        <p:nvSpPr>
          <p:cNvPr id="4" name="Text 2"/>
          <p:cNvSpPr txBox="1"/>
          <p:nvPr/>
        </p:nvSpPr>
        <p:spPr>
          <a:xfrm>
            <a:off x="7589520" y="411480"/>
            <a:ext cx="1097280" cy="365760"/>
          </a:xfrm>
          <a:prstGeom prst="rect">
            <a:avLst/>
          </a:prstGeom>
          <a:noFill/>
          <a:ln/>
        </p:spPr>
        <p:txBody>
          <a:bodyPr wrap="square" lIns="0" tIns="0" rIns="0" bIns="0" rtlCol="0" anchor="ctr"/>
          <a:lstStyle/>
          <a:p>
            <a:pPr algn="ctr" indent="0" marL="0">
              <a:buNone/>
            </a:pPr>
            <a:r>
              <a:rPr lang="en-US" sz="1200" b="1" spc="200" kern="0" dirty="0">
                <a:solidFill>
                  <a:srgbClr val="001B40"/>
                </a:solidFill>
                <a:latin typeface="Arial" pitchFamily="34" charset="0"/>
                <a:ea typeface="Arial" pitchFamily="34" charset="-122"/>
                <a:cs typeface="Arial" pitchFamily="34" charset="-120"/>
              </a:rPr>
              <a:t>ANSWERS</a:t>
            </a:r>
            <a:endParaRPr lang="en-US" sz="1200" dirty="0"/>
          </a:p>
        </p:txBody>
      </p:sp>
      <p:sp>
        <p:nvSpPr>
          <p:cNvPr id="5" name="@1 Card"/>
          <p:cNvSpPr/>
          <p:nvPr/>
        </p:nvSpPr>
        <p:spPr>
          <a:xfrm>
            <a:off x="457200" y="1188720"/>
            <a:ext cx="8229600" cy="502920"/>
          </a:xfrm>
          <a:prstGeom prst="roundRect">
            <a:avLst>
              <a:gd name="adj" fmla="val 21818"/>
            </a:avLst>
          </a:prstGeom>
          <a:solidFill>
            <a:srgbClr val="FFFFFF"/>
          </a:solidFill>
          <a:ln w="15875">
            <a:solidFill>
              <a:srgbClr val="002D6A"/>
            </a:solidFill>
            <a:prstDash val="solid"/>
          </a:ln>
        </p:spPr>
      </p:sp>
      <p:sp>
        <p:nvSpPr>
          <p:cNvPr id="6" name="@1 addText"/>
          <p:cNvSpPr txBox="1"/>
          <p:nvPr/>
        </p:nvSpPr>
        <p:spPr>
          <a:xfrm>
            <a:off x="685800" y="1188720"/>
            <a:ext cx="7772400" cy="502920"/>
          </a:xfrm>
          <a:prstGeom prst="rect">
            <a:avLst/>
          </a:prstGeom>
          <a:noFill/>
          <a:ln/>
        </p:spPr>
        <p:txBody>
          <a:bodyPr wrap="square" lIns="0" tIns="0" rIns="0" bIns="0" rtlCol="0" anchor="ctr"/>
          <a:lstStyle/>
          <a:p>
            <a:pPr indent="0" marL="0">
              <a:buNone/>
            </a:pPr>
            <a:r>
              <a:rPr lang="en-US" sz="1400" dirty="0">
                <a:solidFill>
                  <a:srgbClr val="22262E"/>
                </a:solidFill>
                <a:latin typeface="Arial" pitchFamily="34" charset="0"/>
                <a:ea typeface="Arial" pitchFamily="34" charset="-122"/>
                <a:cs typeface="Arial" pitchFamily="34" charset="-120"/>
              </a:rPr>
              <a:t>1 The email application passes the message down. 2 TCP splits it into three 10 byte packets, numbers them and adds a checksum to each</a:t>
            </a:r>
            <a:endParaRPr lang="en-US" sz="1400" dirty="0"/>
          </a:p>
        </p:txBody>
      </p:sp>
      <p:sp>
        <p:nvSpPr>
          <p:cNvPr id="7" name="@2 Card"/>
          <p:cNvSpPr/>
          <p:nvPr/>
        </p:nvSpPr>
        <p:spPr>
          <a:xfrm>
            <a:off x="457200" y="1764792"/>
            <a:ext cx="8229600" cy="502920"/>
          </a:xfrm>
          <a:prstGeom prst="roundRect">
            <a:avLst>
              <a:gd name="adj" fmla="val 21818"/>
            </a:avLst>
          </a:prstGeom>
          <a:solidFill>
            <a:srgbClr val="FFFFFF"/>
          </a:solidFill>
          <a:ln w="15875">
            <a:solidFill>
              <a:srgbClr val="002D6A"/>
            </a:solidFill>
            <a:prstDash val="solid"/>
          </a:ln>
        </p:spPr>
      </p:sp>
      <p:sp>
        <p:nvSpPr>
          <p:cNvPr id="8" name="@2 addText"/>
          <p:cNvSpPr txBox="1"/>
          <p:nvPr/>
        </p:nvSpPr>
        <p:spPr>
          <a:xfrm>
            <a:off x="685800" y="1764792"/>
            <a:ext cx="7772400" cy="502920"/>
          </a:xfrm>
          <a:prstGeom prst="rect">
            <a:avLst/>
          </a:prstGeom>
          <a:noFill/>
          <a:ln/>
        </p:spPr>
        <p:txBody>
          <a:bodyPr wrap="square" lIns="0" tIns="0" rIns="0" bIns="0" rtlCol="0" anchor="ctr"/>
          <a:lstStyle/>
          <a:p>
            <a:pPr indent="0" marL="0">
              <a:buNone/>
            </a:pPr>
            <a:r>
              <a:rPr lang="en-US" sz="1400" dirty="0">
                <a:solidFill>
                  <a:srgbClr val="22262E"/>
                </a:solidFill>
                <a:latin typeface="Arial" pitchFamily="34" charset="0"/>
                <a:ea typeface="Arial" pitchFamily="34" charset="-122"/>
                <a:cs typeface="Arial" pitchFamily="34" charset="-120"/>
              </a:rPr>
              <a:t>3 The destination IP address is looked up through DNS and added to each packet (IP)</a:t>
            </a:r>
            <a:endParaRPr lang="en-US" sz="1400" dirty="0"/>
          </a:p>
        </p:txBody>
      </p:sp>
      <p:sp>
        <p:nvSpPr>
          <p:cNvPr id="9" name="@3 Card"/>
          <p:cNvSpPr/>
          <p:nvPr/>
        </p:nvSpPr>
        <p:spPr>
          <a:xfrm>
            <a:off x="457200" y="2340864"/>
            <a:ext cx="8229600" cy="502920"/>
          </a:xfrm>
          <a:prstGeom prst="roundRect">
            <a:avLst>
              <a:gd name="adj" fmla="val 21818"/>
            </a:avLst>
          </a:prstGeom>
          <a:solidFill>
            <a:srgbClr val="FFFFFF"/>
          </a:solidFill>
          <a:ln w="15875">
            <a:solidFill>
              <a:srgbClr val="002D6A"/>
            </a:solidFill>
            <a:prstDash val="solid"/>
          </a:ln>
        </p:spPr>
      </p:sp>
      <p:sp>
        <p:nvSpPr>
          <p:cNvPr id="10" name="@3 addText"/>
          <p:cNvSpPr txBox="1"/>
          <p:nvPr/>
        </p:nvSpPr>
        <p:spPr>
          <a:xfrm>
            <a:off x="685800" y="2340864"/>
            <a:ext cx="7772400" cy="502920"/>
          </a:xfrm>
          <a:prstGeom prst="rect">
            <a:avLst/>
          </a:prstGeom>
          <a:noFill/>
          <a:ln/>
        </p:spPr>
        <p:txBody>
          <a:bodyPr wrap="square" lIns="0" tIns="0" rIns="0" bIns="0" rtlCol="0" anchor="ctr"/>
          <a:lstStyle/>
          <a:p>
            <a:pPr indent="0" marL="0">
              <a:buNone/>
            </a:pPr>
            <a:r>
              <a:rPr lang="en-US" sz="1400" dirty="0">
                <a:solidFill>
                  <a:srgbClr val="22262E"/>
                </a:solidFill>
                <a:latin typeface="Arial" pitchFamily="34" charset="0"/>
                <a:ea typeface="Arial" pitchFamily="34" charset="-122"/>
                <a:cs typeface="Arial" pitchFamily="34" charset="-120"/>
              </a:rPr>
              <a:t>4 Packets are routed to the local ISP, then on from node to node: a node that does not know the destination sends the packet to a higher node with a bigger routing table</a:t>
            </a:r>
            <a:endParaRPr lang="en-US" sz="1400" dirty="0"/>
          </a:p>
        </p:txBody>
      </p:sp>
      <p:sp>
        <p:nvSpPr>
          <p:cNvPr id="11" name="@4 Card"/>
          <p:cNvSpPr/>
          <p:nvPr/>
        </p:nvSpPr>
        <p:spPr>
          <a:xfrm>
            <a:off x="457200" y="2916936"/>
            <a:ext cx="8229600" cy="502920"/>
          </a:xfrm>
          <a:prstGeom prst="roundRect">
            <a:avLst>
              <a:gd name="adj" fmla="val 21818"/>
            </a:avLst>
          </a:prstGeom>
          <a:solidFill>
            <a:srgbClr val="FFFFFF"/>
          </a:solidFill>
          <a:ln w="15875">
            <a:solidFill>
              <a:srgbClr val="002D6A"/>
            </a:solidFill>
            <a:prstDash val="solid"/>
          </a:ln>
        </p:spPr>
      </p:sp>
      <p:sp>
        <p:nvSpPr>
          <p:cNvPr id="12" name="@4 addText"/>
          <p:cNvSpPr txBox="1"/>
          <p:nvPr/>
        </p:nvSpPr>
        <p:spPr>
          <a:xfrm>
            <a:off x="685800" y="2916936"/>
            <a:ext cx="7772400" cy="502920"/>
          </a:xfrm>
          <a:prstGeom prst="rect">
            <a:avLst/>
          </a:prstGeom>
          <a:noFill/>
          <a:ln/>
        </p:spPr>
        <p:txBody>
          <a:bodyPr wrap="square" lIns="0" tIns="0" rIns="0" bIns="0" rtlCol="0" anchor="ctr"/>
          <a:lstStyle/>
          <a:p>
            <a:pPr indent="0" marL="0">
              <a:buNone/>
            </a:pPr>
            <a:r>
              <a:rPr lang="en-US" sz="1400" dirty="0">
                <a:solidFill>
                  <a:srgbClr val="22262E"/>
                </a:solidFill>
                <a:latin typeface="Arial" pitchFamily="34" charset="0"/>
                <a:ea typeface="Arial" pitchFamily="34" charset="-122"/>
                <a:cs typeface="Arial" pitchFamily="34" charset="-120"/>
              </a:rPr>
              <a:t>5 One packet arrives with a checksum error and is requested again until it arrives correctly</a:t>
            </a:r>
            <a:endParaRPr lang="en-US" sz="1400" dirty="0"/>
          </a:p>
        </p:txBody>
      </p:sp>
      <p:sp>
        <p:nvSpPr>
          <p:cNvPr id="13" name="@5 Card"/>
          <p:cNvSpPr/>
          <p:nvPr/>
        </p:nvSpPr>
        <p:spPr>
          <a:xfrm>
            <a:off x="457200" y="3493008"/>
            <a:ext cx="8229600" cy="502920"/>
          </a:xfrm>
          <a:prstGeom prst="roundRect">
            <a:avLst>
              <a:gd name="adj" fmla="val 21818"/>
            </a:avLst>
          </a:prstGeom>
          <a:solidFill>
            <a:srgbClr val="FFFFFF"/>
          </a:solidFill>
          <a:ln w="15875">
            <a:solidFill>
              <a:srgbClr val="002D6A"/>
            </a:solidFill>
            <a:prstDash val="solid"/>
          </a:ln>
        </p:spPr>
      </p:sp>
      <p:sp>
        <p:nvSpPr>
          <p:cNvPr id="14" name="@5 addText"/>
          <p:cNvSpPr txBox="1"/>
          <p:nvPr/>
        </p:nvSpPr>
        <p:spPr>
          <a:xfrm>
            <a:off x="685800" y="3493008"/>
            <a:ext cx="7772400" cy="502920"/>
          </a:xfrm>
          <a:prstGeom prst="rect">
            <a:avLst/>
          </a:prstGeom>
          <a:noFill/>
          <a:ln/>
        </p:spPr>
        <p:txBody>
          <a:bodyPr wrap="square" lIns="0" tIns="0" rIns="0" bIns="0" rtlCol="0" anchor="ctr"/>
          <a:lstStyle/>
          <a:p>
            <a:pPr indent="0" marL="0">
              <a:buNone/>
            </a:pPr>
            <a:r>
              <a:rPr lang="en-US" sz="1400" dirty="0">
                <a:solidFill>
                  <a:srgbClr val="22262E"/>
                </a:solidFill>
                <a:latin typeface="Arial" pitchFamily="34" charset="0"/>
                <a:ea typeface="Arial" pitchFamily="34" charset="-122"/>
                <a:cs typeface="Arial" pitchFamily="34" charset="-120"/>
              </a:rPr>
              <a:t>6 Packets continue along the best route, arrive at the destination ISP, then the destination computer</a:t>
            </a:r>
            <a:endParaRPr lang="en-US" sz="1400" dirty="0"/>
          </a:p>
        </p:txBody>
      </p:sp>
      <p:sp>
        <p:nvSpPr>
          <p:cNvPr id="15" name="@6 Card"/>
          <p:cNvSpPr/>
          <p:nvPr/>
        </p:nvSpPr>
        <p:spPr>
          <a:xfrm>
            <a:off x="457200" y="4069080"/>
            <a:ext cx="8229600" cy="502920"/>
          </a:xfrm>
          <a:prstGeom prst="roundRect">
            <a:avLst>
              <a:gd name="adj" fmla="val 21818"/>
            </a:avLst>
          </a:prstGeom>
          <a:solidFill>
            <a:srgbClr val="FFFFFF"/>
          </a:solidFill>
          <a:ln w="15875">
            <a:solidFill>
              <a:srgbClr val="002D6A"/>
            </a:solidFill>
            <a:prstDash val="solid"/>
          </a:ln>
        </p:spPr>
      </p:sp>
      <p:sp>
        <p:nvSpPr>
          <p:cNvPr id="16" name="@6 addText"/>
          <p:cNvSpPr txBox="1"/>
          <p:nvPr/>
        </p:nvSpPr>
        <p:spPr>
          <a:xfrm>
            <a:off x="685800" y="4069080"/>
            <a:ext cx="7772400" cy="502920"/>
          </a:xfrm>
          <a:prstGeom prst="rect">
            <a:avLst/>
          </a:prstGeom>
          <a:noFill/>
          <a:ln/>
        </p:spPr>
        <p:txBody>
          <a:bodyPr wrap="square" lIns="0" tIns="0" rIns="0" bIns="0" rtlCol="0" anchor="ctr"/>
          <a:lstStyle/>
          <a:p>
            <a:pPr indent="0" marL="0">
              <a:buNone/>
            </a:pPr>
            <a:r>
              <a:rPr lang="en-US" sz="1400" dirty="0">
                <a:solidFill>
                  <a:srgbClr val="22262E"/>
                </a:solidFill>
                <a:latin typeface="Arial" pitchFamily="34" charset="0"/>
                <a:ea typeface="Arial" pitchFamily="34" charset="-122"/>
                <a:cs typeface="Arial" pitchFamily="34" charset="-120"/>
              </a:rPr>
              <a:t>7 TCP puts the packets in the correct order, the protocol bits are stripped off and the data goes to the application</a:t>
            </a:r>
            <a:endParaRPr lang="en-US" sz="1400" dirty="0"/>
          </a:p>
        </p:txBody>
      </p:sp>
      <p:sp>
        <p:nvSpPr>
          <p:cNvPr id="17"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b="0" lang="en-US"/>
              <a:t>21</a:t>
            </a:fld>
            <a:endParaRPr lang="en-US"/>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200"/>
                                        <p:tgtEl>
                                          <p:spTgt spid="5"/>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200"/>
                                        <p:tgtEl>
                                          <p:spTgt spid="6"/>
                                        </p:tgtEl>
                                      </p:cBhvr>
                                    </p:animEffect>
                                  </p:childTnLst>
                                </p:cTn>
                              </p:par>
                            </p:childTnLst>
                          </p:cTn>
                        </p:par>
                      </p:childTnLst>
                    </p:cTn>
                  </p:par>
                  <p:par>
                    <p:cTn id="17" fill="hold">
                      <p:stCondLst>
                        <p:cond delay="indefinite"/>
                      </p:stCondLst>
                      <p:childTnLst>
                        <p:par>
                          <p:cTn id="18"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2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200"/>
                                        <p:tgtEl>
                                          <p:spTgt spid="8"/>
                                        </p:tgtEl>
                                      </p:cBhvr>
                                    </p:animEffect>
                                  </p:childTnLst>
                                </p:cTn>
                              </p:par>
                            </p:childTnLst>
                          </p:cTn>
                        </p:par>
                      </p:childTnLst>
                    </p:cTn>
                  </p:par>
                  <p:par>
                    <p:cTn id="25" fill="hold">
                      <p:stCondLst>
                        <p:cond delay="indefinite"/>
                      </p:stCondLst>
                      <p:childTnLst>
                        <p:par>
                          <p:cTn id="26"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2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200"/>
                                        <p:tgtEl>
                                          <p:spTgt spid="10"/>
                                        </p:tgtEl>
                                      </p:cBhvr>
                                    </p:animEffect>
                                  </p:childTnLst>
                                </p:cTn>
                              </p:par>
                            </p:childTnLst>
                          </p:cTn>
                        </p:par>
                      </p:childTnLst>
                    </p:cTn>
                  </p:par>
                  <p:par>
                    <p:cTn id="33" fill="hold">
                      <p:stCondLst>
                        <p:cond delay="indefinite"/>
                      </p:stCondLst>
                      <p:childTnLst>
                        <p:par>
                          <p:cTn id="34"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200"/>
                                        <p:tgtEl>
                                          <p:spTgt spid="1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200"/>
                                        <p:tgtEl>
                                          <p:spTgt spid="12"/>
                                        </p:tgtEl>
                                      </p:cBhvr>
                                    </p:animEffect>
                                  </p:childTnLst>
                                </p:cTn>
                              </p:par>
                            </p:childTnLst>
                          </p:cTn>
                        </p:par>
                      </p:childTnLst>
                    </p:cTn>
                  </p:par>
                  <p:par>
                    <p:cTn id="41" fill="hold">
                      <p:stCondLst>
                        <p:cond delay="indefinite"/>
                      </p:stCondLst>
                      <p:childTnLst>
                        <p:par>
                          <p:cTn id="42"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200"/>
                                        <p:tgtEl>
                                          <p:spTgt spid="13"/>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200"/>
                                        <p:tgtEl>
                                          <p:spTgt spid="14"/>
                                        </p:tgtEl>
                                      </p:cBhvr>
                                    </p:animEffect>
                                  </p:childTnLst>
                                </p:cTn>
                              </p:par>
                            </p:childTnLst>
                          </p:cTn>
                        </p:par>
                      </p:childTnLst>
                    </p:cTn>
                  </p:par>
                  <p:par>
                    <p:cTn id="49" fill="hold">
                      <p:stCondLst>
                        <p:cond delay="indefinite"/>
                      </p:stCondLst>
                      <p:childTnLst>
                        <p:par>
                          <p:cTn id="50"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fade">
                                      <p:cBhvr>
                                        <p:cTn id="45" dur="200"/>
                                        <p:tgtEl>
                                          <p:spTgt spid="15"/>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2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949440" cy="685800"/>
          </a:xfrm>
          <a:prstGeom prst="rect">
            <a:avLst/>
          </a:prstGeom>
          <a:noFill/>
          <a:ln/>
        </p:spPr>
        <p:txBody>
          <a:bodyPr wrap="square" lIns="0" tIns="0" rIns="0" bIns="0" rtlCol="0" anchor="ctr"/>
          <a:lstStyle/>
          <a:p>
            <a:pPr algn="l" indent="0" marL="0">
              <a:buNone/>
            </a:pPr>
            <a:r>
              <a:rPr lang="en-US" sz="2800" b="1" dirty="0">
                <a:solidFill>
                  <a:srgbClr val="001B40"/>
                </a:solidFill>
                <a:latin typeface="Arial" pitchFamily="34" charset="0"/>
                <a:ea typeface="Arial" pitchFamily="34" charset="-122"/>
                <a:cs typeface="Arial" pitchFamily="34" charset="-120"/>
              </a:rPr>
              <a:t>AS H046 1.3.2 (2019), PMT booklet, Q2(a) [5]</a:t>
            </a:r>
            <a:endParaRPr lang="en-US" sz="2800" dirty="0"/>
          </a:p>
        </p:txBody>
      </p:sp>
      <p:sp>
        <p:nvSpPr>
          <p:cNvPr id="3" name="ANSWERS pill"/>
          <p:cNvSpPr/>
          <p:nvPr/>
        </p:nvSpPr>
        <p:spPr>
          <a:xfrm>
            <a:off x="7589520" y="411480"/>
            <a:ext cx="1097280" cy="365760"/>
          </a:xfrm>
          <a:prstGeom prst="roundRect">
            <a:avLst>
              <a:gd name="adj" fmla="val 50000"/>
            </a:avLst>
          </a:prstGeom>
          <a:solidFill>
            <a:srgbClr val="A9C4E8"/>
          </a:solidFill>
          <a:ln w="12700">
            <a:solidFill>
              <a:srgbClr val="A9C4E8"/>
            </a:solidFill>
            <a:prstDash val="solid"/>
          </a:ln>
        </p:spPr>
      </p:sp>
      <p:sp>
        <p:nvSpPr>
          <p:cNvPr id="4" name="Text 2"/>
          <p:cNvSpPr txBox="1"/>
          <p:nvPr/>
        </p:nvSpPr>
        <p:spPr>
          <a:xfrm>
            <a:off x="7589520" y="411480"/>
            <a:ext cx="1097280" cy="365760"/>
          </a:xfrm>
          <a:prstGeom prst="rect">
            <a:avLst/>
          </a:prstGeom>
          <a:noFill/>
          <a:ln/>
        </p:spPr>
        <p:txBody>
          <a:bodyPr wrap="square" lIns="0" tIns="0" rIns="0" bIns="0" rtlCol="0" anchor="ctr"/>
          <a:lstStyle/>
          <a:p>
            <a:pPr algn="ctr" indent="0" marL="0">
              <a:buNone/>
            </a:pPr>
            <a:r>
              <a:rPr lang="en-US" sz="1200" b="1" spc="200" kern="0" dirty="0">
                <a:solidFill>
                  <a:srgbClr val="001B40"/>
                </a:solidFill>
                <a:latin typeface="Arial" pitchFamily="34" charset="0"/>
                <a:ea typeface="Arial" pitchFamily="34" charset="-122"/>
                <a:cs typeface="Arial" pitchFamily="34" charset="-120"/>
              </a:rPr>
              <a:t>ANSWERS</a:t>
            </a:r>
            <a:endParaRPr lang="en-US" sz="1200" dirty="0"/>
          </a:p>
        </p:txBody>
      </p:sp>
      <p:sp>
        <p:nvSpPr>
          <p:cNvPr id="5" name="Mark scheme card"/>
          <p:cNvSpPr/>
          <p:nvPr/>
        </p:nvSpPr>
        <p:spPr>
          <a:xfrm>
            <a:off x="457200" y="1097280"/>
            <a:ext cx="5394960" cy="3566160"/>
          </a:xfrm>
          <a:prstGeom prst="roundRect">
            <a:avLst>
              <a:gd name="adj" fmla="val 3077"/>
            </a:avLst>
          </a:prstGeom>
          <a:solidFill>
            <a:srgbClr val="FFFFFF"/>
          </a:solidFill>
          <a:ln w="15875">
            <a:solidFill>
              <a:srgbClr val="002D6A"/>
            </a:solidFill>
            <a:prstDash val="solid"/>
          </a:ln>
        </p:spPr>
      </p:sp>
      <p:sp>
        <p:nvSpPr>
          <p:cNvPr id="6" name="Text 4"/>
          <p:cNvSpPr txBox="1"/>
          <p:nvPr/>
        </p:nvSpPr>
        <p:spPr>
          <a:xfrm>
            <a:off x="640080" y="1188720"/>
            <a:ext cx="5029200" cy="338328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2262E"/>
                </a:solidFill>
                <a:latin typeface="Arial" pitchFamily="34" charset="0"/>
                <a:ea typeface="Arial" pitchFamily="34" charset="-122"/>
                <a:cs typeface="Arial" pitchFamily="34" charset="-120"/>
              </a:rPr>
              <a:t>Data is split into equal sized blocks (called packets)</a:t>
            </a:r>
            <a:endParaRPr lang="en-US" sz="1600" dirty="0"/>
          </a:p>
          <a:p>
            <a:pPr marL="342900" indent="-342900">
              <a:spcAft>
                <a:spcPts val="400"/>
              </a:spcAft>
              <a:buSzPct val="100000"/>
              <a:buChar char="•"/>
            </a:pPr>
            <a:r>
              <a:rPr lang="en-US" sz="1600" dirty="0">
                <a:solidFill>
                  <a:srgbClr val="22262E"/>
                </a:solidFill>
                <a:latin typeface="Arial" pitchFamily="34" charset="0"/>
                <a:ea typeface="Arial" pitchFamily="34" charset="-122"/>
                <a:cs typeface="Arial" pitchFamily="34" charset="-120"/>
              </a:rPr>
              <a:t>Each packet has a header of information (including destination address and the place of the packet in the complete message)</a:t>
            </a:r>
            <a:endParaRPr lang="en-US" sz="1600" dirty="0"/>
          </a:p>
          <a:p>
            <a:pPr marL="342900" indent="-342900">
              <a:spcAft>
                <a:spcPts val="400"/>
              </a:spcAft>
              <a:buSzPct val="100000"/>
              <a:buChar char="•"/>
            </a:pPr>
            <a:r>
              <a:rPr lang="en-US" sz="1600" dirty="0">
                <a:solidFill>
                  <a:srgbClr val="22262E"/>
                </a:solidFill>
                <a:latin typeface="Arial" pitchFamily="34" charset="0"/>
                <a:ea typeface="Arial" pitchFamily="34" charset="-122"/>
                <a:cs typeface="Arial" pitchFamily="34" charset="-120"/>
              </a:rPr>
              <a:t>(Each packet is placed on the network and) each may travel by a different route</a:t>
            </a:r>
            <a:endParaRPr lang="en-US" sz="1600" dirty="0"/>
          </a:p>
          <a:p>
            <a:pPr marL="342900" indent="-342900">
              <a:spcAft>
                <a:spcPts val="400"/>
              </a:spcAft>
              <a:buSzPct val="100000"/>
              <a:buChar char="•"/>
            </a:pPr>
            <a:r>
              <a:rPr lang="en-US" sz="1600" dirty="0">
                <a:solidFill>
                  <a:srgbClr val="22262E"/>
                </a:solidFill>
                <a:latin typeface="Arial" pitchFamily="34" charset="0"/>
                <a:ea typeface="Arial" pitchFamily="34" charset="-122"/>
                <a:cs typeface="Arial" pitchFamily="34" charset="-120"/>
              </a:rPr>
              <a:t>(At each node on the network the destination address is read and the) best route is found</a:t>
            </a:r>
            <a:endParaRPr lang="en-US" sz="1600" dirty="0"/>
          </a:p>
          <a:p>
            <a:pPr marL="342900" indent="-342900">
              <a:spcAft>
                <a:spcPts val="400"/>
              </a:spcAft>
              <a:buSzPct val="100000"/>
              <a:buChar char="•"/>
            </a:pPr>
            <a:r>
              <a:rPr lang="en-US" sz="1600" dirty="0">
                <a:solidFill>
                  <a:srgbClr val="22262E"/>
                </a:solidFill>
                <a:latin typeface="Arial" pitchFamily="34" charset="0"/>
                <a:ea typeface="Arial" pitchFamily="34" charset="-122"/>
                <a:cs typeface="Arial" pitchFamily="34" charset="-120"/>
              </a:rPr>
              <a:t>Packets need to be reordered at the destination</a:t>
            </a:r>
            <a:endParaRPr lang="en-US" sz="1600" dirty="0"/>
          </a:p>
        </p:txBody>
      </p:sp>
      <p:sp>
        <p:nvSpPr>
          <p:cNvPr id="7" name="Guidance card"/>
          <p:cNvSpPr/>
          <p:nvPr/>
        </p:nvSpPr>
        <p:spPr>
          <a:xfrm>
            <a:off x="6035040" y="1097280"/>
            <a:ext cx="2651760" cy="3566160"/>
          </a:xfrm>
          <a:prstGeom prst="roundRect">
            <a:avLst>
              <a:gd name="adj" fmla="val 4138"/>
            </a:avLst>
          </a:prstGeom>
          <a:solidFill>
            <a:srgbClr val="EEF2F7"/>
          </a:solidFill>
          <a:ln w="9525">
            <a:solidFill>
              <a:srgbClr val="C5D1E3"/>
            </a:solidFill>
            <a:prstDash val="solid"/>
          </a:ln>
        </p:spPr>
      </p:sp>
      <p:sp>
        <p:nvSpPr>
          <p:cNvPr id="8" name="Text 6"/>
          <p:cNvSpPr txBox="1"/>
          <p:nvPr/>
        </p:nvSpPr>
        <p:spPr>
          <a:xfrm>
            <a:off x="6172200" y="1143000"/>
            <a:ext cx="2377440" cy="365760"/>
          </a:xfrm>
          <a:prstGeom prst="rect">
            <a:avLst/>
          </a:prstGeom>
          <a:noFill/>
          <a:ln/>
        </p:spPr>
        <p:txBody>
          <a:bodyPr wrap="square" lIns="0" tIns="0" rIns="0" bIns="0" rtlCol="0" anchor="ctr"/>
          <a:lstStyle/>
          <a:p>
            <a:pPr indent="0" marL="0">
              <a:buNone/>
            </a:pPr>
            <a:r>
              <a:rPr lang="en-US" sz="1400" b="1" dirty="0">
                <a:solidFill>
                  <a:srgbClr val="002D6A"/>
                </a:solidFill>
                <a:latin typeface="Arial" pitchFamily="34" charset="0"/>
                <a:ea typeface="Arial" pitchFamily="34" charset="-122"/>
                <a:cs typeface="Arial" pitchFamily="34" charset="-120"/>
              </a:rPr>
              <a:t>Guidance</a:t>
            </a:r>
            <a:endParaRPr lang="en-US" sz="1400" dirty="0"/>
          </a:p>
        </p:txBody>
      </p:sp>
      <p:sp>
        <p:nvSpPr>
          <p:cNvPr id="9" name="Text 7"/>
          <p:cNvSpPr txBox="1"/>
          <p:nvPr/>
        </p:nvSpPr>
        <p:spPr>
          <a:xfrm>
            <a:off x="6172200" y="1554480"/>
            <a:ext cx="2377440" cy="301752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22262E"/>
                </a:solidFill>
                <a:latin typeface="Arial" pitchFamily="34" charset="0"/>
                <a:ea typeface="Arial" pitchFamily="34" charset="-122"/>
                <a:cs typeface="Arial" pitchFamily="34" charset="-120"/>
              </a:rPr>
              <a:t>For 'reordered' accept reorganised or similar, but NOT 'reassembled'.</a:t>
            </a:r>
            <a:endParaRPr lang="en-US" sz="1200" dirty="0"/>
          </a:p>
        </p:txBody>
      </p:sp>
      <p:sp>
        <p:nvSpPr>
          <p:cNvPr id="10"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949440" cy="685800"/>
          </a:xfrm>
          <a:prstGeom prst="rect">
            <a:avLst/>
          </a:prstGeom>
          <a:noFill/>
          <a:ln/>
        </p:spPr>
        <p:txBody>
          <a:bodyPr wrap="square" lIns="0" tIns="0" rIns="0" bIns="0" rtlCol="0" anchor="ctr"/>
          <a:lstStyle/>
          <a:p>
            <a:pPr algn="l" indent="0" marL="0">
              <a:buNone/>
            </a:pPr>
            <a:r>
              <a:rPr lang="en-US" sz="2800" b="1" dirty="0">
                <a:solidFill>
                  <a:srgbClr val="001B40"/>
                </a:solidFill>
                <a:latin typeface="Arial" pitchFamily="34" charset="0"/>
                <a:ea typeface="Arial" pitchFamily="34" charset="-122"/>
                <a:cs typeface="Arial" pitchFamily="34" charset="-120"/>
              </a:rPr>
              <a:t>H046 June 2023 [2]</a:t>
            </a:r>
            <a:endParaRPr lang="en-US" sz="2800" dirty="0"/>
          </a:p>
        </p:txBody>
      </p:sp>
      <p:sp>
        <p:nvSpPr>
          <p:cNvPr id="3" name="ANSWERS pill"/>
          <p:cNvSpPr/>
          <p:nvPr/>
        </p:nvSpPr>
        <p:spPr>
          <a:xfrm>
            <a:off x="7589520" y="411480"/>
            <a:ext cx="1097280" cy="365760"/>
          </a:xfrm>
          <a:prstGeom prst="roundRect">
            <a:avLst>
              <a:gd name="adj" fmla="val 50000"/>
            </a:avLst>
          </a:prstGeom>
          <a:solidFill>
            <a:srgbClr val="A9C4E8"/>
          </a:solidFill>
          <a:ln w="12700">
            <a:solidFill>
              <a:srgbClr val="A9C4E8"/>
            </a:solidFill>
            <a:prstDash val="solid"/>
          </a:ln>
        </p:spPr>
      </p:sp>
      <p:sp>
        <p:nvSpPr>
          <p:cNvPr id="4" name="Text 2"/>
          <p:cNvSpPr txBox="1"/>
          <p:nvPr/>
        </p:nvSpPr>
        <p:spPr>
          <a:xfrm>
            <a:off x="7589520" y="411480"/>
            <a:ext cx="1097280" cy="365760"/>
          </a:xfrm>
          <a:prstGeom prst="rect">
            <a:avLst/>
          </a:prstGeom>
          <a:noFill/>
          <a:ln/>
        </p:spPr>
        <p:txBody>
          <a:bodyPr wrap="square" lIns="0" tIns="0" rIns="0" bIns="0" rtlCol="0" anchor="ctr"/>
          <a:lstStyle/>
          <a:p>
            <a:pPr algn="ctr" indent="0" marL="0">
              <a:buNone/>
            </a:pPr>
            <a:r>
              <a:rPr lang="en-US" sz="1200" b="1" spc="200" kern="0" dirty="0">
                <a:solidFill>
                  <a:srgbClr val="001B40"/>
                </a:solidFill>
                <a:latin typeface="Arial" pitchFamily="34" charset="0"/>
                <a:ea typeface="Arial" pitchFamily="34" charset="-122"/>
                <a:cs typeface="Arial" pitchFamily="34" charset="-120"/>
              </a:rPr>
              <a:t>ANSWERS</a:t>
            </a:r>
            <a:endParaRPr lang="en-US" sz="1200" dirty="0"/>
          </a:p>
        </p:txBody>
      </p:sp>
      <p:sp>
        <p:nvSpPr>
          <p:cNvPr id="5" name="Mark scheme card"/>
          <p:cNvSpPr/>
          <p:nvPr/>
        </p:nvSpPr>
        <p:spPr>
          <a:xfrm>
            <a:off x="457200" y="1097280"/>
            <a:ext cx="5394960" cy="3566160"/>
          </a:xfrm>
          <a:prstGeom prst="roundRect">
            <a:avLst>
              <a:gd name="adj" fmla="val 3077"/>
            </a:avLst>
          </a:prstGeom>
          <a:solidFill>
            <a:srgbClr val="FFFFFF"/>
          </a:solidFill>
          <a:ln w="15875">
            <a:solidFill>
              <a:srgbClr val="002D6A"/>
            </a:solidFill>
            <a:prstDash val="solid"/>
          </a:ln>
        </p:spPr>
      </p:sp>
      <p:sp>
        <p:nvSpPr>
          <p:cNvPr id="6" name="Text 4"/>
          <p:cNvSpPr txBox="1"/>
          <p:nvPr/>
        </p:nvSpPr>
        <p:spPr>
          <a:xfrm>
            <a:off x="640080" y="1188720"/>
            <a:ext cx="5029200" cy="338328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2262E"/>
                </a:solidFill>
                <a:latin typeface="Arial" pitchFamily="34" charset="0"/>
                <a:ea typeface="Arial" pitchFamily="34" charset="-122"/>
                <a:cs typeface="Arial" pitchFamily="34" charset="-120"/>
              </a:rPr>
              <a:t>In circuit switching dedicated hardware resources are used for each connection</a:t>
            </a:r>
            <a:endParaRPr lang="en-US" sz="1600" dirty="0"/>
          </a:p>
          <a:p>
            <a:pPr marL="342900" indent="-342900">
              <a:spcAft>
                <a:spcPts val="400"/>
              </a:spcAft>
              <a:buSzPct val="100000"/>
              <a:buChar char="•"/>
            </a:pPr>
            <a:r>
              <a:rPr lang="en-US" sz="1600" dirty="0">
                <a:solidFill>
                  <a:srgbClr val="22262E"/>
                </a:solidFill>
                <a:latin typeface="Arial" pitchFamily="34" charset="0"/>
                <a:ea typeface="Arial" pitchFamily="34" charset="-122"/>
                <a:cs typeface="Arial" pitchFamily="34" charset="-120"/>
              </a:rPr>
              <a:t>In packet switching hardware is used for multiple different connections.</a:t>
            </a:r>
            <a:endParaRPr lang="en-US" sz="1600" dirty="0"/>
          </a:p>
          <a:p>
            <a:pPr marL="342900" indent="-342900">
              <a:spcAft>
                <a:spcPts val="400"/>
              </a:spcAft>
              <a:buSzPct val="100000"/>
              <a:buChar char="•"/>
            </a:pPr>
            <a:r>
              <a:rPr lang="en-US" sz="1600" dirty="0">
                <a:solidFill>
                  <a:srgbClr val="22262E"/>
                </a:solidFill>
                <a:latin typeface="Arial" pitchFamily="34" charset="0"/>
                <a:ea typeface="Arial" pitchFamily="34" charset="-122"/>
                <a:cs typeface="Arial" pitchFamily="34" charset="-120"/>
              </a:rPr>
              <a:t>OR</a:t>
            </a:r>
            <a:endParaRPr lang="en-US" sz="1600" dirty="0"/>
          </a:p>
          <a:p>
            <a:pPr marL="342900" indent="-342900">
              <a:spcAft>
                <a:spcPts val="400"/>
              </a:spcAft>
              <a:buSzPct val="100000"/>
              <a:buChar char="•"/>
            </a:pPr>
            <a:r>
              <a:rPr lang="en-US" sz="1600" dirty="0">
                <a:solidFill>
                  <a:srgbClr val="22262E"/>
                </a:solidFill>
                <a:latin typeface="Arial" pitchFamily="34" charset="0"/>
                <a:ea typeface="Arial" pitchFamily="34" charset="-122"/>
                <a:cs typeface="Arial" pitchFamily="34" charset="-120"/>
              </a:rPr>
              <a:t>In circuit switching the data is sent along one route/stream.</a:t>
            </a:r>
            <a:endParaRPr lang="en-US" sz="1600" dirty="0"/>
          </a:p>
          <a:p>
            <a:pPr marL="342900" indent="-342900">
              <a:spcAft>
                <a:spcPts val="400"/>
              </a:spcAft>
              <a:buSzPct val="100000"/>
              <a:buChar char="•"/>
            </a:pPr>
            <a:r>
              <a:rPr lang="en-US" sz="1600" dirty="0">
                <a:solidFill>
                  <a:srgbClr val="22262E"/>
                </a:solidFill>
                <a:latin typeface="Arial" pitchFamily="34" charset="0"/>
                <a:ea typeface="Arial" pitchFamily="34" charset="-122"/>
                <a:cs typeface="Arial" pitchFamily="34" charset="-120"/>
              </a:rPr>
              <a:t>In packet switching packets of data may be sent along multiple different routes/packets may not be in order</a:t>
            </a:r>
            <a:endParaRPr lang="en-US" sz="1600" dirty="0"/>
          </a:p>
        </p:txBody>
      </p:sp>
      <p:sp>
        <p:nvSpPr>
          <p:cNvPr id="7" name="Guidance card"/>
          <p:cNvSpPr/>
          <p:nvPr/>
        </p:nvSpPr>
        <p:spPr>
          <a:xfrm>
            <a:off x="6035040" y="1097280"/>
            <a:ext cx="2651760" cy="3566160"/>
          </a:xfrm>
          <a:prstGeom prst="roundRect">
            <a:avLst>
              <a:gd name="adj" fmla="val 4138"/>
            </a:avLst>
          </a:prstGeom>
          <a:solidFill>
            <a:srgbClr val="EEF2F7"/>
          </a:solidFill>
          <a:ln w="9525">
            <a:solidFill>
              <a:srgbClr val="C5D1E3"/>
            </a:solidFill>
            <a:prstDash val="solid"/>
          </a:ln>
        </p:spPr>
      </p:sp>
      <p:sp>
        <p:nvSpPr>
          <p:cNvPr id="8" name="Text 6"/>
          <p:cNvSpPr txBox="1"/>
          <p:nvPr/>
        </p:nvSpPr>
        <p:spPr>
          <a:xfrm>
            <a:off x="6172200" y="1143000"/>
            <a:ext cx="2377440" cy="365760"/>
          </a:xfrm>
          <a:prstGeom prst="rect">
            <a:avLst/>
          </a:prstGeom>
          <a:noFill/>
          <a:ln/>
        </p:spPr>
        <p:txBody>
          <a:bodyPr wrap="square" lIns="0" tIns="0" rIns="0" bIns="0" rtlCol="0" anchor="ctr"/>
          <a:lstStyle/>
          <a:p>
            <a:pPr indent="0" marL="0">
              <a:buNone/>
            </a:pPr>
            <a:r>
              <a:rPr lang="en-US" sz="1400" b="1" dirty="0">
                <a:solidFill>
                  <a:srgbClr val="002D6A"/>
                </a:solidFill>
                <a:latin typeface="Arial" pitchFamily="34" charset="0"/>
                <a:ea typeface="Arial" pitchFamily="34" charset="-122"/>
                <a:cs typeface="Arial" pitchFamily="34" charset="-120"/>
              </a:rPr>
              <a:t>Guidance</a:t>
            </a:r>
            <a:endParaRPr lang="en-US" sz="1400" dirty="0"/>
          </a:p>
        </p:txBody>
      </p:sp>
      <p:sp>
        <p:nvSpPr>
          <p:cNvPr id="9" name="Text 7"/>
          <p:cNvSpPr txBox="1"/>
          <p:nvPr/>
        </p:nvSpPr>
        <p:spPr>
          <a:xfrm>
            <a:off x="6172200" y="1554480"/>
            <a:ext cx="2377440" cy="301752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22262E"/>
                </a:solidFill>
                <a:latin typeface="Arial" pitchFamily="34" charset="0"/>
                <a:ea typeface="Arial" pitchFamily="34" charset="-122"/>
                <a:cs typeface="Arial" pitchFamily="34" charset="-120"/>
              </a:rPr>
              <a:t>Marks answers in pairs</a:t>
            </a:r>
            <a:endParaRPr lang="en-US" sz="1200" dirty="0"/>
          </a:p>
        </p:txBody>
      </p:sp>
      <p:sp>
        <p:nvSpPr>
          <p:cNvPr id="10"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949440" cy="685800"/>
          </a:xfrm>
          <a:prstGeom prst="rect">
            <a:avLst/>
          </a:prstGeom>
          <a:noFill/>
          <a:ln/>
        </p:spPr>
        <p:txBody>
          <a:bodyPr wrap="square" lIns="0" tIns="0" rIns="0" bIns="0" rtlCol="0" anchor="ctr"/>
          <a:lstStyle/>
          <a:p>
            <a:pPr algn="l" indent="0" marL="0">
              <a:buNone/>
            </a:pPr>
            <a:r>
              <a:rPr lang="en-US" sz="2800" b="1" dirty="0">
                <a:solidFill>
                  <a:srgbClr val="001B40"/>
                </a:solidFill>
                <a:latin typeface="Arial" pitchFamily="34" charset="0"/>
                <a:ea typeface="Arial" pitchFamily="34" charset="-122"/>
                <a:cs typeface="Arial" pitchFamily="34" charset="-120"/>
              </a:rPr>
              <a:t>H046 June 2023 [2]</a:t>
            </a:r>
            <a:endParaRPr lang="en-US" sz="2800" dirty="0"/>
          </a:p>
        </p:txBody>
      </p:sp>
      <p:sp>
        <p:nvSpPr>
          <p:cNvPr id="3" name="ANSWERS pill"/>
          <p:cNvSpPr/>
          <p:nvPr/>
        </p:nvSpPr>
        <p:spPr>
          <a:xfrm>
            <a:off x="7589520" y="411480"/>
            <a:ext cx="1097280" cy="365760"/>
          </a:xfrm>
          <a:prstGeom prst="roundRect">
            <a:avLst>
              <a:gd name="adj" fmla="val 50000"/>
            </a:avLst>
          </a:prstGeom>
          <a:solidFill>
            <a:srgbClr val="A9C4E8"/>
          </a:solidFill>
          <a:ln w="12700">
            <a:solidFill>
              <a:srgbClr val="A9C4E8"/>
            </a:solidFill>
            <a:prstDash val="solid"/>
          </a:ln>
        </p:spPr>
      </p:sp>
      <p:sp>
        <p:nvSpPr>
          <p:cNvPr id="4" name="Text 2"/>
          <p:cNvSpPr txBox="1"/>
          <p:nvPr/>
        </p:nvSpPr>
        <p:spPr>
          <a:xfrm>
            <a:off x="7589520" y="411480"/>
            <a:ext cx="1097280" cy="365760"/>
          </a:xfrm>
          <a:prstGeom prst="rect">
            <a:avLst/>
          </a:prstGeom>
          <a:noFill/>
          <a:ln/>
        </p:spPr>
        <p:txBody>
          <a:bodyPr wrap="square" lIns="0" tIns="0" rIns="0" bIns="0" rtlCol="0" anchor="ctr"/>
          <a:lstStyle/>
          <a:p>
            <a:pPr algn="ctr" indent="0" marL="0">
              <a:buNone/>
            </a:pPr>
            <a:r>
              <a:rPr lang="en-US" sz="1200" b="1" spc="200" kern="0" dirty="0">
                <a:solidFill>
                  <a:srgbClr val="001B40"/>
                </a:solidFill>
                <a:latin typeface="Arial" pitchFamily="34" charset="0"/>
                <a:ea typeface="Arial" pitchFamily="34" charset="-122"/>
                <a:cs typeface="Arial" pitchFamily="34" charset="-120"/>
              </a:rPr>
              <a:t>ANSWERS</a:t>
            </a:r>
            <a:endParaRPr lang="en-US" sz="1200" dirty="0"/>
          </a:p>
        </p:txBody>
      </p:sp>
      <p:sp>
        <p:nvSpPr>
          <p:cNvPr id="5" name="Mark scheme card"/>
          <p:cNvSpPr/>
          <p:nvPr/>
        </p:nvSpPr>
        <p:spPr>
          <a:xfrm>
            <a:off x="457200" y="1097280"/>
            <a:ext cx="8229600" cy="3250692"/>
          </a:xfrm>
          <a:prstGeom prst="roundRect">
            <a:avLst>
              <a:gd name="adj" fmla="val 3376"/>
            </a:avLst>
          </a:prstGeom>
          <a:solidFill>
            <a:srgbClr val="FFFFFF"/>
          </a:solidFill>
          <a:ln w="15875">
            <a:solidFill>
              <a:srgbClr val="002D6A"/>
            </a:solidFill>
            <a:prstDash val="solid"/>
          </a:ln>
        </p:spPr>
      </p:sp>
      <p:sp>
        <p:nvSpPr>
          <p:cNvPr id="6" name="Text 4"/>
          <p:cNvSpPr txBox="1"/>
          <p:nvPr/>
        </p:nvSpPr>
        <p:spPr>
          <a:xfrm>
            <a:off x="640080" y="1188720"/>
            <a:ext cx="7863840" cy="3067812"/>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22262E"/>
                </a:solidFill>
                <a:latin typeface="Arial" pitchFamily="34" charset="0"/>
                <a:ea typeface="Arial" pitchFamily="34" charset="-122"/>
                <a:cs typeface="Arial" pitchFamily="34" charset="-120"/>
              </a:rPr>
              <a:t>Circuit switching is less secure if data is intercepted</a:t>
            </a:r>
            <a:endParaRPr lang="en-US" sz="1400" dirty="0"/>
          </a:p>
          <a:p>
            <a:pPr marL="342900" indent="-342900">
              <a:spcAft>
                <a:spcPts val="400"/>
              </a:spcAft>
              <a:buSzPct val="100000"/>
              <a:buChar char="•"/>
            </a:pPr>
            <a:r>
              <a:rPr lang="en-US" sz="1400" dirty="0">
                <a:solidFill>
                  <a:srgbClr val="22262E"/>
                </a:solidFill>
                <a:latin typeface="Arial" pitchFamily="34" charset="0"/>
                <a:ea typeface="Arial" pitchFamily="34" charset="-122"/>
                <a:cs typeface="Arial" pitchFamily="34" charset="-120"/>
              </a:rPr>
              <a:t>Packet switching, data is more secure if intercepted/not all packets will be intercepted</a:t>
            </a:r>
            <a:endParaRPr lang="en-US" sz="1400" dirty="0"/>
          </a:p>
          <a:p>
            <a:pPr marL="342900" indent="-342900">
              <a:spcAft>
                <a:spcPts val="400"/>
              </a:spcAft>
              <a:buSzPct val="100000"/>
              <a:buChar char="•"/>
            </a:pPr>
            <a:r>
              <a:rPr lang="en-US" sz="1400" dirty="0">
                <a:solidFill>
                  <a:srgbClr val="22262E"/>
                </a:solidFill>
                <a:latin typeface="Arial" pitchFamily="34" charset="0"/>
                <a:ea typeface="Arial" pitchFamily="34" charset="-122"/>
                <a:cs typeface="Arial" pitchFamily="34" charset="-120"/>
              </a:rPr>
              <a:t>Computer networks would involve multiple connections happening concurrently</a:t>
            </a:r>
            <a:endParaRPr lang="en-US" sz="1400" dirty="0"/>
          </a:p>
          <a:p>
            <a:pPr marL="342900" indent="-342900">
              <a:spcAft>
                <a:spcPts val="400"/>
              </a:spcAft>
              <a:buSzPct val="100000"/>
              <a:buChar char="•"/>
            </a:pPr>
            <a:r>
              <a:rPr lang="en-US" sz="1400" dirty="0">
                <a:solidFill>
                  <a:srgbClr val="22262E"/>
                </a:solidFill>
                <a:latin typeface="Arial" pitchFamily="34" charset="0"/>
                <a:ea typeface="Arial" pitchFamily="34" charset="-122"/>
                <a:cs typeface="Arial" pitchFamily="34" charset="-120"/>
              </a:rPr>
              <a:t>In packet switching hardware is not tied up with each unique connection / can handle multiple connections simultaneously</a:t>
            </a:r>
            <a:endParaRPr lang="en-US" sz="1400" dirty="0"/>
          </a:p>
          <a:p>
            <a:pPr marL="342900" indent="-342900">
              <a:spcAft>
                <a:spcPts val="400"/>
              </a:spcAft>
              <a:buSzPct val="100000"/>
              <a:buChar char="•"/>
            </a:pPr>
            <a:r>
              <a:rPr lang="en-US" sz="1400" dirty="0">
                <a:solidFill>
                  <a:srgbClr val="22262E"/>
                </a:solidFill>
                <a:latin typeface="Arial" pitchFamily="34" charset="0"/>
                <a:ea typeface="Arial" pitchFamily="34" charset="-122"/>
                <a:cs typeface="Arial" pitchFamily="34" charset="-120"/>
              </a:rPr>
              <a:t>Computers pass vast amounts of data which may encounter transmission errors</a:t>
            </a:r>
            <a:endParaRPr lang="en-US" sz="1400" dirty="0"/>
          </a:p>
          <a:p>
            <a:pPr marL="342900" indent="-342900">
              <a:spcAft>
                <a:spcPts val="400"/>
              </a:spcAft>
              <a:buSzPct val="100000"/>
              <a:buChar char="•"/>
            </a:pPr>
            <a:r>
              <a:rPr lang="en-US" sz="1400" dirty="0">
                <a:solidFill>
                  <a:srgbClr val="22262E"/>
                </a:solidFill>
                <a:latin typeface="Arial" pitchFamily="34" charset="0"/>
                <a:ea typeface="Arial" pitchFamily="34" charset="-122"/>
                <a:cs typeface="Arial" pitchFamily="34" charset="-120"/>
              </a:rPr>
              <a:t>Packet switching means only resending individual packets instead of the whole data stream</a:t>
            </a:r>
            <a:endParaRPr lang="en-US" sz="1400" dirty="0"/>
          </a:p>
          <a:p>
            <a:pPr marL="342900" indent="-342900">
              <a:spcAft>
                <a:spcPts val="400"/>
              </a:spcAft>
              <a:buSzPct val="100000"/>
              <a:buChar char="•"/>
            </a:pPr>
            <a:r>
              <a:rPr lang="en-US" sz="1400" dirty="0">
                <a:solidFill>
                  <a:srgbClr val="22262E"/>
                </a:solidFill>
                <a:latin typeface="Arial" pitchFamily="34" charset="0"/>
                <a:ea typeface="Arial" pitchFamily="34" charset="-122"/>
                <a:cs typeface="Arial" pitchFamily="34" charset="-120"/>
              </a:rPr>
              <a:t>Computers may be transmitting business critical data</a:t>
            </a:r>
            <a:endParaRPr lang="en-US" sz="1400" dirty="0"/>
          </a:p>
          <a:p>
            <a:pPr marL="342900" indent="-342900">
              <a:spcAft>
                <a:spcPts val="400"/>
              </a:spcAft>
              <a:buSzPct val="100000"/>
              <a:buChar char="•"/>
            </a:pPr>
            <a:r>
              <a:rPr lang="en-US" sz="1400" dirty="0">
                <a:solidFill>
                  <a:srgbClr val="22262E"/>
                </a:solidFill>
                <a:latin typeface="Arial" pitchFamily="34" charset="0"/>
                <a:ea typeface="Arial" pitchFamily="34" charset="-122"/>
                <a:cs typeface="Arial" pitchFamily="34" charset="-120"/>
              </a:rPr>
              <a:t>Packet switching means any network hardware failures can be mitigated by routing around it.</a:t>
            </a:r>
            <a:endParaRPr lang="en-US" sz="1400" dirty="0"/>
          </a:p>
        </p:txBody>
      </p:sp>
      <p:sp>
        <p:nvSpPr>
          <p:cNvPr id="7"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949440" cy="685800"/>
          </a:xfrm>
          <a:prstGeom prst="rect">
            <a:avLst/>
          </a:prstGeom>
          <a:noFill/>
          <a:ln/>
        </p:spPr>
        <p:txBody>
          <a:bodyPr wrap="square" lIns="0" tIns="0" rIns="0" bIns="0" rtlCol="0" anchor="ctr"/>
          <a:lstStyle/>
          <a:p>
            <a:pPr algn="l" indent="0" marL="0">
              <a:buNone/>
            </a:pPr>
            <a:r>
              <a:rPr lang="en-US" sz="2800" b="1" dirty="0">
                <a:solidFill>
                  <a:srgbClr val="001B40"/>
                </a:solidFill>
                <a:latin typeface="Arial" pitchFamily="34" charset="0"/>
                <a:ea typeface="Arial" pitchFamily="34" charset="-122"/>
                <a:cs typeface="Arial" pitchFamily="34" charset="-120"/>
              </a:rPr>
              <a:t>Packet or circuit (Craig'n'Dave 03-4 and 60)</a:t>
            </a:r>
            <a:endParaRPr lang="en-US" sz="2800" dirty="0"/>
          </a:p>
        </p:txBody>
      </p:sp>
      <p:sp>
        <p:nvSpPr>
          <p:cNvPr id="3" name="ANSWERS pill"/>
          <p:cNvSpPr/>
          <p:nvPr/>
        </p:nvSpPr>
        <p:spPr>
          <a:xfrm>
            <a:off x="7589520" y="411480"/>
            <a:ext cx="1097280" cy="365760"/>
          </a:xfrm>
          <a:prstGeom prst="roundRect">
            <a:avLst>
              <a:gd name="adj" fmla="val 50000"/>
            </a:avLst>
          </a:prstGeom>
          <a:solidFill>
            <a:srgbClr val="A9C4E8"/>
          </a:solidFill>
          <a:ln w="12700">
            <a:solidFill>
              <a:srgbClr val="A9C4E8"/>
            </a:solidFill>
            <a:prstDash val="solid"/>
          </a:ln>
        </p:spPr>
      </p:sp>
      <p:sp>
        <p:nvSpPr>
          <p:cNvPr id="4" name="Text 2"/>
          <p:cNvSpPr txBox="1"/>
          <p:nvPr/>
        </p:nvSpPr>
        <p:spPr>
          <a:xfrm>
            <a:off x="7589520" y="411480"/>
            <a:ext cx="1097280" cy="365760"/>
          </a:xfrm>
          <a:prstGeom prst="rect">
            <a:avLst/>
          </a:prstGeom>
          <a:noFill/>
          <a:ln/>
        </p:spPr>
        <p:txBody>
          <a:bodyPr wrap="square" lIns="0" tIns="0" rIns="0" bIns="0" rtlCol="0" anchor="ctr"/>
          <a:lstStyle/>
          <a:p>
            <a:pPr algn="ctr" indent="0" marL="0">
              <a:buNone/>
            </a:pPr>
            <a:r>
              <a:rPr lang="en-US" sz="1200" b="1" spc="200" kern="0" dirty="0">
                <a:solidFill>
                  <a:srgbClr val="001B40"/>
                </a:solidFill>
                <a:latin typeface="Arial" pitchFamily="34" charset="0"/>
                <a:ea typeface="Arial" pitchFamily="34" charset="-122"/>
                <a:cs typeface="Arial" pitchFamily="34" charset="-120"/>
              </a:rPr>
              <a:t>ANSWERS</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4114800"/>
                <a:gridCol w="4114800"/>
              </a:tblGrid>
              <a:tr h="0">
                <a:tc>
                  <a:txBody>
                    <a:bodyPr/>
                    <a:lstStyle/>
                    <a:p>
                      <a:pPr indent="0" marL="0">
                        <a:buNone/>
                      </a:pPr>
                      <a:r>
                        <a:rPr lang="en-US" sz="1600" b="1" dirty="0">
                          <a:solidFill>
                            <a:srgbClr val="FFFFFF"/>
                          </a:solidFill>
                          <a:latin typeface="Arial" pitchFamily="34" charset="0"/>
                          <a:ea typeface="Arial" pitchFamily="34" charset="-122"/>
                          <a:cs typeface="Arial" pitchFamily="34" charset="-120"/>
                        </a:rPr>
                        <a:t>Circuit switching</a:t>
                      </a:r>
                      <a:endParaRPr lang="en-US" sz="1600" dirty="0">
                        <a:latin typeface="Arial" charset="0"/>
                        <a:ea typeface="Arial" charset="0"/>
                        <a:cs typeface="Arial" charset="0"/>
                      </a:endParaRPr>
                    </a:p>
                  </a:txBody>
                  <a:tcPr marL="73152" marR="73152" marT="73152" marB="73152" anchor="ctr">
                    <a:lnL w="12700" cap="flat" cmpd="sng" algn="ctr">
                      <a:solidFill>
                        <a:srgbClr val="C5D1E3"/>
                      </a:solidFill>
                      <a:prstDash val="solid"/>
                      <a:round/>
                      <a:headEnd type="none" w="med" len="med"/>
                      <a:tailEnd type="none" w="med" len="med"/>
                    </a:lnL>
                    <a:lnR w="12700" cap="flat" cmpd="sng" algn="ctr">
                      <a:solidFill>
                        <a:srgbClr val="C5D1E3"/>
                      </a:solidFill>
                      <a:prstDash val="solid"/>
                      <a:round/>
                      <a:headEnd type="none" w="med" len="med"/>
                      <a:tailEnd type="none" w="med" len="med"/>
                    </a:lnR>
                    <a:lnT w="12700" cap="flat" cmpd="sng" algn="ctr">
                      <a:solidFill>
                        <a:srgbClr val="C5D1E3"/>
                      </a:solidFill>
                      <a:prstDash val="solid"/>
                      <a:round/>
                      <a:headEnd type="none" w="med" len="med"/>
                      <a:tailEnd type="none" w="med" len="med"/>
                    </a:lnT>
                    <a:lnB w="12700" cap="flat" cmpd="sng" algn="ctr">
                      <a:solidFill>
                        <a:srgbClr val="C5D1E3"/>
                      </a:solidFill>
                      <a:prstDash val="solid"/>
                      <a:round/>
                      <a:headEnd type="none" w="med" len="med"/>
                      <a:tailEnd type="none" w="med" len="med"/>
                    </a:lnB>
                    <a:solidFill>
                      <a:srgbClr val="002D6A"/>
                    </a:solidFill>
                  </a:tcPr>
                </a:tc>
                <a:tc>
                  <a:txBody>
                    <a:bodyPr/>
                    <a:lstStyle/>
                    <a:p>
                      <a:pPr indent="0" marL="0">
                        <a:buNone/>
                      </a:pPr>
                      <a:r>
                        <a:rPr lang="en-US" sz="1600" b="1" dirty="0">
                          <a:solidFill>
                            <a:srgbClr val="FFFFFF"/>
                          </a:solidFill>
                          <a:latin typeface="Arial" pitchFamily="34" charset="0"/>
                          <a:ea typeface="Arial" pitchFamily="34" charset="-122"/>
                          <a:cs typeface="Arial" pitchFamily="34" charset="-120"/>
                        </a:rPr>
                        <a:t>Packet switching</a:t>
                      </a:r>
                      <a:endParaRPr lang="en-US" sz="1600" dirty="0">
                        <a:latin typeface="Arial" charset="0"/>
                        <a:ea typeface="Arial" charset="0"/>
                        <a:cs typeface="Arial" charset="0"/>
                      </a:endParaRPr>
                    </a:p>
                  </a:txBody>
                  <a:tcPr marL="73152" marR="73152" marT="73152" marB="73152" anchor="ctr">
                    <a:lnL w="12700" cap="flat" cmpd="sng" algn="ctr">
                      <a:solidFill>
                        <a:srgbClr val="C5D1E3"/>
                      </a:solidFill>
                      <a:prstDash val="solid"/>
                      <a:round/>
                      <a:headEnd type="none" w="med" len="med"/>
                      <a:tailEnd type="none" w="med" len="med"/>
                    </a:lnL>
                    <a:lnR w="12700" cap="flat" cmpd="sng" algn="ctr">
                      <a:solidFill>
                        <a:srgbClr val="C5D1E3"/>
                      </a:solidFill>
                      <a:prstDash val="solid"/>
                      <a:round/>
                      <a:headEnd type="none" w="med" len="med"/>
                      <a:tailEnd type="none" w="med" len="med"/>
                    </a:lnR>
                    <a:lnT w="12700" cap="flat" cmpd="sng" algn="ctr">
                      <a:solidFill>
                        <a:srgbClr val="C5D1E3"/>
                      </a:solidFill>
                      <a:prstDash val="solid"/>
                      <a:round/>
                      <a:headEnd type="none" w="med" len="med"/>
                      <a:tailEnd type="none" w="med" len="med"/>
                    </a:lnT>
                    <a:lnB w="12700" cap="flat" cmpd="sng" algn="ctr">
                      <a:solidFill>
                        <a:srgbClr val="C5D1E3"/>
                      </a:solidFill>
                      <a:prstDash val="solid"/>
                      <a:round/>
                      <a:headEnd type="none" w="med" len="med"/>
                      <a:tailEnd type="none" w="med" len="med"/>
                    </a:lnB>
                    <a:solidFill>
                      <a:srgbClr val="002D6A"/>
                    </a:solidFill>
                  </a:tcPr>
                </a:tc>
              </a:tr>
              <a:tr h="0">
                <a:tc>
                  <a:txBody>
                    <a:bodyPr/>
                    <a:lstStyle/>
                    <a:p>
                      <a:pPr indent="0" marL="0">
                        <a:buNone/>
                      </a:pPr>
                      <a:r>
                        <a:rPr lang="en-US" sz="1600" dirty="0">
                          <a:solidFill>
                            <a:srgbClr val="22262E"/>
                          </a:solidFill>
                          <a:latin typeface="Arial" pitchFamily="34" charset="0"/>
                          <a:ea typeface="Arial" pitchFamily="34" charset="-122"/>
                          <a:cs typeface="Arial" pitchFamily="34" charset="-120"/>
                        </a:rPr>
                        <a:t>A route is established between two computers. Dedicated link of fixed bandwidth, guaranteed quality, good for real time video. All data follows the same path. A large part of the network is tied up for the transmission. A lot of bandwidth can be wasted. No store and forward</a:t>
                      </a:r>
                      <a:endParaRPr lang="en-US" sz="1600" dirty="0">
                        <a:latin typeface="Arial" charset="0"/>
                        <a:ea typeface="Arial" charset="0"/>
                        <a:cs typeface="Arial" charset="0"/>
                      </a:endParaRPr>
                    </a:p>
                  </a:txBody>
                  <a:tcPr marL="73152" marR="73152" marT="73152" marB="73152" anchor="ctr">
                    <a:lnL w="12700" cap="flat" cmpd="sng" algn="ctr">
                      <a:solidFill>
                        <a:srgbClr val="C5D1E3"/>
                      </a:solidFill>
                      <a:prstDash val="solid"/>
                      <a:round/>
                      <a:headEnd type="none" w="med" len="med"/>
                      <a:tailEnd type="none" w="med" len="med"/>
                    </a:lnL>
                    <a:lnR w="12700" cap="flat" cmpd="sng" algn="ctr">
                      <a:solidFill>
                        <a:srgbClr val="C5D1E3"/>
                      </a:solidFill>
                      <a:prstDash val="solid"/>
                      <a:round/>
                      <a:headEnd type="none" w="med" len="med"/>
                      <a:tailEnd type="none" w="med" len="med"/>
                    </a:lnR>
                    <a:lnT w="12700" cap="flat" cmpd="sng" algn="ctr">
                      <a:solidFill>
                        <a:srgbClr val="C5D1E3"/>
                      </a:solidFill>
                      <a:prstDash val="solid"/>
                      <a:round/>
                      <a:headEnd type="none" w="med" len="med"/>
                      <a:tailEnd type="none" w="med" len="med"/>
                    </a:lnT>
                    <a:lnB w="12700" cap="flat" cmpd="sng" algn="ctr">
                      <a:solidFill>
                        <a:srgbClr val="C5D1E3"/>
                      </a:solidFill>
                      <a:prstDash val="solid"/>
                      <a:round/>
                      <a:headEnd type="none" w="med" len="med"/>
                      <a:tailEnd type="none" w="med" len="med"/>
                    </a:lnB>
                    <a:solidFill>
                      <a:srgbClr val="FFFFFF"/>
                    </a:solidFill>
                  </a:tcPr>
                </a:tc>
                <a:tc>
                  <a:txBody>
                    <a:bodyPr/>
                    <a:lstStyle/>
                    <a:p>
                      <a:pPr indent="0" marL="0">
                        <a:buNone/>
                      </a:pPr>
                      <a:r>
                        <a:rPr lang="en-US" sz="1600" dirty="0">
                          <a:solidFill>
                            <a:srgbClr val="22262E"/>
                          </a:solidFill>
                          <a:latin typeface="Arial" pitchFamily="34" charset="0"/>
                          <a:ea typeface="Arial" pitchFamily="34" charset="-122"/>
                          <a:cs typeface="Arial" pitchFamily="34" charset="-120"/>
                        </a:rPr>
                        <a:t>Data is split into equal-sized packets that may take different routes to reach their destination. Packets need to be reordered at the destination. Maximises use of the network. No fixed physical path, no bandwidth reserved, very little wastage, store and forward</a:t>
                      </a:r>
                      <a:endParaRPr lang="en-US" sz="1600" dirty="0">
                        <a:latin typeface="Arial" charset="0"/>
                        <a:ea typeface="Arial" charset="0"/>
                        <a:cs typeface="Arial" charset="0"/>
                      </a:endParaRPr>
                    </a:p>
                  </a:txBody>
                  <a:tcPr marL="73152" marR="73152" marT="73152" marB="73152" anchor="ctr">
                    <a:lnL w="12700" cap="flat" cmpd="sng" algn="ctr">
                      <a:solidFill>
                        <a:srgbClr val="C5D1E3"/>
                      </a:solidFill>
                      <a:prstDash val="solid"/>
                      <a:round/>
                      <a:headEnd type="none" w="med" len="med"/>
                      <a:tailEnd type="none" w="med" len="med"/>
                    </a:lnL>
                    <a:lnR w="12700" cap="flat" cmpd="sng" algn="ctr">
                      <a:solidFill>
                        <a:srgbClr val="C5D1E3"/>
                      </a:solidFill>
                      <a:prstDash val="solid"/>
                      <a:round/>
                      <a:headEnd type="none" w="med" len="med"/>
                      <a:tailEnd type="none" w="med" len="med"/>
                    </a:lnR>
                    <a:lnT w="12700" cap="flat" cmpd="sng" algn="ctr">
                      <a:solidFill>
                        <a:srgbClr val="C5D1E3"/>
                      </a:solidFill>
                      <a:prstDash val="solid"/>
                      <a:round/>
                      <a:headEnd type="none" w="med" len="med"/>
                      <a:tailEnd type="none" w="med" len="med"/>
                    </a:lnT>
                    <a:lnB w="12700" cap="flat" cmpd="sng" algn="ctr">
                      <a:solidFill>
                        <a:srgbClr val="C5D1E3"/>
                      </a:solidFill>
                      <a:prstDash val="solid"/>
                      <a:round/>
                      <a:headEnd type="none" w="med" len="med"/>
                      <a:tailEnd type="none" w="med" len="med"/>
                    </a:lnB>
                    <a:solidFill>
                      <a:srgbClr val="FFFFFF"/>
                    </a:solidFill>
                  </a:tcPr>
                </a:tc>
              </a:tr>
            </a:tbl>
          </a:graphicData>
        </a:graphic>
      </p:graphicFrame>
      <p:sp>
        <p:nvSpPr>
          <p:cNvPr id="6"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b="0" lang="en-US"/>
              <a:t>25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Y12 Networks L5</dc:title>
  <dc:subject>PptxGenJS Presentation</dc:subject>
  <dc:creator/>
  <cp:lastModifiedBy/>
  <cp:revision>1</cp:revision>
  <dcterms:created xsi:type="dcterms:W3CDTF">2026-10-21T13:01:48Z</dcterms:created>
  <dcterms:modified xsi:type="dcterms:W3CDTF">2026-10-21T13:01:48Z</dcterms:modified>
</cp:coreProperties>
</file>