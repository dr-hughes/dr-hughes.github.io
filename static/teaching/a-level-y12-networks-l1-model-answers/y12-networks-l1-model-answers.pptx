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0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Y12 Networks L1  |  Dr. Hughes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SW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Y12 Networks L1  |  Dr. Hughes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Y12 Networks L1: Model answers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Y12 Networks L1: Networks: LAN, WAN and hardware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3832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answers. Compare them with your notes and add anything you missed in a different colour.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1A: what is a network?</a:t>
            </a:r>
            <a:endParaRPr lang="en-US" sz="2800" dirty="0"/>
          </a:p>
        </p:txBody>
      </p:sp>
      <p:sp>
        <p:nvSpPr>
          <p:cNvPr id="3" name="ANSWERS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sp>
        <p:nvSpPr>
          <p:cNvPr id="5" name="@1 Card"/>
          <p:cNvSpPr/>
          <p:nvPr/>
        </p:nvSpPr>
        <p:spPr>
          <a:xfrm>
            <a:off x="457200" y="118872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6" name="@1 addText"/>
          <p:cNvSpPr txBox="1"/>
          <p:nvPr/>
        </p:nvSpPr>
        <p:spPr>
          <a:xfrm>
            <a:off x="685800" y="11887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network: two or more computing devices connected, by cable or wireless, so they can transmit data</a:t>
            </a:r>
            <a:endParaRPr lang="en-US" sz="1600" dirty="0"/>
          </a:p>
        </p:txBody>
      </p:sp>
      <p:sp>
        <p:nvSpPr>
          <p:cNvPr id="7" name="@2 Card"/>
          <p:cNvSpPr/>
          <p:nvPr/>
        </p:nvSpPr>
        <p:spPr>
          <a:xfrm>
            <a:off x="457200" y="2039112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8" name="@2 addText"/>
          <p:cNvSpPr txBox="1"/>
          <p:nvPr/>
        </p:nvSpPr>
        <p:spPr>
          <a:xfrm>
            <a:off x="685800" y="2039112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 (OCR mark schemes): share hardware, files and the internet connection; communicate between machines; any machine can be used; central security, backup and updates; easier to maintain</a:t>
            </a:r>
            <a:endParaRPr lang="en-US" sz="1600" dirty="0"/>
          </a:p>
        </p:txBody>
      </p:sp>
      <p:sp>
        <p:nvSpPr>
          <p:cNvPr id="9" name="@3 Card"/>
          <p:cNvSpPr/>
          <p:nvPr/>
        </p:nvSpPr>
        <p:spPr>
          <a:xfrm>
            <a:off x="457200" y="2889504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0" name="@3 addText"/>
          <p:cNvSpPr txBox="1"/>
          <p:nvPr/>
        </p:nvSpPr>
        <p:spPr>
          <a:xfrm>
            <a:off x="685800" y="2889504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Disadvantages: malware and viruses spread more easily; if a server fails, connected computers may stop working; heavy traffic can slow computers; data is more widely available so security is more of a risk</a:t>
            </a:r>
            <a:endParaRPr lang="en-US" sz="1600" dirty="0"/>
          </a:p>
        </p:txBody>
      </p:sp>
      <p:sp>
        <p:nvSpPr>
          <p:cNvPr id="11" name="@4 Card"/>
          <p:cNvSpPr/>
          <p:nvPr/>
        </p:nvSpPr>
        <p:spPr>
          <a:xfrm>
            <a:off x="457200" y="3739896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2" name="@4 addText"/>
          <p:cNvSpPr txBox="1"/>
          <p:nvPr/>
        </p:nvSpPr>
        <p:spPr>
          <a:xfrm>
            <a:off x="685800" y="3739896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small, a home network or a classroom; large, a school, a company or the internet</a:t>
            </a:r>
            <a:endParaRPr lang="en-US" sz="16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1B: LAN vs WAN</a:t>
            </a:r>
            <a:endParaRPr lang="en-US" sz="2800" dirty="0"/>
          </a:p>
        </p:txBody>
      </p:sp>
      <p:sp>
        <p:nvSpPr>
          <p:cNvPr id="3" name="ANSWERS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Geographic scope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 area: a home, office or building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 area: cities, countries, continents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speed, e.g. 100 Mbps to 10 Gbps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Slower, varies with the technology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Ownership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person or organisation owns and maintains 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Several telecoms providers and public infrastructure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Home Wi-Fi, school computer labs, office networks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Internet, leased lines, public Wi-Fi hotspots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 the internet a LAN or WAN?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Yes: the biggest WAN, a network of networks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2A: hardware (1/2)</a:t>
            </a:r>
            <a:endParaRPr lang="en-US" sz="2800" dirty="0"/>
          </a:p>
        </p:txBody>
      </p:sp>
      <p:sp>
        <p:nvSpPr>
          <p:cNvPr id="3" name="ANSWERS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Device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does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 or WAN?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Turns digital data into analogue signals for phone or cable lines, and back, to reach the ISP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Routes data between networks, such as a LAN and the internet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Both: the edge of the LAN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Switch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Connects LAN devices and sends data only to the device it is for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2A: hardware (2/2)</a:t>
            </a:r>
            <a:endParaRPr lang="en-US" sz="2800" dirty="0"/>
          </a:p>
        </p:txBody>
      </p:sp>
      <p:sp>
        <p:nvSpPr>
          <p:cNvPr id="3" name="ANSWERS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Device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does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 or WAN?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Hub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Connects devices in a LAN but copies all data to every device, so traffic floods the network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WAP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Creates a wireless LAN by connecting to a wired router or switch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NIC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Lets a computer connect to a network, wired or wireless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2A: cables</a:t>
            </a:r>
            <a:endParaRPr lang="en-US" sz="2800" dirty="0"/>
          </a:p>
        </p:txBody>
      </p:sp>
      <p:sp>
        <p:nvSpPr>
          <p:cNvPr id="3" name="ANSWERS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Cable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Bandwidth, cost and noise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use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6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Twisted pair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bandwidth, cheapest, most affected by noise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Telephone and data networks, office LANs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Coaxial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 bandwidth, costs more than twisted pair but less than fibre, less affected by noise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Aerial and cable TV feeds, linking radio equipment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Fibre optic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Highest bandwidth, most expensive, light so not affected by electrical noise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6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 distance links between cities and countries, data centres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1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2B: the drawing</a:t>
            </a:r>
            <a:endParaRPr lang="en-US" sz="2800" dirty="0"/>
          </a:p>
        </p:txBody>
      </p:sp>
      <p:sp>
        <p:nvSpPr>
          <p:cNvPr id="3" name="ANSWERS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sp>
        <p:nvSpPr>
          <p:cNvPr id="5" name="@1 Card"/>
          <p:cNvSpPr/>
          <p:nvPr/>
        </p:nvSpPr>
        <p:spPr>
          <a:xfrm>
            <a:off x="457200" y="1188720"/>
            <a:ext cx="8229600" cy="618134"/>
          </a:xfrm>
          <a:prstGeom prst="roundRect">
            <a:avLst>
              <a:gd name="adj" fmla="val 17751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6" name="@1 addText"/>
          <p:cNvSpPr txBox="1"/>
          <p:nvPr/>
        </p:nvSpPr>
        <p:spPr>
          <a:xfrm>
            <a:off x="685800" y="1188720"/>
            <a:ext cx="777240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office LAN: computers, printer and server cabled to a switch (not a hub), a WAP for Wi-Fi, and a router with a modem at the edge</a:t>
            </a:r>
            <a:endParaRPr lang="en-US" sz="1400" dirty="0"/>
          </a:p>
        </p:txBody>
      </p:sp>
      <p:sp>
        <p:nvSpPr>
          <p:cNvPr id="7" name="@2 Card"/>
          <p:cNvSpPr/>
          <p:nvPr/>
        </p:nvSpPr>
        <p:spPr>
          <a:xfrm>
            <a:off x="457200" y="1880006"/>
            <a:ext cx="8229600" cy="618134"/>
          </a:xfrm>
          <a:prstGeom prst="roundRect">
            <a:avLst>
              <a:gd name="adj" fmla="val 17751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8" name="@2 addText"/>
          <p:cNvSpPr txBox="1"/>
          <p:nvPr/>
        </p:nvSpPr>
        <p:spPr>
          <a:xfrm>
            <a:off x="685800" y="1880006"/>
            <a:ext cx="777240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office LAN: 5 computers on a switch with its own router and modem</a:t>
            </a:r>
            <a:endParaRPr lang="en-US" sz="1400" dirty="0"/>
          </a:p>
        </p:txBody>
      </p:sp>
      <p:sp>
        <p:nvSpPr>
          <p:cNvPr id="9" name="@3 Card"/>
          <p:cNvSpPr/>
          <p:nvPr/>
        </p:nvSpPr>
        <p:spPr>
          <a:xfrm>
            <a:off x="457200" y="2571293"/>
            <a:ext cx="8229600" cy="618134"/>
          </a:xfrm>
          <a:prstGeom prst="roundRect">
            <a:avLst>
              <a:gd name="adj" fmla="val 17751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0" name="@3 addText"/>
          <p:cNvSpPr txBox="1"/>
          <p:nvPr/>
        </p:nvSpPr>
        <p:spPr>
          <a:xfrm>
            <a:off x="685800" y="2571293"/>
            <a:ext cx="777240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sites joined across the internet: this part is the WAN, owned by telecoms companies, and each LAN is owned by the company</a:t>
            </a:r>
            <a:endParaRPr lang="en-US" sz="1400" dirty="0"/>
          </a:p>
        </p:txBody>
      </p:sp>
      <p:sp>
        <p:nvSpPr>
          <p:cNvPr id="11" name="@4 Card"/>
          <p:cNvSpPr/>
          <p:nvPr/>
        </p:nvSpPr>
        <p:spPr>
          <a:xfrm>
            <a:off x="457200" y="3262579"/>
            <a:ext cx="8229600" cy="618134"/>
          </a:xfrm>
          <a:prstGeom prst="roundRect">
            <a:avLst>
              <a:gd name="adj" fmla="val 17751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2" name="@4 addText"/>
          <p:cNvSpPr txBox="1"/>
          <p:nvPr/>
        </p:nvSpPr>
        <p:spPr>
          <a:xfrm>
            <a:off x="685800" y="3262579"/>
            <a:ext cx="777240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Cables labelled: twisted pair inside the buildings, fibre optic for a long run or a link between switches, with a reason</a:t>
            </a:r>
            <a:endParaRPr lang="en-US" sz="1400" dirty="0"/>
          </a:p>
        </p:txBody>
      </p:sp>
      <p:sp>
        <p:nvSpPr>
          <p:cNvPr id="13" name="@5 Card"/>
          <p:cNvSpPr/>
          <p:nvPr/>
        </p:nvSpPr>
        <p:spPr>
          <a:xfrm>
            <a:off x="457200" y="3953866"/>
            <a:ext cx="8229600" cy="618134"/>
          </a:xfrm>
          <a:prstGeom prst="roundRect">
            <a:avLst>
              <a:gd name="adj" fmla="val 17751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4" name="@5 addText"/>
          <p:cNvSpPr txBox="1"/>
          <p:nvPr/>
        </p:nvSpPr>
        <p:spPr>
          <a:xfrm>
            <a:off x="685800" y="3953866"/>
            <a:ext cx="777240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Justify: a switch sends data only to the right device so there is less traffic and it is faster, a hub floods every device</a:t>
            </a:r>
            <a:endParaRPr lang="en-US" sz="14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a LAN and WAN diagram</a:t>
            </a:r>
            <a:endParaRPr lang="en-US" sz="3000" dirty="0"/>
          </a:p>
        </p:txBody>
      </p:sp>
      <p:sp>
        <p:nvSpPr>
          <p:cNvPr id="3" name="@1 LAN: head office outline"/>
          <p:cNvSpPr/>
          <p:nvPr/>
        </p:nvSpPr>
        <p:spPr>
          <a:xfrm>
            <a:off x="457200" y="1188720"/>
            <a:ext cx="2743200" cy="2834640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 w="15875">
            <a:solidFill>
              <a:srgbClr val="5D79A0"/>
            </a:solidFill>
            <a:prstDash val="solid"/>
          </a:ln>
        </p:spPr>
      </p:sp>
      <p:sp>
        <p:nvSpPr>
          <p:cNvPr id="4" name="@1 addText"/>
          <p:cNvSpPr txBox="1"/>
          <p:nvPr/>
        </p:nvSpPr>
        <p:spPr>
          <a:xfrm>
            <a:off x="594360" y="122529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LAN: head office</a:t>
            </a:r>
            <a:endParaRPr lang="en-US" sz="1500" dirty="0"/>
          </a:p>
        </p:txBody>
      </p:sp>
      <p:sp>
        <p:nvSpPr>
          <p:cNvPr id="5" name="@1 Router"/>
          <p:cNvSpPr/>
          <p:nvPr/>
        </p:nvSpPr>
        <p:spPr>
          <a:xfrm>
            <a:off x="1325880" y="1645920"/>
            <a:ext cx="1005840" cy="365760"/>
          </a:xfrm>
          <a:prstGeom prst="roundRect">
            <a:avLst>
              <a:gd name="adj" fmla="val 30000"/>
            </a:avLst>
          </a:prstGeom>
          <a:solidFill>
            <a:srgbClr val="A9C4E8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6" name="@1 addText"/>
          <p:cNvSpPr txBox="1"/>
          <p:nvPr/>
        </p:nvSpPr>
        <p:spPr>
          <a:xfrm>
            <a:off x="1325880" y="16459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endParaRPr lang="en-US" sz="1100" dirty="0"/>
          </a:p>
        </p:txBody>
      </p:sp>
      <p:sp>
        <p:nvSpPr>
          <p:cNvPr id="7" name="@1 PC"/>
          <p:cNvSpPr/>
          <p:nvPr/>
        </p:nvSpPr>
        <p:spPr>
          <a:xfrm>
            <a:off x="640080" y="2743200"/>
            <a:ext cx="73152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8" name="@1 addText"/>
          <p:cNvSpPr txBox="1"/>
          <p:nvPr/>
        </p:nvSpPr>
        <p:spPr>
          <a:xfrm>
            <a:off x="640080" y="2743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1100" dirty="0"/>
          </a:p>
        </p:txBody>
      </p:sp>
      <p:sp>
        <p:nvSpPr>
          <p:cNvPr id="9" name="@1 line"/>
          <p:cNvSpPr/>
          <p:nvPr/>
        </p:nvSpPr>
        <p:spPr>
          <a:xfrm flipV="1">
            <a:off x="1005840" y="2011680"/>
            <a:ext cx="822960" cy="731520"/>
          </a:xfrm>
          <a:prstGeom prst="line">
            <a:avLst/>
          </a:prstGeom>
          <a:noFill/>
          <a:ln w="28575">
            <a:solidFill>
              <a:srgbClr val="5D79A0"/>
            </a:solidFill>
            <a:prstDash val="solid"/>
          </a:ln>
        </p:spPr>
      </p:sp>
      <p:sp>
        <p:nvSpPr>
          <p:cNvPr id="10" name="@1 PC"/>
          <p:cNvSpPr/>
          <p:nvPr/>
        </p:nvSpPr>
        <p:spPr>
          <a:xfrm>
            <a:off x="1508760" y="2743200"/>
            <a:ext cx="73152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1" name="@1 addText"/>
          <p:cNvSpPr txBox="1"/>
          <p:nvPr/>
        </p:nvSpPr>
        <p:spPr>
          <a:xfrm>
            <a:off x="1508760" y="2743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1100" dirty="0"/>
          </a:p>
        </p:txBody>
      </p:sp>
      <p:sp>
        <p:nvSpPr>
          <p:cNvPr id="12" name="@1 line"/>
          <p:cNvSpPr/>
          <p:nvPr/>
        </p:nvSpPr>
        <p:spPr>
          <a:xfrm>
            <a:off x="1828800" y="2011680"/>
            <a:ext cx="45720" cy="731520"/>
          </a:xfrm>
          <a:prstGeom prst="line">
            <a:avLst/>
          </a:prstGeom>
          <a:noFill/>
          <a:ln w="28575">
            <a:solidFill>
              <a:srgbClr val="5D79A0"/>
            </a:solidFill>
            <a:prstDash val="solid"/>
          </a:ln>
        </p:spPr>
      </p:sp>
      <p:sp>
        <p:nvSpPr>
          <p:cNvPr id="13" name="@1 Printer"/>
          <p:cNvSpPr/>
          <p:nvPr/>
        </p:nvSpPr>
        <p:spPr>
          <a:xfrm>
            <a:off x="2377440" y="2743200"/>
            <a:ext cx="73152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14" name="@1 addText"/>
          <p:cNvSpPr txBox="1"/>
          <p:nvPr/>
        </p:nvSpPr>
        <p:spPr>
          <a:xfrm>
            <a:off x="2377440" y="2743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Printer</a:t>
            </a:r>
            <a:endParaRPr lang="en-US" sz="1100" dirty="0"/>
          </a:p>
        </p:txBody>
      </p:sp>
      <p:sp>
        <p:nvSpPr>
          <p:cNvPr id="15" name="@1 line"/>
          <p:cNvSpPr/>
          <p:nvPr/>
        </p:nvSpPr>
        <p:spPr>
          <a:xfrm>
            <a:off x="1828800" y="2011680"/>
            <a:ext cx="914400" cy="731520"/>
          </a:xfrm>
          <a:prstGeom prst="line">
            <a:avLst/>
          </a:prstGeom>
          <a:noFill/>
          <a:ln w="28575">
            <a:solidFill>
              <a:srgbClr val="5D79A0"/>
            </a:solidFill>
            <a:prstDash val="solid"/>
          </a:ln>
        </p:spPr>
      </p:sp>
      <p:sp>
        <p:nvSpPr>
          <p:cNvPr id="16" name="@1 addText"/>
          <p:cNvSpPr txBox="1"/>
          <p:nvPr/>
        </p:nvSpPr>
        <p:spPr>
          <a:xfrm>
            <a:off x="594360" y="32918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area, one site. Owned and managed by the company.</a:t>
            </a:r>
            <a:endParaRPr lang="en-US" sz="1200" dirty="0"/>
          </a:p>
        </p:txBody>
      </p:sp>
      <p:sp>
        <p:nvSpPr>
          <p:cNvPr id="17" name="@2 LAN: branch office outline"/>
          <p:cNvSpPr/>
          <p:nvPr/>
        </p:nvSpPr>
        <p:spPr>
          <a:xfrm>
            <a:off x="5943600" y="1188720"/>
            <a:ext cx="2743200" cy="2834640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 w="15875">
            <a:solidFill>
              <a:srgbClr val="5D79A0"/>
            </a:solidFill>
            <a:prstDash val="solid"/>
          </a:ln>
        </p:spPr>
      </p:sp>
      <p:sp>
        <p:nvSpPr>
          <p:cNvPr id="18" name="@2 addText"/>
          <p:cNvSpPr txBox="1"/>
          <p:nvPr/>
        </p:nvSpPr>
        <p:spPr>
          <a:xfrm>
            <a:off x="6080760" y="122529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LAN: branch office</a:t>
            </a:r>
            <a:endParaRPr lang="en-US" sz="1500" dirty="0"/>
          </a:p>
        </p:txBody>
      </p:sp>
      <p:sp>
        <p:nvSpPr>
          <p:cNvPr id="19" name="@2 Router"/>
          <p:cNvSpPr/>
          <p:nvPr/>
        </p:nvSpPr>
        <p:spPr>
          <a:xfrm>
            <a:off x="6812280" y="1645920"/>
            <a:ext cx="1005840" cy="365760"/>
          </a:xfrm>
          <a:prstGeom prst="roundRect">
            <a:avLst>
              <a:gd name="adj" fmla="val 30000"/>
            </a:avLst>
          </a:prstGeom>
          <a:solidFill>
            <a:srgbClr val="A9C4E8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20" name="@2 addText"/>
          <p:cNvSpPr txBox="1"/>
          <p:nvPr/>
        </p:nvSpPr>
        <p:spPr>
          <a:xfrm>
            <a:off x="6812280" y="16459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endParaRPr lang="en-US" sz="1100" dirty="0"/>
          </a:p>
        </p:txBody>
      </p:sp>
      <p:sp>
        <p:nvSpPr>
          <p:cNvPr id="21" name="@2 PC"/>
          <p:cNvSpPr/>
          <p:nvPr/>
        </p:nvSpPr>
        <p:spPr>
          <a:xfrm>
            <a:off x="6126480" y="2743200"/>
            <a:ext cx="73152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22" name="@2 addText"/>
          <p:cNvSpPr txBox="1"/>
          <p:nvPr/>
        </p:nvSpPr>
        <p:spPr>
          <a:xfrm>
            <a:off x="6126480" y="2743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1100" dirty="0"/>
          </a:p>
        </p:txBody>
      </p:sp>
      <p:sp>
        <p:nvSpPr>
          <p:cNvPr id="23" name="@2 line"/>
          <p:cNvSpPr/>
          <p:nvPr/>
        </p:nvSpPr>
        <p:spPr>
          <a:xfrm flipV="1">
            <a:off x="6492240" y="2011680"/>
            <a:ext cx="822960" cy="731520"/>
          </a:xfrm>
          <a:prstGeom prst="line">
            <a:avLst/>
          </a:prstGeom>
          <a:noFill/>
          <a:ln w="28575">
            <a:solidFill>
              <a:srgbClr val="5D79A0"/>
            </a:solidFill>
            <a:prstDash val="solid"/>
          </a:ln>
        </p:spPr>
      </p:sp>
      <p:sp>
        <p:nvSpPr>
          <p:cNvPr id="24" name="@2 PC"/>
          <p:cNvSpPr/>
          <p:nvPr/>
        </p:nvSpPr>
        <p:spPr>
          <a:xfrm>
            <a:off x="6995160" y="2743200"/>
            <a:ext cx="73152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25" name="@2 addText"/>
          <p:cNvSpPr txBox="1"/>
          <p:nvPr/>
        </p:nvSpPr>
        <p:spPr>
          <a:xfrm>
            <a:off x="6995160" y="2743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1100" dirty="0"/>
          </a:p>
        </p:txBody>
      </p:sp>
      <p:sp>
        <p:nvSpPr>
          <p:cNvPr id="26" name="@2 line"/>
          <p:cNvSpPr/>
          <p:nvPr/>
        </p:nvSpPr>
        <p:spPr>
          <a:xfrm>
            <a:off x="7315200" y="2011680"/>
            <a:ext cx="45720" cy="731520"/>
          </a:xfrm>
          <a:prstGeom prst="line">
            <a:avLst/>
          </a:prstGeom>
          <a:noFill/>
          <a:ln w="28575">
            <a:solidFill>
              <a:srgbClr val="5D79A0"/>
            </a:solidFill>
            <a:prstDash val="solid"/>
          </a:ln>
        </p:spPr>
      </p:sp>
      <p:sp>
        <p:nvSpPr>
          <p:cNvPr id="27" name="@2 Printer"/>
          <p:cNvSpPr/>
          <p:nvPr/>
        </p:nvSpPr>
        <p:spPr>
          <a:xfrm>
            <a:off x="7863840" y="2743200"/>
            <a:ext cx="73152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002D6A"/>
            </a:solidFill>
            <a:prstDash val="solid"/>
          </a:ln>
        </p:spPr>
      </p:sp>
      <p:sp>
        <p:nvSpPr>
          <p:cNvPr id="28" name="@2 addText"/>
          <p:cNvSpPr txBox="1"/>
          <p:nvPr/>
        </p:nvSpPr>
        <p:spPr>
          <a:xfrm>
            <a:off x="7863840" y="2743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Printer</a:t>
            </a:r>
            <a:endParaRPr lang="en-US" sz="1100" dirty="0"/>
          </a:p>
        </p:txBody>
      </p:sp>
      <p:sp>
        <p:nvSpPr>
          <p:cNvPr id="29" name="@2 line"/>
          <p:cNvSpPr/>
          <p:nvPr/>
        </p:nvSpPr>
        <p:spPr>
          <a:xfrm>
            <a:off x="7315200" y="2011680"/>
            <a:ext cx="914400" cy="731520"/>
          </a:xfrm>
          <a:prstGeom prst="line">
            <a:avLst/>
          </a:prstGeom>
          <a:noFill/>
          <a:ln w="28575">
            <a:solidFill>
              <a:srgbClr val="5D79A0"/>
            </a:solidFill>
            <a:prstDash val="solid"/>
          </a:ln>
        </p:spPr>
      </p:sp>
      <p:sp>
        <p:nvSpPr>
          <p:cNvPr id="30" name="@2 addText"/>
          <p:cNvSpPr txBox="1"/>
          <p:nvPr/>
        </p:nvSpPr>
        <p:spPr>
          <a:xfrm>
            <a:off x="6080760" y="32918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area, another site. Owned and managed by the company.</a:t>
            </a:r>
            <a:endParaRPr lang="en-US" sz="1200" dirty="0"/>
          </a:p>
        </p:txBody>
      </p:sp>
      <p:sp>
        <p:nvSpPr>
          <p:cNvPr id="31" name="@3 link to branch"/>
          <p:cNvSpPr/>
          <p:nvPr/>
        </p:nvSpPr>
        <p:spPr>
          <a:xfrm>
            <a:off x="3246120" y="1828800"/>
            <a:ext cx="2651760" cy="0"/>
          </a:xfrm>
          <a:prstGeom prst="line">
            <a:avLst/>
          </a:prstGeom>
          <a:noFill/>
          <a:ln w="38100">
            <a:solidFill>
              <a:srgbClr val="5D79A0"/>
            </a:solidFill>
            <a:prstDash val="solid"/>
            <a:tailEnd type="triangle"/>
          </a:ln>
        </p:spPr>
      </p:sp>
      <p:sp>
        <p:nvSpPr>
          <p:cNvPr id="32" name="@3 link to head office"/>
          <p:cNvSpPr/>
          <p:nvPr/>
        </p:nvSpPr>
        <p:spPr>
          <a:xfrm flipH="1">
            <a:off x="3246120" y="2286000"/>
            <a:ext cx="2651760" cy="0"/>
          </a:xfrm>
          <a:prstGeom prst="line">
            <a:avLst/>
          </a:prstGeom>
          <a:noFill/>
          <a:ln w="38100">
            <a:solidFill>
              <a:srgbClr val="5D79A0"/>
            </a:solidFill>
            <a:prstDash val="solid"/>
            <a:tailEnd type="triangle"/>
          </a:ln>
        </p:spPr>
      </p:sp>
      <p:sp>
        <p:nvSpPr>
          <p:cNvPr id="33" name="@3 WAN note"/>
          <p:cNvSpPr/>
          <p:nvPr/>
        </p:nvSpPr>
        <p:spPr>
          <a:xfrm>
            <a:off x="3429000" y="2743200"/>
            <a:ext cx="22860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34" name="@3 addText"/>
          <p:cNvSpPr txBox="1"/>
          <p:nvPr/>
        </p:nvSpPr>
        <p:spPr>
          <a:xfrm>
            <a:off x="3520440" y="27432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WAN: large area, links the LANs over leased lines and the internet, owned by telecoms companies</a:t>
            </a:r>
            <a:endParaRPr lang="en-US" sz="11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2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3: debate points</a:t>
            </a:r>
            <a:endParaRPr lang="en-US" sz="2800" dirty="0"/>
          </a:p>
        </p:txBody>
      </p:sp>
      <p:sp>
        <p:nvSpPr>
          <p:cNvPr id="3" name="ANSWERS pill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1200" dirty="0"/>
          </a:p>
        </p:txBody>
      </p:sp>
      <p:sp>
        <p:nvSpPr>
          <p:cNvPr id="5" name="@1 Card"/>
          <p:cNvSpPr/>
          <p:nvPr/>
        </p:nvSpPr>
        <p:spPr>
          <a:xfrm>
            <a:off x="457200" y="1188720"/>
            <a:ext cx="8229600" cy="618134"/>
          </a:xfrm>
          <a:prstGeom prst="roundRect">
            <a:avLst>
              <a:gd name="adj" fmla="val 17751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6" name="@1 addText"/>
          <p:cNvSpPr txBox="1"/>
          <p:nvPr/>
        </p:nvSpPr>
        <p:spPr>
          <a:xfrm>
            <a:off x="685800" y="1188720"/>
            <a:ext cx="777240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Cables: faster, steadier and not weakened by walls or distance, and fibre optic resists noise best. But every computer needs a cable run and a switch port, so adding or moving one is harder</a:t>
            </a:r>
            <a:endParaRPr lang="en-US" sz="1400" dirty="0"/>
          </a:p>
        </p:txBody>
      </p:sp>
      <p:sp>
        <p:nvSpPr>
          <p:cNvPr id="7" name="@2 Card"/>
          <p:cNvSpPr/>
          <p:nvPr/>
        </p:nvSpPr>
        <p:spPr>
          <a:xfrm>
            <a:off x="457200" y="1880006"/>
            <a:ext cx="8229600" cy="618134"/>
          </a:xfrm>
          <a:prstGeom prst="roundRect">
            <a:avLst>
              <a:gd name="adj" fmla="val 17751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8" name="@2 addText"/>
          <p:cNvSpPr txBox="1"/>
          <p:nvPr/>
        </p:nvSpPr>
        <p:spPr>
          <a:xfrm>
            <a:off x="685800" y="1880006"/>
            <a:ext cx="777240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Wi-Fi: no cable runs, laptops can move, a new computer joins quickly and a WAP is cheap. But the signal weakens through walls and distance, and a WAP's speed is shared</a:t>
            </a:r>
            <a:endParaRPr lang="en-US" sz="1400" dirty="0"/>
          </a:p>
        </p:txBody>
      </p:sp>
      <p:sp>
        <p:nvSpPr>
          <p:cNvPr id="9" name="@3 Card"/>
          <p:cNvSpPr/>
          <p:nvPr/>
        </p:nvSpPr>
        <p:spPr>
          <a:xfrm>
            <a:off x="457200" y="2571293"/>
            <a:ext cx="8229600" cy="618134"/>
          </a:xfrm>
          <a:prstGeom prst="roundRect">
            <a:avLst>
              <a:gd name="adj" fmla="val 17751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0" name="@3 addText"/>
          <p:cNvSpPr txBox="1"/>
          <p:nvPr/>
        </p:nvSpPr>
        <p:spPr>
          <a:xfrm>
            <a:off x="685800" y="2571293"/>
            <a:ext cx="777240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Hardware: cables need a switch, a NIC and a cable type. Wi-Fi needs WAPs and wireless NICs, and each WAP is still cabled to the switch</a:t>
            </a:r>
            <a:endParaRPr lang="en-US" sz="1400" dirty="0"/>
          </a:p>
        </p:txBody>
      </p:sp>
      <p:sp>
        <p:nvSpPr>
          <p:cNvPr id="11" name="@4 Card"/>
          <p:cNvSpPr/>
          <p:nvPr/>
        </p:nvSpPr>
        <p:spPr>
          <a:xfrm>
            <a:off x="457200" y="3262579"/>
            <a:ext cx="8229600" cy="618134"/>
          </a:xfrm>
          <a:prstGeom prst="roundRect">
            <a:avLst>
              <a:gd name="adj" fmla="val 17751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2" name="@4 addText"/>
          <p:cNvSpPr txBox="1"/>
          <p:nvPr/>
        </p:nvSpPr>
        <p:spPr>
          <a:xfrm>
            <a:off x="685800" y="3262579"/>
            <a:ext cx="777240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answer: use both. Cable the server, printer and desktops, and use Wi-Fi for laptops and visitors</a:t>
            </a:r>
            <a:endParaRPr lang="en-US" sz="1400" dirty="0"/>
          </a:p>
        </p:txBody>
      </p:sp>
      <p:sp>
        <p:nvSpPr>
          <p:cNvPr id="13" name="@5 Card"/>
          <p:cNvSpPr/>
          <p:nvPr/>
        </p:nvSpPr>
        <p:spPr>
          <a:xfrm>
            <a:off x="457200" y="3953866"/>
            <a:ext cx="8229600" cy="618134"/>
          </a:xfrm>
          <a:prstGeom prst="roundRect">
            <a:avLst>
              <a:gd name="adj" fmla="val 17751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</p:sp>
      <p:sp>
        <p:nvSpPr>
          <p:cNvPr id="14" name="@5 addText"/>
          <p:cNvSpPr txBox="1"/>
          <p:nvPr/>
        </p:nvSpPr>
        <p:spPr>
          <a:xfrm>
            <a:off x="685800" y="3953866"/>
            <a:ext cx="777240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question: link the head office to the branch. The link between the sites is the WAN, run over third party lines owned by telecoms companies</a:t>
            </a:r>
            <a:endParaRPr lang="en-US" sz="140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cables or Wi-Fi in the head office</a:t>
            </a:r>
            <a:endParaRPr lang="en-US" sz="3000" dirty="0"/>
          </a:p>
        </p:txBody>
      </p:sp>
      <p:sp>
        <p:nvSpPr>
          <p:cNvPr id="3" name="CABLES panel"/>
          <p:cNvSpPr/>
          <p:nvPr/>
        </p:nvSpPr>
        <p:spPr>
          <a:xfrm>
            <a:off x="365760" y="1097280"/>
            <a:ext cx="4023360" cy="3520440"/>
          </a:xfrm>
          <a:prstGeom prst="roundRect">
            <a:avLst>
              <a:gd name="adj" fmla="val 3117"/>
            </a:avLst>
          </a:prstGeom>
          <a:solidFill>
            <a:srgbClr val="EEF2F7"/>
          </a:solidFill>
          <a:ln w="15875">
            <a:solidFill>
              <a:srgbClr val="5D79A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13385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CABLES</a:t>
            </a:r>
            <a:endParaRPr lang="en-US" sz="1500" dirty="0"/>
          </a:p>
        </p:txBody>
      </p:sp>
      <p:sp>
        <p:nvSpPr>
          <p:cNvPr id="5" name="box Server"/>
          <p:cNvSpPr/>
          <p:nvPr/>
        </p:nvSpPr>
        <p:spPr>
          <a:xfrm>
            <a:off x="548640" y="1554480"/>
            <a:ext cx="73152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900" dirty="0"/>
          </a:p>
        </p:txBody>
      </p:sp>
      <p:sp>
        <p:nvSpPr>
          <p:cNvPr id="7" name="box Router"/>
          <p:cNvSpPr/>
          <p:nvPr/>
        </p:nvSpPr>
        <p:spPr>
          <a:xfrm>
            <a:off x="1920240" y="1554480"/>
            <a:ext cx="914400" cy="365760"/>
          </a:xfrm>
          <a:prstGeom prst="roundRect">
            <a:avLst>
              <a:gd name="adj" fmla="val 30000"/>
            </a:avLst>
          </a:prstGeom>
          <a:solidFill>
            <a:srgbClr val="A9C4E8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20240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endParaRPr lang="en-US" sz="900" dirty="0"/>
          </a:p>
        </p:txBody>
      </p:sp>
      <p:sp>
        <p:nvSpPr>
          <p:cNvPr id="9" name="box Printer"/>
          <p:cNvSpPr/>
          <p:nvPr/>
        </p:nvSpPr>
        <p:spPr>
          <a:xfrm>
            <a:off x="3474720" y="1554480"/>
            <a:ext cx="73152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Printer</a:t>
            </a:r>
            <a:endParaRPr lang="en-US" sz="900" dirty="0"/>
          </a:p>
        </p:txBody>
      </p:sp>
      <p:sp>
        <p:nvSpPr>
          <p:cNvPr id="11" name="box Switch"/>
          <p:cNvSpPr/>
          <p:nvPr/>
        </p:nvSpPr>
        <p:spPr>
          <a:xfrm>
            <a:off x="548640" y="2103120"/>
            <a:ext cx="3657600" cy="292608"/>
          </a:xfrm>
          <a:prstGeom prst="roundRect">
            <a:avLst>
              <a:gd name="adj" fmla="val 37500"/>
            </a:avLst>
          </a:prstGeom>
          <a:solidFill>
            <a:srgbClr val="A9C4E8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103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</a:t>
            </a:r>
            <a:endParaRPr lang="en-US" sz="1000" dirty="0"/>
          </a:p>
        </p:txBody>
      </p:sp>
      <p:sp>
        <p:nvSpPr>
          <p:cNvPr id="13" name="cable"/>
          <p:cNvSpPr/>
          <p:nvPr/>
        </p:nvSpPr>
        <p:spPr>
          <a:xfrm>
            <a:off x="914400" y="1920240"/>
            <a:ext cx="0" cy="182880"/>
          </a:xfrm>
          <a:prstGeom prst="line">
            <a:avLst/>
          </a:prstGeom>
          <a:noFill/>
          <a:ln w="25400">
            <a:solidFill>
              <a:srgbClr val="5D79A0"/>
            </a:solidFill>
            <a:prstDash val="solid"/>
          </a:ln>
        </p:spPr>
      </p:sp>
      <p:sp>
        <p:nvSpPr>
          <p:cNvPr id="14" name="cable"/>
          <p:cNvSpPr/>
          <p:nvPr/>
        </p:nvSpPr>
        <p:spPr>
          <a:xfrm>
            <a:off x="2377440" y="1920240"/>
            <a:ext cx="0" cy="182880"/>
          </a:xfrm>
          <a:prstGeom prst="line">
            <a:avLst/>
          </a:prstGeom>
          <a:noFill/>
          <a:ln w="25400">
            <a:solidFill>
              <a:srgbClr val="5D79A0"/>
            </a:solidFill>
            <a:prstDash val="solid"/>
          </a:ln>
        </p:spPr>
      </p:sp>
      <p:sp>
        <p:nvSpPr>
          <p:cNvPr id="15" name="cable"/>
          <p:cNvSpPr/>
          <p:nvPr/>
        </p:nvSpPr>
        <p:spPr>
          <a:xfrm>
            <a:off x="3840480" y="1920240"/>
            <a:ext cx="0" cy="182880"/>
          </a:xfrm>
          <a:prstGeom prst="line">
            <a:avLst/>
          </a:prstGeom>
          <a:noFill/>
          <a:ln w="25400">
            <a:solidFill>
              <a:srgbClr val="5D79A0"/>
            </a:solidFill>
            <a:prstDash val="solid"/>
          </a:ln>
        </p:spPr>
      </p:sp>
      <p:sp>
        <p:nvSpPr>
          <p:cNvPr id="16" name="box PC"/>
          <p:cNvSpPr/>
          <p:nvPr/>
        </p:nvSpPr>
        <p:spPr>
          <a:xfrm>
            <a:off x="548640" y="2697480"/>
            <a:ext cx="347472" cy="36576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26974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18" name="cable"/>
          <p:cNvSpPr/>
          <p:nvPr/>
        </p:nvSpPr>
        <p:spPr>
          <a:xfrm>
            <a:off x="722376" y="2395728"/>
            <a:ext cx="0" cy="301752"/>
          </a:xfrm>
          <a:prstGeom prst="line">
            <a:avLst/>
          </a:prstGeom>
          <a:noFill/>
          <a:ln w="25400">
            <a:solidFill>
              <a:srgbClr val="5D79A0"/>
            </a:solidFill>
            <a:prstDash val="solid"/>
          </a:ln>
        </p:spPr>
      </p:sp>
      <p:sp>
        <p:nvSpPr>
          <p:cNvPr id="19" name="box PC"/>
          <p:cNvSpPr/>
          <p:nvPr/>
        </p:nvSpPr>
        <p:spPr>
          <a:xfrm>
            <a:off x="916432" y="2697480"/>
            <a:ext cx="347472" cy="36576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6432" y="26974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21" name="cable"/>
          <p:cNvSpPr/>
          <p:nvPr/>
        </p:nvSpPr>
        <p:spPr>
          <a:xfrm>
            <a:off x="1090168" y="2395728"/>
            <a:ext cx="0" cy="301752"/>
          </a:xfrm>
          <a:prstGeom prst="line">
            <a:avLst/>
          </a:prstGeom>
          <a:noFill/>
          <a:ln w="25400">
            <a:solidFill>
              <a:srgbClr val="5D79A0"/>
            </a:solidFill>
            <a:prstDash val="solid"/>
          </a:ln>
        </p:spPr>
      </p:sp>
      <p:sp>
        <p:nvSpPr>
          <p:cNvPr id="22" name="box PC"/>
          <p:cNvSpPr/>
          <p:nvPr/>
        </p:nvSpPr>
        <p:spPr>
          <a:xfrm>
            <a:off x="1284224" y="2697480"/>
            <a:ext cx="347472" cy="36576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284224" y="26974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24" name="cable"/>
          <p:cNvSpPr/>
          <p:nvPr/>
        </p:nvSpPr>
        <p:spPr>
          <a:xfrm>
            <a:off x="1457960" y="2395728"/>
            <a:ext cx="0" cy="301752"/>
          </a:xfrm>
          <a:prstGeom prst="line">
            <a:avLst/>
          </a:prstGeom>
          <a:noFill/>
          <a:ln w="25400">
            <a:solidFill>
              <a:srgbClr val="5D79A0"/>
            </a:solidFill>
            <a:prstDash val="solid"/>
          </a:ln>
        </p:spPr>
      </p:sp>
      <p:sp>
        <p:nvSpPr>
          <p:cNvPr id="25" name="box PC"/>
          <p:cNvSpPr/>
          <p:nvPr/>
        </p:nvSpPr>
        <p:spPr>
          <a:xfrm>
            <a:off x="1652016" y="2697480"/>
            <a:ext cx="347472" cy="36576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652016" y="26974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27" name="cable"/>
          <p:cNvSpPr/>
          <p:nvPr/>
        </p:nvSpPr>
        <p:spPr>
          <a:xfrm>
            <a:off x="1825752" y="2395728"/>
            <a:ext cx="0" cy="301752"/>
          </a:xfrm>
          <a:prstGeom prst="line">
            <a:avLst/>
          </a:prstGeom>
          <a:noFill/>
          <a:ln w="25400">
            <a:solidFill>
              <a:srgbClr val="5D79A0"/>
            </a:solidFill>
            <a:prstDash val="solid"/>
          </a:ln>
        </p:spPr>
      </p:sp>
      <p:sp>
        <p:nvSpPr>
          <p:cNvPr id="28" name="box PC"/>
          <p:cNvSpPr/>
          <p:nvPr/>
        </p:nvSpPr>
        <p:spPr>
          <a:xfrm>
            <a:off x="2019808" y="2697480"/>
            <a:ext cx="347472" cy="36576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019808" y="26974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30" name="cable"/>
          <p:cNvSpPr/>
          <p:nvPr/>
        </p:nvSpPr>
        <p:spPr>
          <a:xfrm>
            <a:off x="2193544" y="2395728"/>
            <a:ext cx="0" cy="301752"/>
          </a:xfrm>
          <a:prstGeom prst="line">
            <a:avLst/>
          </a:prstGeom>
          <a:noFill/>
          <a:ln w="25400">
            <a:solidFill>
              <a:srgbClr val="5D79A0"/>
            </a:solidFill>
            <a:prstDash val="solid"/>
          </a:ln>
        </p:spPr>
      </p:sp>
      <p:sp>
        <p:nvSpPr>
          <p:cNvPr id="31" name="box PC"/>
          <p:cNvSpPr/>
          <p:nvPr/>
        </p:nvSpPr>
        <p:spPr>
          <a:xfrm>
            <a:off x="2387600" y="2697480"/>
            <a:ext cx="347472" cy="36576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387600" y="26974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33" name="cable"/>
          <p:cNvSpPr/>
          <p:nvPr/>
        </p:nvSpPr>
        <p:spPr>
          <a:xfrm>
            <a:off x="2561336" y="2395728"/>
            <a:ext cx="0" cy="301752"/>
          </a:xfrm>
          <a:prstGeom prst="line">
            <a:avLst/>
          </a:prstGeom>
          <a:noFill/>
          <a:ln w="25400">
            <a:solidFill>
              <a:srgbClr val="5D79A0"/>
            </a:solidFill>
            <a:prstDash val="solid"/>
          </a:ln>
        </p:spPr>
      </p:sp>
      <p:sp>
        <p:nvSpPr>
          <p:cNvPr id="34" name="box PC"/>
          <p:cNvSpPr/>
          <p:nvPr/>
        </p:nvSpPr>
        <p:spPr>
          <a:xfrm>
            <a:off x="2755392" y="2697480"/>
            <a:ext cx="347472" cy="36576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755392" y="26974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36" name="cable"/>
          <p:cNvSpPr/>
          <p:nvPr/>
        </p:nvSpPr>
        <p:spPr>
          <a:xfrm>
            <a:off x="2929128" y="2395728"/>
            <a:ext cx="0" cy="301752"/>
          </a:xfrm>
          <a:prstGeom prst="line">
            <a:avLst/>
          </a:prstGeom>
          <a:noFill/>
          <a:ln w="25400">
            <a:solidFill>
              <a:srgbClr val="5D79A0"/>
            </a:solidFill>
            <a:prstDash val="solid"/>
          </a:ln>
        </p:spPr>
      </p:sp>
      <p:sp>
        <p:nvSpPr>
          <p:cNvPr id="37" name="box PC"/>
          <p:cNvSpPr/>
          <p:nvPr/>
        </p:nvSpPr>
        <p:spPr>
          <a:xfrm>
            <a:off x="3123184" y="2697480"/>
            <a:ext cx="347472" cy="36576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123184" y="26974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39" name="cable"/>
          <p:cNvSpPr/>
          <p:nvPr/>
        </p:nvSpPr>
        <p:spPr>
          <a:xfrm>
            <a:off x="3296920" y="2395728"/>
            <a:ext cx="0" cy="301752"/>
          </a:xfrm>
          <a:prstGeom prst="line">
            <a:avLst/>
          </a:prstGeom>
          <a:noFill/>
          <a:ln w="25400">
            <a:solidFill>
              <a:srgbClr val="5D79A0"/>
            </a:solidFill>
            <a:prstDash val="solid"/>
          </a:ln>
        </p:spPr>
      </p:sp>
      <p:sp>
        <p:nvSpPr>
          <p:cNvPr id="40" name="box PC"/>
          <p:cNvSpPr/>
          <p:nvPr/>
        </p:nvSpPr>
        <p:spPr>
          <a:xfrm>
            <a:off x="3490976" y="2697480"/>
            <a:ext cx="347472" cy="36576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490976" y="26974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42" name="cable"/>
          <p:cNvSpPr/>
          <p:nvPr/>
        </p:nvSpPr>
        <p:spPr>
          <a:xfrm>
            <a:off x="3664712" y="2395728"/>
            <a:ext cx="0" cy="301752"/>
          </a:xfrm>
          <a:prstGeom prst="line">
            <a:avLst/>
          </a:prstGeom>
          <a:noFill/>
          <a:ln w="25400">
            <a:solidFill>
              <a:srgbClr val="5D79A0"/>
            </a:solidFill>
            <a:prstDash val="solid"/>
          </a:ln>
        </p:spPr>
      </p:sp>
      <p:sp>
        <p:nvSpPr>
          <p:cNvPr id="43" name="box PC"/>
          <p:cNvSpPr/>
          <p:nvPr/>
        </p:nvSpPr>
        <p:spPr>
          <a:xfrm>
            <a:off x="3858768" y="2697480"/>
            <a:ext cx="347472" cy="36576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858768" y="26974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45" name="cable"/>
          <p:cNvSpPr/>
          <p:nvPr/>
        </p:nvSpPr>
        <p:spPr>
          <a:xfrm>
            <a:off x="4032504" y="2395728"/>
            <a:ext cx="0" cy="301752"/>
          </a:xfrm>
          <a:prstGeom prst="line">
            <a:avLst/>
          </a:prstGeom>
          <a:noFill/>
          <a:ln w="25400">
            <a:solidFill>
              <a:srgbClr val="5D79A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48640" y="32461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computer is cabled to the switch with twisted pair. The router links on to the branch.</a:t>
            </a:r>
            <a:endParaRPr lang="en-US" sz="1200" dirty="0"/>
          </a:p>
        </p:txBody>
      </p:sp>
      <p:sp>
        <p:nvSpPr>
          <p:cNvPr id="47" name="WI-FI panel"/>
          <p:cNvSpPr/>
          <p:nvPr/>
        </p:nvSpPr>
        <p:spPr>
          <a:xfrm>
            <a:off x="4754880" y="1097280"/>
            <a:ext cx="4023360" cy="3520440"/>
          </a:xfrm>
          <a:prstGeom prst="roundRect">
            <a:avLst>
              <a:gd name="adj" fmla="val 3117"/>
            </a:avLst>
          </a:prstGeom>
          <a:solidFill>
            <a:srgbClr val="EEF2F7"/>
          </a:solidFill>
          <a:ln w="15875">
            <a:solidFill>
              <a:srgbClr val="5D79A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892040" y="113385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</a:t>
            </a:r>
            <a:endParaRPr lang="en-US" sz="1500" dirty="0"/>
          </a:p>
        </p:txBody>
      </p:sp>
      <p:sp>
        <p:nvSpPr>
          <p:cNvPr id="49" name="box Server"/>
          <p:cNvSpPr/>
          <p:nvPr/>
        </p:nvSpPr>
        <p:spPr>
          <a:xfrm>
            <a:off x="4937760" y="1554480"/>
            <a:ext cx="73152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93776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900" dirty="0"/>
          </a:p>
        </p:txBody>
      </p:sp>
      <p:sp>
        <p:nvSpPr>
          <p:cNvPr id="51" name="box Router"/>
          <p:cNvSpPr/>
          <p:nvPr/>
        </p:nvSpPr>
        <p:spPr>
          <a:xfrm>
            <a:off x="6309360" y="1554480"/>
            <a:ext cx="914400" cy="365760"/>
          </a:xfrm>
          <a:prstGeom prst="roundRect">
            <a:avLst>
              <a:gd name="adj" fmla="val 30000"/>
            </a:avLst>
          </a:prstGeom>
          <a:solidFill>
            <a:srgbClr val="A9C4E8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309360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endParaRPr lang="en-US" sz="900" dirty="0"/>
          </a:p>
        </p:txBody>
      </p:sp>
      <p:sp>
        <p:nvSpPr>
          <p:cNvPr id="53" name="box Printer"/>
          <p:cNvSpPr/>
          <p:nvPr/>
        </p:nvSpPr>
        <p:spPr>
          <a:xfrm>
            <a:off x="7863840" y="1554480"/>
            <a:ext cx="73152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86384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Printer</a:t>
            </a:r>
            <a:endParaRPr lang="en-US" sz="900" dirty="0"/>
          </a:p>
        </p:txBody>
      </p:sp>
      <p:sp>
        <p:nvSpPr>
          <p:cNvPr id="55" name="box Switch"/>
          <p:cNvSpPr/>
          <p:nvPr/>
        </p:nvSpPr>
        <p:spPr>
          <a:xfrm>
            <a:off x="4937760" y="2103120"/>
            <a:ext cx="3657600" cy="292608"/>
          </a:xfrm>
          <a:prstGeom prst="roundRect">
            <a:avLst>
              <a:gd name="adj" fmla="val 37500"/>
            </a:avLst>
          </a:prstGeom>
          <a:solidFill>
            <a:srgbClr val="A9C4E8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937760" y="2103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</a:t>
            </a:r>
            <a:endParaRPr lang="en-US" sz="1000" dirty="0"/>
          </a:p>
        </p:txBody>
      </p:sp>
      <p:sp>
        <p:nvSpPr>
          <p:cNvPr id="57" name="cable"/>
          <p:cNvSpPr/>
          <p:nvPr/>
        </p:nvSpPr>
        <p:spPr>
          <a:xfrm>
            <a:off x="5303520" y="1920240"/>
            <a:ext cx="0" cy="182880"/>
          </a:xfrm>
          <a:prstGeom prst="line">
            <a:avLst/>
          </a:prstGeom>
          <a:noFill/>
          <a:ln w="25400">
            <a:solidFill>
              <a:srgbClr val="5D79A0"/>
            </a:solidFill>
            <a:prstDash val="solid"/>
          </a:ln>
        </p:spPr>
      </p:sp>
      <p:sp>
        <p:nvSpPr>
          <p:cNvPr id="58" name="cable"/>
          <p:cNvSpPr/>
          <p:nvPr/>
        </p:nvSpPr>
        <p:spPr>
          <a:xfrm>
            <a:off x="6766560" y="1920240"/>
            <a:ext cx="0" cy="182880"/>
          </a:xfrm>
          <a:prstGeom prst="line">
            <a:avLst/>
          </a:prstGeom>
          <a:noFill/>
          <a:ln w="25400">
            <a:solidFill>
              <a:srgbClr val="5D79A0"/>
            </a:solidFill>
            <a:prstDash val="solid"/>
          </a:ln>
        </p:spPr>
      </p:sp>
      <p:sp>
        <p:nvSpPr>
          <p:cNvPr id="59" name="cable"/>
          <p:cNvSpPr/>
          <p:nvPr/>
        </p:nvSpPr>
        <p:spPr>
          <a:xfrm>
            <a:off x="8229600" y="1920240"/>
            <a:ext cx="0" cy="182880"/>
          </a:xfrm>
          <a:prstGeom prst="line">
            <a:avLst/>
          </a:prstGeom>
          <a:noFill/>
          <a:ln w="25400">
            <a:solidFill>
              <a:srgbClr val="5D79A0"/>
            </a:solidFill>
            <a:prstDash val="solid"/>
          </a:ln>
        </p:spPr>
      </p:sp>
      <p:sp>
        <p:nvSpPr>
          <p:cNvPr id="60" name="box WAP"/>
          <p:cNvSpPr/>
          <p:nvPr/>
        </p:nvSpPr>
        <p:spPr>
          <a:xfrm>
            <a:off x="5532120" y="2697480"/>
            <a:ext cx="640080" cy="365760"/>
          </a:xfrm>
          <a:prstGeom prst="roundRect">
            <a:avLst>
              <a:gd name="adj" fmla="val 30000"/>
            </a:avLst>
          </a:prstGeom>
          <a:solidFill>
            <a:srgbClr val="A9C4E8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532120" y="2697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WAP</a:t>
            </a:r>
            <a:endParaRPr lang="en-US" sz="900" dirty="0"/>
          </a:p>
        </p:txBody>
      </p:sp>
      <p:sp>
        <p:nvSpPr>
          <p:cNvPr id="62" name="cable"/>
          <p:cNvSpPr/>
          <p:nvPr/>
        </p:nvSpPr>
        <p:spPr>
          <a:xfrm>
            <a:off x="5852160" y="2395728"/>
            <a:ext cx="0" cy="301752"/>
          </a:xfrm>
          <a:prstGeom prst="line">
            <a:avLst/>
          </a:prstGeom>
          <a:noFill/>
          <a:ln w="25400">
            <a:solidFill>
              <a:srgbClr val="5D79A0"/>
            </a:solidFill>
            <a:prstDash val="solid"/>
          </a:ln>
        </p:spPr>
      </p:sp>
      <p:sp>
        <p:nvSpPr>
          <p:cNvPr id="63" name="box PC"/>
          <p:cNvSpPr/>
          <p:nvPr/>
        </p:nvSpPr>
        <p:spPr>
          <a:xfrm>
            <a:off x="4983480" y="3383280"/>
            <a:ext cx="329184" cy="347472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4983480" y="3383280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65" name="wireless link"/>
          <p:cNvSpPr/>
          <p:nvPr/>
        </p:nvSpPr>
        <p:spPr>
          <a:xfrm flipV="1">
            <a:off x="5148072" y="3063240"/>
            <a:ext cx="704088" cy="320040"/>
          </a:xfrm>
          <a:prstGeom prst="line">
            <a:avLst/>
          </a:prstGeom>
          <a:noFill/>
          <a:ln w="19050">
            <a:solidFill>
              <a:srgbClr val="5D79A0"/>
            </a:solidFill>
            <a:prstDash val="dash"/>
          </a:ln>
        </p:spPr>
      </p:sp>
      <p:sp>
        <p:nvSpPr>
          <p:cNvPr id="66" name="box PC"/>
          <p:cNvSpPr/>
          <p:nvPr/>
        </p:nvSpPr>
        <p:spPr>
          <a:xfrm>
            <a:off x="5349240" y="3383280"/>
            <a:ext cx="329184" cy="347472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5349240" y="3383280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68" name="wireless link"/>
          <p:cNvSpPr/>
          <p:nvPr/>
        </p:nvSpPr>
        <p:spPr>
          <a:xfrm flipV="1">
            <a:off x="5513832" y="3063240"/>
            <a:ext cx="338328" cy="320040"/>
          </a:xfrm>
          <a:prstGeom prst="line">
            <a:avLst/>
          </a:prstGeom>
          <a:noFill/>
          <a:ln w="19050">
            <a:solidFill>
              <a:srgbClr val="5D79A0"/>
            </a:solidFill>
            <a:prstDash val="dash"/>
          </a:ln>
        </p:spPr>
      </p:sp>
      <p:sp>
        <p:nvSpPr>
          <p:cNvPr id="69" name="box PC"/>
          <p:cNvSpPr/>
          <p:nvPr/>
        </p:nvSpPr>
        <p:spPr>
          <a:xfrm>
            <a:off x="5715000" y="3383280"/>
            <a:ext cx="329184" cy="347472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5715000" y="3383280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71" name="wireless link"/>
          <p:cNvSpPr/>
          <p:nvPr/>
        </p:nvSpPr>
        <p:spPr>
          <a:xfrm>
            <a:off x="5852160" y="3063240"/>
            <a:ext cx="27432" cy="320040"/>
          </a:xfrm>
          <a:prstGeom prst="line">
            <a:avLst/>
          </a:prstGeom>
          <a:noFill/>
          <a:ln w="19050">
            <a:solidFill>
              <a:srgbClr val="5D79A0"/>
            </a:solidFill>
            <a:prstDash val="dash"/>
          </a:ln>
        </p:spPr>
      </p:sp>
      <p:sp>
        <p:nvSpPr>
          <p:cNvPr id="72" name="box PC"/>
          <p:cNvSpPr/>
          <p:nvPr/>
        </p:nvSpPr>
        <p:spPr>
          <a:xfrm>
            <a:off x="6080760" y="3383280"/>
            <a:ext cx="329184" cy="347472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6080760" y="3383280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74" name="wireless link"/>
          <p:cNvSpPr/>
          <p:nvPr/>
        </p:nvSpPr>
        <p:spPr>
          <a:xfrm>
            <a:off x="5852160" y="3063240"/>
            <a:ext cx="393192" cy="320040"/>
          </a:xfrm>
          <a:prstGeom prst="line">
            <a:avLst/>
          </a:prstGeom>
          <a:noFill/>
          <a:ln w="19050">
            <a:solidFill>
              <a:srgbClr val="5D79A0"/>
            </a:solidFill>
            <a:prstDash val="dash"/>
          </a:ln>
        </p:spPr>
      </p:sp>
      <p:sp>
        <p:nvSpPr>
          <p:cNvPr id="75" name="box PC"/>
          <p:cNvSpPr/>
          <p:nvPr/>
        </p:nvSpPr>
        <p:spPr>
          <a:xfrm>
            <a:off x="6446520" y="3383280"/>
            <a:ext cx="329184" cy="347472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6446520" y="3383280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77" name="wireless link"/>
          <p:cNvSpPr/>
          <p:nvPr/>
        </p:nvSpPr>
        <p:spPr>
          <a:xfrm>
            <a:off x="5852160" y="3063240"/>
            <a:ext cx="758952" cy="320040"/>
          </a:xfrm>
          <a:prstGeom prst="line">
            <a:avLst/>
          </a:prstGeom>
          <a:noFill/>
          <a:ln w="19050">
            <a:solidFill>
              <a:srgbClr val="5D79A0"/>
            </a:solidFill>
            <a:prstDash val="dash"/>
          </a:ln>
        </p:spPr>
      </p:sp>
      <p:sp>
        <p:nvSpPr>
          <p:cNvPr id="78" name="box WAP"/>
          <p:cNvSpPr/>
          <p:nvPr/>
        </p:nvSpPr>
        <p:spPr>
          <a:xfrm>
            <a:off x="7452360" y="2697480"/>
            <a:ext cx="640080" cy="365760"/>
          </a:xfrm>
          <a:prstGeom prst="roundRect">
            <a:avLst>
              <a:gd name="adj" fmla="val 30000"/>
            </a:avLst>
          </a:prstGeom>
          <a:solidFill>
            <a:srgbClr val="A9C4E8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7452360" y="2697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WAP</a:t>
            </a:r>
            <a:endParaRPr lang="en-US" sz="900" dirty="0"/>
          </a:p>
        </p:txBody>
      </p:sp>
      <p:sp>
        <p:nvSpPr>
          <p:cNvPr id="80" name="cable"/>
          <p:cNvSpPr/>
          <p:nvPr/>
        </p:nvSpPr>
        <p:spPr>
          <a:xfrm>
            <a:off x="7772400" y="2395728"/>
            <a:ext cx="0" cy="301752"/>
          </a:xfrm>
          <a:prstGeom prst="line">
            <a:avLst/>
          </a:prstGeom>
          <a:noFill/>
          <a:ln w="25400">
            <a:solidFill>
              <a:srgbClr val="5D79A0"/>
            </a:solidFill>
            <a:prstDash val="solid"/>
          </a:ln>
        </p:spPr>
      </p:sp>
      <p:sp>
        <p:nvSpPr>
          <p:cNvPr id="81" name="box PC"/>
          <p:cNvSpPr/>
          <p:nvPr/>
        </p:nvSpPr>
        <p:spPr>
          <a:xfrm>
            <a:off x="6903720" y="3383280"/>
            <a:ext cx="329184" cy="347472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6903720" y="3383280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83" name="wireless link"/>
          <p:cNvSpPr/>
          <p:nvPr/>
        </p:nvSpPr>
        <p:spPr>
          <a:xfrm flipV="1">
            <a:off x="7068312" y="3063240"/>
            <a:ext cx="704088" cy="320040"/>
          </a:xfrm>
          <a:prstGeom prst="line">
            <a:avLst/>
          </a:prstGeom>
          <a:noFill/>
          <a:ln w="19050">
            <a:solidFill>
              <a:srgbClr val="5D79A0"/>
            </a:solidFill>
            <a:prstDash val="dash"/>
          </a:ln>
        </p:spPr>
      </p:sp>
      <p:sp>
        <p:nvSpPr>
          <p:cNvPr id="84" name="box PC"/>
          <p:cNvSpPr/>
          <p:nvPr/>
        </p:nvSpPr>
        <p:spPr>
          <a:xfrm>
            <a:off x="7269480" y="3383280"/>
            <a:ext cx="329184" cy="347472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7269480" y="3383280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86" name="wireless link"/>
          <p:cNvSpPr/>
          <p:nvPr/>
        </p:nvSpPr>
        <p:spPr>
          <a:xfrm flipV="1">
            <a:off x="7434072" y="3063240"/>
            <a:ext cx="338328" cy="320040"/>
          </a:xfrm>
          <a:prstGeom prst="line">
            <a:avLst/>
          </a:prstGeom>
          <a:noFill/>
          <a:ln w="19050">
            <a:solidFill>
              <a:srgbClr val="5D79A0"/>
            </a:solidFill>
            <a:prstDash val="dash"/>
          </a:ln>
        </p:spPr>
      </p:sp>
      <p:sp>
        <p:nvSpPr>
          <p:cNvPr id="87" name="box PC"/>
          <p:cNvSpPr/>
          <p:nvPr/>
        </p:nvSpPr>
        <p:spPr>
          <a:xfrm>
            <a:off x="7635240" y="3383280"/>
            <a:ext cx="329184" cy="347472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7635240" y="3383280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89" name="wireless link"/>
          <p:cNvSpPr/>
          <p:nvPr/>
        </p:nvSpPr>
        <p:spPr>
          <a:xfrm>
            <a:off x="7772400" y="3063240"/>
            <a:ext cx="27432" cy="320040"/>
          </a:xfrm>
          <a:prstGeom prst="line">
            <a:avLst/>
          </a:prstGeom>
          <a:noFill/>
          <a:ln w="19050">
            <a:solidFill>
              <a:srgbClr val="5D79A0"/>
            </a:solidFill>
            <a:prstDash val="dash"/>
          </a:ln>
        </p:spPr>
      </p:sp>
      <p:sp>
        <p:nvSpPr>
          <p:cNvPr id="90" name="box PC"/>
          <p:cNvSpPr/>
          <p:nvPr/>
        </p:nvSpPr>
        <p:spPr>
          <a:xfrm>
            <a:off x="8001000" y="3383280"/>
            <a:ext cx="329184" cy="347472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8001000" y="3383280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92" name="wireless link"/>
          <p:cNvSpPr/>
          <p:nvPr/>
        </p:nvSpPr>
        <p:spPr>
          <a:xfrm>
            <a:off x="7772400" y="3063240"/>
            <a:ext cx="393192" cy="320040"/>
          </a:xfrm>
          <a:prstGeom prst="line">
            <a:avLst/>
          </a:prstGeom>
          <a:noFill/>
          <a:ln w="19050">
            <a:solidFill>
              <a:srgbClr val="5D79A0"/>
            </a:solidFill>
            <a:prstDash val="dash"/>
          </a:ln>
        </p:spPr>
      </p:sp>
      <p:sp>
        <p:nvSpPr>
          <p:cNvPr id="93" name="box PC"/>
          <p:cNvSpPr/>
          <p:nvPr/>
        </p:nvSpPr>
        <p:spPr>
          <a:xfrm>
            <a:off x="8366760" y="3383280"/>
            <a:ext cx="329184" cy="347472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002D6A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8366760" y="3383280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</a:t>
            </a:r>
            <a:endParaRPr lang="en-US" sz="800" dirty="0"/>
          </a:p>
        </p:txBody>
      </p:sp>
      <p:sp>
        <p:nvSpPr>
          <p:cNvPr id="95" name="wireless link"/>
          <p:cNvSpPr/>
          <p:nvPr/>
        </p:nvSpPr>
        <p:spPr>
          <a:xfrm>
            <a:off x="7772400" y="3063240"/>
            <a:ext cx="758952" cy="320040"/>
          </a:xfrm>
          <a:prstGeom prst="line">
            <a:avLst/>
          </a:prstGeom>
          <a:noFill/>
          <a:ln w="19050">
            <a:solidFill>
              <a:srgbClr val="5D79A0"/>
            </a:solidFill>
            <a:prstDash val="dash"/>
          </a:ln>
        </p:spPr>
      </p:sp>
      <p:sp>
        <p:nvSpPr>
          <p:cNvPr id="96" name="Text 94"/>
          <p:cNvSpPr txBox="1"/>
          <p:nvPr/>
        </p:nvSpPr>
        <p:spPr>
          <a:xfrm>
            <a:off x="4937760" y="37947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line: cable. Dashed line: wireless. The WAPs are cabled to the switch and the computers need wireless NICs.</a:t>
            </a:r>
            <a:endParaRPr lang="en-US" sz="1200" dirty="0"/>
          </a:p>
        </p:txBody>
      </p:sp>
      <p:sp>
        <p:nvSpPr>
          <p:cNvPr id="9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Y12 Networks L1</dc:title>
  <dc:subject>PptxGenJS Presentation</dc:subject>
  <dc:creator/>
  <cp:lastModifiedBy/>
  <cp:revision>1</cp:revision>
  <dcterms:created xsi:type="dcterms:W3CDTF">2026-10-21T21:54:16Z</dcterms:created>
  <dcterms:modified xsi:type="dcterms:W3CDTF">2026-10-21T21:54:16Z</dcterms:modified>
</cp:coreProperties>
</file>