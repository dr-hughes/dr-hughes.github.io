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sson 1" id="{c144c3ac-59fc-2807-d76f-a42548c2895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Key Terms 1" id="{e8abda12-9eaf-f571-adfe-84cdf627a024}">
          <p14:sldIdLst>
            <p14:sldId id="265"/>
          </p14:sldIdLst>
        </p14:section>
        <p14:section name="Lesson 2" id="{cf553ded-5740-480b-a0fa-92b5c0af20b8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Key Terms 2" id="{5c152057-c17e-26a3-b2ca-8a58ccd72d44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Systems Architecture Recap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Systems Architecture Recap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Architecture Recap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J277  1.1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architecture 6 of 6. Two lessons.</a:t>
            </a:r>
            <a:endParaRPr lang="en-US" sz="1800" dirty="0"/>
          </a:p>
        </p:txBody>
      </p:sp>
      <p:sp>
        <p:nvSpPr>
          <p:cNvPr id="5" name="CPU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6" name="Image 0" descr="CPU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objectives</a:t>
            </a:r>
            <a:endParaRPr lang="en-US" sz="3000" dirty="0"/>
          </a:p>
        </p:txBody>
      </p:sp>
      <p:sp>
        <p:nvSpPr>
          <p:cNvPr id="3" name="LESSON 1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key content of 1.1.1, 1.1.2 and 1.1.3.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gaps against the specification.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the CPU diagram from memory.</a:t>
            </a:r>
            <a:endParaRPr lang="en-US" sz="17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checklist</a:t>
            </a:r>
            <a:endParaRPr lang="en-US" sz="3000" dirty="0"/>
          </a:p>
        </p:txBody>
      </p:sp>
      <p:sp>
        <p:nvSpPr>
          <p:cNvPr id="3" name="RAG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1323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can...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the purpose of the CPU and describe the fetch-execute cycle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the role of the ALU, Control Unit, cache and registers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the purpose of the PC, MAR, MDR and accumulator, and say if each stores data or an address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 how clock speed, cache size and number of cores affect performance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 an embedded system, and explain why a device is 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 a range of examples of embedded systems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each row red, amber or green. Revise the reds first.</a:t>
            </a:r>
            <a:endParaRPr lang="en-US" sz="12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Quick-fire: the CPU</a:t>
            </a:r>
            <a:endParaRPr lang="en-US" sz="3000" dirty="0"/>
          </a:p>
        </p:txBody>
      </p:sp>
      <p:sp>
        <p:nvSpPr>
          <p:cNvPr id="3" name="RECALL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three stages of the cycle.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Fetch, decode, execute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004822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004822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ALU do?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004822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004822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calculations and logical operations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912364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912364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Control Unit do?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2912364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2912364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and coordinates the cycle, and decodes instructions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57200" y="3819906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819906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cache?</a:t>
            </a:r>
            <a:endParaRPr lang="en-US" sz="1400" dirty="0"/>
          </a:p>
        </p:txBody>
      </p:sp>
      <p:sp>
        <p:nvSpPr>
          <p:cNvPr id="19" name="@4 Answer card"/>
          <p:cNvSpPr/>
          <p:nvPr/>
        </p:nvSpPr>
        <p:spPr>
          <a:xfrm>
            <a:off x="4343400" y="3819906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4480560" y="3819906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fast memory that stores frequently used instructions</a:t>
            </a:r>
            <a:endParaRPr lang="en-US" sz="13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Quick-fire: registers</a:t>
            </a:r>
            <a:endParaRPr lang="en-US" sz="3000" dirty="0"/>
          </a:p>
        </p:txBody>
      </p:sp>
      <p:sp>
        <p:nvSpPr>
          <p:cNvPr id="3" name="RECALL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PC store?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address of the next instruction to be fetched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004822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004822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MAR store?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004822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004822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address to read from or write to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912364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912364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MDR store?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2912364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2912364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or instruction fetched or about to be stored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57200" y="3819906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819906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ACC store?</a:t>
            </a:r>
            <a:endParaRPr lang="en-US" sz="1400" dirty="0"/>
          </a:p>
        </p:txBody>
      </p:sp>
      <p:sp>
        <p:nvSpPr>
          <p:cNvPr id="19" name="@4 Answer card"/>
          <p:cNvSpPr/>
          <p:nvPr/>
        </p:nvSpPr>
        <p:spPr>
          <a:xfrm>
            <a:off x="4343400" y="3819906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4480560" y="3819906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of calculations</a:t>
            </a:r>
            <a:endParaRPr lang="en-US" sz="13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Quick-fire: the rest</a:t>
            </a:r>
            <a:endParaRPr lang="en-US" sz="3000" dirty="0"/>
          </a:p>
        </p:txBody>
      </p:sp>
      <p:sp>
        <p:nvSpPr>
          <p:cNvPr id="3" name="RECALL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three characteristics affect CPU performance?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speed, cache size, number of cores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004822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004822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higher clock speed make a CPU faster?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004822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004822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fetch-execute cycles per second, so more instructions per second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912364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912364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an embedded system.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2912364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2912364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system built into another device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57200" y="3819906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819906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two characteristics of an embedded system.</a:t>
            </a:r>
            <a:endParaRPr lang="en-US" sz="1400" dirty="0"/>
          </a:p>
        </p:txBody>
      </p:sp>
      <p:sp>
        <p:nvSpPr>
          <p:cNvPr id="19" name="@4 Answer card"/>
          <p:cNvSpPr/>
          <p:nvPr/>
        </p:nvSpPr>
        <p:spPr>
          <a:xfrm>
            <a:off x="4343400" y="3819906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4480560" y="3819906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or limited purpose; dedicated microprocessor; firmware in ROM; hard to change</a:t>
            </a:r>
            <a:endParaRPr lang="en-US" sz="13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the diagram</a:t>
            </a:r>
            <a:endParaRPr lang="en-US" sz="3000" dirty="0"/>
          </a:p>
        </p:txBody>
      </p:sp>
      <p:sp>
        <p:nvSpPr>
          <p:cNvPr id="3" name="QUIZ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200" dirty="0"/>
          </a:p>
        </p:txBody>
      </p:sp>
      <p:sp>
        <p:nvSpPr>
          <p:cNvPr id="5" name="CPU frame"/>
          <p:cNvSpPr/>
          <p:nvPr/>
        </p:nvSpPr>
        <p:spPr>
          <a:xfrm>
            <a:off x="457200" y="109728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5400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70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100" dirty="0"/>
          </a:p>
        </p:txBody>
      </p:sp>
      <p:sp>
        <p:nvSpPr>
          <p:cNvPr id="8" name="Instructions"/>
          <p:cNvSpPr/>
          <p:nvPr/>
        </p:nvSpPr>
        <p:spPr>
          <a:xfrm>
            <a:off x="6492240" y="178308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D79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830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400" dirty="0"/>
          </a:p>
        </p:txBody>
      </p:sp>
      <p:sp>
        <p:nvSpPr>
          <p:cNvPr id="10" name="Data"/>
          <p:cNvSpPr/>
          <p:nvPr/>
        </p:nvSpPr>
        <p:spPr>
          <a:xfrm>
            <a:off x="6492240" y="310896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D79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108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12" name="to memory"/>
          <p:cNvSpPr/>
          <p:nvPr/>
        </p:nvSpPr>
        <p:spPr>
          <a:xfrm>
            <a:off x="5760720" y="3017520"/>
            <a:ext cx="54864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3" name="from memory"/>
          <p:cNvSpPr/>
          <p:nvPr/>
        </p:nvSpPr>
        <p:spPr>
          <a:xfrm flipH="1">
            <a:off x="5760720" y="3566160"/>
            <a:ext cx="54864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4" name="?"/>
          <p:cNvSpPr/>
          <p:nvPr/>
        </p:nvSpPr>
        <p:spPr>
          <a:xfrm>
            <a:off x="6309360" y="1097280"/>
            <a:ext cx="2377440" cy="3474720"/>
          </a:xfrm>
          <a:prstGeom prst="roundRect">
            <a:avLst>
              <a:gd name="adj" fmla="val 4615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234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?"/>
          <p:cNvSpPr/>
          <p:nvPr/>
        </p:nvSpPr>
        <p:spPr>
          <a:xfrm>
            <a:off x="914400" y="169164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?"/>
          <p:cNvSpPr/>
          <p:nvPr/>
        </p:nvSpPr>
        <p:spPr>
          <a:xfrm>
            <a:off x="3246120" y="169164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4612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?"/>
          <p:cNvSpPr/>
          <p:nvPr/>
        </p:nvSpPr>
        <p:spPr>
          <a:xfrm>
            <a:off x="77724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?"/>
          <p:cNvSpPr/>
          <p:nvPr/>
        </p:nvSpPr>
        <p:spPr>
          <a:xfrm>
            <a:off x="196596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6596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01168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?"/>
          <p:cNvSpPr/>
          <p:nvPr/>
        </p:nvSpPr>
        <p:spPr>
          <a:xfrm>
            <a:off x="315468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5468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?"/>
          <p:cNvSpPr/>
          <p:nvPr/>
        </p:nvSpPr>
        <p:spPr>
          <a:xfrm>
            <a:off x="434340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4340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38912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@1 Main memory (RAM)"/>
          <p:cNvSpPr/>
          <p:nvPr/>
        </p:nvSpPr>
        <p:spPr>
          <a:xfrm>
            <a:off x="6309360" y="1097280"/>
            <a:ext cx="2377440" cy="3474720"/>
          </a:xfrm>
          <a:prstGeom prst="roundRect">
            <a:avLst>
              <a:gd name="adj" fmla="val 4615"/>
            </a:avLst>
          </a:prstGeom>
          <a:solidFill>
            <a:srgbClr val="EEF2F7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6" name="@1 addText"/>
          <p:cNvSpPr txBox="1"/>
          <p:nvPr/>
        </p:nvSpPr>
        <p:spPr>
          <a:xfrm>
            <a:off x="6309360" y="1234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memory (RAM)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and data</a:t>
            </a:r>
            <a:endParaRPr lang="en-US" sz="1400" dirty="0"/>
          </a:p>
        </p:txBody>
      </p:sp>
      <p:sp>
        <p:nvSpPr>
          <p:cNvPr id="37" name="@2 Control Unit"/>
          <p:cNvSpPr/>
          <p:nvPr/>
        </p:nvSpPr>
        <p:spPr>
          <a:xfrm>
            <a:off x="914400" y="169164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8" name="@2 addText"/>
          <p:cNvSpPr txBox="1"/>
          <p:nvPr/>
        </p:nvSpPr>
        <p:spPr>
          <a:xfrm>
            <a:off x="91440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Unit</a:t>
            </a:r>
            <a:endParaRPr lang="en-US" sz="1400" dirty="0"/>
          </a:p>
        </p:txBody>
      </p:sp>
      <p:sp>
        <p:nvSpPr>
          <p:cNvPr id="39" name="@3 ALU"/>
          <p:cNvSpPr/>
          <p:nvPr/>
        </p:nvSpPr>
        <p:spPr>
          <a:xfrm>
            <a:off x="3246120" y="169164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0" name="@3 addText"/>
          <p:cNvSpPr txBox="1"/>
          <p:nvPr/>
        </p:nvSpPr>
        <p:spPr>
          <a:xfrm>
            <a:off x="324612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</a:t>
            </a:r>
            <a:endParaRPr lang="en-US" sz="1400" dirty="0"/>
          </a:p>
        </p:txBody>
      </p:sp>
      <p:sp>
        <p:nvSpPr>
          <p:cNvPr id="41" name="@4 PC"/>
          <p:cNvSpPr/>
          <p:nvPr/>
        </p:nvSpPr>
        <p:spPr>
          <a:xfrm>
            <a:off x="77724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2" name="@4 addText"/>
          <p:cNvSpPr txBox="1"/>
          <p:nvPr/>
        </p:nvSpPr>
        <p:spPr>
          <a:xfrm>
            <a:off x="77724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400" dirty="0"/>
          </a:p>
        </p:txBody>
      </p:sp>
      <p:sp>
        <p:nvSpPr>
          <p:cNvPr id="43" name="@5 MAR"/>
          <p:cNvSpPr/>
          <p:nvPr/>
        </p:nvSpPr>
        <p:spPr>
          <a:xfrm>
            <a:off x="196596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4" name="@5 addText"/>
          <p:cNvSpPr txBox="1"/>
          <p:nvPr/>
        </p:nvSpPr>
        <p:spPr>
          <a:xfrm>
            <a:off x="196596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400" dirty="0"/>
          </a:p>
        </p:txBody>
      </p:sp>
      <p:sp>
        <p:nvSpPr>
          <p:cNvPr id="45" name="@6 MDR"/>
          <p:cNvSpPr/>
          <p:nvPr/>
        </p:nvSpPr>
        <p:spPr>
          <a:xfrm>
            <a:off x="315468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6" name="@6 addText"/>
          <p:cNvSpPr txBox="1"/>
          <p:nvPr/>
        </p:nvSpPr>
        <p:spPr>
          <a:xfrm>
            <a:off x="315468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47" name="@7 ACC"/>
          <p:cNvSpPr/>
          <p:nvPr/>
        </p:nvSpPr>
        <p:spPr>
          <a:xfrm>
            <a:off x="434340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8" name="@7 addText"/>
          <p:cNvSpPr txBox="1"/>
          <p:nvPr/>
        </p:nvSpPr>
        <p:spPr>
          <a:xfrm>
            <a:off x="434340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to be added here.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9" name="Image 1" descr="Tas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check</a:t>
            </a:r>
            <a:endParaRPr lang="en-US" sz="3000" dirty="0"/>
          </a:p>
        </p:txBody>
      </p:sp>
      <p:sp>
        <p:nvSpPr>
          <p:cNvPr id="3" name="CHECK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200" dirty="0"/>
          </a:p>
        </p:txBody>
      </p:sp>
      <p:sp>
        <p:nvSpPr>
          <p:cNvPr id="5" name="@1 Dot"/>
          <p:cNvSpPr/>
          <p:nvPr/>
        </p:nvSpPr>
        <p:spPr>
          <a:xfrm>
            <a:off x="548640" y="1371600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914400" y="114300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 the RAG on your checklist in a second colour.</a:t>
            </a:r>
            <a:endParaRPr lang="en-US" sz="1800" dirty="0"/>
          </a:p>
        </p:txBody>
      </p:sp>
      <p:sp>
        <p:nvSpPr>
          <p:cNvPr id="7" name="@2 Dot"/>
          <p:cNvSpPr/>
          <p:nvPr/>
        </p:nvSpPr>
        <p:spPr>
          <a:xfrm>
            <a:off x="548640" y="2048256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8" name="@2 addText"/>
          <p:cNvSpPr txBox="1"/>
          <p:nvPr/>
        </p:nvSpPr>
        <p:spPr>
          <a:xfrm>
            <a:off x="914400" y="181965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topic is still your weakest?</a:t>
            </a:r>
            <a:endParaRPr lang="en-US" sz="1800" dirty="0"/>
          </a:p>
        </p:txBody>
      </p:sp>
      <p:sp>
        <p:nvSpPr>
          <p:cNvPr id="9" name="@3 Dot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0" name="@3 addText"/>
          <p:cNvSpPr txBox="1"/>
          <p:nvPr/>
        </p:nvSpPr>
        <p:spPr>
          <a:xfrm>
            <a:off x="914400" y="24963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thing you now feel secure on.</a:t>
            </a:r>
            <a:endParaRPr lang="en-US" sz="18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Review</a:t>
            </a:r>
            <a:endParaRPr lang="en-US" sz="3000" dirty="0"/>
          </a:p>
        </p:txBody>
      </p:sp>
      <p:sp>
        <p:nvSpPr>
          <p:cNvPr id="3" name="KEY TERM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programs, processes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Fetch-execute cycle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fetch, decode,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mathematical calculations and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Unit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controls and ... the cycle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frequently used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tiny storage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ot"/>
          <p:cNvSpPr/>
          <p:nvPr/>
        </p:nvSpPr>
        <p:spPr>
          <a:xfrm>
            <a:off x="548640" y="4123944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40142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meaning in your own words in your workbook.</a:t>
            </a:r>
            <a:endParaRPr lang="en-US" sz="18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practice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OCR questions.</a:t>
            </a:r>
            <a:endParaRPr lang="en-US" sz="1800" dirty="0"/>
          </a:p>
        </p:txBody>
      </p:sp>
      <p:sp>
        <p:nvSpPr>
          <p:cNvPr id="5" name="Lesson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6" name="Image 0" descr="Less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objectives</a:t>
            </a:r>
            <a:endParaRPr lang="en-US" sz="3000" dirty="0"/>
          </a:p>
        </p:txBody>
      </p:sp>
      <p:sp>
        <p:nvSpPr>
          <p:cNvPr id="3" name="LESSON 2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command words correctly in answers.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real OCR questions on 1.1 for full marks.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wording that earns and loses marks.</a:t>
            </a:r>
            <a:endParaRPr lang="en-US" sz="17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words in 1.1</a:t>
            </a:r>
            <a:endParaRPr lang="en-US" sz="3000" dirty="0"/>
          </a:p>
        </p:txBody>
      </p:sp>
      <p:sp>
        <p:nvSpPr>
          <p:cNvPr id="3" name="EXAM SKILL pill"/>
          <p:cNvSpPr/>
          <p:nvPr/>
        </p:nvSpPr>
        <p:spPr>
          <a:xfrm>
            <a:off x="6949440" y="4114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49440" y="411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SKILL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37744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/ Give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926080" y="1097280"/>
            <a:ext cx="576072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3063240" y="1097280"/>
            <a:ext cx="5486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or state it. A short answer. No reason needed.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819656"/>
            <a:ext cx="237744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819656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926080" y="1819656"/>
            <a:ext cx="576072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063240" y="1819656"/>
            <a:ext cx="5486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exactly what the term means.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542032"/>
            <a:ext cx="237744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542032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926080" y="2542032"/>
            <a:ext cx="576072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063240" y="2542032"/>
            <a:ext cx="5486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happens, in order, with detail.</a:t>
            </a:r>
            <a:endParaRPr lang="en-US" sz="1400" dirty="0"/>
          </a:p>
        </p:txBody>
      </p:sp>
      <p:sp>
        <p:nvSpPr>
          <p:cNvPr id="17" name="@4 Term"/>
          <p:cNvSpPr/>
          <p:nvPr/>
        </p:nvSpPr>
        <p:spPr>
          <a:xfrm>
            <a:off x="457200" y="3264408"/>
            <a:ext cx="237744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548640" y="3264408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500" dirty="0"/>
          </a:p>
        </p:txBody>
      </p:sp>
      <p:sp>
        <p:nvSpPr>
          <p:cNvPr id="19" name="@4 Definition"/>
          <p:cNvSpPr/>
          <p:nvPr/>
        </p:nvSpPr>
        <p:spPr>
          <a:xfrm>
            <a:off x="2926080" y="3264408"/>
            <a:ext cx="576072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3063240" y="3264408"/>
            <a:ext cx="5486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reason. The point, then why.</a:t>
            </a:r>
            <a:endParaRPr lang="en-US" sz="1400" dirty="0"/>
          </a:p>
        </p:txBody>
      </p:sp>
      <p:sp>
        <p:nvSpPr>
          <p:cNvPr id="21" name="@5 Term"/>
          <p:cNvSpPr/>
          <p:nvPr/>
        </p:nvSpPr>
        <p:spPr>
          <a:xfrm>
            <a:off x="457200" y="3986784"/>
            <a:ext cx="237744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22" name="@5 addText"/>
          <p:cNvSpPr txBox="1"/>
          <p:nvPr/>
        </p:nvSpPr>
        <p:spPr>
          <a:xfrm>
            <a:off x="548640" y="3986784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table</a:t>
            </a:r>
            <a:endParaRPr lang="en-US" sz="1500" dirty="0"/>
          </a:p>
        </p:txBody>
      </p:sp>
      <p:sp>
        <p:nvSpPr>
          <p:cNvPr id="23" name="@5 Definition"/>
          <p:cNvSpPr/>
          <p:nvPr/>
        </p:nvSpPr>
        <p:spPr>
          <a:xfrm>
            <a:off x="2926080" y="3986784"/>
            <a:ext cx="576072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4" name="@5 addText"/>
          <p:cNvSpPr txBox="1"/>
          <p:nvPr/>
        </p:nvSpPr>
        <p:spPr>
          <a:xfrm>
            <a:off x="3063240" y="3986784"/>
            <a:ext cx="5486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each cell. Each cell is a mark.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and timing</a:t>
            </a:r>
            <a:endParaRPr lang="en-US" sz="3000" dirty="0"/>
          </a:p>
        </p:txBody>
      </p:sp>
      <p:sp>
        <p:nvSpPr>
          <p:cNvPr id="3" name="EXAM SKILL pill"/>
          <p:cNvSpPr/>
          <p:nvPr/>
        </p:nvSpPr>
        <p:spPr>
          <a:xfrm>
            <a:off x="6949440" y="4114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49440" y="411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SKILL</a:t>
            </a:r>
            <a:endParaRPr lang="en-US" sz="1200" dirty="0"/>
          </a:p>
        </p:txBody>
      </p:sp>
      <p:sp>
        <p:nvSpPr>
          <p:cNvPr id="5" name="@1 Dot"/>
          <p:cNvSpPr/>
          <p:nvPr/>
        </p:nvSpPr>
        <p:spPr>
          <a:xfrm>
            <a:off x="548640" y="1371600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914400" y="114300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1 is 80 marks in 1 hour 30 minutes.</a:t>
            </a:r>
            <a:endParaRPr lang="en-US" sz="1800" dirty="0"/>
          </a:p>
        </p:txBody>
      </p:sp>
      <p:sp>
        <p:nvSpPr>
          <p:cNvPr id="7" name="@2 Dot"/>
          <p:cNvSpPr/>
          <p:nvPr/>
        </p:nvSpPr>
        <p:spPr>
          <a:xfrm>
            <a:off x="548640" y="2048256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8" name="@2 addText"/>
          <p:cNvSpPr txBox="1"/>
          <p:nvPr/>
        </p:nvSpPr>
        <p:spPr>
          <a:xfrm>
            <a:off x="914400" y="181965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about a minute for each mark.</a:t>
            </a:r>
            <a:endParaRPr lang="en-US" sz="1800" dirty="0"/>
          </a:p>
        </p:txBody>
      </p:sp>
      <p:sp>
        <p:nvSpPr>
          <p:cNvPr id="9" name="@3 Dot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0" name="@3 addText"/>
          <p:cNvSpPr txBox="1"/>
          <p:nvPr/>
        </p:nvSpPr>
        <p:spPr>
          <a:xfrm>
            <a:off x="914400" y="24963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 means 2 separate points.</a:t>
            </a:r>
            <a:endParaRPr lang="en-US" sz="1800" dirty="0"/>
          </a:p>
        </p:txBody>
      </p:sp>
      <p:sp>
        <p:nvSpPr>
          <p:cNvPr id="11" name="@4 Dot"/>
          <p:cNvSpPr/>
          <p:nvPr/>
        </p:nvSpPr>
        <p:spPr>
          <a:xfrm>
            <a:off x="548640" y="3401568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2" name="@4 addText"/>
          <p:cNvSpPr txBox="1"/>
          <p:nvPr/>
        </p:nvSpPr>
        <p:spPr>
          <a:xfrm>
            <a:off x="914400" y="31729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repeat the question. Use the scenario.</a:t>
            </a:r>
            <a:endParaRPr lang="en-US" sz="18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1: June 2022 Q2 [4]</a:t>
            </a:r>
            <a:endParaRPr lang="en-US" sz="3000" dirty="0"/>
          </a:p>
        </p:txBody>
      </p:sp>
      <p:sp>
        <p:nvSpPr>
          <p:cNvPr id="3" name="EXA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OCR J277/01 past papers: June 2022 Q2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097280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097280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register that 'stores the address of the next instruction to be fetched and increments each cycle'.  </a:t>
            </a:r>
            <a:pPr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200" dirty="0"/>
          </a:p>
        </p:txBody>
      </p:sp>
      <p:sp>
        <p:nvSpPr>
          <p:cNvPr id="8" name="@1 Answer card"/>
          <p:cNvSpPr/>
          <p:nvPr/>
        </p:nvSpPr>
        <p:spPr>
          <a:xfrm>
            <a:off x="4343400" y="1097280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9" name="@1 addText"/>
          <p:cNvSpPr txBox="1"/>
          <p:nvPr/>
        </p:nvSpPr>
        <p:spPr>
          <a:xfrm>
            <a:off x="4480560" y="1097280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Counter (PC)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" y="1947672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947672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definition of the CU (Control Unit).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400" dirty="0"/>
          </a:p>
        </p:txBody>
      </p:sp>
      <p:sp>
        <p:nvSpPr>
          <p:cNvPr id="12" name="@2 Answer card"/>
          <p:cNvSpPr/>
          <p:nvPr/>
        </p:nvSpPr>
        <p:spPr>
          <a:xfrm>
            <a:off x="4343400" y="1947672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3" name="@2 addText"/>
          <p:cNvSpPr txBox="1"/>
          <p:nvPr/>
        </p:nvSpPr>
        <p:spPr>
          <a:xfrm>
            <a:off x="4480560" y="1947672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/ coordinates the fetch-execute cycle, or decodes instructions. 'Sends signals' on its own is not enough.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457200" y="2798064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798064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register that 'stores the address of the data to be fetched, or where data is to be stored'.  </a:t>
            </a:r>
            <a:pPr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200" dirty="0"/>
          </a:p>
        </p:txBody>
      </p:sp>
      <p:sp>
        <p:nvSpPr>
          <p:cNvPr id="16" name="@3 Answer card"/>
          <p:cNvSpPr/>
          <p:nvPr/>
        </p:nvSpPr>
        <p:spPr>
          <a:xfrm>
            <a:off x="4343400" y="2798064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7" name="@3 addText"/>
          <p:cNvSpPr txBox="1"/>
          <p:nvPr/>
        </p:nvSpPr>
        <p:spPr>
          <a:xfrm>
            <a:off x="4480560" y="2798064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Address Register (MAR)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3648456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648456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component that 'performs mathematical calculations and logical operations'.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400" dirty="0"/>
          </a:p>
        </p:txBody>
      </p:sp>
      <p:sp>
        <p:nvSpPr>
          <p:cNvPr id="20" name="@4 Answer card"/>
          <p:cNvSpPr/>
          <p:nvPr/>
        </p:nvSpPr>
        <p:spPr>
          <a:xfrm>
            <a:off x="4343400" y="3648456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1" name="@4 addText"/>
          <p:cNvSpPr txBox="1"/>
          <p:nvPr/>
        </p:nvSpPr>
        <p:spPr>
          <a:xfrm>
            <a:off x="4480560" y="3648456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Logic Unit (ALU)</a:t>
            </a:r>
            <a:endParaRPr lang="en-US" sz="13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2: the cycle and registers</a:t>
            </a:r>
            <a:endParaRPr lang="en-US" sz="3000" dirty="0"/>
          </a:p>
        </p:txBody>
      </p:sp>
      <p:sp>
        <p:nvSpPr>
          <p:cNvPr id="3" name="EXA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OCR J277/01 past papers: June 2024 Q6(a); June 2024 Q6(b); OCR sample paper Q1(d)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097280"/>
            <a:ext cx="3749040" cy="1024128"/>
          </a:xfrm>
          <a:prstGeom prst="roundRect">
            <a:avLst>
              <a:gd name="adj" fmla="val 10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097280"/>
            <a:ext cx="3520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happens during the fetch-execute cycle.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400" dirty="0"/>
          </a:p>
        </p:txBody>
      </p:sp>
      <p:sp>
        <p:nvSpPr>
          <p:cNvPr id="8" name="@1 Answer card"/>
          <p:cNvSpPr/>
          <p:nvPr/>
        </p:nvSpPr>
        <p:spPr>
          <a:xfrm>
            <a:off x="4343400" y="1097280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9" name="@1 addText"/>
          <p:cNvSpPr txBox="1"/>
          <p:nvPr/>
        </p:nvSpPr>
        <p:spPr>
          <a:xfrm>
            <a:off x="4480560" y="1097280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two: instruction fetched from memory/RAM; decoded; executed; ALU does the calculations; registers store address or data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57200" y="2231136"/>
            <a:ext cx="3749040" cy="1024128"/>
          </a:xfrm>
          <a:prstGeom prst="roundRect">
            <a:avLst>
              <a:gd name="adj" fmla="val 10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231136"/>
            <a:ext cx="3520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two registers used in the fetch-execute cycle and give the purpose of each.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400" dirty="0"/>
          </a:p>
        </p:txBody>
      </p:sp>
      <p:sp>
        <p:nvSpPr>
          <p:cNvPr id="12" name="@2 Answer card"/>
          <p:cNvSpPr/>
          <p:nvPr/>
        </p:nvSpPr>
        <p:spPr>
          <a:xfrm>
            <a:off x="4343400" y="2231136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3" name="@2 addText"/>
          <p:cNvSpPr txBox="1"/>
          <p:nvPr/>
        </p:nvSpPr>
        <p:spPr>
          <a:xfrm>
            <a:off x="4480560" y="2231136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PC: stores the address of the next instruction. MAR: stores the address to read from or write to. MDR: stores the data or instruction fetched or to be stored. ACC: stores the result of calculations.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457200" y="3364992"/>
            <a:ext cx="3749040" cy="1024128"/>
          </a:xfrm>
          <a:prstGeom prst="roundRect">
            <a:avLst>
              <a:gd name="adj" fmla="val 10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364992"/>
            <a:ext cx="3520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two events that take place during the fetch-execute cycle.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400" dirty="0"/>
          </a:p>
        </p:txBody>
      </p:sp>
      <p:sp>
        <p:nvSpPr>
          <p:cNvPr id="16" name="@3 Answer card"/>
          <p:cNvSpPr/>
          <p:nvPr/>
        </p:nvSpPr>
        <p:spPr>
          <a:xfrm>
            <a:off x="4343400" y="3364992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7" name="@3 addText"/>
          <p:cNvSpPr txBox="1"/>
          <p:nvPr/>
        </p:nvSpPr>
        <p:spPr>
          <a:xfrm>
            <a:off x="4480560" y="3364992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two: instruction fetched; decoded; executed; process repeated; program counter incremented; instruction transferred to MDR; address placed in MAR</a:t>
            </a:r>
            <a:endParaRPr lang="en-US" sz="12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to be added here.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9" name="Image 1" descr="Tas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3: CPU performance</a:t>
            </a:r>
            <a:endParaRPr lang="en-US" sz="3000" dirty="0"/>
          </a:p>
        </p:txBody>
      </p:sp>
      <p:sp>
        <p:nvSpPr>
          <p:cNvPr id="3" name="EXA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OCR J277/01 past papers: June 2024 Q6(c); OCR sample paper Q1(a); OCR sample paper Q1(c); OCR J277 question from the PMT 1.1 topic collection, Q5(b)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097280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097280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three characteristics of a CPU that can affect its performance.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400" dirty="0"/>
          </a:p>
        </p:txBody>
      </p:sp>
      <p:sp>
        <p:nvSpPr>
          <p:cNvPr id="8" name="@1 Answer card"/>
          <p:cNvSpPr/>
          <p:nvPr/>
        </p:nvSpPr>
        <p:spPr>
          <a:xfrm>
            <a:off x="4343400" y="1097280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9" name="@1 addText"/>
          <p:cNvSpPr txBox="1"/>
          <p:nvPr/>
        </p:nvSpPr>
        <p:spPr>
          <a:xfrm>
            <a:off x="4480560" y="1097280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speed; cache size; number of cores (a bare 'clock' or 'cores' is not enough)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" y="1947672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947672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1: 1 GHz, 4 cores. Computer 2: 1.4 GHz, 2 cores. Identify one reason Computer 1 is faster at 3D flight simulation.  </a:t>
            </a:r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100" dirty="0"/>
          </a:p>
        </p:txBody>
      </p:sp>
      <p:sp>
        <p:nvSpPr>
          <p:cNvPr id="12" name="@2 Answer card"/>
          <p:cNvSpPr/>
          <p:nvPr/>
        </p:nvSpPr>
        <p:spPr>
          <a:xfrm>
            <a:off x="4343400" y="1947672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3" name="@2 addText"/>
          <p:cNvSpPr txBox="1"/>
          <p:nvPr/>
        </p:nvSpPr>
        <p:spPr>
          <a:xfrm>
            <a:off x="4480560" y="1947672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more cores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57200" y="2798064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798064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one reason why the cache size affects the performance of the CPU.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400" dirty="0"/>
          </a:p>
        </p:txBody>
      </p:sp>
      <p:sp>
        <p:nvSpPr>
          <p:cNvPr id="16" name="@3 Answer card"/>
          <p:cNvSpPr/>
          <p:nvPr/>
        </p:nvSpPr>
        <p:spPr>
          <a:xfrm>
            <a:off x="4343400" y="2798064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7" name="@3 addText"/>
          <p:cNvSpPr txBox="1"/>
          <p:nvPr/>
        </p:nvSpPr>
        <p:spPr>
          <a:xfrm>
            <a:off x="4480560" y="2798064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transferred to and from cache faster than to and from RAM, so the CPU is more efficient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3648456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648456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A: single core, 3.2 GHz. Computer B: single core, 1.2 GHz. Explain why A will usually run faster.  </a:t>
            </a:r>
            <a:pPr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200" dirty="0"/>
          </a:p>
        </p:txBody>
      </p:sp>
      <p:sp>
        <p:nvSpPr>
          <p:cNvPr id="20" name="@4 Answer card"/>
          <p:cNvSpPr/>
          <p:nvPr/>
        </p:nvSpPr>
        <p:spPr>
          <a:xfrm>
            <a:off x="4343400" y="3648456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1" name="@4 addText"/>
          <p:cNvSpPr txBox="1"/>
          <p:nvPr/>
        </p:nvSpPr>
        <p:spPr>
          <a:xfrm>
            <a:off x="4480560" y="3648456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has a higher clock speed, so it runs more fetch-execute cycles per second, so more instructions are executed per second</a:t>
            </a:r>
            <a:endParaRPr lang="en-US" sz="12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4: embedded systems</a:t>
            </a:r>
            <a:endParaRPr lang="en-US" sz="3000" dirty="0"/>
          </a:p>
        </p:txBody>
      </p:sp>
      <p:sp>
        <p:nvSpPr>
          <p:cNvPr id="3" name="EXA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OCR J277/01 past papers: OCR sample paper Q3(b); OCR sample paper Q3(c); June 2023 Q7; June 2024 Q7(a)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097280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097280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what is meant by an 'embedded system'.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400" dirty="0"/>
          </a:p>
        </p:txBody>
      </p:sp>
      <p:sp>
        <p:nvSpPr>
          <p:cNvPr id="8" name="@1 Answer card"/>
          <p:cNvSpPr/>
          <p:nvPr/>
        </p:nvSpPr>
        <p:spPr>
          <a:xfrm>
            <a:off x="4343400" y="1097280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9" name="@1 addText"/>
          <p:cNvSpPr txBox="1"/>
          <p:nvPr/>
        </p:nvSpPr>
        <p:spPr>
          <a:xfrm>
            <a:off x="4480560" y="1097280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system that is built into another device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" y="1947672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947672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three devices, other than a Sat Nav, which contain embedded systems.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400" dirty="0"/>
          </a:p>
        </p:txBody>
      </p:sp>
      <p:sp>
        <p:nvSpPr>
          <p:cNvPr id="12" name="@2 Answer card"/>
          <p:cNvSpPr/>
          <p:nvPr/>
        </p:nvSpPr>
        <p:spPr>
          <a:xfrm>
            <a:off x="4343400" y="1947672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3" name="@2 addText"/>
          <p:cNvSpPr txBox="1"/>
          <p:nvPr/>
        </p:nvSpPr>
        <p:spPr>
          <a:xfrm>
            <a:off x="4480560" y="1947672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three, for example dishwasher, MP3 player, washing machine, mobile phone, manufacturing equipment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57200" y="2798064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798064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 has many embedded systems, for example parking sensors. Identify one other and explain why it is an embedded system.  </a:t>
            </a:r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100" dirty="0"/>
          </a:p>
        </p:txBody>
      </p:sp>
      <p:sp>
        <p:nvSpPr>
          <p:cNvPr id="16" name="@3 Answer card"/>
          <p:cNvSpPr/>
          <p:nvPr/>
        </p:nvSpPr>
        <p:spPr>
          <a:xfrm>
            <a:off x="4343400" y="2798064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7" name="@3 addText"/>
          <p:cNvSpPr txBox="1"/>
          <p:nvPr/>
        </p:nvSpPr>
        <p:spPr>
          <a:xfrm>
            <a:off x="4480560" y="2798064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(e.g. cruise control) + 2 reasons: limited functions, dedicated microprocessor, hard to change. 'Built into the car' earns nothing.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57200" y="3648456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648456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car's 'Follow Me' cruise control keeps its speed and distance without the driver. Explain why it is an embedded system.  </a:t>
            </a:r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100" dirty="0"/>
          </a:p>
        </p:txBody>
      </p:sp>
      <p:sp>
        <p:nvSpPr>
          <p:cNvPr id="20" name="@4 Answer card"/>
          <p:cNvSpPr/>
          <p:nvPr/>
        </p:nvSpPr>
        <p:spPr>
          <a:xfrm>
            <a:off x="4343400" y="3648456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1" name="@4 addText"/>
          <p:cNvSpPr txBox="1"/>
          <p:nvPr/>
        </p:nvSpPr>
        <p:spPr>
          <a:xfrm>
            <a:off x="4480560" y="3648456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purpose; built into the car; dedicated hardware or microprocessor; software in firmware/ROM; hard to change; automated (any three)</a:t>
            </a:r>
            <a:endParaRPr lang="en-US" sz="12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memory and storage</a:t>
            </a:r>
            <a:endParaRPr lang="en-US" sz="3000" dirty="0"/>
          </a:p>
        </p:txBody>
      </p:sp>
      <p:sp>
        <p:nvSpPr>
          <p:cNvPr id="3" name="NEXT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5" name="@1 Dot"/>
          <p:cNvSpPr/>
          <p:nvPr/>
        </p:nvSpPr>
        <p:spPr>
          <a:xfrm>
            <a:off x="548640" y="1371600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914400" y="114300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1.2 covers RAM, ROM, virtual memory and storage.</a:t>
            </a:r>
            <a:endParaRPr lang="en-US" sz="1800" dirty="0"/>
          </a:p>
        </p:txBody>
      </p:sp>
      <p:sp>
        <p:nvSpPr>
          <p:cNvPr id="7" name="@2 Dot"/>
          <p:cNvSpPr/>
          <p:nvPr/>
        </p:nvSpPr>
        <p:spPr>
          <a:xfrm>
            <a:off x="548640" y="2048256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8" name="@2 addText"/>
          <p:cNvSpPr txBox="1"/>
          <p:nvPr/>
        </p:nvSpPr>
        <p:spPr>
          <a:xfrm>
            <a:off x="914400" y="181965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builds on what you know about RAM and the CPU.</a:t>
            </a:r>
            <a:endParaRPr lang="en-US" sz="1800" dirty="0"/>
          </a:p>
        </p:txBody>
      </p:sp>
      <p:sp>
        <p:nvSpPr>
          <p:cNvPr id="9" name="@3 Dot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0" name="@3 addText"/>
          <p:cNvSpPr txBox="1"/>
          <p:nvPr/>
        </p:nvSpPr>
        <p:spPr>
          <a:xfrm>
            <a:off x="914400" y="24963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end-of-topic quiz can follow.</a:t>
            </a:r>
            <a:endParaRPr lang="en-US" sz="18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Review</a:t>
            </a:r>
            <a:endParaRPr lang="en-US" sz="3000" dirty="0"/>
          </a:p>
        </p:txBody>
      </p:sp>
      <p:sp>
        <p:nvSpPr>
          <p:cNvPr id="3" name="KEY TERM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Counter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the address of the next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/ MDR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 / ... being read or written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Accumulator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the result of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 speed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fetch-execute cycles per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cores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cores means more ... at once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 system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computer system built into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ot"/>
          <p:cNvSpPr/>
          <p:nvPr/>
        </p:nvSpPr>
        <p:spPr>
          <a:xfrm>
            <a:off x="548640" y="4123944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40142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meaning in your own words in your workbook.</a:t>
            </a:r>
            <a:endParaRPr lang="en-US" sz="18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Y10 Systems Architecture Recap</dc:title>
  <dc:subject>PptxGenJS Presentation</dc:subject>
  <dc:creator/>
  <cp:lastModifiedBy/>
  <cp:revision>1</cp:revision>
  <dcterms:created xsi:type="dcterms:W3CDTF">2026-10-21T13:03:47Z</dcterms:created>
  <dcterms:modified xsi:type="dcterms:W3CDTF">2026-10-21T13:03:47Z</dcterms:modified>
</cp:coreProperties>
</file>