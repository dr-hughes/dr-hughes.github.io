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er" id="{c14ccfb1-a23e-06b0-2e3e-21a402a1dcb1}">
          <p14:sldIdLst>
            <p14:sldId id="256"/>
          </p14:sldIdLst>
        </p14:section>
        <p14:section name="Default-1" id="{8a947e06-d5fb-fec8-9939-e3a542c887e6}">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01B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EEF2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rgbClr val="001B40"/>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1000" dirty="0">
                <a:solidFill>
                  <a:srgbClr val="5D6B80"/>
                </a:solidFill>
                <a:latin typeface="Arial" pitchFamily="34" charset="0"/>
                <a:ea typeface="Arial" pitchFamily="34" charset="-122"/>
                <a:cs typeface="Arial" pitchFamily="34" charset="-120"/>
              </a:rPr>
              <a:t>Y12 Networks L2  |  Dr. Hughes</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SW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rtlCol="0"/>
          <a:lstStyle>
            <a:lvl1pPr algn="l" indent="0" marL="0">
              <a:buNone/>
              <a:defRPr lang="en-US" sz="2800" b="1" dirty="0">
                <a:solidFill>
                  <a:srgbClr val="001B40"/>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3"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1000" dirty="0">
                <a:solidFill>
                  <a:srgbClr val="5D6B80"/>
                </a:solidFill>
                <a:latin typeface="Arial" pitchFamily="34" charset="0"/>
                <a:ea typeface="Arial" pitchFamily="34" charset="-122"/>
                <a:cs typeface="Arial" pitchFamily="34" charset="-120"/>
              </a:rPr>
              <a:t>Y12 Networks L2  |  Dr. Hughes</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5-A-DAY on SmartRevise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STARTER</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Log in and complete today's 5-A-DAY.</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5 minutes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Y12 Networks L2: Characteristics of networks, protocols and standards</a:t>
            </a:r>
            <a:endParaRPr lang="en-US" sz="3400" dirty="0"/>
          </a:p>
        </p:txBody>
      </p:sp>
      <p:sp>
        <p:nvSpPr>
          <p:cNvPr id="3" name="Text 1"/>
          <p:cNvSpPr txBox="1"/>
          <p:nvPr/>
        </p:nvSpPr>
        <p:spPr>
          <a:xfrm>
            <a:off x="548640" y="3017520"/>
            <a:ext cx="7315200" cy="457200"/>
          </a:xfrm>
          <a:prstGeom prst="rect">
            <a:avLst/>
          </a:prstGeom>
          <a:noFill/>
          <a:ln/>
        </p:spPr>
        <p:txBody>
          <a:bodyPr wrap="square" lIns="0" tIns="0" rIns="0" bIns="0" rtlCol="0" anchor="ctr"/>
          <a:lstStyle/>
          <a:p>
            <a:pPr indent="0" marL="0">
              <a:buNone/>
            </a:pPr>
            <a:r>
              <a:rPr lang="en-US" sz="1600" dirty="0">
                <a:solidFill>
                  <a:srgbClr val="C5D1E3"/>
                </a:solidFill>
                <a:latin typeface="Arial" pitchFamily="34" charset="0"/>
                <a:ea typeface="Arial" pitchFamily="34" charset="-122"/>
                <a:cs typeface="Arial" pitchFamily="34" charset="-120"/>
              </a:rPr>
              <a:t>OCR A Level Computer Science H446, 1.3.3 Networks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Today's objective</a:t>
            </a:r>
            <a:endParaRPr lang="en-US" sz="3000" dirty="0"/>
          </a:p>
        </p:txBody>
      </p:sp>
      <p:sp>
        <p:nvSpPr>
          <p:cNvPr id="3" name="Card"/>
          <p:cNvSpPr/>
          <p:nvPr/>
        </p:nvSpPr>
        <p:spPr>
          <a:xfrm>
            <a:off x="457200" y="1188720"/>
            <a:ext cx="8229600" cy="822960"/>
          </a:xfrm>
          <a:prstGeom prst="roundRect">
            <a:avLst>
              <a:gd name="adj" fmla="val 13333"/>
            </a:avLst>
          </a:prstGeom>
          <a:solidFill>
            <a:srgbClr val="EEF2F7"/>
          </a:solidFill>
          <a:ln w="9525">
            <a:solidFill>
              <a:srgbClr val="C5D1E3"/>
            </a:solidFill>
            <a:prstDash val="solid"/>
          </a:ln>
        </p:spPr>
      </p:sp>
      <p:sp>
        <p:nvSpPr>
          <p:cNvPr id="4" name="Text 2"/>
          <p:cNvSpPr txBox="1"/>
          <p:nvPr/>
        </p:nvSpPr>
        <p:spPr>
          <a:xfrm>
            <a:off x="731520" y="118872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To explain why devices need agreed protocols and standards to communicate</a:t>
            </a:r>
            <a:endParaRPr lang="en-US" sz="1800" dirty="0"/>
          </a:p>
        </p:txBody>
      </p:sp>
      <p:sp>
        <p:nvSpPr>
          <p:cNvPr id="5" name="Card"/>
          <p:cNvSpPr/>
          <p:nvPr/>
        </p:nvSpPr>
        <p:spPr>
          <a:xfrm>
            <a:off x="457200" y="2148840"/>
            <a:ext cx="8229600" cy="822960"/>
          </a:xfrm>
          <a:prstGeom prst="roundRect">
            <a:avLst>
              <a:gd name="adj" fmla="val 13333"/>
            </a:avLst>
          </a:prstGeom>
          <a:solidFill>
            <a:srgbClr val="EEF2F7"/>
          </a:solidFill>
          <a:ln w="9525">
            <a:solidFill>
              <a:srgbClr val="C5D1E3"/>
            </a:solidFill>
            <a:prstDash val="solid"/>
          </a:ln>
        </p:spPr>
      </p:sp>
      <p:sp>
        <p:nvSpPr>
          <p:cNvPr id="6" name="Text 4"/>
          <p:cNvSpPr txBox="1"/>
          <p:nvPr/>
        </p:nvSpPr>
        <p:spPr>
          <a:xfrm>
            <a:off x="731520" y="214884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Retrieval first: networks, LAN vs WAN and the protocol table from last lesson</a:t>
            </a:r>
            <a:endParaRPr lang="en-US" sz="1800" dirty="0"/>
          </a:p>
        </p:txBody>
      </p:sp>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1: Retrieval and cloze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Answer three questions from last lesson with no notes, then complete the standards and protocols paragraph.</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8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2: The throwing demo</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Watch the demo, then record what went wrong and which protocol feature fixes it.</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10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What the demo showed</a:t>
            </a:r>
            <a:endParaRPr lang="en-US" sz="3000" dirty="0"/>
          </a:p>
        </p:txBody>
      </p:sp>
      <p:sp>
        <p:nvSpPr>
          <p:cNvPr id="3" name="@1 Card"/>
          <p:cNvSpPr/>
          <p:nvPr/>
        </p:nvSpPr>
        <p:spPr>
          <a:xfrm>
            <a:off x="457200" y="1188720"/>
            <a:ext cx="8229600" cy="822960"/>
          </a:xfrm>
          <a:prstGeom prst="roundRect">
            <a:avLst>
              <a:gd name="adj" fmla="val 13333"/>
            </a:avLst>
          </a:prstGeom>
          <a:solidFill>
            <a:srgbClr val="EEF2F7"/>
          </a:solidFill>
          <a:ln w="9525">
            <a:solidFill>
              <a:srgbClr val="C5D1E3"/>
            </a:solidFill>
            <a:prstDash val="solid"/>
          </a:ln>
        </p:spPr>
      </p:sp>
      <p:sp>
        <p:nvSpPr>
          <p:cNvPr id="4" name="@1 addText"/>
          <p:cNvSpPr txBox="1"/>
          <p:nvPr/>
        </p:nvSpPr>
        <p:spPr>
          <a:xfrm>
            <a:off x="731520" y="118872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Handshake: both sides are ready before data moves</a:t>
            </a:r>
            <a:endParaRPr lang="en-US" sz="1800" dirty="0"/>
          </a:p>
        </p:txBody>
      </p:sp>
      <p:sp>
        <p:nvSpPr>
          <p:cNvPr id="5" name="@2 Card"/>
          <p:cNvSpPr/>
          <p:nvPr/>
        </p:nvSpPr>
        <p:spPr>
          <a:xfrm>
            <a:off x="457200" y="2148840"/>
            <a:ext cx="8229600" cy="822960"/>
          </a:xfrm>
          <a:prstGeom prst="roundRect">
            <a:avLst>
              <a:gd name="adj" fmla="val 13333"/>
            </a:avLst>
          </a:prstGeom>
          <a:solidFill>
            <a:srgbClr val="EEF2F7"/>
          </a:solidFill>
          <a:ln w="9525">
            <a:solidFill>
              <a:srgbClr val="C5D1E3"/>
            </a:solidFill>
            <a:prstDash val="solid"/>
          </a:ln>
        </p:spPr>
      </p:sp>
      <p:sp>
        <p:nvSpPr>
          <p:cNvPr id="6" name="@2 addText"/>
          <p:cNvSpPr txBox="1"/>
          <p:nvPr/>
        </p:nvSpPr>
        <p:spPr>
          <a:xfrm>
            <a:off x="731520" y="214884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Agreed speed: send at a rate the receiver can handle</a:t>
            </a:r>
            <a:endParaRPr lang="en-US" sz="1800" dirty="0"/>
          </a:p>
        </p:txBody>
      </p:sp>
      <p:sp>
        <p:nvSpPr>
          <p:cNvPr id="7" name="@3 Card"/>
          <p:cNvSpPr/>
          <p:nvPr/>
        </p:nvSpPr>
        <p:spPr>
          <a:xfrm>
            <a:off x="457200" y="3108960"/>
            <a:ext cx="8229600" cy="822960"/>
          </a:xfrm>
          <a:prstGeom prst="roundRect">
            <a:avLst>
              <a:gd name="adj" fmla="val 13333"/>
            </a:avLst>
          </a:prstGeom>
          <a:solidFill>
            <a:srgbClr val="EEF2F7"/>
          </a:solidFill>
          <a:ln w="9525">
            <a:solidFill>
              <a:srgbClr val="C5D1E3"/>
            </a:solidFill>
            <a:prstDash val="solid"/>
          </a:ln>
        </p:spPr>
      </p:sp>
      <p:sp>
        <p:nvSpPr>
          <p:cNvPr id="8" name="@3 addText"/>
          <p:cNvSpPr txBox="1"/>
          <p:nvPr/>
        </p:nvSpPr>
        <p:spPr>
          <a:xfrm>
            <a:off x="731520" y="310896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Error checking: detect a bad packet and resend it</a:t>
            </a:r>
            <a:endParaRPr lang="en-US" sz="1800" dirty="0"/>
          </a:p>
        </p:txBody>
      </p:sp>
      <p:sp>
        <p:nvSpPr>
          <p:cNvPr id="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2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200"/>
                                        <p:tgtEl>
                                          <p:spTgt spid="4"/>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2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3: Protocol design challenge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In pairs, design a protocol to send a 12 word message across the room with a runner.</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15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Protocol or standard?</a:t>
            </a:r>
            <a:endParaRPr lang="en-US" sz="3000" dirty="0"/>
          </a:p>
        </p:txBody>
      </p:sp>
      <p:sp>
        <p:nvSpPr>
          <p:cNvPr id="3" name="@1 Card"/>
          <p:cNvSpPr/>
          <p:nvPr/>
        </p:nvSpPr>
        <p:spPr>
          <a:xfrm>
            <a:off x="457200" y="1188720"/>
            <a:ext cx="4023360" cy="2743200"/>
          </a:xfrm>
          <a:prstGeom prst="roundRect">
            <a:avLst>
              <a:gd name="adj" fmla="val 4000"/>
            </a:avLst>
          </a:prstGeom>
          <a:solidFill>
            <a:srgbClr val="EEF2F7"/>
          </a:solidFill>
          <a:ln w="9525">
            <a:solidFill>
              <a:srgbClr val="C5D1E3"/>
            </a:solidFill>
            <a:prstDash val="solid"/>
          </a:ln>
        </p:spPr>
      </p:sp>
      <p:sp>
        <p:nvSpPr>
          <p:cNvPr id="4" name="@1 addText"/>
          <p:cNvSpPr txBox="1"/>
          <p:nvPr/>
        </p:nvSpPr>
        <p:spPr>
          <a:xfrm>
            <a:off x="594360" y="1280160"/>
            <a:ext cx="3749040"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Protocol</a:t>
            </a:r>
            <a:endParaRPr lang="en-US" sz="2000" dirty="0"/>
          </a:p>
        </p:txBody>
      </p:sp>
      <p:sp>
        <p:nvSpPr>
          <p:cNvPr id="5" name="@1 addText"/>
          <p:cNvSpPr txBox="1"/>
          <p:nvPr/>
        </p:nvSpPr>
        <p:spPr>
          <a:xfrm>
            <a:off x="594360" y="1783080"/>
            <a:ext cx="3749040" cy="2011680"/>
          </a:xfrm>
          <a:prstGeom prst="rect">
            <a:avLst/>
          </a:prstGeom>
          <a:noFill/>
          <a:ln/>
        </p:spPr>
        <p:txBody>
          <a:bodyPr wrap="square" lIns="0" tIns="0" rIns="0" bIns="0" rtlCol="0" anchor="t"/>
          <a:lstStyle/>
          <a:p>
            <a:pPr indent="0" marL="0">
              <a:buNone/>
            </a:pPr>
            <a:r>
              <a:rPr lang="en-US" sz="1800" dirty="0">
                <a:solidFill>
                  <a:srgbClr val="22262E"/>
                </a:solidFill>
                <a:latin typeface="Arial" pitchFamily="34" charset="0"/>
                <a:ea typeface="Arial" pitchFamily="34" charset="-122"/>
                <a:cs typeface="Arial" pitchFamily="34" charset="-120"/>
              </a:rPr>
              <a:t>A set of rules for how two devices communicate: format of data, transfer rate, error detection and correction</a:t>
            </a:r>
            <a:endParaRPr lang="en-US" sz="1800" dirty="0"/>
          </a:p>
        </p:txBody>
      </p:sp>
      <p:sp>
        <p:nvSpPr>
          <p:cNvPr id="6" name="@2 Card"/>
          <p:cNvSpPr/>
          <p:nvPr/>
        </p:nvSpPr>
        <p:spPr>
          <a:xfrm>
            <a:off x="4663440" y="1188720"/>
            <a:ext cx="4023360" cy="2743200"/>
          </a:xfrm>
          <a:prstGeom prst="roundRect">
            <a:avLst>
              <a:gd name="adj" fmla="val 4000"/>
            </a:avLst>
          </a:prstGeom>
          <a:solidFill>
            <a:srgbClr val="EEF2F7"/>
          </a:solidFill>
          <a:ln w="9525">
            <a:solidFill>
              <a:srgbClr val="C5D1E3"/>
            </a:solidFill>
            <a:prstDash val="solid"/>
          </a:ln>
        </p:spPr>
      </p:sp>
      <p:sp>
        <p:nvSpPr>
          <p:cNvPr id="7" name="@2 addText"/>
          <p:cNvSpPr txBox="1"/>
          <p:nvPr/>
        </p:nvSpPr>
        <p:spPr>
          <a:xfrm>
            <a:off x="4800600" y="1280160"/>
            <a:ext cx="3749040" cy="457200"/>
          </a:xfrm>
          <a:prstGeom prst="rect">
            <a:avLst/>
          </a:prstGeom>
          <a:noFill/>
          <a:ln/>
        </p:spPr>
        <p:txBody>
          <a:bodyPr wrap="square" lIns="0" tIns="0" rIns="0" bIns="0" rtlCol="0" anchor="ctr"/>
          <a:lstStyle/>
          <a:p>
            <a:pPr indent="0" marL="0">
              <a:buNone/>
            </a:pPr>
            <a:r>
              <a:rPr lang="en-US" sz="2000" b="1" dirty="0">
                <a:solidFill>
                  <a:srgbClr val="002D6A"/>
                </a:solidFill>
                <a:latin typeface="Arial" pitchFamily="34" charset="0"/>
                <a:ea typeface="Arial" pitchFamily="34" charset="-122"/>
                <a:cs typeface="Arial" pitchFamily="34" charset="-120"/>
              </a:rPr>
              <a:t>Standard</a:t>
            </a:r>
            <a:endParaRPr lang="en-US" sz="2000" dirty="0"/>
          </a:p>
        </p:txBody>
      </p:sp>
      <p:sp>
        <p:nvSpPr>
          <p:cNvPr id="8" name="@2 addText"/>
          <p:cNvSpPr txBox="1"/>
          <p:nvPr/>
        </p:nvSpPr>
        <p:spPr>
          <a:xfrm>
            <a:off x="4800600" y="1783080"/>
            <a:ext cx="3749040" cy="2011680"/>
          </a:xfrm>
          <a:prstGeom prst="rect">
            <a:avLst/>
          </a:prstGeom>
          <a:noFill/>
          <a:ln/>
        </p:spPr>
        <p:txBody>
          <a:bodyPr wrap="square" lIns="0" tIns="0" rIns="0" bIns="0" rtlCol="0" anchor="t"/>
          <a:lstStyle/>
          <a:p>
            <a:pPr indent="0" marL="0">
              <a:buNone/>
            </a:pPr>
            <a:r>
              <a:rPr lang="en-US" sz="1800" dirty="0">
                <a:solidFill>
                  <a:srgbClr val="22262E"/>
                </a:solidFill>
                <a:latin typeface="Arial" pitchFamily="34" charset="0"/>
                <a:ea typeface="Arial" pitchFamily="34" charset="-122"/>
                <a:cs typeface="Arial" pitchFamily="34" charset="-120"/>
              </a:rPr>
              <a:t>An agreement so hardware and software from different makers work together: sockets, cables, encoding</a:t>
            </a:r>
            <a:endParaRPr lang="en-US" sz="1800" dirty="0"/>
          </a:p>
        </p:txBody>
      </p:sp>
      <p:sp>
        <p:nvSpPr>
          <p:cNvPr id="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2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2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
                                        <p:tgtEl>
                                          <p:spTgt spid="5"/>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Where standards come from</a:t>
            </a:r>
            <a:endParaRPr lang="en-US" sz="3000" dirty="0"/>
          </a:p>
        </p:txBody>
      </p:sp>
      <p:sp>
        <p:nvSpPr>
          <p:cNvPr id="3" name="@1 Card"/>
          <p:cNvSpPr/>
          <p:nvPr/>
        </p:nvSpPr>
        <p:spPr>
          <a:xfrm>
            <a:off x="457200" y="1554480"/>
            <a:ext cx="2529840" cy="2377440"/>
          </a:xfrm>
          <a:prstGeom prst="roundRect">
            <a:avLst>
              <a:gd name="adj" fmla="val 4615"/>
            </a:avLst>
          </a:prstGeom>
          <a:solidFill>
            <a:srgbClr val="FFFFFF"/>
          </a:solidFill>
          <a:ln w="15875">
            <a:solidFill>
              <a:srgbClr val="002D6A"/>
            </a:solidFill>
            <a:prstDash val="solid"/>
          </a:ln>
        </p:spPr>
      </p:sp>
      <p:sp>
        <p:nvSpPr>
          <p:cNvPr id="4" name="@1 addText"/>
          <p:cNvSpPr txBox="1"/>
          <p:nvPr/>
        </p:nvSpPr>
        <p:spPr>
          <a:xfrm>
            <a:off x="548640" y="1645920"/>
            <a:ext cx="2346960" cy="548640"/>
          </a:xfrm>
          <a:prstGeom prst="rect">
            <a:avLst/>
          </a:prstGeom>
          <a:noFill/>
          <a:ln/>
        </p:spPr>
        <p:txBody>
          <a:bodyPr wrap="square" lIns="0" tIns="0" rIns="0" bIns="0" rtlCol="0" anchor="ctr"/>
          <a:lstStyle/>
          <a:p>
            <a:pPr algn="ctr" indent="0" marL="0">
              <a:buNone/>
            </a:pPr>
            <a:r>
              <a:rPr lang="en-US" sz="1800" b="1" dirty="0">
                <a:solidFill>
                  <a:srgbClr val="002D6A"/>
                </a:solidFill>
                <a:latin typeface="Arial" pitchFamily="34" charset="0"/>
                <a:ea typeface="Arial" pitchFamily="34" charset="-122"/>
                <a:cs typeface="Arial" pitchFamily="34" charset="-120"/>
              </a:rPr>
              <a:t>Proprietary</a:t>
            </a:r>
            <a:endParaRPr lang="en-US" sz="1800" dirty="0"/>
          </a:p>
        </p:txBody>
      </p:sp>
      <p:sp>
        <p:nvSpPr>
          <p:cNvPr id="5" name="@1 addText"/>
          <p:cNvSpPr txBox="1"/>
          <p:nvPr/>
        </p:nvSpPr>
        <p:spPr>
          <a:xfrm>
            <a:off x="548640" y="2240280"/>
            <a:ext cx="2346960" cy="1554480"/>
          </a:xfrm>
          <a:prstGeom prst="rect">
            <a:avLst/>
          </a:prstGeom>
          <a:noFill/>
          <a:ln/>
        </p:spPr>
        <p:txBody>
          <a:bodyPr wrap="square" lIns="0" tIns="0" rIns="0" bIns="0" rtlCol="0" anchor="t"/>
          <a:lstStyle/>
          <a:p>
            <a:pPr algn="ctr" indent="0" marL="0">
              <a:buNone/>
            </a:pPr>
            <a:r>
              <a:rPr lang="en-US" sz="1600" dirty="0">
                <a:solidFill>
                  <a:srgbClr val="22262E"/>
                </a:solidFill>
                <a:latin typeface="Arial" pitchFamily="34" charset="0"/>
                <a:ea typeface="Arial" pitchFamily="34" charset="-122"/>
                <a:cs typeface="Arial" pitchFamily="34" charset="-120"/>
              </a:rPr>
              <a:t>one company's own design</a:t>
            </a:r>
            <a:endParaRPr lang="en-US" sz="1600" dirty="0"/>
          </a:p>
        </p:txBody>
      </p:sp>
      <p:sp>
        <p:nvSpPr>
          <p:cNvPr id="6" name="@1 arrow"/>
          <p:cNvSpPr/>
          <p:nvPr/>
        </p:nvSpPr>
        <p:spPr>
          <a:xfrm>
            <a:off x="3014472" y="2743200"/>
            <a:ext cx="265176" cy="0"/>
          </a:xfrm>
          <a:prstGeom prst="line">
            <a:avLst/>
          </a:prstGeom>
          <a:noFill/>
          <a:ln w="38100">
            <a:solidFill>
              <a:srgbClr val="002D6A"/>
            </a:solidFill>
            <a:prstDash val="solid"/>
            <a:tailEnd type="triangle"/>
          </a:ln>
        </p:spPr>
      </p:sp>
      <p:sp>
        <p:nvSpPr>
          <p:cNvPr id="7" name="@2 Card"/>
          <p:cNvSpPr/>
          <p:nvPr/>
        </p:nvSpPr>
        <p:spPr>
          <a:xfrm>
            <a:off x="3307080" y="1554480"/>
            <a:ext cx="2529840" cy="2377440"/>
          </a:xfrm>
          <a:prstGeom prst="roundRect">
            <a:avLst>
              <a:gd name="adj" fmla="val 4615"/>
            </a:avLst>
          </a:prstGeom>
          <a:solidFill>
            <a:srgbClr val="FFFFFF"/>
          </a:solidFill>
          <a:ln w="15875">
            <a:solidFill>
              <a:srgbClr val="002D6A"/>
            </a:solidFill>
            <a:prstDash val="solid"/>
          </a:ln>
        </p:spPr>
      </p:sp>
      <p:sp>
        <p:nvSpPr>
          <p:cNvPr id="8" name="@2 addText"/>
          <p:cNvSpPr txBox="1"/>
          <p:nvPr/>
        </p:nvSpPr>
        <p:spPr>
          <a:xfrm>
            <a:off x="3398520" y="1645920"/>
            <a:ext cx="2346960" cy="548640"/>
          </a:xfrm>
          <a:prstGeom prst="rect">
            <a:avLst/>
          </a:prstGeom>
          <a:noFill/>
          <a:ln/>
        </p:spPr>
        <p:txBody>
          <a:bodyPr wrap="square" lIns="0" tIns="0" rIns="0" bIns="0" rtlCol="0" anchor="ctr"/>
          <a:lstStyle/>
          <a:p>
            <a:pPr algn="ctr" indent="0" marL="0">
              <a:buNone/>
            </a:pPr>
            <a:r>
              <a:rPr lang="en-US" sz="1800" b="1" dirty="0">
                <a:solidFill>
                  <a:srgbClr val="002D6A"/>
                </a:solidFill>
                <a:latin typeface="Arial" pitchFamily="34" charset="0"/>
                <a:ea typeface="Arial" pitchFamily="34" charset="-122"/>
                <a:cs typeface="Arial" pitchFamily="34" charset="-120"/>
              </a:rPr>
              <a:t>De facto</a:t>
            </a:r>
            <a:endParaRPr lang="en-US" sz="1800" dirty="0"/>
          </a:p>
        </p:txBody>
      </p:sp>
      <p:sp>
        <p:nvSpPr>
          <p:cNvPr id="9" name="@2 addText"/>
          <p:cNvSpPr txBox="1"/>
          <p:nvPr/>
        </p:nvSpPr>
        <p:spPr>
          <a:xfrm>
            <a:off x="3398520" y="2240280"/>
            <a:ext cx="2346960" cy="1554480"/>
          </a:xfrm>
          <a:prstGeom prst="rect">
            <a:avLst/>
          </a:prstGeom>
          <a:noFill/>
          <a:ln/>
        </p:spPr>
        <p:txBody>
          <a:bodyPr wrap="square" lIns="0" tIns="0" rIns="0" bIns="0" rtlCol="0" anchor="t"/>
          <a:lstStyle/>
          <a:p>
            <a:pPr algn="ctr" indent="0" marL="0">
              <a:buNone/>
            </a:pPr>
            <a:r>
              <a:rPr lang="en-US" sz="1600" dirty="0">
                <a:solidFill>
                  <a:srgbClr val="22262E"/>
                </a:solidFill>
                <a:latin typeface="Arial" pitchFamily="34" charset="0"/>
                <a:ea typeface="Arial" pitchFamily="34" charset="-122"/>
                <a:cs typeface="Arial" pitchFamily="34" charset="-120"/>
              </a:rPr>
              <a:t>widely adopted, never formally agreed</a:t>
            </a:r>
            <a:endParaRPr lang="en-US" sz="1600" dirty="0"/>
          </a:p>
        </p:txBody>
      </p:sp>
      <p:sp>
        <p:nvSpPr>
          <p:cNvPr id="10" name="@2 arrow"/>
          <p:cNvSpPr/>
          <p:nvPr/>
        </p:nvSpPr>
        <p:spPr>
          <a:xfrm>
            <a:off x="5864352" y="2743200"/>
            <a:ext cx="265176" cy="0"/>
          </a:xfrm>
          <a:prstGeom prst="line">
            <a:avLst/>
          </a:prstGeom>
          <a:noFill/>
          <a:ln w="38100">
            <a:solidFill>
              <a:srgbClr val="002D6A"/>
            </a:solidFill>
            <a:prstDash val="solid"/>
            <a:tailEnd type="triangle"/>
          </a:ln>
        </p:spPr>
      </p:sp>
      <p:sp>
        <p:nvSpPr>
          <p:cNvPr id="11" name="@3 Card"/>
          <p:cNvSpPr/>
          <p:nvPr/>
        </p:nvSpPr>
        <p:spPr>
          <a:xfrm>
            <a:off x="6156960" y="1554480"/>
            <a:ext cx="2529840" cy="2377440"/>
          </a:xfrm>
          <a:prstGeom prst="roundRect">
            <a:avLst>
              <a:gd name="adj" fmla="val 4615"/>
            </a:avLst>
          </a:prstGeom>
          <a:solidFill>
            <a:srgbClr val="FFFFFF"/>
          </a:solidFill>
          <a:ln w="15875">
            <a:solidFill>
              <a:srgbClr val="002D6A"/>
            </a:solidFill>
            <a:prstDash val="solid"/>
          </a:ln>
        </p:spPr>
      </p:sp>
      <p:sp>
        <p:nvSpPr>
          <p:cNvPr id="12" name="@3 addText"/>
          <p:cNvSpPr txBox="1"/>
          <p:nvPr/>
        </p:nvSpPr>
        <p:spPr>
          <a:xfrm>
            <a:off x="6248400" y="1645920"/>
            <a:ext cx="2346960" cy="548640"/>
          </a:xfrm>
          <a:prstGeom prst="rect">
            <a:avLst/>
          </a:prstGeom>
          <a:noFill/>
          <a:ln/>
        </p:spPr>
        <p:txBody>
          <a:bodyPr wrap="square" lIns="0" tIns="0" rIns="0" bIns="0" rtlCol="0" anchor="ctr"/>
          <a:lstStyle/>
          <a:p>
            <a:pPr algn="ctr" indent="0" marL="0">
              <a:buNone/>
            </a:pPr>
            <a:r>
              <a:rPr lang="en-US" sz="1800" b="1" dirty="0">
                <a:solidFill>
                  <a:srgbClr val="002D6A"/>
                </a:solidFill>
                <a:latin typeface="Arial" pitchFamily="34" charset="0"/>
                <a:ea typeface="Arial" pitchFamily="34" charset="-122"/>
                <a:cs typeface="Arial" pitchFamily="34" charset="-120"/>
              </a:rPr>
              <a:t>Formal</a:t>
            </a:r>
            <a:endParaRPr lang="en-US" sz="1800" dirty="0"/>
          </a:p>
        </p:txBody>
      </p:sp>
      <p:sp>
        <p:nvSpPr>
          <p:cNvPr id="13" name="@3 addText"/>
          <p:cNvSpPr txBox="1"/>
          <p:nvPr/>
        </p:nvSpPr>
        <p:spPr>
          <a:xfrm>
            <a:off x="6248400" y="2240280"/>
            <a:ext cx="2346960" cy="1554480"/>
          </a:xfrm>
          <a:prstGeom prst="rect">
            <a:avLst/>
          </a:prstGeom>
          <a:noFill/>
          <a:ln/>
        </p:spPr>
        <p:txBody>
          <a:bodyPr wrap="square" lIns="0" tIns="0" rIns="0" bIns="0" rtlCol="0" anchor="t"/>
          <a:lstStyle/>
          <a:p>
            <a:pPr algn="ctr" indent="0" marL="0">
              <a:buNone/>
            </a:pPr>
            <a:r>
              <a:rPr lang="en-US" sz="1600" dirty="0">
                <a:solidFill>
                  <a:srgbClr val="22262E"/>
                </a:solidFill>
                <a:latin typeface="Arial" pitchFamily="34" charset="0"/>
                <a:ea typeface="Arial" pitchFamily="34" charset="-122"/>
                <a:cs typeface="Arial" pitchFamily="34" charset="-120"/>
              </a:rPr>
              <a:t>agreed by an official body</a:t>
            </a:r>
            <a:endParaRPr lang="en-US" sz="1600" dirty="0"/>
          </a:p>
        </p:txBody>
      </p:sp>
      <p:sp>
        <p:nvSpPr>
          <p:cNvPr id="14"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2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200"/>
                                        <p:tgtEl>
                                          <p:spTgt spid="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200"/>
                                        <p:tgtEl>
                                          <p:spTgt spid="6"/>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00"/>
                                        <p:tgtEl>
                                          <p:spTgt spid="10"/>
                                        </p:tgtEl>
                                      </p:cBhvr>
                                    </p:animEffect>
                                  </p:childTnLst>
                                </p:cTn>
                              </p:par>
                            </p:childTnLst>
                          </p:cTn>
                        </p:par>
                      </p:childTnLst>
                    </p:cTn>
                  </p:par>
                  <p:par>
                    <p:cTn id="40" fill="hold">
                      <p:stCondLst>
                        <p:cond delay="indefinite"/>
                      </p:stCondLst>
                      <p:childTnLst>
                        <p:par>
                          <p:cTn id="41"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Protocols you should know</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585216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Protocol</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Used for</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r>
              <a:tr h="0">
                <a:tc>
                  <a:txBody>
                    <a:bodyPr/>
                    <a:lstStyle/>
                    <a:p>
                      <a:pPr indent="0" marL="0">
                        <a:buNone/>
                      </a:pPr>
                      <a:r>
                        <a:rPr lang="en-US" sz="1100" dirty="0">
                          <a:solidFill>
                            <a:srgbClr val="22262E"/>
                          </a:solidFill>
                          <a:latin typeface="Arial" pitchFamily="34" charset="0"/>
                          <a:ea typeface="Arial" pitchFamily="34" charset="-122"/>
                          <a:cs typeface="Arial" pitchFamily="34" charset="-120"/>
                        </a:rPr>
                        <a:t>HTTP / HTTPS</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100" dirty="0">
                          <a:solidFill>
                            <a:srgbClr val="22262E"/>
                          </a:solidFill>
                          <a:latin typeface="Arial" pitchFamily="34" charset="0"/>
                          <a:ea typeface="Arial" pitchFamily="34" charset="-122"/>
                          <a:cs typeface="Arial" pitchFamily="34" charset="-120"/>
                        </a:rPr>
                        <a:t>Web pages (HTTPS adds encryption and authentication)</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2262E"/>
                          </a:solidFill>
                          <a:latin typeface="Arial" pitchFamily="34" charset="0"/>
                          <a:ea typeface="Arial" pitchFamily="34" charset="-122"/>
                          <a:cs typeface="Arial" pitchFamily="34" charset="-120"/>
                        </a:rPr>
                        <a:t>FTP</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100" dirty="0">
                          <a:solidFill>
                            <a:srgbClr val="22262E"/>
                          </a:solidFill>
                          <a:latin typeface="Arial" pitchFamily="34" charset="0"/>
                          <a:ea typeface="Arial" pitchFamily="34" charset="-122"/>
                          <a:cs typeface="Arial" pitchFamily="34" charset="-120"/>
                        </a:rPr>
                        <a:t>Transferring files between computers</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2262E"/>
                          </a:solidFill>
                          <a:latin typeface="Arial" pitchFamily="34" charset="0"/>
                          <a:ea typeface="Arial" pitchFamily="34" charset="-122"/>
                          <a:cs typeface="Arial" pitchFamily="34" charset="-120"/>
                        </a:rPr>
                        <a:t>SMTP</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100" dirty="0">
                          <a:solidFill>
                            <a:srgbClr val="22262E"/>
                          </a:solidFill>
                          <a:latin typeface="Arial" pitchFamily="34" charset="0"/>
                          <a:ea typeface="Arial" pitchFamily="34" charset="-122"/>
                          <a:cs typeface="Arial" pitchFamily="34" charset="-120"/>
                        </a:rPr>
                        <a:t>Sending email</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2262E"/>
                          </a:solidFill>
                          <a:latin typeface="Arial" pitchFamily="34" charset="0"/>
                          <a:ea typeface="Arial" pitchFamily="34" charset="-122"/>
                          <a:cs typeface="Arial" pitchFamily="34" charset="-120"/>
                        </a:rPr>
                        <a:t>POP3</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100" dirty="0">
                          <a:solidFill>
                            <a:srgbClr val="22262E"/>
                          </a:solidFill>
                          <a:latin typeface="Arial" pitchFamily="34" charset="0"/>
                          <a:ea typeface="Arial" pitchFamily="34" charset="-122"/>
                          <a:cs typeface="Arial" pitchFamily="34" charset="-120"/>
                        </a:rPr>
                        <a:t>Retrieving email, removes it from the server</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2262E"/>
                          </a:solidFill>
                          <a:latin typeface="Arial" pitchFamily="34" charset="0"/>
                          <a:ea typeface="Arial" pitchFamily="34" charset="-122"/>
                          <a:cs typeface="Arial" pitchFamily="34" charset="-120"/>
                        </a:rPr>
                        <a:t>IMAP</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100" dirty="0">
                          <a:solidFill>
                            <a:srgbClr val="22262E"/>
                          </a:solidFill>
                          <a:latin typeface="Arial" pitchFamily="34" charset="0"/>
                          <a:ea typeface="Arial" pitchFamily="34" charset="-122"/>
                          <a:cs typeface="Arial" pitchFamily="34" charset="-120"/>
                        </a:rPr>
                        <a:t>Email kept on the server, synchronised across devices</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2262E"/>
                          </a:solidFill>
                          <a:latin typeface="Arial" pitchFamily="34" charset="0"/>
                          <a:ea typeface="Arial" pitchFamily="34" charset="-122"/>
                          <a:cs typeface="Arial" pitchFamily="34" charset="-120"/>
                        </a:rPr>
                        <a:t>TCP/IP</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100" dirty="0">
                          <a:solidFill>
                            <a:srgbClr val="22262E"/>
                          </a:solidFill>
                          <a:latin typeface="Arial" pitchFamily="34" charset="0"/>
                          <a:ea typeface="Arial" pitchFamily="34" charset="-122"/>
                          <a:cs typeface="Arial" pitchFamily="34" charset="-120"/>
                        </a:rPr>
                        <a:t>Routing and delivering packets across the internet</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2262E"/>
                          </a:solidFill>
                          <a:latin typeface="Arial" pitchFamily="34" charset="0"/>
                          <a:ea typeface="Arial" pitchFamily="34" charset="-122"/>
                          <a:cs typeface="Arial" pitchFamily="34" charset="-120"/>
                        </a:rPr>
                        <a:t>UDP</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100" dirty="0">
                          <a:solidFill>
                            <a:srgbClr val="22262E"/>
                          </a:solidFill>
                          <a:latin typeface="Arial" pitchFamily="34" charset="0"/>
                          <a:ea typeface="Arial" pitchFamily="34" charset="-122"/>
                          <a:cs typeface="Arial" pitchFamily="34" charset="-120"/>
                        </a:rPr>
                        <a:t>Connectionless, no error checking: used where speed matters more than accuracy, e.g. online games</a:t>
                      </a:r>
                      <a:endParaRPr lang="en-US" sz="11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bl>
          </a:graphicData>
        </a:graphic>
      </p:graphicFrame>
      <p:sp>
        <p:nvSpPr>
          <p:cNvPr id="4"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4: Standards fact-file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Research one standard, complete its row, then compare with a partner who chose a different one.</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20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Task 5: Exam practice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TASK</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indent="0" marL="0">
              <a:buNone/>
            </a:pPr>
            <a:r>
              <a:rPr lang="en-US" sz="1800" dirty="0">
                <a:solidFill>
                  <a:srgbClr val="C5D1E3"/>
                </a:solidFill>
                <a:latin typeface="Arial" pitchFamily="34" charset="0"/>
                <a:ea typeface="Arial" pitchFamily="34" charset="-122"/>
                <a:cs typeface="Arial" pitchFamily="34" charset="-120"/>
              </a:rPr>
              <a:t>Answer the four real exam questions in full sentences.</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sp>
      <p:pic>
        <p:nvPicPr>
          <p:cNvPr id="6" name="Image 0" descr="clock">    </p:cNvPr>
          <p:cNvPicPr>
            <a:picLocks noChangeAspect="1"/>
          </p:cNvPicPr>
          <p:nvPr/>
        </p:nvPicPr>
        <p:blipFill>
          <a:blip r:embed="rId1"/>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indent="0" marL="0">
              <a:buNone/>
            </a:pPr>
            <a:r>
              <a:rPr lang="en-US" sz="2000" b="1" dirty="0">
                <a:solidFill>
                  <a:srgbClr val="001B40"/>
                </a:solidFill>
                <a:latin typeface="Arial" pitchFamily="34" charset="0"/>
                <a:ea typeface="Arial" pitchFamily="34" charset="-122"/>
                <a:cs typeface="Arial" pitchFamily="34" charset="-120"/>
              </a:rPr>
              <a:t>10 min</a:t>
            </a:r>
            <a:endParaRPr lang="en-US" sz="2000" dirty="0"/>
          </a:p>
        </p:txBody>
      </p:sp>
      <p:sp>
        <p:nvSpPr>
          <p:cNvPr id="8" name="Text 5"/>
          <p:cNvSpPr txBox="1"/>
          <p:nvPr/>
        </p:nvSpPr>
        <p:spPr>
          <a:xfrm>
            <a:off x="548640" y="4617720"/>
            <a:ext cx="5486400" cy="274320"/>
          </a:xfrm>
          <a:prstGeom prst="rect">
            <a:avLst/>
          </a:prstGeom>
          <a:noFill/>
          <a:ln/>
        </p:spPr>
        <p:txBody>
          <a:bodyPr wrap="square" lIns="0" tIns="0" rIns="0" bIns="0" rtlCol="0" anchor="ctr"/>
          <a:lstStyle/>
          <a:p>
            <a:pPr indent="0" marL="0">
              <a:buNone/>
            </a:pPr>
            <a:r>
              <a:rPr lang="en-US" sz="1200" dirty="0">
                <a:solidFill>
                  <a:srgbClr val="C5D1E3"/>
                </a:solidFill>
                <a:latin typeface="Arial" pitchFamily="34" charset="0"/>
                <a:ea typeface="Arial" pitchFamily="34" charset="-122"/>
                <a:cs typeface="Arial" pitchFamily="34" charset="-120"/>
              </a:rPr>
              <a:t>OneNote: Lesson Tasks, Task 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rgbClr val="001B40"/>
                </a:solidFill>
                <a:latin typeface="Arial" pitchFamily="34" charset="0"/>
                <a:ea typeface="Arial" pitchFamily="34" charset="-122"/>
                <a:cs typeface="Arial" pitchFamily="34" charset="-120"/>
              </a:rPr>
              <a:t>Plenary</a:t>
            </a:r>
            <a:endParaRPr lang="en-US" sz="3000" dirty="0"/>
          </a:p>
        </p:txBody>
      </p:sp>
      <p:sp>
        <p:nvSpPr>
          <p:cNvPr id="3" name="Card"/>
          <p:cNvSpPr/>
          <p:nvPr/>
        </p:nvSpPr>
        <p:spPr>
          <a:xfrm>
            <a:off x="457200" y="1188720"/>
            <a:ext cx="8229600" cy="822960"/>
          </a:xfrm>
          <a:prstGeom prst="roundRect">
            <a:avLst>
              <a:gd name="adj" fmla="val 13333"/>
            </a:avLst>
          </a:prstGeom>
          <a:solidFill>
            <a:srgbClr val="EEF2F7"/>
          </a:solidFill>
          <a:ln w="9525">
            <a:solidFill>
              <a:srgbClr val="C5D1E3"/>
            </a:solidFill>
            <a:prstDash val="solid"/>
          </a:ln>
        </p:spPr>
      </p:sp>
      <p:sp>
        <p:nvSpPr>
          <p:cNvPr id="4" name="Text 2"/>
          <p:cNvSpPr txBox="1"/>
          <p:nvPr/>
        </p:nvSpPr>
        <p:spPr>
          <a:xfrm>
            <a:off x="731520" y="118872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Define protocol and standard in one sentence each</a:t>
            </a:r>
            <a:endParaRPr lang="en-US" sz="1800" dirty="0"/>
          </a:p>
        </p:txBody>
      </p:sp>
      <p:sp>
        <p:nvSpPr>
          <p:cNvPr id="5" name="Card"/>
          <p:cNvSpPr/>
          <p:nvPr/>
        </p:nvSpPr>
        <p:spPr>
          <a:xfrm>
            <a:off x="457200" y="2148840"/>
            <a:ext cx="8229600" cy="822960"/>
          </a:xfrm>
          <a:prstGeom prst="roundRect">
            <a:avLst>
              <a:gd name="adj" fmla="val 13333"/>
            </a:avLst>
          </a:prstGeom>
          <a:solidFill>
            <a:srgbClr val="EEF2F7"/>
          </a:solidFill>
          <a:ln w="9525">
            <a:solidFill>
              <a:srgbClr val="C5D1E3"/>
            </a:solidFill>
            <a:prstDash val="solid"/>
          </a:ln>
        </p:spPr>
      </p:sp>
      <p:sp>
        <p:nvSpPr>
          <p:cNvPr id="6" name="Text 4"/>
          <p:cNvSpPr txBox="1"/>
          <p:nvPr/>
        </p:nvSpPr>
        <p:spPr>
          <a:xfrm>
            <a:off x="731520" y="214884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Which feature of a protocol was hardest to design?</a:t>
            </a:r>
            <a:endParaRPr lang="en-US" sz="1800" dirty="0"/>
          </a:p>
        </p:txBody>
      </p:sp>
      <p:sp>
        <p:nvSpPr>
          <p:cNvPr id="7" name="Card"/>
          <p:cNvSpPr/>
          <p:nvPr/>
        </p:nvSpPr>
        <p:spPr>
          <a:xfrm>
            <a:off x="457200" y="3108960"/>
            <a:ext cx="8229600" cy="822960"/>
          </a:xfrm>
          <a:prstGeom prst="roundRect">
            <a:avLst>
              <a:gd name="adj" fmla="val 13333"/>
            </a:avLst>
          </a:prstGeom>
          <a:solidFill>
            <a:srgbClr val="EEF2F7"/>
          </a:solidFill>
          <a:ln w="9525">
            <a:solidFill>
              <a:srgbClr val="C5D1E3"/>
            </a:solidFill>
            <a:prstDash val="solid"/>
          </a:ln>
        </p:spPr>
      </p:sp>
      <p:sp>
        <p:nvSpPr>
          <p:cNvPr id="8" name="Text 6"/>
          <p:cNvSpPr txBox="1"/>
          <p:nvPr/>
        </p:nvSpPr>
        <p:spPr>
          <a:xfrm>
            <a:off x="731520" y="3108960"/>
            <a:ext cx="7680960" cy="822960"/>
          </a:xfrm>
          <a:prstGeom prst="rect">
            <a:avLst/>
          </a:prstGeom>
          <a:noFill/>
          <a:ln/>
        </p:spPr>
        <p:txBody>
          <a:bodyPr wrap="square" lIns="0" tIns="0" rIns="0" bIns="0" rtlCol="0" anchor="ctr"/>
          <a:lstStyle/>
          <a:p>
            <a:pPr indent="0" marL="0">
              <a:buNone/>
            </a:pPr>
            <a:r>
              <a:rPr lang="en-US" sz="1800" dirty="0">
                <a:solidFill>
                  <a:srgbClr val="22262E"/>
                </a:solidFill>
                <a:latin typeface="Arial" pitchFamily="34" charset="0"/>
                <a:ea typeface="Arial" pitchFamily="34" charset="-122"/>
                <a:cs typeface="Arial" pitchFamily="34" charset="-120"/>
              </a:rPr>
              <a:t>Next lesson: build the network</a:t>
            </a:r>
            <a:endParaRPr lang="en-US" sz="1800" dirty="0"/>
          </a:p>
        </p:txBody>
      </p:sp>
      <p:sp>
        <p:nvSpPr>
          <p:cNvPr id="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583680" cy="137160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Check together</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indent="0" marL="0">
              <a:buNone/>
            </a:pPr>
            <a:r>
              <a:rPr lang="en-US" sz="2200" b="1" spc="400" kern="0" dirty="0">
                <a:solidFill>
                  <a:srgbClr val="A9C4E8"/>
                </a:solidFill>
                <a:latin typeface="Arial" pitchFamily="34" charset="0"/>
                <a:ea typeface="Arial" pitchFamily="34" charset="-122"/>
                <a:cs typeface="Arial" pitchFamily="34" charset="-120"/>
              </a:rPr>
              <a:t>ANSWERS</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Task 1: answers</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1 Card"/>
          <p:cNvSpPr/>
          <p:nvPr/>
        </p:nvSpPr>
        <p:spPr>
          <a:xfrm>
            <a:off x="457200" y="1188720"/>
            <a:ext cx="8229600" cy="777240"/>
          </a:xfrm>
          <a:prstGeom prst="roundRect">
            <a:avLst>
              <a:gd name="adj" fmla="val 14118"/>
            </a:avLst>
          </a:prstGeom>
          <a:solidFill>
            <a:srgbClr val="FFFFFF"/>
          </a:solidFill>
          <a:ln w="15875">
            <a:solidFill>
              <a:srgbClr val="002D6A"/>
            </a:solidFill>
            <a:prstDash val="solid"/>
          </a:ln>
        </p:spPr>
      </p:sp>
      <p:sp>
        <p:nvSpPr>
          <p:cNvPr id="6" name="@1 addText"/>
          <p:cNvSpPr txBox="1"/>
          <p:nvPr/>
        </p:nvSpPr>
        <p:spPr>
          <a:xfrm>
            <a:off x="685800" y="1188720"/>
            <a:ext cx="7772400" cy="777240"/>
          </a:xfrm>
          <a:prstGeom prst="rect">
            <a:avLst/>
          </a:prstGeom>
          <a:noFill/>
          <a:ln/>
        </p:spPr>
        <p:txBody>
          <a:bodyPr wrap="square" lIns="0" tIns="0" rIns="0" bIns="0" rtlCol="0" anchor="ctr"/>
          <a:lstStyle/>
          <a:p>
            <a:pPr indent="0" marL="0">
              <a:buNone/>
            </a:pPr>
            <a:r>
              <a:rPr lang="en-US" sz="1600" dirty="0">
                <a:solidFill>
                  <a:srgbClr val="22262E"/>
                </a:solidFill>
                <a:latin typeface="Arial" pitchFamily="34" charset="0"/>
                <a:ea typeface="Arial" pitchFamily="34" charset="-122"/>
                <a:cs typeface="Arial" pitchFamily="34" charset="-120"/>
              </a:rPr>
              <a:t>1. Two or more computing devices connected, by cable or wireless, so they can transmit data</a:t>
            </a:r>
            <a:endParaRPr lang="en-US" sz="1600" dirty="0"/>
          </a:p>
        </p:txBody>
      </p:sp>
      <p:sp>
        <p:nvSpPr>
          <p:cNvPr id="7" name="@2 Card"/>
          <p:cNvSpPr/>
          <p:nvPr/>
        </p:nvSpPr>
        <p:spPr>
          <a:xfrm>
            <a:off x="457200" y="2039112"/>
            <a:ext cx="8229600" cy="777240"/>
          </a:xfrm>
          <a:prstGeom prst="roundRect">
            <a:avLst>
              <a:gd name="adj" fmla="val 14118"/>
            </a:avLst>
          </a:prstGeom>
          <a:solidFill>
            <a:srgbClr val="FFFFFF"/>
          </a:solidFill>
          <a:ln w="15875">
            <a:solidFill>
              <a:srgbClr val="002D6A"/>
            </a:solidFill>
            <a:prstDash val="solid"/>
          </a:ln>
        </p:spPr>
      </p:sp>
      <p:sp>
        <p:nvSpPr>
          <p:cNvPr id="8" name="@2 addText"/>
          <p:cNvSpPr txBox="1"/>
          <p:nvPr/>
        </p:nvSpPr>
        <p:spPr>
          <a:xfrm>
            <a:off x="685800" y="2039112"/>
            <a:ext cx="7772400" cy="777240"/>
          </a:xfrm>
          <a:prstGeom prst="rect">
            <a:avLst/>
          </a:prstGeom>
          <a:noFill/>
          <a:ln/>
        </p:spPr>
        <p:txBody>
          <a:bodyPr wrap="square" lIns="0" tIns="0" rIns="0" bIns="0" rtlCol="0" anchor="ctr"/>
          <a:lstStyle/>
          <a:p>
            <a:pPr indent="0" marL="0">
              <a:buNone/>
            </a:pPr>
            <a:r>
              <a:rPr lang="en-US" sz="1600" dirty="0">
                <a:solidFill>
                  <a:srgbClr val="22262E"/>
                </a:solidFill>
                <a:latin typeface="Arial" pitchFamily="34" charset="0"/>
                <a:ea typeface="Arial" pitchFamily="34" charset="-122"/>
                <a:cs typeface="Arial" pitchFamily="34" charset="-120"/>
              </a:rPr>
              <a:t>2. Advantage: share files, peripherals, central backup. Disadvantage: malware spreads, server failure, slower with heavy traffic</a:t>
            </a:r>
            <a:endParaRPr lang="en-US" sz="1600" dirty="0"/>
          </a:p>
        </p:txBody>
      </p:sp>
      <p:sp>
        <p:nvSpPr>
          <p:cNvPr id="9" name="@3 Card"/>
          <p:cNvSpPr/>
          <p:nvPr/>
        </p:nvSpPr>
        <p:spPr>
          <a:xfrm>
            <a:off x="457200" y="2889504"/>
            <a:ext cx="8229600" cy="777240"/>
          </a:xfrm>
          <a:prstGeom prst="roundRect">
            <a:avLst>
              <a:gd name="adj" fmla="val 14118"/>
            </a:avLst>
          </a:prstGeom>
          <a:solidFill>
            <a:srgbClr val="FFFFFF"/>
          </a:solidFill>
          <a:ln w="15875">
            <a:solidFill>
              <a:srgbClr val="002D6A"/>
            </a:solidFill>
            <a:prstDash val="solid"/>
          </a:ln>
        </p:spPr>
      </p:sp>
      <p:sp>
        <p:nvSpPr>
          <p:cNvPr id="10" name="@3 addText"/>
          <p:cNvSpPr txBox="1"/>
          <p:nvPr/>
        </p:nvSpPr>
        <p:spPr>
          <a:xfrm>
            <a:off x="685800" y="2889504"/>
            <a:ext cx="7772400" cy="777240"/>
          </a:xfrm>
          <a:prstGeom prst="rect">
            <a:avLst/>
          </a:prstGeom>
          <a:noFill/>
          <a:ln/>
        </p:spPr>
        <p:txBody>
          <a:bodyPr wrap="square" lIns="0" tIns="0" rIns="0" bIns="0" rtlCol="0" anchor="ctr"/>
          <a:lstStyle/>
          <a:p>
            <a:pPr indent="0" marL="0">
              <a:buNone/>
            </a:pPr>
            <a:r>
              <a:rPr lang="en-US" sz="1600" dirty="0">
                <a:solidFill>
                  <a:srgbClr val="22262E"/>
                </a:solidFill>
                <a:latin typeface="Arial" pitchFamily="34" charset="0"/>
                <a:ea typeface="Arial" pitchFamily="34" charset="-122"/>
                <a:cs typeface="Arial" pitchFamily="34" charset="-120"/>
              </a:rPr>
              <a:t>3. LAN: small area, owned by the organisation. WAN: large area, third party infrastructure</a:t>
            </a:r>
            <a:endParaRPr lang="en-US" sz="1600" dirty="0"/>
          </a:p>
        </p:txBody>
      </p:sp>
      <p:sp>
        <p:nvSpPr>
          <p:cNvPr id="11"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2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200"/>
                                        <p:tgtEl>
                                          <p:spTgt spid="6"/>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p:tgtEl>
                                          <p:spTgt spid="8"/>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Task 1: the cloze (Craig'n'Dave 02-1)</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1 Card"/>
          <p:cNvSpPr/>
          <p:nvPr/>
        </p:nvSpPr>
        <p:spPr>
          <a:xfrm>
            <a:off x="457200" y="1188720"/>
            <a:ext cx="8229600" cy="618134"/>
          </a:xfrm>
          <a:prstGeom prst="roundRect">
            <a:avLst>
              <a:gd name="adj" fmla="val 17751"/>
            </a:avLst>
          </a:prstGeom>
          <a:solidFill>
            <a:srgbClr val="FFFFFF"/>
          </a:solidFill>
          <a:ln w="15875">
            <a:solidFill>
              <a:srgbClr val="002D6A"/>
            </a:solidFill>
            <a:prstDash val="solid"/>
          </a:ln>
        </p:spPr>
      </p:sp>
      <p:sp>
        <p:nvSpPr>
          <p:cNvPr id="6" name="@1 addText"/>
          <p:cNvSpPr txBox="1"/>
          <p:nvPr/>
        </p:nvSpPr>
        <p:spPr>
          <a:xfrm>
            <a:off x="685800" y="1188720"/>
            <a:ext cx="7772400" cy="618134"/>
          </a:xfrm>
          <a:prstGeom prst="rect">
            <a:avLst/>
          </a:prstGeom>
          <a:noFill/>
          <a:ln/>
        </p:spPr>
        <p:txBody>
          <a:bodyPr wrap="square" lIns="0" tIns="0" rIns="0" bIns="0" rtlCol="0" anchor="ctr"/>
          <a:lstStyle/>
          <a:p>
            <a:pPr indent="0" marL="0">
              <a:buNone/>
            </a:pPr>
            <a:r>
              <a:rPr lang="en-US" sz="1400" dirty="0">
                <a:solidFill>
                  <a:srgbClr val="22262E"/>
                </a:solidFill>
                <a:latin typeface="Arial" pitchFamily="34" charset="0"/>
                <a:ea typeface="Arial" pitchFamily="34" charset="-122"/>
                <a:cs typeface="Arial" pitchFamily="34" charset="-120"/>
              </a:rPr>
              <a:t>Standards are agreements to ensure that hardware devices and software applications are compatible and can work together. Standards allow hardware and software written by different companies to integrate successfully by following known specifications.</a:t>
            </a:r>
            <a:endParaRPr lang="en-US" sz="1400" dirty="0"/>
          </a:p>
        </p:txBody>
      </p:sp>
      <p:sp>
        <p:nvSpPr>
          <p:cNvPr id="7" name="@2 Card"/>
          <p:cNvSpPr/>
          <p:nvPr/>
        </p:nvSpPr>
        <p:spPr>
          <a:xfrm>
            <a:off x="457200" y="1880006"/>
            <a:ext cx="8229600" cy="618134"/>
          </a:xfrm>
          <a:prstGeom prst="roundRect">
            <a:avLst>
              <a:gd name="adj" fmla="val 17751"/>
            </a:avLst>
          </a:prstGeom>
          <a:solidFill>
            <a:srgbClr val="FFFFFF"/>
          </a:solidFill>
          <a:ln w="15875">
            <a:solidFill>
              <a:srgbClr val="002D6A"/>
            </a:solidFill>
            <a:prstDash val="solid"/>
          </a:ln>
        </p:spPr>
      </p:sp>
      <p:sp>
        <p:nvSpPr>
          <p:cNvPr id="8" name="@2 addText"/>
          <p:cNvSpPr txBox="1"/>
          <p:nvPr/>
        </p:nvSpPr>
        <p:spPr>
          <a:xfrm>
            <a:off x="685800" y="1880006"/>
            <a:ext cx="7772400" cy="618134"/>
          </a:xfrm>
          <a:prstGeom prst="rect">
            <a:avLst/>
          </a:prstGeom>
          <a:noFill/>
          <a:ln/>
        </p:spPr>
        <p:txBody>
          <a:bodyPr wrap="square" lIns="0" tIns="0" rIns="0" bIns="0" rtlCol="0" anchor="ctr"/>
          <a:lstStyle/>
          <a:p>
            <a:pPr indent="0" marL="0">
              <a:buNone/>
            </a:pPr>
            <a:r>
              <a:rPr lang="en-US" sz="1400" dirty="0">
                <a:solidFill>
                  <a:srgbClr val="22262E"/>
                </a:solidFill>
                <a:latin typeface="Arial" pitchFamily="34" charset="0"/>
                <a:ea typeface="Arial" pitchFamily="34" charset="-122"/>
                <a:cs typeface="Arial" pitchFamily="34" charset="-120"/>
              </a:rPr>
              <a:t>Standards may begin as proprietary, used by a single organisation to make use of new technological innovations and gain a competitive advantage. ... As more companies begin to adopt the standard it becomes more universally accepted and is known as a de facto standard.</a:t>
            </a:r>
            <a:endParaRPr lang="en-US" sz="1400" dirty="0"/>
          </a:p>
        </p:txBody>
      </p:sp>
      <p:sp>
        <p:nvSpPr>
          <p:cNvPr id="9" name="@3 Card"/>
          <p:cNvSpPr/>
          <p:nvPr/>
        </p:nvSpPr>
        <p:spPr>
          <a:xfrm>
            <a:off x="457200" y="2571293"/>
            <a:ext cx="8229600" cy="618134"/>
          </a:xfrm>
          <a:prstGeom prst="roundRect">
            <a:avLst>
              <a:gd name="adj" fmla="val 17751"/>
            </a:avLst>
          </a:prstGeom>
          <a:solidFill>
            <a:srgbClr val="FFFFFF"/>
          </a:solidFill>
          <a:ln w="15875">
            <a:solidFill>
              <a:srgbClr val="002D6A"/>
            </a:solidFill>
            <a:prstDash val="solid"/>
          </a:ln>
        </p:spPr>
      </p:sp>
      <p:sp>
        <p:nvSpPr>
          <p:cNvPr id="10" name="@3 addText"/>
          <p:cNvSpPr txBox="1"/>
          <p:nvPr/>
        </p:nvSpPr>
        <p:spPr>
          <a:xfrm>
            <a:off x="685800" y="2571293"/>
            <a:ext cx="7772400" cy="618134"/>
          </a:xfrm>
          <a:prstGeom prst="rect">
            <a:avLst/>
          </a:prstGeom>
          <a:noFill/>
          <a:ln/>
        </p:spPr>
        <p:txBody>
          <a:bodyPr wrap="square" lIns="0" tIns="0" rIns="0" bIns="0" rtlCol="0" anchor="ctr"/>
          <a:lstStyle/>
          <a:p>
            <a:pPr indent="0" marL="0">
              <a:buNone/>
            </a:pPr>
            <a:r>
              <a:rPr lang="en-US" sz="1400" dirty="0">
                <a:solidFill>
                  <a:srgbClr val="22262E"/>
                </a:solidFill>
                <a:latin typeface="Arial" pitchFamily="34" charset="0"/>
                <a:ea typeface="Arial" pitchFamily="34" charset="-122"/>
                <a:cs typeface="Arial" pitchFamily="34" charset="-120"/>
              </a:rPr>
              <a:t>Formal standards may be developed by official standards organisations or government bodies. ... resulting in far greater interoperability.</a:t>
            </a:r>
            <a:endParaRPr lang="en-US" sz="1400" dirty="0"/>
          </a:p>
        </p:txBody>
      </p:sp>
      <p:sp>
        <p:nvSpPr>
          <p:cNvPr id="11" name="@4 Card"/>
          <p:cNvSpPr/>
          <p:nvPr/>
        </p:nvSpPr>
        <p:spPr>
          <a:xfrm>
            <a:off x="457200" y="3262579"/>
            <a:ext cx="8229600" cy="618134"/>
          </a:xfrm>
          <a:prstGeom prst="roundRect">
            <a:avLst>
              <a:gd name="adj" fmla="val 17751"/>
            </a:avLst>
          </a:prstGeom>
          <a:solidFill>
            <a:srgbClr val="FFFFFF"/>
          </a:solidFill>
          <a:ln w="15875">
            <a:solidFill>
              <a:srgbClr val="002D6A"/>
            </a:solidFill>
            <a:prstDash val="solid"/>
          </a:ln>
        </p:spPr>
      </p:sp>
      <p:sp>
        <p:nvSpPr>
          <p:cNvPr id="12" name="@4 addText"/>
          <p:cNvSpPr txBox="1"/>
          <p:nvPr/>
        </p:nvSpPr>
        <p:spPr>
          <a:xfrm>
            <a:off x="685800" y="3262579"/>
            <a:ext cx="7772400" cy="618134"/>
          </a:xfrm>
          <a:prstGeom prst="rect">
            <a:avLst/>
          </a:prstGeom>
          <a:noFill/>
          <a:ln/>
        </p:spPr>
        <p:txBody>
          <a:bodyPr wrap="square" lIns="0" tIns="0" rIns="0" bIns="0" rtlCol="0" anchor="ctr"/>
          <a:lstStyle/>
          <a:p>
            <a:pPr indent="0" marL="0">
              <a:buNone/>
            </a:pPr>
            <a:r>
              <a:rPr lang="en-US" sz="1400" dirty="0">
                <a:solidFill>
                  <a:srgbClr val="22262E"/>
                </a:solidFill>
                <a:latin typeface="Arial" pitchFamily="34" charset="0"/>
                <a:ea typeface="Arial" pitchFamily="34" charset="-122"/>
                <a:cs typeface="Arial" pitchFamily="34" charset="-120"/>
              </a:rPr>
              <a:t>Standards may typically define the size and shape of sockets, connections and the encoding of data. Standards may also include protocols.</a:t>
            </a:r>
            <a:endParaRPr lang="en-US" sz="1400" dirty="0"/>
          </a:p>
        </p:txBody>
      </p:sp>
      <p:sp>
        <p:nvSpPr>
          <p:cNvPr id="13" name="@5 Card"/>
          <p:cNvSpPr/>
          <p:nvPr/>
        </p:nvSpPr>
        <p:spPr>
          <a:xfrm>
            <a:off x="457200" y="3953866"/>
            <a:ext cx="8229600" cy="618134"/>
          </a:xfrm>
          <a:prstGeom prst="roundRect">
            <a:avLst>
              <a:gd name="adj" fmla="val 17751"/>
            </a:avLst>
          </a:prstGeom>
          <a:solidFill>
            <a:srgbClr val="FFFFFF"/>
          </a:solidFill>
          <a:ln w="15875">
            <a:solidFill>
              <a:srgbClr val="002D6A"/>
            </a:solidFill>
            <a:prstDash val="solid"/>
          </a:ln>
        </p:spPr>
      </p:sp>
      <p:sp>
        <p:nvSpPr>
          <p:cNvPr id="14" name="@5 addText"/>
          <p:cNvSpPr txBox="1"/>
          <p:nvPr/>
        </p:nvSpPr>
        <p:spPr>
          <a:xfrm>
            <a:off x="685800" y="3953866"/>
            <a:ext cx="7772400" cy="618134"/>
          </a:xfrm>
          <a:prstGeom prst="rect">
            <a:avLst/>
          </a:prstGeom>
          <a:noFill/>
          <a:ln/>
        </p:spPr>
        <p:txBody>
          <a:bodyPr wrap="square" lIns="0" tIns="0" rIns="0" bIns="0" rtlCol="0" anchor="ctr"/>
          <a:lstStyle/>
          <a:p>
            <a:pPr indent="0" marL="0">
              <a:buNone/>
            </a:pPr>
            <a:r>
              <a:rPr lang="en-US" sz="1400" dirty="0">
                <a:solidFill>
                  <a:srgbClr val="22262E"/>
                </a:solidFill>
                <a:latin typeface="Arial" pitchFamily="34" charset="0"/>
                <a:ea typeface="Arial" pitchFamily="34" charset="-122"/>
                <a:cs typeface="Arial" pitchFamily="34" charset="-120"/>
              </a:rPr>
              <a:t>Protocols are the rules that govern the communication between devices. They typically define the format of datagrams, properties such as data transfer rate and algorithms to enable successful data transfer and error correction between two devices.</a:t>
            </a:r>
            <a:endParaRPr lang="en-US" sz="1400" dirty="0"/>
          </a:p>
        </p:txBody>
      </p:sp>
      <p:sp>
        <p:nvSpPr>
          <p:cNvPr id="1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2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200"/>
                                        <p:tgtEl>
                                          <p:spTgt spid="6"/>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p:tgtEl>
                                          <p:spTgt spid="8"/>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
                                        <p:tgtEl>
                                          <p:spTgt spid="1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2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200"/>
                                        <p:tgtEl>
                                          <p:spTgt spid="12"/>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2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Task 2: the demo</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600" b="1" dirty="0">
                          <a:solidFill>
                            <a:srgbClr val="FFFFFF"/>
                          </a:solidFill>
                          <a:latin typeface="Arial" pitchFamily="34" charset="0"/>
                          <a:ea typeface="Arial" pitchFamily="34" charset="-122"/>
                          <a:cs typeface="Arial" pitchFamily="34" charset="-120"/>
                        </a:rPr>
                        <a:t>Part</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What went wrong</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Fix</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002D6A"/>
                    </a:solidFill>
                  </a:tcPr>
                </a:tc>
              </a:tr>
              <a:tr h="0">
                <a:tc>
                  <a:txBody>
                    <a:bodyPr/>
                    <a:lstStyle/>
                    <a:p>
                      <a:pPr indent="0" marL="0">
                        <a:buNone/>
                      </a:pPr>
                      <a:r>
                        <a:rPr lang="en-US" sz="1600" b="1" dirty="0">
                          <a:solidFill>
                            <a:srgbClr val="22262E"/>
                          </a:solidFill>
                          <a:latin typeface="Arial" pitchFamily="34" charset="0"/>
                          <a:ea typeface="Arial" pitchFamily="34" charset="-122"/>
                          <a:cs typeface="Arial" pitchFamily="34" charset="-120"/>
                        </a:rPr>
                        <a:t>1</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600" dirty="0">
                          <a:solidFill>
                            <a:srgbClr val="22262E"/>
                          </a:solidFill>
                          <a:latin typeface="Arial" pitchFamily="34" charset="0"/>
                          <a:ea typeface="Arial" pitchFamily="34" charset="-122"/>
                          <a:cs typeface="Arial" pitchFamily="34" charset="-120"/>
                        </a:rPr>
                        <a:t>Receiver not ready, ball dropped</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600" dirty="0">
                          <a:solidFill>
                            <a:srgbClr val="22262E"/>
                          </a:solidFill>
                          <a:latin typeface="Arial" pitchFamily="34" charset="0"/>
                          <a:ea typeface="Arial" pitchFamily="34" charset="-122"/>
                          <a:cs typeface="Arial" pitchFamily="34" charset="-120"/>
                        </a:rPr>
                        <a:t>Handshake</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2262E"/>
                          </a:solidFill>
                          <a:latin typeface="Arial" pitchFamily="34" charset="0"/>
                          <a:ea typeface="Arial" pitchFamily="34" charset="-122"/>
                          <a:cs typeface="Arial" pitchFamily="34" charset="-120"/>
                        </a:rPr>
                        <a:t>2</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600" dirty="0">
                          <a:solidFill>
                            <a:srgbClr val="22262E"/>
                          </a:solidFill>
                          <a:latin typeface="Arial" pitchFamily="34" charset="0"/>
                          <a:ea typeface="Arial" pitchFamily="34" charset="-122"/>
                          <a:cs typeface="Arial" pitchFamily="34" charset="-120"/>
                        </a:rPr>
                        <a:t>Sent too fast</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600" dirty="0">
                          <a:solidFill>
                            <a:srgbClr val="22262E"/>
                          </a:solidFill>
                          <a:latin typeface="Arial" pitchFamily="34" charset="0"/>
                          <a:ea typeface="Arial" pitchFamily="34" charset="-122"/>
                          <a:cs typeface="Arial" pitchFamily="34" charset="-120"/>
                        </a:rPr>
                        <a:t>Agree a transfer rate</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2262E"/>
                          </a:solidFill>
                          <a:latin typeface="Arial" pitchFamily="34" charset="0"/>
                          <a:ea typeface="Arial" pitchFamily="34" charset="-122"/>
                          <a:cs typeface="Arial" pitchFamily="34" charset="-120"/>
                        </a:rPr>
                        <a:t>3</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600" dirty="0">
                          <a:solidFill>
                            <a:srgbClr val="22262E"/>
                          </a:solidFill>
                          <a:latin typeface="Arial" pitchFamily="34" charset="0"/>
                          <a:ea typeface="Arial" pitchFamily="34" charset="-122"/>
                          <a:cs typeface="Arial" pitchFamily="34" charset="-120"/>
                        </a:rPr>
                        <a:t>Corrupt packets</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c>
                  <a:txBody>
                    <a:bodyPr/>
                    <a:lstStyle/>
                    <a:p>
                      <a:pPr indent="0" marL="0">
                        <a:buNone/>
                      </a:pPr>
                      <a:r>
                        <a:rPr lang="en-US" sz="1600" dirty="0">
                          <a:solidFill>
                            <a:srgbClr val="22262E"/>
                          </a:solidFill>
                          <a:latin typeface="Arial" pitchFamily="34" charset="0"/>
                          <a:ea typeface="Arial" pitchFamily="34" charset="-122"/>
                          <a:cs typeface="Arial" pitchFamily="34" charset="-120"/>
                        </a:rPr>
                        <a:t>Checksum or echo back, then resend</a:t>
                      </a:r>
                      <a:endParaRPr lang="en-US" sz="1600" dirty="0">
                        <a:latin typeface="Arial" charset="0"/>
                        <a:ea typeface="Arial" charset="0"/>
                        <a:cs typeface="Arial" charset="0"/>
                      </a:endParaRPr>
                    </a:p>
                  </a:txBody>
                  <a:tcPr marL="73152" marR="73152" marT="73152" marB="73152" anchor="ctr">
                    <a:lnL w="12700" cap="flat" cmpd="sng" algn="ctr">
                      <a:solidFill>
                        <a:srgbClr val="C5D1E3"/>
                      </a:solidFill>
                      <a:prstDash val="solid"/>
                      <a:round/>
                      <a:headEnd type="none" w="med" len="med"/>
                      <a:tailEnd type="none" w="med" len="med"/>
                    </a:lnL>
                    <a:lnR w="12700" cap="flat" cmpd="sng" algn="ctr">
                      <a:solidFill>
                        <a:srgbClr val="C5D1E3"/>
                      </a:solidFill>
                      <a:prstDash val="solid"/>
                      <a:round/>
                      <a:headEnd type="none" w="med" len="med"/>
                      <a:tailEnd type="none" w="med" len="med"/>
                    </a:lnR>
                    <a:lnT w="12700" cap="flat" cmpd="sng" algn="ctr">
                      <a:solidFill>
                        <a:srgbClr val="C5D1E3"/>
                      </a:solidFill>
                      <a:prstDash val="solid"/>
                      <a:round/>
                      <a:headEnd type="none" w="med" len="med"/>
                      <a:tailEnd type="none" w="med" len="med"/>
                    </a:lnT>
                    <a:lnB w="12700" cap="flat" cmpd="sng" algn="ctr">
                      <a:solidFill>
                        <a:srgbClr val="C5D1E3"/>
                      </a:solidFill>
                      <a:prstDash val="solid"/>
                      <a:round/>
                      <a:headEnd type="none" w="med" len="med"/>
                      <a:tailEnd type="none" w="med" len="med"/>
                    </a:lnB>
                    <a:solidFill>
                      <a:srgbClr val="FFFFFF"/>
                    </a:solidFill>
                  </a:tcPr>
                </a:tc>
              </a:tr>
            </a:tbl>
          </a:graphicData>
        </a:graphic>
      </p:graphicFrame>
      <p:sp>
        <p:nvSpPr>
          <p:cNvPr id="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H446 June 2024, Q6(c) [2]</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5394960" cy="3566160"/>
          </a:xfrm>
          <a:prstGeom prst="roundRect">
            <a:avLst>
              <a:gd name="adj" fmla="val 3077"/>
            </a:avLst>
          </a:prstGeom>
          <a:solidFill>
            <a:srgbClr val="FFFFFF"/>
          </a:solidFill>
          <a:ln w="15875">
            <a:solidFill>
              <a:srgbClr val="002D6A"/>
            </a:solidFill>
            <a:prstDash val="solid"/>
          </a:ln>
        </p:spPr>
      </p:sp>
      <p:sp>
        <p:nvSpPr>
          <p:cNvPr id="6" name="Text 4"/>
          <p:cNvSpPr txBox="1"/>
          <p:nvPr/>
        </p:nvSpPr>
        <p:spPr>
          <a:xfrm>
            <a:off x="640080" y="1188720"/>
            <a:ext cx="5029200" cy="338328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1 mark per bullet to max 2:</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1 mark for: A set of rules for communication/ transmission/transfer of data between devices</a:t>
            </a:r>
            <a:endParaRPr lang="en-US" sz="1600" dirty="0"/>
          </a:p>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1 mark max from: The sending system has no direct control over the way the receiving system responds; Allows standardisation as different devices have different OS/hardware; Protocols allow for data to be exchanged in a predictable way/ in the correct format</a:t>
            </a:r>
            <a:endParaRPr lang="en-US" sz="1600" dirty="0"/>
          </a:p>
        </p:txBody>
      </p:sp>
      <p:sp>
        <p:nvSpPr>
          <p:cNvPr id="7" name="Guidance card"/>
          <p:cNvSpPr/>
          <p:nvPr/>
        </p:nvSpPr>
        <p:spPr>
          <a:xfrm>
            <a:off x="6035040" y="1097280"/>
            <a:ext cx="2651760" cy="3566160"/>
          </a:xfrm>
          <a:prstGeom prst="roundRect">
            <a:avLst>
              <a:gd name="adj" fmla="val 4138"/>
            </a:avLst>
          </a:prstGeom>
          <a:solidFill>
            <a:srgbClr val="EEF2F7"/>
          </a:solidFill>
          <a:ln w="9525">
            <a:solidFill>
              <a:srgbClr val="C5D1E3"/>
            </a:solidFill>
            <a:prstDash val="solid"/>
          </a:ln>
        </p:spPr>
      </p:sp>
      <p:sp>
        <p:nvSpPr>
          <p:cNvPr id="8" name="Text 6"/>
          <p:cNvSpPr txBox="1"/>
          <p:nvPr/>
        </p:nvSpPr>
        <p:spPr>
          <a:xfrm>
            <a:off x="6172200" y="1143000"/>
            <a:ext cx="2377440" cy="365760"/>
          </a:xfrm>
          <a:prstGeom prst="rect">
            <a:avLst/>
          </a:prstGeom>
          <a:noFill/>
          <a:ln/>
        </p:spPr>
        <p:txBody>
          <a:bodyPr wrap="square" lIns="0" tIns="0" rIns="0" bIns="0" rtlCol="0" anchor="ctr"/>
          <a:lstStyle/>
          <a:p>
            <a:pPr indent="0" marL="0">
              <a:buNone/>
            </a:pPr>
            <a:r>
              <a:rPr lang="en-US" sz="1400" b="1" dirty="0">
                <a:solidFill>
                  <a:srgbClr val="002D6A"/>
                </a:solidFill>
                <a:latin typeface="Arial" pitchFamily="34" charset="0"/>
                <a:ea typeface="Arial" pitchFamily="34" charset="-122"/>
                <a:cs typeface="Arial" pitchFamily="34" charset="-120"/>
              </a:rPr>
              <a:t>Guidance</a:t>
            </a:r>
            <a:endParaRPr lang="en-US" sz="1400" dirty="0"/>
          </a:p>
        </p:txBody>
      </p:sp>
      <p:sp>
        <p:nvSpPr>
          <p:cNvPr id="9" name="Text 7"/>
          <p:cNvSpPr txBox="1"/>
          <p:nvPr/>
        </p:nvSpPr>
        <p:spPr>
          <a:xfrm>
            <a:off x="6172200" y="1554480"/>
            <a:ext cx="23774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Not 'a rule' - must be plural</a:t>
            </a:r>
            <a:endParaRPr lang="en-US" sz="1200" dirty="0"/>
          </a:p>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MP1 not a set of instructions</a:t>
            </a:r>
            <a:endParaRPr lang="en-US" sz="1200" dirty="0"/>
          </a:p>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MP1 accept standards / an agreement</a:t>
            </a:r>
            <a:endParaRPr lang="en-US" sz="12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H446 June 2023, Q1(d)(i) [3]</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5394960" cy="3566160"/>
          </a:xfrm>
          <a:prstGeom prst="roundRect">
            <a:avLst>
              <a:gd name="adj" fmla="val 3077"/>
            </a:avLst>
          </a:prstGeom>
          <a:solidFill>
            <a:srgbClr val="FFFFFF"/>
          </a:solidFill>
          <a:ln w="15875">
            <a:solidFill>
              <a:srgbClr val="002D6A"/>
            </a:solidFill>
            <a:prstDash val="solid"/>
          </a:ln>
        </p:spPr>
      </p:sp>
      <p:sp>
        <p:nvSpPr>
          <p:cNvPr id="6" name="Text 4"/>
          <p:cNvSpPr txBox="1"/>
          <p:nvPr/>
        </p:nvSpPr>
        <p:spPr>
          <a:xfrm>
            <a:off x="640080" y="1188720"/>
            <a:ext cx="5029200" cy="338328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2262E"/>
                </a:solidFill>
                <a:latin typeface="Arial" pitchFamily="34" charset="0"/>
                <a:ea typeface="Arial" pitchFamily="34" charset="-122"/>
                <a:cs typeface="Arial" pitchFamily="34" charset="-120"/>
              </a:rPr>
              <a:t>e.g. Share hardware (e.g. printers); Share files; Share Internet connection; Centralised security; Log on / access files from any machine on the LAN; Central maintenance; Central backup / storage; Central installation / update of programs; Can monitor user activity; Can control access levels / Centralised useradmin; Access an intranet</a:t>
            </a:r>
            <a:endParaRPr lang="en-US" sz="1600" dirty="0"/>
          </a:p>
        </p:txBody>
      </p:sp>
      <p:sp>
        <p:nvSpPr>
          <p:cNvPr id="7" name="Guidance card"/>
          <p:cNvSpPr/>
          <p:nvPr/>
        </p:nvSpPr>
        <p:spPr>
          <a:xfrm>
            <a:off x="6035040" y="1097280"/>
            <a:ext cx="2651760" cy="3566160"/>
          </a:xfrm>
          <a:prstGeom prst="roundRect">
            <a:avLst>
              <a:gd name="adj" fmla="val 4138"/>
            </a:avLst>
          </a:prstGeom>
          <a:solidFill>
            <a:srgbClr val="EEF2F7"/>
          </a:solidFill>
          <a:ln w="9525">
            <a:solidFill>
              <a:srgbClr val="C5D1E3"/>
            </a:solidFill>
            <a:prstDash val="solid"/>
          </a:ln>
        </p:spPr>
      </p:sp>
      <p:sp>
        <p:nvSpPr>
          <p:cNvPr id="8" name="Text 6"/>
          <p:cNvSpPr txBox="1"/>
          <p:nvPr/>
        </p:nvSpPr>
        <p:spPr>
          <a:xfrm>
            <a:off x="6172200" y="1143000"/>
            <a:ext cx="2377440" cy="365760"/>
          </a:xfrm>
          <a:prstGeom prst="rect">
            <a:avLst/>
          </a:prstGeom>
          <a:noFill/>
          <a:ln/>
        </p:spPr>
        <p:txBody>
          <a:bodyPr wrap="square" lIns="0" tIns="0" rIns="0" bIns="0" rtlCol="0" anchor="ctr"/>
          <a:lstStyle/>
          <a:p>
            <a:pPr indent="0" marL="0">
              <a:buNone/>
            </a:pPr>
            <a:r>
              <a:rPr lang="en-US" sz="1400" b="1" dirty="0">
                <a:solidFill>
                  <a:srgbClr val="002D6A"/>
                </a:solidFill>
                <a:latin typeface="Arial" pitchFamily="34" charset="0"/>
                <a:ea typeface="Arial" pitchFamily="34" charset="-122"/>
                <a:cs typeface="Arial" pitchFamily="34" charset="-120"/>
              </a:rPr>
              <a:t>Guidance</a:t>
            </a:r>
            <a:endParaRPr lang="en-US" sz="1400" dirty="0"/>
          </a:p>
        </p:txBody>
      </p:sp>
      <p:sp>
        <p:nvSpPr>
          <p:cNvPr id="9" name="Text 7"/>
          <p:cNvSpPr txBox="1"/>
          <p:nvPr/>
        </p:nvSpPr>
        <p:spPr>
          <a:xfrm>
            <a:off x="6172200" y="1554480"/>
            <a:ext cx="23774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Mark first answer in each answer space</a:t>
            </a:r>
            <a:endParaRPr lang="en-US" sz="12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H446 June 2023, Q1(d)(iii) [2]</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5394960" cy="3566160"/>
          </a:xfrm>
          <a:prstGeom prst="roundRect">
            <a:avLst>
              <a:gd name="adj" fmla="val 3077"/>
            </a:avLst>
          </a:prstGeom>
          <a:solidFill>
            <a:srgbClr val="FFFFFF"/>
          </a:solidFill>
          <a:ln w="15875">
            <a:solidFill>
              <a:srgbClr val="002D6A"/>
            </a:solidFill>
            <a:prstDash val="solid"/>
          </a:ln>
        </p:spPr>
      </p:sp>
      <p:sp>
        <p:nvSpPr>
          <p:cNvPr id="6" name="Text 4"/>
          <p:cNvSpPr txBox="1"/>
          <p:nvPr/>
        </p:nvSpPr>
        <p:spPr>
          <a:xfrm>
            <a:off x="640080" y="1188720"/>
            <a:ext cx="5029200" cy="3383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1 mark per protocol listed e.g.</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HTTP / Hypertext Transfer Protocol</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HTTPS / Hypertext Transfer Protocol Secure</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TCP / Transmission Control Protocol</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IP / Internet Protocol</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UDP / User Datagram Protocol</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FTP / File Transfer Protocol</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Ethernet</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WPA / Wi-Fi Protected Access</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DHCP / Dynamic Host Configuration Protocol</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SMTP / Simple Mail Transfer Protocol</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POP / Post Office Protocol</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IMAP / Internet Message Access Protocol</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RDP / Remote Desktop Protocol</a:t>
            </a:r>
            <a:endParaRPr lang="en-US" sz="1400" dirty="0"/>
          </a:p>
          <a:p>
            <a:pPr marL="342900" indent="-342900">
              <a:spcAft>
                <a:spcPts val="400"/>
              </a:spcAft>
              <a:buSzPct val="100000"/>
              <a:buChar char="•"/>
            </a:pPr>
            <a:r>
              <a:rPr lang="en-US" sz="1400" dirty="0">
                <a:solidFill>
                  <a:srgbClr val="22262E"/>
                </a:solidFill>
                <a:latin typeface="Arial" pitchFamily="34" charset="0"/>
                <a:ea typeface="Arial" pitchFamily="34" charset="-122"/>
                <a:cs typeface="Arial" pitchFamily="34" charset="-120"/>
              </a:rPr>
              <a:t>VoIP / Voice over Internet Protocol</a:t>
            </a:r>
            <a:endParaRPr lang="en-US" sz="1400" dirty="0"/>
          </a:p>
        </p:txBody>
      </p:sp>
      <p:sp>
        <p:nvSpPr>
          <p:cNvPr id="7" name="Guidance card"/>
          <p:cNvSpPr/>
          <p:nvPr/>
        </p:nvSpPr>
        <p:spPr>
          <a:xfrm>
            <a:off x="6035040" y="1097280"/>
            <a:ext cx="2651760" cy="3566160"/>
          </a:xfrm>
          <a:prstGeom prst="roundRect">
            <a:avLst>
              <a:gd name="adj" fmla="val 4138"/>
            </a:avLst>
          </a:prstGeom>
          <a:solidFill>
            <a:srgbClr val="EEF2F7"/>
          </a:solidFill>
          <a:ln w="9525">
            <a:solidFill>
              <a:srgbClr val="C5D1E3"/>
            </a:solidFill>
            <a:prstDash val="solid"/>
          </a:ln>
        </p:spPr>
      </p:sp>
      <p:sp>
        <p:nvSpPr>
          <p:cNvPr id="8" name="Text 6"/>
          <p:cNvSpPr txBox="1"/>
          <p:nvPr/>
        </p:nvSpPr>
        <p:spPr>
          <a:xfrm>
            <a:off x="6172200" y="1143000"/>
            <a:ext cx="2377440" cy="365760"/>
          </a:xfrm>
          <a:prstGeom prst="rect">
            <a:avLst/>
          </a:prstGeom>
          <a:noFill/>
          <a:ln/>
        </p:spPr>
        <p:txBody>
          <a:bodyPr wrap="square" lIns="0" tIns="0" rIns="0" bIns="0" rtlCol="0" anchor="ctr"/>
          <a:lstStyle/>
          <a:p>
            <a:pPr indent="0" marL="0">
              <a:buNone/>
            </a:pPr>
            <a:r>
              <a:rPr lang="en-US" sz="1400" b="1" dirty="0">
                <a:solidFill>
                  <a:srgbClr val="002D6A"/>
                </a:solidFill>
                <a:latin typeface="Arial" pitchFamily="34" charset="0"/>
                <a:ea typeface="Arial" pitchFamily="34" charset="-122"/>
                <a:cs typeface="Arial" pitchFamily="34" charset="-120"/>
              </a:rPr>
              <a:t>Guidance</a:t>
            </a:r>
            <a:endParaRPr lang="en-US" sz="1400" dirty="0"/>
          </a:p>
        </p:txBody>
      </p:sp>
      <p:sp>
        <p:nvSpPr>
          <p:cNvPr id="9" name="Text 7"/>
          <p:cNvSpPr txBox="1"/>
          <p:nvPr/>
        </p:nvSpPr>
        <p:spPr>
          <a:xfrm>
            <a:off x="6172200" y="1554480"/>
            <a:ext cx="23774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Mark first answer in each answer space</a:t>
            </a:r>
            <a:endParaRPr lang="en-US" sz="1200" dirty="0"/>
          </a:p>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If mentioned one protocol with 2 versions e.g. IPv4 &amp; IPv6 - only 1 mark</a:t>
            </a:r>
            <a:endParaRPr lang="en-US" sz="1200" dirty="0"/>
          </a:p>
          <a:p>
            <a:pPr marL="342900" indent="-342900">
              <a:spcAft>
                <a:spcPts val="400"/>
              </a:spcAft>
              <a:buSzPct val="100000"/>
              <a:buChar char="•"/>
            </a:pPr>
            <a:r>
              <a:rPr lang="en-US" sz="1200" dirty="0">
                <a:solidFill>
                  <a:srgbClr val="22262E"/>
                </a:solidFill>
                <a:latin typeface="Arial" pitchFamily="34" charset="0"/>
                <a:ea typeface="Arial" pitchFamily="34" charset="-122"/>
                <a:cs typeface="Arial" pitchFamily="34" charset="-120"/>
              </a:rPr>
              <a:t>If they've written the protocol in full but got any word wrong, no mark awarded</a:t>
            </a:r>
            <a:endParaRPr lang="en-US" sz="12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800" b="1" dirty="0">
                <a:solidFill>
                  <a:srgbClr val="001B40"/>
                </a:solidFill>
                <a:latin typeface="Arial" pitchFamily="34" charset="0"/>
                <a:ea typeface="Arial" pitchFamily="34" charset="-122"/>
                <a:cs typeface="Arial" pitchFamily="34" charset="-120"/>
              </a:rPr>
              <a:t>H046 June 2025, Q9(a) [2]</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sp>
      <p:sp>
        <p:nvSpPr>
          <p:cNvPr id="4" name="Text 2"/>
          <p:cNvSpPr txBox="1"/>
          <p:nvPr/>
        </p:nvSpPr>
        <p:spPr>
          <a:xfrm>
            <a:off x="7589520" y="411480"/>
            <a:ext cx="1097280" cy="365760"/>
          </a:xfrm>
          <a:prstGeom prst="rect">
            <a:avLst/>
          </a:prstGeom>
          <a:noFill/>
          <a:ln/>
        </p:spPr>
        <p:txBody>
          <a:bodyPr wrap="square" lIns="0" tIns="0" rIns="0" bIns="0" rtlCol="0" anchor="ctr"/>
          <a:lstStyle/>
          <a:p>
            <a:pPr algn="ctr" indent="0" marL="0">
              <a:buNone/>
            </a:pPr>
            <a:r>
              <a:rPr lang="en-US" sz="1200" b="1" spc="200" kern="0" dirty="0">
                <a:solidFill>
                  <a:srgbClr val="001B40"/>
                </a:solidFill>
                <a:latin typeface="Arial" pitchFamily="34" charset="0"/>
                <a:ea typeface="Arial" pitchFamily="34" charset="-122"/>
                <a:cs typeface="Arial" pitchFamily="34" charset="-120"/>
              </a:rPr>
              <a:t>ANSWERS</a:t>
            </a:r>
            <a:endParaRPr lang="en-US" sz="1200" dirty="0"/>
          </a:p>
        </p:txBody>
      </p:sp>
      <p:sp>
        <p:nvSpPr>
          <p:cNvPr id="5" name="Mark scheme card"/>
          <p:cNvSpPr/>
          <p:nvPr/>
        </p:nvSpPr>
        <p:spPr>
          <a:xfrm>
            <a:off x="457200" y="1097280"/>
            <a:ext cx="8229600" cy="1810512"/>
          </a:xfrm>
          <a:prstGeom prst="roundRect">
            <a:avLst>
              <a:gd name="adj" fmla="val 6061"/>
            </a:avLst>
          </a:prstGeom>
          <a:solidFill>
            <a:srgbClr val="FFFFFF"/>
          </a:solidFill>
          <a:ln w="15875">
            <a:solidFill>
              <a:srgbClr val="002D6A"/>
            </a:solidFill>
            <a:prstDash val="solid"/>
          </a:ln>
        </p:spPr>
      </p:sp>
      <p:sp>
        <p:nvSpPr>
          <p:cNvPr id="6" name="Text 4"/>
          <p:cNvSpPr txBox="1"/>
          <p:nvPr/>
        </p:nvSpPr>
        <p:spPr>
          <a:xfrm>
            <a:off x="640080" y="1188720"/>
            <a:ext cx="7863840" cy="1627632"/>
          </a:xfrm>
          <a:prstGeom prst="rect">
            <a:avLst/>
          </a:prstGeom>
          <a:noFill/>
          <a:ln/>
        </p:spPr>
        <p:txBody>
          <a:bodyPr wrap="square" lIns="0" tIns="0" rIns="0" bIns="0" rtlCol="0" anchor="t"/>
          <a:lstStyle/>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1 mark per bullet up to a maximum of 2 marks:</a:t>
            </a:r>
            <a:endParaRPr lang="en-US" sz="1800" dirty="0"/>
          </a:p>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Protocols define rules/standards (plural) for transmitting data</a:t>
            </a:r>
            <a:endParaRPr lang="en-US" sz="1800" dirty="0"/>
          </a:p>
          <a:p>
            <a:pPr marL="342900" indent="-342900">
              <a:spcAft>
                <a:spcPts val="400"/>
              </a:spcAft>
              <a:buSzPct val="100000"/>
              <a:buChar char="•"/>
            </a:pPr>
            <a:r>
              <a:rPr lang="en-US" sz="1800" dirty="0">
                <a:solidFill>
                  <a:srgbClr val="22262E"/>
                </a:solidFill>
                <a:latin typeface="Arial" pitchFamily="34" charset="0"/>
                <a:ea typeface="Arial" pitchFamily="34" charset="-122"/>
                <a:cs typeface="Arial" pitchFamily="34" charset="-120"/>
              </a:rPr>
              <a:t>Ensures data can be exchanged (reliably/successfully) between different devices</a:t>
            </a:r>
            <a:endParaRPr lang="en-US" sz="1800" dirty="0"/>
          </a:p>
        </p:txBody>
      </p:sp>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Y12 Networks L2</dc:title>
  <dc:subject>PptxGenJS Presentation</dc:subject>
  <dc:creator/>
  <cp:lastModifiedBy/>
  <cp:revision>1</cp:revision>
  <dcterms:created xsi:type="dcterms:W3CDTF">2026-10-21T13:01:38Z</dcterms:created>
  <dcterms:modified xsi:type="dcterms:W3CDTF">2026-10-21T13:01:38Z</dcterms:modified>
</cp:coreProperties>
</file>