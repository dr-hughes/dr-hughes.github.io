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er" id="{e8269931-6238-924e-0fe3-4f017f8a51b7}">
          <p14:sldIdLst>
            <p14:sldId id="256"/>
          </p14:sldIdLst>
        </p14:section>
        <p14:section name="Default-1" id="{1261e932-0f50-eacb-7734-4d1741996d70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5-A-DAY: Knowledge Recall</a:t>
            </a:r>
            <a:endParaRPr lang="en-US" sz="3000" dirty="0"/>
          </a:p>
        </p:txBody>
      </p:sp>
      <p:sp>
        <p:nvSpPr>
          <p:cNvPr id="3" name="STARTER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1325880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Number 1"/>
          <p:cNvSpPr/>
          <p:nvPr/>
        </p:nvSpPr>
        <p:spPr>
          <a:xfrm>
            <a:off x="548640" y="1444752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algorithm?</a:t>
            </a:r>
            <a:endParaRPr lang="en-US" sz="1400" dirty="0"/>
          </a:p>
        </p:txBody>
      </p:sp>
      <p:sp>
        <p:nvSpPr>
          <p:cNvPr id="11" name="@1 Answer card"/>
          <p:cNvSpPr/>
          <p:nvPr/>
        </p:nvSpPr>
        <p:spPr>
          <a:xfrm>
            <a:off x="4846320" y="1325880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1 addText"/>
          <p:cNvSpPr txBox="1"/>
          <p:nvPr/>
        </p:nvSpPr>
        <p:spPr>
          <a:xfrm>
            <a:off x="4983480" y="132588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instructions to solve a problem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002536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2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025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program?</a:t>
            </a:r>
            <a:endParaRPr lang="en-US" sz="1400" dirty="0"/>
          </a:p>
        </p:txBody>
      </p:sp>
      <p:sp>
        <p:nvSpPr>
          <p:cNvPr id="17" name="@2 Answer card"/>
          <p:cNvSpPr/>
          <p:nvPr/>
        </p:nvSpPr>
        <p:spPr>
          <a:xfrm>
            <a:off x="4846320" y="2002536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8" name="@2 addText"/>
          <p:cNvSpPr txBox="1"/>
          <p:nvPr/>
        </p:nvSpPr>
        <p:spPr>
          <a:xfrm>
            <a:off x="4983480" y="200253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a computer can run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57200" y="2679192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Number 3"/>
          <p:cNvSpPr/>
          <p:nvPr/>
        </p:nvSpPr>
        <p:spPr>
          <a:xfrm>
            <a:off x="548640" y="2798064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67919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input and one output device</a:t>
            </a:r>
            <a:endParaRPr lang="en-US" sz="1400" dirty="0"/>
          </a:p>
        </p:txBody>
      </p:sp>
      <p:sp>
        <p:nvSpPr>
          <p:cNvPr id="23" name="@3 Answer card"/>
          <p:cNvSpPr/>
          <p:nvPr/>
        </p:nvSpPr>
        <p:spPr>
          <a:xfrm>
            <a:off x="4846320" y="2679192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4" name="@3 addText"/>
          <p:cNvSpPr txBox="1"/>
          <p:nvPr/>
        </p:nvSpPr>
        <p:spPr>
          <a:xfrm>
            <a:off x="4983480" y="267919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keyboard. Output: monitor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457200" y="335584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6" name="Number 4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335584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CPU do?</a:t>
            </a:r>
            <a:endParaRPr lang="en-US" sz="1400" dirty="0"/>
          </a:p>
        </p:txBody>
      </p:sp>
      <p:sp>
        <p:nvSpPr>
          <p:cNvPr id="29" name="@4 Answer card"/>
          <p:cNvSpPr/>
          <p:nvPr/>
        </p:nvSpPr>
        <p:spPr>
          <a:xfrm>
            <a:off x="4846320" y="3355848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0" name="@4 addText"/>
          <p:cNvSpPr txBox="1"/>
          <p:nvPr/>
        </p:nvSpPr>
        <p:spPr>
          <a:xfrm>
            <a:off x="4983480" y="335584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(runs) instructions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457200" y="4032504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32" name="Number 5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40325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computer store all data?</a:t>
            </a:r>
            <a:endParaRPr lang="en-US" sz="1400" dirty="0"/>
          </a:p>
        </p:txBody>
      </p:sp>
      <p:sp>
        <p:nvSpPr>
          <p:cNvPr id="35" name="@5 Answer card"/>
          <p:cNvSpPr/>
          <p:nvPr/>
        </p:nvSpPr>
        <p:spPr>
          <a:xfrm>
            <a:off x="4846320" y="4032504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6" name="@5 addText"/>
          <p:cNvSpPr txBox="1"/>
          <p:nvPr/>
        </p:nvSpPr>
        <p:spPr>
          <a:xfrm>
            <a:off x="4983480" y="403250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binary: 1s and 0s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 animBg="1"/>
      <p:bldP spid="18" grpId="0" animBg="1"/>
      <p:bldP spid="23" grpId="0" animBg="1"/>
      <p:bldP spid="24" grpId="0" animBg="1"/>
      <p:bldP spid="29" grpId="0" animBg="1"/>
      <p:bldP spid="30" grpId="0" animBg="1"/>
      <p:bldP spid="35" grpId="0" animBg="1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this?</a:t>
            </a:r>
            <a:endParaRPr lang="en-US" sz="3400" dirty="0"/>
          </a:p>
        </p:txBody>
      </p:sp>
      <p:pic>
        <p:nvPicPr>
          <p:cNvPr id="3" name="Image 0" descr="Enigma machine, a Second World War cipher device with a keyboard and rotating wheel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548640"/>
            <a:ext cx="3657600" cy="402336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Called the Enigma Machine</a:t>
            </a:r>
            <a:endParaRPr lang="en-US" sz="3000" dirty="0"/>
          </a:p>
        </p:txBody>
      </p:sp>
      <p:pic>
        <p:nvPicPr>
          <p:cNvPr id="3" name="Image 0" descr="Enigma machine, a Second World War cipher device with a keyboard and rotating wheel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108960" cy="3383280"/>
          </a:xfrm>
          <a:prstGeom prst="rect">
            <a:avLst/>
          </a:prstGeom>
        </p:spPr>
      </p:pic>
      <p:sp>
        <p:nvSpPr>
          <p:cNvPr id="4" name="@1 addText"/>
          <p:cNvSpPr txBox="1"/>
          <p:nvPr/>
        </p:nvSpPr>
        <p:spPr>
          <a:xfrm>
            <a:off x="3931920" y="1188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 used it in World War 2 to send secret messages.</a:t>
            </a:r>
            <a:endParaRPr lang="en-US" sz="1700" dirty="0"/>
          </a:p>
        </p:txBody>
      </p:sp>
      <p:sp>
        <p:nvSpPr>
          <p:cNvPr id="5" name="@2 addText"/>
          <p:cNvSpPr txBox="1"/>
          <p:nvPr/>
        </p:nvSpPr>
        <p:spPr>
          <a:xfrm>
            <a:off x="3931920" y="1783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Rotating wheels inside scrambled every letter you typed.</a:t>
            </a:r>
            <a:endParaRPr lang="en-US" sz="1700" dirty="0"/>
          </a:p>
        </p:txBody>
      </p:sp>
      <p:sp>
        <p:nvSpPr>
          <p:cNvPr id="6" name="@3 addText"/>
          <p:cNvSpPr txBox="1"/>
          <p:nvPr/>
        </p:nvSpPr>
        <p:spPr>
          <a:xfrm>
            <a:off x="3931920" y="2377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an identical machine, set up the same way, could unscramble it.</a:t>
            </a:r>
            <a:endParaRPr lang="en-US" sz="1700" dirty="0"/>
          </a:p>
        </p:txBody>
      </p:sp>
      <p:sp>
        <p:nvSpPr>
          <p:cNvPr id="7" name="@4 addText"/>
          <p:cNvSpPr txBox="1"/>
          <p:nvPr/>
        </p:nvSpPr>
        <p:spPr>
          <a:xfrm>
            <a:off x="3931920" y="3200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possible settings: too many to guess by hand.</a:t>
            </a:r>
            <a:endParaRPr lang="en-US" sz="1700" dirty="0"/>
          </a:p>
        </p:txBody>
      </p:sp>
      <p:sp>
        <p:nvSpPr>
          <p:cNvPr id="8" name="@5 addText"/>
          <p:cNvSpPr txBox="1"/>
          <p:nvPr/>
        </p:nvSpPr>
        <p:spPr>
          <a:xfrm>
            <a:off x="3931920" y="37947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Turing 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the Bletchley Park team that cracked it, and his ideas became the basis of the modern computer.</a:t>
            </a:r>
            <a:endParaRPr lang="en-US" sz="17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CRASH COURSE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experience needed. We're using Spyder, live.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Hughes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0" y="109728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0B2A57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1097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24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spyder</a:t>
            </a:r>
            <a:pPr indent="0" marL="0">
              <a:buNone/>
            </a:pPr>
            <a:r>
              <a:rPr lang="en-US" sz="24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Spyder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Spyder and find the console. Follow Part 1 of your booklet.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Terminal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Spyder's console runs Python </a:t>
            </a:r>
            <a:pPr indent="0" marL="0">
              <a:buNone/>
            </a:pPr>
            <a:r>
              <a:rPr lang="en-US" sz="16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one line at a 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676656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54864" cy="676656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945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i="1" dirty="0">
                <a:solidFill>
                  <a:srgbClr val="8E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 here, press Enter</a:t>
            </a:r>
            <a:endParaRPr lang="en-US" sz="2200" dirty="0"/>
          </a:p>
        </p:txBody>
      </p:sp>
      <p:sp>
        <p:nvSpPr>
          <p:cNvPr id="8" name="@1 addShape"/>
          <p:cNvSpPr/>
          <p:nvPr/>
        </p:nvSpPr>
        <p:spPr>
          <a:xfrm>
            <a:off x="457200" y="2962656"/>
            <a:ext cx="64008" cy="731520"/>
          </a:xfrm>
          <a:prstGeom prst="rect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9" name="@1 addText"/>
          <p:cNvSpPr txBox="1"/>
          <p:nvPr/>
        </p:nvSpPr>
        <p:spPr>
          <a:xfrm>
            <a:off x="685800" y="2962656"/>
            <a:ext cx="800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saving. No running a file. Just type, and press Enter.</a:t>
            </a:r>
            <a:endParaRPr lang="en-US" sz="24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Is a Calculator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Basics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463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161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95628"/>
            <a:ext cx="146304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1143000"/>
            <a:ext cx="1463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2161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595628"/>
            <a:ext cx="146304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463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219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01468"/>
            <a:ext cx="146304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2148840"/>
            <a:ext cx="1463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03120" y="22219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601468"/>
            <a:ext cx="146304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</a:t>
            </a:r>
            <a:endParaRPr lang="en-US" sz="1400" dirty="0"/>
          </a:p>
        </p:txBody>
      </p:sp>
      <p:sp>
        <p:nvSpPr>
          <p:cNvPr id="15" name="@1 addShape"/>
          <p:cNvSpPr/>
          <p:nvPr/>
        </p:nvSpPr>
        <p:spPr>
          <a:xfrm>
            <a:off x="3840480" y="1143000"/>
            <a:ext cx="4846320" cy="261518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16" name="@1 addShape"/>
          <p:cNvSpPr/>
          <p:nvPr/>
        </p:nvSpPr>
        <p:spPr>
          <a:xfrm>
            <a:off x="3840480" y="1143000"/>
            <a:ext cx="54864" cy="261518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17" name="@1 addText"/>
          <p:cNvSpPr txBox="1"/>
          <p:nvPr/>
        </p:nvSpPr>
        <p:spPr>
          <a:xfrm>
            <a:off x="4023360" y="1280160"/>
            <a:ext cx="4572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@1 addText"/>
          <p:cNvSpPr txBox="1"/>
          <p:nvPr/>
        </p:nvSpPr>
        <p:spPr>
          <a:xfrm>
            <a:off x="4023360" y="1572768"/>
            <a:ext cx="4572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  <p:sp>
        <p:nvSpPr>
          <p:cNvPr id="19" name="@2 addText"/>
          <p:cNvSpPr txBox="1"/>
          <p:nvPr/>
        </p:nvSpPr>
        <p:spPr>
          <a:xfrm>
            <a:off x="4023360" y="1865376"/>
            <a:ext cx="4572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@2 addText"/>
          <p:cNvSpPr txBox="1"/>
          <p:nvPr/>
        </p:nvSpPr>
        <p:spPr>
          <a:xfrm>
            <a:off x="4023360" y="2157984"/>
            <a:ext cx="4572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@3 addText"/>
          <p:cNvSpPr txBox="1"/>
          <p:nvPr/>
        </p:nvSpPr>
        <p:spPr>
          <a:xfrm>
            <a:off x="4023360" y="2450592"/>
            <a:ext cx="4572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@3 addText"/>
          <p:cNvSpPr txBox="1"/>
          <p:nvPr/>
        </p:nvSpPr>
        <p:spPr>
          <a:xfrm>
            <a:off x="4023360" y="2743200"/>
            <a:ext cx="4572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600" dirty="0"/>
          </a:p>
        </p:txBody>
      </p:sp>
      <p:sp>
        <p:nvSpPr>
          <p:cNvPr id="23" name="@4 addText"/>
          <p:cNvSpPr txBox="1"/>
          <p:nvPr/>
        </p:nvSpPr>
        <p:spPr>
          <a:xfrm>
            <a:off x="4023360" y="3035808"/>
            <a:ext cx="4572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@4 addText"/>
          <p:cNvSpPr txBox="1"/>
          <p:nvPr/>
        </p:nvSpPr>
        <p:spPr>
          <a:xfrm>
            <a:off x="4023360" y="3328416"/>
            <a:ext cx="4572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1.6666666666666667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8229600" cy="188366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@1 addShape"/>
          <p:cNvSpPr/>
          <p:nvPr/>
        </p:nvSpPr>
        <p:spPr>
          <a:xfrm>
            <a:off x="457200" y="1143000"/>
            <a:ext cx="54864" cy="18836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2200" i="1" dirty="0">
                <a:solidFill>
                  <a:srgbClr val="8E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pizza, split between 2 people</a:t>
            </a:r>
            <a:endParaRPr lang="en-US" sz="22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2200" dirty="0"/>
          </a:p>
        </p:txBody>
      </p:sp>
      <p:sp>
        <p:nvSpPr>
          <p:cNvPr id="7" name="@2 addText"/>
          <p:cNvSpPr txBox="1"/>
          <p:nvPr/>
        </p:nvSpPr>
        <p:spPr>
          <a:xfrm>
            <a:off x="640080" y="2084832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8" name="@2 addText"/>
          <p:cNvSpPr txBox="1"/>
          <p:nvPr/>
        </p:nvSpPr>
        <p:spPr>
          <a:xfrm>
            <a:off x="640080" y="2487168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2200" dirty="0"/>
          </a:p>
        </p:txBody>
      </p:sp>
      <p:sp>
        <p:nvSpPr>
          <p:cNvPr id="9" name="@2 addText"/>
          <p:cNvSpPr txBox="1"/>
          <p:nvPr/>
        </p:nvSpPr>
        <p:spPr>
          <a:xfrm>
            <a:off x="457200" y="31638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 these into Spyder's console yourselves before checking the answers</a:t>
            </a:r>
            <a:endParaRPr lang="en-US" sz="14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Leftovers: the % Operator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2200" i="1" dirty="0">
                <a:solidFill>
                  <a:srgbClr val="8E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 slices, 3 people, 1 left over</a:t>
            </a:r>
            <a:endParaRPr lang="en-US" sz="22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@1 addText"/>
          <p:cNvSpPr txBox="1"/>
          <p:nvPr/>
        </p:nvSpPr>
        <p:spPr>
          <a:xfrm>
            <a:off x="457200" y="2359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"modulo" is the remainder after dividing</a:t>
            </a:r>
            <a:endParaRPr lang="en-US" sz="14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Matters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8229600" cy="188366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@1 addShape"/>
          <p:cNvSpPr/>
          <p:nvPr/>
        </p:nvSpPr>
        <p:spPr>
          <a:xfrm>
            <a:off x="457200" y="1143000"/>
            <a:ext cx="54864" cy="18836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2200" dirty="0"/>
          </a:p>
        </p:txBody>
      </p:sp>
      <p:sp>
        <p:nvSpPr>
          <p:cNvPr id="7" name="@2 addText"/>
          <p:cNvSpPr txBox="1"/>
          <p:nvPr/>
        </p:nvSpPr>
        <p:spPr>
          <a:xfrm>
            <a:off x="640080" y="2084832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@2 addText"/>
          <p:cNvSpPr txBox="1"/>
          <p:nvPr/>
        </p:nvSpPr>
        <p:spPr>
          <a:xfrm>
            <a:off x="640080" y="2487168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2200" dirty="0"/>
          </a:p>
        </p:txBody>
      </p:sp>
      <p:sp>
        <p:nvSpPr>
          <p:cNvPr id="9" name="@3 addShape"/>
          <p:cNvSpPr/>
          <p:nvPr/>
        </p:nvSpPr>
        <p:spPr>
          <a:xfrm>
            <a:off x="457200" y="3163824"/>
            <a:ext cx="64008" cy="548640"/>
          </a:xfrm>
          <a:prstGeom prst="rect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0" name="@3 addText"/>
          <p:cNvSpPr txBox="1"/>
          <p:nvPr/>
        </p:nvSpPr>
        <p:spPr>
          <a:xfrm>
            <a:off x="685800" y="3163824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follows normal maths rules: multiply before add, unless brackets say otherwise.</a:t>
            </a:r>
            <a:endParaRPr lang="en-US" sz="22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Things Names</a:t>
            </a:r>
            <a:endParaRPr lang="en-US" sz="3000" dirty="0"/>
          </a:p>
        </p:txBody>
      </p:sp>
      <p:sp>
        <p:nvSpPr>
          <p:cNvPr id="3" name="10 MIN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143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labelled box that holds a value.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676656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54864" cy="676656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7744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2200" dirty="0"/>
          </a:p>
        </p:txBody>
      </p:sp>
      <p:sp>
        <p:nvSpPr>
          <p:cNvPr id="10" name="@1 addShape"/>
          <p:cNvSpPr/>
          <p:nvPr/>
        </p:nvSpPr>
        <p:spPr>
          <a:xfrm>
            <a:off x="457200" y="3054096"/>
            <a:ext cx="64008" cy="640080"/>
          </a:xfrm>
          <a:prstGeom prst="rect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1" name="@1 addText"/>
          <p:cNvSpPr txBox="1"/>
          <p:nvPr/>
        </p:nvSpPr>
        <p:spPr>
          <a:xfrm>
            <a:off x="685800" y="3054096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 the left, value on the right.</a:t>
            </a:r>
            <a:endParaRPr lang="en-US" sz="2200" dirty="0"/>
          </a:p>
        </p:txBody>
      </p:sp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Variable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8229600" cy="1481328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@1 addShape"/>
          <p:cNvSpPr/>
          <p:nvPr/>
        </p:nvSpPr>
        <p:spPr>
          <a:xfrm>
            <a:off x="457200" y="1143000"/>
            <a:ext cx="54864" cy="1481328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2200" dirty="0"/>
          </a:p>
        </p:txBody>
      </p:sp>
      <p:sp>
        <p:nvSpPr>
          <p:cNvPr id="6" name="@2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2200" dirty="0"/>
          </a:p>
        </p:txBody>
      </p:sp>
      <p:sp>
        <p:nvSpPr>
          <p:cNvPr id="7" name="@2 addText"/>
          <p:cNvSpPr txBox="1"/>
          <p:nvPr/>
        </p:nvSpPr>
        <p:spPr>
          <a:xfrm>
            <a:off x="640080" y="2084832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22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Strings: Text in Quotes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16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45336"/>
            <a:ext cx="822960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always in quotes</a:t>
            </a:r>
            <a:endParaRPr lang="en-US" sz="1400" dirty="0"/>
          </a:p>
        </p:txBody>
      </p:sp>
      <p:sp>
        <p:nvSpPr>
          <p:cNvPr id="6" name="@1 addShape"/>
          <p:cNvSpPr/>
          <p:nvPr/>
        </p:nvSpPr>
        <p:spPr>
          <a:xfrm>
            <a:off x="457200" y="2057400"/>
            <a:ext cx="8229600" cy="1481328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7" name="@1 addShape"/>
          <p:cNvSpPr/>
          <p:nvPr/>
        </p:nvSpPr>
        <p:spPr>
          <a:xfrm>
            <a:off x="457200" y="2057400"/>
            <a:ext cx="54864" cy="1481328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640080" y="21945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"Zendaya"</a:t>
            </a:r>
            <a:endParaRPr lang="en-US" sz="2200" dirty="0"/>
          </a:p>
        </p:txBody>
      </p:sp>
      <p:sp>
        <p:nvSpPr>
          <p:cNvPr id="9" name="@2 addText"/>
          <p:cNvSpPr txBox="1"/>
          <p:nvPr/>
        </p:nvSpPr>
        <p:spPr>
          <a:xfrm>
            <a:off x="640080" y="25968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2200" dirty="0"/>
          </a:p>
        </p:txBody>
      </p:sp>
      <p:sp>
        <p:nvSpPr>
          <p:cNvPr id="10" name="@2 addText"/>
          <p:cNvSpPr txBox="1"/>
          <p:nvPr/>
        </p:nvSpPr>
        <p:spPr>
          <a:xfrm>
            <a:off x="640080" y="2999232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'Zendaya'</a:t>
            </a:r>
            <a:endParaRPr lang="en-US" sz="22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Numbers: int vs float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16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45336"/>
            <a:ext cx="40233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number: 95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216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545336"/>
            <a:ext cx="40233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decimal point: 1.75</a:t>
            </a:r>
            <a:endParaRPr lang="en-US" sz="1400" dirty="0"/>
          </a:p>
        </p:txBody>
      </p:sp>
      <p:sp>
        <p:nvSpPr>
          <p:cNvPr id="9" name="@1 addShape"/>
          <p:cNvSpPr/>
          <p:nvPr/>
        </p:nvSpPr>
        <p:spPr>
          <a:xfrm>
            <a:off x="457200" y="20574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10" name="@1 addShape"/>
          <p:cNvSpPr/>
          <p:nvPr/>
        </p:nvSpPr>
        <p:spPr>
          <a:xfrm>
            <a:off x="457200" y="2057400"/>
            <a:ext cx="54864" cy="1078992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11" name="@1 addText"/>
          <p:cNvSpPr txBox="1"/>
          <p:nvPr/>
        </p:nvSpPr>
        <p:spPr>
          <a:xfrm>
            <a:off x="640080" y="21945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2200" dirty="0"/>
          </a:p>
        </p:txBody>
      </p:sp>
      <p:sp>
        <p:nvSpPr>
          <p:cNvPr id="12" name="@2 addText"/>
          <p:cNvSpPr txBox="1"/>
          <p:nvPr/>
        </p:nvSpPr>
        <p:spPr>
          <a:xfrm>
            <a:off x="640080" y="25968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1.75</a:t>
            </a:r>
            <a:endParaRPr lang="en-US" sz="2200" dirty="0"/>
          </a:p>
        </p:txBody>
      </p:sp>
      <p:sp>
        <p:nvSpPr>
          <p:cNvPr id="13" name="@2 addText"/>
          <p:cNvSpPr txBox="1"/>
          <p:nvPr/>
        </p:nvSpPr>
        <p:spPr>
          <a:xfrm>
            <a:off x="457200" y="3273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 = whole number. float = has a decimal point.</a:t>
            </a:r>
            <a:endParaRPr lang="en-US" sz="1400" dirty="0"/>
          </a:p>
        </p:txBody>
      </p:sp>
      <p:sp>
        <p:nvSpPr>
          <p:cNvPr id="1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or False: Booleans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16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45336"/>
            <a:ext cx="822960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or False, nothing else</a:t>
            </a:r>
            <a:endParaRPr lang="en-US" sz="1400" dirty="0"/>
          </a:p>
        </p:txBody>
      </p:sp>
      <p:sp>
        <p:nvSpPr>
          <p:cNvPr id="6" name="@1 addShape"/>
          <p:cNvSpPr/>
          <p:nvPr/>
        </p:nvSpPr>
        <p:spPr>
          <a:xfrm>
            <a:off x="457200" y="20574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7" name="@1 addShape"/>
          <p:cNvSpPr/>
          <p:nvPr/>
        </p:nvSpPr>
        <p:spPr>
          <a:xfrm>
            <a:off x="457200" y="2057400"/>
            <a:ext cx="54864" cy="1078992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640080" y="21945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is_hungry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@2 addText"/>
          <p:cNvSpPr txBox="1"/>
          <p:nvPr/>
        </p:nvSpPr>
        <p:spPr>
          <a:xfrm>
            <a:off x="640080" y="25968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is_raining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2200" dirty="0"/>
          </a:p>
        </p:txBody>
      </p:sp>
      <p:sp>
        <p:nvSpPr>
          <p:cNvPr id="10" name="@2 addText"/>
          <p:cNvSpPr txBox="1"/>
          <p:nvPr/>
        </p:nvSpPr>
        <p:spPr>
          <a:xfrm>
            <a:off x="457200" y="3273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only ever two values: True or False</a:t>
            </a:r>
            <a:endParaRPr lang="en-US" sz="14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Type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8229600" cy="261518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@1 addShape"/>
          <p:cNvSpPr/>
          <p:nvPr/>
        </p:nvSpPr>
        <p:spPr>
          <a:xfrm>
            <a:off x="457200" y="1143000"/>
            <a:ext cx="54864" cy="261518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640080" y="1280160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572768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600" dirty="0"/>
          </a:p>
        </p:txBody>
      </p:sp>
      <p:sp>
        <p:nvSpPr>
          <p:cNvPr id="7" name="@2 addText"/>
          <p:cNvSpPr txBox="1"/>
          <p:nvPr/>
        </p:nvSpPr>
        <p:spPr>
          <a:xfrm>
            <a:off x="640080" y="1865376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@2 addText"/>
          <p:cNvSpPr txBox="1"/>
          <p:nvPr/>
        </p:nvSpPr>
        <p:spPr>
          <a:xfrm>
            <a:off x="640080" y="2157984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'str'&gt;</a:t>
            </a:r>
            <a:endParaRPr lang="en-US" sz="1600" dirty="0"/>
          </a:p>
        </p:txBody>
      </p:sp>
      <p:sp>
        <p:nvSpPr>
          <p:cNvPr id="9" name="@3 addText"/>
          <p:cNvSpPr txBox="1"/>
          <p:nvPr/>
        </p:nvSpPr>
        <p:spPr>
          <a:xfrm>
            <a:off x="640080" y="2450592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@3 addText"/>
          <p:cNvSpPr txBox="1"/>
          <p:nvPr/>
        </p:nvSpPr>
        <p:spPr>
          <a:xfrm>
            <a:off x="640080" y="2743200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'float'&gt;</a:t>
            </a:r>
            <a:endParaRPr lang="en-US" sz="1600" dirty="0"/>
          </a:p>
        </p:txBody>
      </p:sp>
      <p:sp>
        <p:nvSpPr>
          <p:cNvPr id="11" name="@4 addText"/>
          <p:cNvSpPr txBox="1"/>
          <p:nvPr/>
        </p:nvSpPr>
        <p:spPr>
          <a:xfrm>
            <a:off x="640080" y="3035808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is_hungry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@4 addText"/>
          <p:cNvSpPr txBox="1"/>
          <p:nvPr/>
        </p:nvSpPr>
        <p:spPr>
          <a:xfrm>
            <a:off x="640080" y="3328416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'bool'&gt;</a:t>
            </a:r>
            <a:endParaRPr lang="en-US" sz="16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Can Change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8229600" cy="188366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@1 addShape"/>
          <p:cNvSpPr/>
          <p:nvPr/>
        </p:nvSpPr>
        <p:spPr>
          <a:xfrm>
            <a:off x="457200" y="1143000"/>
            <a:ext cx="54864" cy="18836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2200" dirty="0"/>
          </a:p>
        </p:txBody>
      </p:sp>
      <p:sp>
        <p:nvSpPr>
          <p:cNvPr id="6" name="@2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7" name="@3 addText"/>
          <p:cNvSpPr txBox="1"/>
          <p:nvPr/>
        </p:nvSpPr>
        <p:spPr>
          <a:xfrm>
            <a:off x="640080" y="2084832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2200" dirty="0"/>
          </a:p>
        </p:txBody>
      </p:sp>
      <p:sp>
        <p:nvSpPr>
          <p:cNvPr id="8" name="@3 addText"/>
          <p:cNvSpPr txBox="1"/>
          <p:nvPr/>
        </p:nvSpPr>
        <p:spPr>
          <a:xfrm>
            <a:off x="640080" y="2487168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200" dirty="0"/>
          </a:p>
        </p:txBody>
      </p:sp>
      <p:sp>
        <p:nvSpPr>
          <p:cNvPr id="9" name="@4 addShape"/>
          <p:cNvSpPr/>
          <p:nvPr/>
        </p:nvSpPr>
        <p:spPr>
          <a:xfrm>
            <a:off x="457200" y="3163824"/>
            <a:ext cx="64008" cy="548640"/>
          </a:xfrm>
          <a:prstGeom prst="rect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0" name="@4 addText"/>
          <p:cNvSpPr txBox="1"/>
          <p:nvPr/>
        </p:nvSpPr>
        <p:spPr>
          <a:xfrm>
            <a:off x="685800" y="3163824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Python, = means store, not equals.</a:t>
            </a:r>
            <a:endParaRPr lang="en-US" sz="22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f(x) From Maths?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0" y="1371600"/>
            <a:ext cx="4572000" cy="1188720"/>
          </a:xfrm>
          <a:prstGeom prst="roundRect">
            <a:avLst>
              <a:gd name="adj" fmla="val 9231"/>
            </a:avLst>
          </a:prstGeom>
          <a:solidFill>
            <a:srgbClr val="001B40"/>
          </a:solidFill>
          <a:ln w="12700">
            <a:solidFill>
              <a:srgbClr val="001B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0" y="1371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x + 1</a:t>
            </a:r>
            <a:endParaRPr lang="en-US" sz="3600" dirty="0"/>
          </a:p>
        </p:txBody>
      </p:sp>
      <p:sp>
        <p:nvSpPr>
          <p:cNvPr id="5" name="@1 addShape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685800" y="2926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number in, get a number out. A function is a machine for that.</a:t>
            </a:r>
            <a:endParaRPr lang="en-US" sz="1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Functions Do the Same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add_one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59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 = "define a function". return = "send this value back"</a:t>
            </a:r>
            <a:endParaRPr lang="en-US" sz="14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a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add_one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005840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0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20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add_one</a:t>
            </a:r>
            <a:pPr indent="0" marL="0">
              <a:buNone/>
            </a:pPr>
            <a:r>
              <a:rPr lang="en-US" sz="20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0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20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7955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0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0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20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20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@1 addShape"/>
          <p:cNvSpPr/>
          <p:nvPr/>
        </p:nvSpPr>
        <p:spPr>
          <a:xfrm>
            <a:off x="457200" y="23774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57200" y="2450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800" dirty="0"/>
          </a:p>
        </p:txBody>
      </p:sp>
      <p:sp>
        <p:nvSpPr>
          <p:cNvPr id="9" name="@1 addText"/>
          <p:cNvSpPr txBox="1"/>
          <p:nvPr/>
        </p:nvSpPr>
        <p:spPr>
          <a:xfrm>
            <a:off x="45720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</a:t>
            </a:r>
            <a:endParaRPr lang="en-US" sz="1400" dirty="0"/>
          </a:p>
        </p:txBody>
      </p:sp>
      <p:sp>
        <p:nvSpPr>
          <p:cNvPr id="10" name="@2 addShape"/>
          <p:cNvSpPr/>
          <p:nvPr/>
        </p:nvSpPr>
        <p:spPr>
          <a:xfrm>
            <a:off x="2560320" y="23774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1" name="@2 addText"/>
          <p:cNvSpPr txBox="1"/>
          <p:nvPr/>
        </p:nvSpPr>
        <p:spPr>
          <a:xfrm>
            <a:off x="2560320" y="2450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add_one</a:t>
            </a:r>
            <a:endParaRPr lang="en-US" sz="1800" dirty="0"/>
          </a:p>
        </p:txBody>
      </p:sp>
      <p:sp>
        <p:nvSpPr>
          <p:cNvPr id="12" name="@2 addText"/>
          <p:cNvSpPr txBox="1"/>
          <p:nvPr/>
        </p:nvSpPr>
        <p:spPr>
          <a:xfrm>
            <a:off x="256032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we chose</a:t>
            </a:r>
            <a:endParaRPr lang="en-US" sz="1400" dirty="0"/>
          </a:p>
        </p:txBody>
      </p:sp>
      <p:sp>
        <p:nvSpPr>
          <p:cNvPr id="13" name="@3 addShape"/>
          <p:cNvSpPr/>
          <p:nvPr/>
        </p:nvSpPr>
        <p:spPr>
          <a:xfrm>
            <a:off x="4663440" y="23774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4663440" y="2450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800" dirty="0"/>
          </a:p>
        </p:txBody>
      </p:sp>
      <p:sp>
        <p:nvSpPr>
          <p:cNvPr id="15" name="@3 addText"/>
          <p:cNvSpPr txBox="1"/>
          <p:nvPr/>
        </p:nvSpPr>
        <p:spPr>
          <a:xfrm>
            <a:off x="466344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(parameter)</a:t>
            </a:r>
            <a:endParaRPr lang="en-US" sz="1400" dirty="0"/>
          </a:p>
        </p:txBody>
      </p:sp>
      <p:sp>
        <p:nvSpPr>
          <p:cNvPr id="16" name="@4 addShape"/>
          <p:cNvSpPr/>
          <p:nvPr/>
        </p:nvSpPr>
        <p:spPr>
          <a:xfrm>
            <a:off x="6766560" y="23774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7" name="@4 addText"/>
          <p:cNvSpPr txBox="1"/>
          <p:nvPr/>
        </p:nvSpPr>
        <p:spPr>
          <a:xfrm>
            <a:off x="6766560" y="2450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+ 1</a:t>
            </a:r>
            <a:endParaRPr lang="en-US" sz="1800" dirty="0"/>
          </a:p>
        </p:txBody>
      </p:sp>
      <p:sp>
        <p:nvSpPr>
          <p:cNvPr id="18" name="@4 addText"/>
          <p:cNvSpPr txBox="1"/>
          <p:nvPr/>
        </p:nvSpPr>
        <p:spPr>
          <a:xfrm>
            <a:off x="676656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Inputs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359152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59152"/>
            <a:ext cx="54864" cy="1078992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96312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10" name="@1 addText"/>
          <p:cNvSpPr txBox="1"/>
          <p:nvPr/>
        </p:nvSpPr>
        <p:spPr>
          <a:xfrm>
            <a:off x="640080" y="2898648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64008" cy="640080"/>
          </a:xfrm>
          <a:prstGeom prst="rect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maths once. Reuse it forever.</a:t>
            </a:r>
            <a:endParaRPr lang="en-US" sz="2200" dirty="0"/>
          </a:p>
        </p:txBody>
      </p:sp>
      <p:sp>
        <p:nvSpPr>
          <p:cNvPr id="5" name="@1 addShape"/>
          <p:cNvSpPr/>
          <p:nvPr/>
        </p:nvSpPr>
        <p:spPr>
          <a:xfrm>
            <a:off x="457200" y="1965960"/>
            <a:ext cx="8229600" cy="188366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6" name="@1 addShape"/>
          <p:cNvSpPr/>
          <p:nvPr/>
        </p:nvSpPr>
        <p:spPr>
          <a:xfrm>
            <a:off x="457200" y="1965960"/>
            <a:ext cx="54864" cy="18836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7" name="@1 addText"/>
          <p:cNvSpPr txBox="1"/>
          <p:nvPr/>
        </p:nvSpPr>
        <p:spPr>
          <a:xfrm>
            <a:off x="640080" y="210312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8" name="@1 addText"/>
          <p:cNvSpPr txBox="1"/>
          <p:nvPr/>
        </p:nvSpPr>
        <p:spPr>
          <a:xfrm>
            <a:off x="640080" y="250545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2200" dirty="0"/>
          </a:p>
        </p:txBody>
      </p:sp>
      <p:sp>
        <p:nvSpPr>
          <p:cNvPr id="9" name="@2 addText"/>
          <p:cNvSpPr txBox="1"/>
          <p:nvPr/>
        </p:nvSpPr>
        <p:spPr>
          <a:xfrm>
            <a:off x="640080" y="2907792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10" name="@2 addText"/>
          <p:cNvSpPr txBox="1"/>
          <p:nvPr/>
        </p:nvSpPr>
        <p:spPr>
          <a:xfrm>
            <a:off x="640080" y="3310128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22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Function Ladder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ladder.py. Work down the rungs and test each one with its chip.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Ladder Ends (1/2)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@1 addShape"/>
          <p:cNvSpPr/>
          <p:nvPr/>
        </p:nvSpPr>
        <p:spPr>
          <a:xfrm>
            <a:off x="457200" y="1143000"/>
            <a:ext cx="54864" cy="1920240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640080" y="1280160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18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609344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i="1" dirty="0">
                <a:solidFill>
                  <a:srgbClr val="8E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</a:t>
            </a:r>
            <a:endParaRPr lang="en-US" sz="1800" dirty="0"/>
          </a:p>
        </p:txBody>
      </p:sp>
      <p:sp>
        <p:nvSpPr>
          <p:cNvPr id="7" name="@2 addText"/>
          <p:cNvSpPr txBox="1"/>
          <p:nvPr/>
        </p:nvSpPr>
        <p:spPr>
          <a:xfrm>
            <a:off x="640080" y="2267712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buNone/>
            </a:pPr>
            <a:r>
              <a:rPr lang="en-US" sz="18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8" name="@2 addText"/>
          <p:cNvSpPr txBox="1"/>
          <p:nvPr/>
        </p:nvSpPr>
        <p:spPr>
          <a:xfrm>
            <a:off x="640080" y="2596896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i="1" dirty="0">
                <a:solidFill>
                  <a:srgbClr val="8E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</a:t>
            </a:r>
            <a:endParaRPr lang="en-US" sz="1800" dirty="0"/>
          </a:p>
        </p:txBody>
      </p:sp>
      <p:sp>
        <p:nvSpPr>
          <p:cNvPr id="9" name="@2 addText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rung 5: these four are your target</a:t>
            </a:r>
            <a:endParaRPr lang="en-US" sz="14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Ladder Ends (2/2)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@1 addShape"/>
          <p:cNvSpPr/>
          <p:nvPr/>
        </p:nvSpPr>
        <p:spPr>
          <a:xfrm>
            <a:off x="457200" y="1143000"/>
            <a:ext cx="54864" cy="1920240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640080" y="1280160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18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609344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i="1" dirty="0">
                <a:solidFill>
                  <a:srgbClr val="8E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</a:t>
            </a:r>
            <a:endParaRPr lang="en-US" sz="1800" dirty="0"/>
          </a:p>
        </p:txBody>
      </p:sp>
      <p:sp>
        <p:nvSpPr>
          <p:cNvPr id="7" name="@2 addText"/>
          <p:cNvSpPr txBox="1"/>
          <p:nvPr/>
        </p:nvSpPr>
        <p:spPr>
          <a:xfrm>
            <a:off x="640080" y="2267712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buNone/>
            </a:pPr>
            <a:r>
              <a:rPr lang="en-US" sz="18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8" name="@2 addText"/>
          <p:cNvSpPr txBox="1"/>
          <p:nvPr/>
        </p:nvSpPr>
        <p:spPr>
          <a:xfrm>
            <a:off x="640080" y="2596896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i="1" dirty="0">
                <a:solidFill>
                  <a:srgbClr val="8E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</a:t>
            </a:r>
            <a:endParaRPr lang="en-US" sz="1800" dirty="0"/>
          </a:p>
        </p:txBody>
      </p:sp>
      <p:sp>
        <p:nvSpPr>
          <p:cNvPr id="9" name="@2 addText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names must be exactly these four</a:t>
            </a:r>
            <a:endParaRPr lang="en-US" sz="14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This One Together</a:t>
            </a:r>
            <a:endParaRPr lang="en-US" sz="2800" dirty="0"/>
          </a:p>
        </p:txBody>
      </p:sp>
      <p:sp>
        <p:nvSpPr>
          <p:cNvPr id="3" name="7 MIN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i="1" dirty="0">
                <a:solidFill>
                  <a:srgbClr val="8E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</a:t>
            </a:r>
            <a:endParaRPr lang="en-US" sz="2200" dirty="0"/>
          </a:p>
        </p:txBody>
      </p:sp>
      <p:sp>
        <p:nvSpPr>
          <p:cNvPr id="9" name="@1 addShape"/>
          <p:cNvSpPr/>
          <p:nvPr/>
        </p:nvSpPr>
        <p:spPr>
          <a:xfrm>
            <a:off x="548640" y="1682496"/>
            <a:ext cx="8046720" cy="402336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10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add()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Answer: subtract()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i="1" dirty="0">
                <a:solidFill>
                  <a:srgbClr val="8E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</a:t>
            </a:r>
            <a:endParaRPr lang="en-US" sz="2200" dirty="0"/>
          </a:p>
        </p:txBody>
      </p:sp>
      <p:sp>
        <p:nvSpPr>
          <p:cNvPr id="9" name="@1 addShape"/>
          <p:cNvSpPr/>
          <p:nvPr/>
        </p:nvSpPr>
        <p:spPr>
          <a:xfrm>
            <a:off x="548640" y="1682496"/>
            <a:ext cx="8046720" cy="402336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10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subtract()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Answer: multiply()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i="1" dirty="0">
                <a:solidFill>
                  <a:srgbClr val="8E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</a:t>
            </a:r>
            <a:endParaRPr lang="en-US" sz="2200" dirty="0"/>
          </a:p>
        </p:txBody>
      </p:sp>
      <p:sp>
        <p:nvSpPr>
          <p:cNvPr id="9" name="@1 addShape"/>
          <p:cNvSpPr/>
          <p:nvPr/>
        </p:nvSpPr>
        <p:spPr>
          <a:xfrm>
            <a:off x="548640" y="1682496"/>
            <a:ext cx="8046720" cy="402336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10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multiply()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2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Answer: divide()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i="1" dirty="0">
                <a:solidFill>
                  <a:srgbClr val="8E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</a:t>
            </a:r>
            <a:endParaRPr lang="en-US" sz="2200" dirty="0"/>
          </a:p>
        </p:txBody>
      </p:sp>
      <p:sp>
        <p:nvSpPr>
          <p:cNvPr id="9" name="@1 addShape"/>
          <p:cNvSpPr/>
          <p:nvPr/>
        </p:nvSpPr>
        <p:spPr>
          <a:xfrm>
            <a:off x="548640" y="1682496"/>
            <a:ext cx="8046720" cy="402336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10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divide()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endParaRPr lang="en-US" sz="2200" dirty="0"/>
          </a:p>
        </p:txBody>
      </p:sp>
      <p:sp>
        <p:nvSpPr>
          <p:cNvPr id="7" name="@1 addShape"/>
          <p:cNvSpPr/>
          <p:nvPr/>
        </p:nvSpPr>
        <p:spPr>
          <a:xfrm>
            <a:off x="457200" y="235915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685800" y="235915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always gives back a float, even when it divides evenly.</a:t>
            </a:r>
            <a:endParaRPr lang="en-US" sz="12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Yours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261518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2615184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65376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57984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50592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43200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35808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28416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@1 addShape"/>
          <p:cNvSpPr/>
          <p:nvPr/>
        </p:nvSpPr>
        <p:spPr>
          <a:xfrm>
            <a:off x="457200" y="3895344"/>
            <a:ext cx="64008" cy="502920"/>
          </a:xfrm>
          <a:prstGeom prst="rect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4" name="@1 addText"/>
          <p:cNvSpPr txBox="1"/>
          <p:nvPr/>
        </p:nvSpPr>
        <p:spPr>
          <a:xfrm>
            <a:off x="685800" y="3895344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shape, different maths.</a:t>
            </a:r>
            <a:endParaRPr lang="en-US" sz="20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Calculator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</a:t>
            </a:r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function names must be exactly </a:t>
            </a:r>
            <a:pPr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</a:t>
            </a:r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All four must run in the console before the calculator works.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calculator.py calls them by name. One wrong name and it finds nothing</a:t>
            </a:r>
            <a:endParaRPr lang="en-US" sz="14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Decisions</a:t>
            </a:r>
            <a:endParaRPr lang="en-US" sz="3000" dirty="0"/>
          </a:p>
        </p:txBody>
      </p:sp>
      <p:sp>
        <p:nvSpPr>
          <p:cNvPr id="3" name="7 MIN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143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pPr indent="0" marL="0">
              <a:buNone/>
            </a:pPr>
            <a:r>
              <a:rPr lang="en-US" sz="20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it's raining: bring an umbrella. Otherwise, don't.</a:t>
            </a:r>
            <a:endParaRPr lang="en-US" sz="1200" dirty="0"/>
          </a:p>
        </p:txBody>
      </p:sp>
      <p:sp>
        <p:nvSpPr>
          <p:cNvPr id="7" name="@1 addShape"/>
          <p:cNvSpPr/>
          <p:nvPr/>
        </p:nvSpPr>
        <p:spPr>
          <a:xfrm>
            <a:off x="457200" y="2423160"/>
            <a:ext cx="64008" cy="731520"/>
          </a:xfrm>
          <a:prstGeom prst="rect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685800" y="2423160"/>
            <a:ext cx="800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needs to make decisions too.</a:t>
            </a:r>
            <a:endParaRPr lang="en-US" sz="26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if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481328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481328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84832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"It's hot!"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8" name="@1 addShape"/>
          <p:cNvSpPr/>
          <p:nvPr/>
        </p:nvSpPr>
        <p:spPr>
          <a:xfrm>
            <a:off x="457200" y="2761488"/>
            <a:ext cx="8229600" cy="676656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9" name="@1 addShape"/>
          <p:cNvSpPr/>
          <p:nvPr/>
        </p:nvSpPr>
        <p:spPr>
          <a:xfrm>
            <a:off x="457200" y="2761488"/>
            <a:ext cx="54864" cy="676656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10" name="@1 addText"/>
          <p:cNvSpPr txBox="1"/>
          <p:nvPr/>
        </p:nvSpPr>
        <p:spPr>
          <a:xfrm>
            <a:off x="640080" y="2898648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It's hot!</a:t>
            </a:r>
            <a:endParaRPr lang="en-US" sz="22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 else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920240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9344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18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38528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"It's hot!"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67712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buNone/>
            </a:pPr>
            <a:r>
              <a:rPr lang="en-US" sz="18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96896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"It's chilly"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10" name="@1 addShape"/>
          <p:cNvSpPr/>
          <p:nvPr/>
        </p:nvSpPr>
        <p:spPr>
          <a:xfrm>
            <a:off x="457200" y="3200400"/>
            <a:ext cx="8229600" cy="676656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11" name="@1 addShape"/>
          <p:cNvSpPr/>
          <p:nvPr/>
        </p:nvSpPr>
        <p:spPr>
          <a:xfrm>
            <a:off x="457200" y="3200400"/>
            <a:ext cx="54864" cy="676656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12" name="@1 addText"/>
          <p:cNvSpPr txBox="1"/>
          <p:nvPr/>
        </p:nvSpPr>
        <p:spPr>
          <a:xfrm>
            <a:off x="640080" y="33375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It's chilly</a:t>
            </a:r>
            <a:endParaRPr lang="en-US" sz="2200" dirty="0"/>
          </a:p>
        </p:txBody>
      </p:sp>
      <p:sp>
        <p:nvSpPr>
          <p:cNvPr id="13" name="@1 addText"/>
          <p:cNvSpPr txBox="1"/>
          <p:nvPr/>
        </p:nvSpPr>
        <p:spPr>
          <a:xfrm>
            <a:off x="457200" y="40142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else only runs when the if didn't</a:t>
            </a:r>
            <a:endParaRPr lang="en-US" sz="1400" dirty="0"/>
          </a:p>
        </p:txBody>
      </p:sp>
      <p:sp>
        <p:nvSpPr>
          <p:cNvPr id="1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Operators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2621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@1 addText"/>
          <p:cNvSpPr txBox="1"/>
          <p:nvPr/>
        </p:nvSpPr>
        <p:spPr>
          <a:xfrm>
            <a:off x="457200" y="1216152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2600" dirty="0"/>
          </a:p>
        </p:txBody>
      </p:sp>
      <p:sp>
        <p:nvSpPr>
          <p:cNvPr id="5" name="@1 addText"/>
          <p:cNvSpPr txBox="1"/>
          <p:nvPr/>
        </p:nvSpPr>
        <p:spPr>
          <a:xfrm>
            <a:off x="457200" y="1645920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to</a:t>
            </a:r>
            <a:endParaRPr lang="en-US" sz="1400" dirty="0"/>
          </a:p>
        </p:txBody>
      </p:sp>
      <p:sp>
        <p:nvSpPr>
          <p:cNvPr id="6" name="@1 addShape"/>
          <p:cNvSpPr/>
          <p:nvPr/>
        </p:nvSpPr>
        <p:spPr>
          <a:xfrm>
            <a:off x="3261360" y="1143000"/>
            <a:ext cx="2621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@1 addText"/>
          <p:cNvSpPr txBox="1"/>
          <p:nvPr/>
        </p:nvSpPr>
        <p:spPr>
          <a:xfrm>
            <a:off x="3261360" y="1216152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2600" dirty="0"/>
          </a:p>
        </p:txBody>
      </p:sp>
      <p:sp>
        <p:nvSpPr>
          <p:cNvPr id="8" name="@1 addText"/>
          <p:cNvSpPr txBox="1"/>
          <p:nvPr/>
        </p:nvSpPr>
        <p:spPr>
          <a:xfrm>
            <a:off x="3261360" y="1645920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equal to</a:t>
            </a:r>
            <a:endParaRPr lang="en-US" sz="1400" dirty="0"/>
          </a:p>
        </p:txBody>
      </p:sp>
      <p:sp>
        <p:nvSpPr>
          <p:cNvPr id="9" name="@2 addShape"/>
          <p:cNvSpPr/>
          <p:nvPr/>
        </p:nvSpPr>
        <p:spPr>
          <a:xfrm>
            <a:off x="6065520" y="1143000"/>
            <a:ext cx="2621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6065520" y="1216152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600" dirty="0"/>
          </a:p>
        </p:txBody>
      </p:sp>
      <p:sp>
        <p:nvSpPr>
          <p:cNvPr id="11" name="@2 addText"/>
          <p:cNvSpPr txBox="1"/>
          <p:nvPr/>
        </p:nvSpPr>
        <p:spPr>
          <a:xfrm>
            <a:off x="6065520" y="1645920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than</a:t>
            </a:r>
            <a:endParaRPr lang="en-US" sz="1400" dirty="0"/>
          </a:p>
        </p:txBody>
      </p:sp>
      <p:sp>
        <p:nvSpPr>
          <p:cNvPr id="12" name="@2 addShape"/>
          <p:cNvSpPr/>
          <p:nvPr/>
        </p:nvSpPr>
        <p:spPr>
          <a:xfrm>
            <a:off x="457200" y="2240280"/>
            <a:ext cx="2621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3" name="@2 addText"/>
          <p:cNvSpPr txBox="1"/>
          <p:nvPr/>
        </p:nvSpPr>
        <p:spPr>
          <a:xfrm>
            <a:off x="457200" y="2313432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2600" dirty="0"/>
          </a:p>
        </p:txBody>
      </p:sp>
      <p:sp>
        <p:nvSpPr>
          <p:cNvPr id="14" name="@2 addText"/>
          <p:cNvSpPr txBox="1"/>
          <p:nvPr/>
        </p:nvSpPr>
        <p:spPr>
          <a:xfrm>
            <a:off x="457200" y="2743200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</a:t>
            </a:r>
            <a:endParaRPr lang="en-US" sz="1400" dirty="0"/>
          </a:p>
        </p:txBody>
      </p:sp>
      <p:sp>
        <p:nvSpPr>
          <p:cNvPr id="15" name="@3 addShape"/>
          <p:cNvSpPr/>
          <p:nvPr/>
        </p:nvSpPr>
        <p:spPr>
          <a:xfrm>
            <a:off x="3261360" y="2240280"/>
            <a:ext cx="2621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261360" y="2313432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2600" dirty="0"/>
          </a:p>
        </p:txBody>
      </p:sp>
      <p:sp>
        <p:nvSpPr>
          <p:cNvPr id="17" name="@3 addText"/>
          <p:cNvSpPr txBox="1"/>
          <p:nvPr/>
        </p:nvSpPr>
        <p:spPr>
          <a:xfrm>
            <a:off x="3261360" y="2743200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or equal</a:t>
            </a:r>
            <a:endParaRPr lang="en-US" sz="1400" dirty="0"/>
          </a:p>
        </p:txBody>
      </p:sp>
      <p:sp>
        <p:nvSpPr>
          <p:cNvPr id="18" name="@3 addShape"/>
          <p:cNvSpPr/>
          <p:nvPr/>
        </p:nvSpPr>
        <p:spPr>
          <a:xfrm>
            <a:off x="6065520" y="2240280"/>
            <a:ext cx="2621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9" name="@3 addText"/>
          <p:cNvSpPr txBox="1"/>
          <p:nvPr/>
        </p:nvSpPr>
        <p:spPr>
          <a:xfrm>
            <a:off x="6065520" y="2313432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2600" dirty="0"/>
          </a:p>
        </p:txBody>
      </p:sp>
      <p:sp>
        <p:nvSpPr>
          <p:cNvPr id="20" name="@3 addText"/>
          <p:cNvSpPr txBox="1"/>
          <p:nvPr/>
        </p:nvSpPr>
        <p:spPr>
          <a:xfrm>
            <a:off x="6065520" y="2743200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or equal</a:t>
            </a:r>
            <a:endParaRPr lang="en-US" sz="1400" dirty="0"/>
          </a:p>
        </p:txBody>
      </p:sp>
      <p:sp>
        <p:nvSpPr>
          <p:cNvPr id="21" name="@3 addText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note the double ==. A single = would try to store a value instead</a:t>
            </a:r>
            <a:endParaRPr lang="en-US" sz="14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elif: More Than Two Choices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394960" cy="29077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2907792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5120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16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572768"/>
            <a:ext cx="5120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7" name="@1 addText"/>
          <p:cNvSpPr txBox="1"/>
          <p:nvPr/>
        </p:nvSpPr>
        <p:spPr>
          <a:xfrm>
            <a:off x="640080" y="1865376"/>
            <a:ext cx="5120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@2 addText"/>
          <p:cNvSpPr txBox="1"/>
          <p:nvPr/>
        </p:nvSpPr>
        <p:spPr>
          <a:xfrm>
            <a:off x="640080" y="2157984"/>
            <a:ext cx="5120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9" name="@2 addText"/>
          <p:cNvSpPr txBox="1"/>
          <p:nvPr/>
        </p:nvSpPr>
        <p:spPr>
          <a:xfrm>
            <a:off x="640080" y="2450592"/>
            <a:ext cx="5120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@3 addText"/>
          <p:cNvSpPr txBox="1"/>
          <p:nvPr/>
        </p:nvSpPr>
        <p:spPr>
          <a:xfrm>
            <a:off x="640080" y="2743200"/>
            <a:ext cx="5120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11" name="@3 addText"/>
          <p:cNvSpPr txBox="1"/>
          <p:nvPr/>
        </p:nvSpPr>
        <p:spPr>
          <a:xfrm>
            <a:off x="640080" y="3035808"/>
            <a:ext cx="5120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@4 addText"/>
          <p:cNvSpPr txBox="1"/>
          <p:nvPr/>
        </p:nvSpPr>
        <p:spPr>
          <a:xfrm>
            <a:off x="640080" y="3328416"/>
            <a:ext cx="5120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13" name="@4 addText"/>
          <p:cNvSpPr txBox="1"/>
          <p:nvPr/>
        </p:nvSpPr>
        <p:spPr>
          <a:xfrm>
            <a:off x="640080" y="3621024"/>
            <a:ext cx="5120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"Needs work"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@5 addShape"/>
          <p:cNvSpPr/>
          <p:nvPr/>
        </p:nvSpPr>
        <p:spPr>
          <a:xfrm>
            <a:off x="6035040" y="1143000"/>
            <a:ext cx="2651760" cy="676656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15" name="@5 addShape"/>
          <p:cNvSpPr/>
          <p:nvPr/>
        </p:nvSpPr>
        <p:spPr>
          <a:xfrm>
            <a:off x="6035040" y="1143000"/>
            <a:ext cx="54864" cy="676656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16" name="@5 addText"/>
          <p:cNvSpPr txBox="1"/>
          <p:nvPr/>
        </p:nvSpPr>
        <p:spPr>
          <a:xfrm>
            <a:off x="6217920" y="1280160"/>
            <a:ext cx="23774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@5 addText"/>
          <p:cNvSpPr txBox="1"/>
          <p:nvPr/>
        </p:nvSpPr>
        <p:spPr>
          <a:xfrm>
            <a:off x="457200" y="41879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Python checks each condition top to bottom, stops at the first true one</a:t>
            </a:r>
            <a:endParaRPr lang="en-US" sz="14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Conditions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481328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481328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84832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"You're a teenager!"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8" name="@1 addShape"/>
          <p:cNvSpPr/>
          <p:nvPr/>
        </p:nvSpPr>
        <p:spPr>
          <a:xfrm>
            <a:off x="457200" y="2761488"/>
            <a:ext cx="8229600" cy="676656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9" name="@1 addShape"/>
          <p:cNvSpPr/>
          <p:nvPr/>
        </p:nvSpPr>
        <p:spPr>
          <a:xfrm>
            <a:off x="457200" y="2761488"/>
            <a:ext cx="54864" cy="676656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10" name="@1 addText"/>
          <p:cNvSpPr txBox="1"/>
          <p:nvPr/>
        </p:nvSpPr>
        <p:spPr>
          <a:xfrm>
            <a:off x="640080" y="2898648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You're a teenager!</a:t>
            </a:r>
            <a:endParaRPr lang="en-US" sz="2200" dirty="0"/>
          </a:p>
        </p:txBody>
      </p:sp>
      <p:sp>
        <p:nvSpPr>
          <p:cNvPr id="11" name="@1 addText"/>
          <p:cNvSpPr txBox="1"/>
          <p:nvPr/>
        </p:nvSpPr>
        <p:spPr>
          <a:xfrm>
            <a:off x="457200" y="35753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"and" means both sides need to be true</a:t>
            </a:r>
            <a:endParaRPr lang="en-US" sz="1400" dirty="0"/>
          </a:p>
        </p:txBody>
      </p:sp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Calculator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calculator.py. Follow Steps 1 to 4 and paste in your four functions.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The Four Functions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@1 addText"/>
          <p:cNvSpPr txBox="1"/>
          <p:nvPr/>
        </p:nvSpPr>
        <p:spPr>
          <a:xfrm>
            <a:off x="457200" y="121615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add()</a:t>
            </a:r>
            <a:endParaRPr lang="en-US" sz="1800" dirty="0"/>
          </a:p>
        </p:txBody>
      </p:sp>
      <p:sp>
        <p:nvSpPr>
          <p:cNvPr id="5" name="@2 addShape"/>
          <p:cNvSpPr/>
          <p:nvPr/>
        </p:nvSpPr>
        <p:spPr>
          <a:xfrm>
            <a:off x="2560320" y="114300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@2 addText"/>
          <p:cNvSpPr txBox="1"/>
          <p:nvPr/>
        </p:nvSpPr>
        <p:spPr>
          <a:xfrm>
            <a:off x="2560320" y="121615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subtract()</a:t>
            </a:r>
            <a:endParaRPr lang="en-US" sz="1800" dirty="0"/>
          </a:p>
        </p:txBody>
      </p:sp>
      <p:sp>
        <p:nvSpPr>
          <p:cNvPr id="7" name="@3 addShape"/>
          <p:cNvSpPr/>
          <p:nvPr/>
        </p:nvSpPr>
        <p:spPr>
          <a:xfrm>
            <a:off x="4663440" y="114300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3 addText"/>
          <p:cNvSpPr txBox="1"/>
          <p:nvPr/>
        </p:nvSpPr>
        <p:spPr>
          <a:xfrm>
            <a:off x="4663440" y="121615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multiply()</a:t>
            </a:r>
            <a:endParaRPr lang="en-US" sz="1800" dirty="0"/>
          </a:p>
        </p:txBody>
      </p:sp>
      <p:sp>
        <p:nvSpPr>
          <p:cNvPr id="9" name="@4 addShape"/>
          <p:cNvSpPr/>
          <p:nvPr/>
        </p:nvSpPr>
        <p:spPr>
          <a:xfrm>
            <a:off x="6766560" y="114300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@4 addText"/>
          <p:cNvSpPr txBox="1"/>
          <p:nvPr/>
        </p:nvSpPr>
        <p:spPr>
          <a:xfrm>
            <a:off x="6766560" y="121615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divide()</a:t>
            </a:r>
            <a:endParaRPr lang="en-US" sz="1800" dirty="0"/>
          </a:p>
        </p:txBody>
      </p:sp>
      <p:sp>
        <p:nvSpPr>
          <p:cNvPr id="11" name="@5 addShape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12" name="@5 addText"/>
          <p:cNvSpPr txBox="1"/>
          <p:nvPr/>
        </p:nvSpPr>
        <p:spPr>
          <a:xfrm>
            <a:off x="685800" y="2057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ladder functions into </a:t>
            </a:r>
            <a:pPr indent="0" marL="0">
              <a:buNone/>
            </a:pPr>
            <a:r>
              <a:rPr lang="en-US" sz="16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calculator.py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Ask the User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8229600" cy="126187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@1 addShape"/>
          <p:cNvSpPr/>
          <p:nvPr/>
        </p:nvSpPr>
        <p:spPr>
          <a:xfrm>
            <a:off x="457200" y="1143000"/>
            <a:ext cx="54864" cy="1261872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640080" y="1280160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"Pick: + - * / "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@2 addText"/>
          <p:cNvSpPr txBox="1"/>
          <p:nvPr/>
        </p:nvSpPr>
        <p:spPr>
          <a:xfrm>
            <a:off x="640080" y="1609344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"First number: "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7" name="@3 addText"/>
          <p:cNvSpPr txBox="1"/>
          <p:nvPr/>
        </p:nvSpPr>
        <p:spPr>
          <a:xfrm>
            <a:off x="640080" y="1938528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"Second number: "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8" name="@3 addText"/>
          <p:cNvSpPr txBox="1"/>
          <p:nvPr/>
        </p:nvSpPr>
        <p:spPr>
          <a:xfrm>
            <a:off x="457200" y="2542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input() always gives text back. float() turns it into a number</a:t>
            </a:r>
            <a:endParaRPr lang="en-US" sz="14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Decide What To Do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8229600" cy="261518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@1 addShape"/>
          <p:cNvSpPr/>
          <p:nvPr/>
        </p:nvSpPr>
        <p:spPr>
          <a:xfrm>
            <a:off x="457200" y="1143000"/>
            <a:ext cx="54864" cy="2615184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640080" y="1280160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6" name="@1 addText"/>
          <p:cNvSpPr txBox="1"/>
          <p:nvPr/>
        </p:nvSpPr>
        <p:spPr>
          <a:xfrm>
            <a:off x="640080" y="1572768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7" name="@2 addText"/>
          <p:cNvSpPr txBox="1"/>
          <p:nvPr/>
        </p:nvSpPr>
        <p:spPr>
          <a:xfrm>
            <a:off x="640080" y="1865376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8" name="@2 addText"/>
          <p:cNvSpPr txBox="1"/>
          <p:nvPr/>
        </p:nvSpPr>
        <p:spPr>
          <a:xfrm>
            <a:off x="640080" y="2157984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9" name="@3 addText"/>
          <p:cNvSpPr txBox="1"/>
          <p:nvPr/>
        </p:nvSpPr>
        <p:spPr>
          <a:xfrm>
            <a:off x="640080" y="2450592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10" name="@3 addText"/>
          <p:cNvSpPr txBox="1"/>
          <p:nvPr/>
        </p:nvSpPr>
        <p:spPr>
          <a:xfrm>
            <a:off x="640080" y="2743200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1" name="@4 addText"/>
          <p:cNvSpPr txBox="1"/>
          <p:nvPr/>
        </p:nvSpPr>
        <p:spPr>
          <a:xfrm>
            <a:off x="640080" y="3035808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12" name="@4 addText"/>
          <p:cNvSpPr txBox="1"/>
          <p:nvPr/>
        </p:nvSpPr>
        <p:spPr>
          <a:xfrm>
            <a:off x="640080" y="3328416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Show the Result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676656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676656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f"Answer: {result}"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568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f-strings drop a variable straight into text with { }</a:t>
            </a:r>
            <a:endParaRPr lang="en-US" sz="14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calculator.py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261518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2615184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"Pick: + - * / 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"First number: 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65376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"Second number: 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35808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buNone/>
            </a:pPr>
            <a:r>
              <a:rPr lang="en-US" sz="16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28416"/>
            <a:ext cx="7955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953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plus YOUR four ladder functions pasted at the top of the file</a:t>
            </a:r>
            <a:endParaRPr lang="en-US" sz="14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calculator.py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224942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2249424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buNone/>
            </a:pPr>
            <a:r>
              <a:rPr lang="en-US" sz="18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9344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38528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buNone/>
            </a:pPr>
            <a:r>
              <a:rPr lang="en-US" sz="18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67712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79552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f"Answer: {result}"</a:t>
            </a:r>
            <a:pPr indent="0" marL="0">
              <a:buNone/>
            </a:pPr>
            <a:r>
              <a:rPr lang="en-US" sz="18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It!</a:t>
            </a:r>
            <a:endParaRPr lang="en-US" sz="3000" dirty="0"/>
          </a:p>
        </p:txBody>
      </p:sp>
      <p:sp>
        <p:nvSpPr>
          <p:cNvPr id="3" name="@1 addShape"/>
          <p:cNvSpPr/>
          <p:nvPr/>
        </p:nvSpPr>
        <p:spPr>
          <a:xfrm>
            <a:off x="457200" y="1143000"/>
            <a:ext cx="8229600" cy="188366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4" name="@1 addShape"/>
          <p:cNvSpPr/>
          <p:nvPr/>
        </p:nvSpPr>
        <p:spPr>
          <a:xfrm>
            <a:off x="457200" y="1143000"/>
            <a:ext cx="54864" cy="18836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640080" y="1280160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Pick: + - * / *</a:t>
            </a:r>
            <a:endParaRPr lang="en-US" sz="2200" dirty="0"/>
          </a:p>
        </p:txBody>
      </p:sp>
      <p:sp>
        <p:nvSpPr>
          <p:cNvPr id="6" name="@2 addText"/>
          <p:cNvSpPr txBox="1"/>
          <p:nvPr/>
        </p:nvSpPr>
        <p:spPr>
          <a:xfrm>
            <a:off x="640080" y="1682496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number: 6</a:t>
            </a:r>
            <a:endParaRPr lang="en-US" sz="2200" dirty="0"/>
          </a:p>
        </p:txBody>
      </p:sp>
      <p:sp>
        <p:nvSpPr>
          <p:cNvPr id="7" name="@3 addText"/>
          <p:cNvSpPr txBox="1"/>
          <p:nvPr/>
        </p:nvSpPr>
        <p:spPr>
          <a:xfrm>
            <a:off x="640080" y="2084832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 number: 7</a:t>
            </a:r>
            <a:endParaRPr lang="en-US" sz="2200" dirty="0"/>
          </a:p>
        </p:txBody>
      </p:sp>
      <p:sp>
        <p:nvSpPr>
          <p:cNvPr id="8" name="@4 addText"/>
          <p:cNvSpPr txBox="1"/>
          <p:nvPr/>
        </p:nvSpPr>
        <p:spPr>
          <a:xfrm>
            <a:off x="640080" y="2487168"/>
            <a:ext cx="79552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42.0</a:t>
            </a:r>
            <a:endParaRPr lang="en-US" sz="22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Things Again and Again</a:t>
            </a:r>
            <a:endParaRPr lang="en-US" sz="3000" dirty="0"/>
          </a:p>
        </p:txBody>
      </p:sp>
      <p:sp>
        <p:nvSpPr>
          <p:cNvPr id="3" name="STRETCH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4008" cy="914400"/>
          </a:xfrm>
          <a:prstGeom prst="rect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= don't repeat yourself.</a:t>
            </a:r>
            <a:endParaRPr lang="en-US" sz="30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 Loop</a:t>
            </a:r>
            <a:endParaRPr lang="en-US" sz="3000" dirty="0"/>
          </a:p>
        </p:txBody>
      </p:sp>
      <p:sp>
        <p:nvSpPr>
          <p:cNvPr id="3" name="STRETCH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394960" cy="1078992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51206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82496"/>
            <a:ext cx="51206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9" name="@1 addShape"/>
          <p:cNvSpPr/>
          <p:nvPr/>
        </p:nvSpPr>
        <p:spPr>
          <a:xfrm>
            <a:off x="6035040" y="1143000"/>
            <a:ext cx="2651760" cy="1920240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10" name="@1 addShape"/>
          <p:cNvSpPr/>
          <p:nvPr/>
        </p:nvSpPr>
        <p:spPr>
          <a:xfrm>
            <a:off x="6035040" y="1143000"/>
            <a:ext cx="54864" cy="1920240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11" name="@1 addText"/>
          <p:cNvSpPr txBox="1"/>
          <p:nvPr/>
        </p:nvSpPr>
        <p:spPr>
          <a:xfrm>
            <a:off x="6217920" y="1280160"/>
            <a:ext cx="2377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@2 addText"/>
          <p:cNvSpPr txBox="1"/>
          <p:nvPr/>
        </p:nvSpPr>
        <p:spPr>
          <a:xfrm>
            <a:off x="6217920" y="1609344"/>
            <a:ext cx="2377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@3 addText"/>
          <p:cNvSpPr txBox="1"/>
          <p:nvPr/>
        </p:nvSpPr>
        <p:spPr>
          <a:xfrm>
            <a:off x="6217920" y="1938528"/>
            <a:ext cx="2377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@4 addText"/>
          <p:cNvSpPr txBox="1"/>
          <p:nvPr/>
        </p:nvSpPr>
        <p:spPr>
          <a:xfrm>
            <a:off x="6217920" y="2267712"/>
            <a:ext cx="2377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@5 addText"/>
          <p:cNvSpPr txBox="1"/>
          <p:nvPr/>
        </p:nvSpPr>
        <p:spPr>
          <a:xfrm>
            <a:off x="6217920" y="2596896"/>
            <a:ext cx="2377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@5 addText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range(5) counts 0, 1, 2, 3, 4: five numbers, starting at 0</a:t>
            </a:r>
            <a:endParaRPr lang="en-US" sz="14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Over a List</a:t>
            </a:r>
            <a:endParaRPr lang="en-US" sz="3000" dirty="0"/>
          </a:p>
        </p:txBody>
      </p:sp>
      <p:sp>
        <p:nvSpPr>
          <p:cNvPr id="3" name="STRETCH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394960" cy="1481328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481328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51206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snacks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22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"pizza"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"chips"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B8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"soda"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82496"/>
            <a:ext cx="51206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snack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snacks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84832"/>
            <a:ext cx="51206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snack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10" name="@1 addShape"/>
          <p:cNvSpPr/>
          <p:nvPr/>
        </p:nvSpPr>
        <p:spPr>
          <a:xfrm>
            <a:off x="6035040" y="1143000"/>
            <a:ext cx="2651760" cy="1481328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11" name="@1 addShape"/>
          <p:cNvSpPr/>
          <p:nvPr/>
        </p:nvSpPr>
        <p:spPr>
          <a:xfrm>
            <a:off x="6035040" y="1143000"/>
            <a:ext cx="54864" cy="1481328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12" name="@1 addText"/>
          <p:cNvSpPr txBox="1"/>
          <p:nvPr/>
        </p:nvSpPr>
        <p:spPr>
          <a:xfrm>
            <a:off x="6217920" y="1280160"/>
            <a:ext cx="23774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endParaRPr lang="en-US" sz="2200" dirty="0"/>
          </a:p>
        </p:txBody>
      </p:sp>
      <p:sp>
        <p:nvSpPr>
          <p:cNvPr id="13" name="@2 addText"/>
          <p:cNvSpPr txBox="1"/>
          <p:nvPr/>
        </p:nvSpPr>
        <p:spPr>
          <a:xfrm>
            <a:off x="6217920" y="1682496"/>
            <a:ext cx="23774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chips</a:t>
            </a:r>
            <a:endParaRPr lang="en-US" sz="2200" dirty="0"/>
          </a:p>
        </p:txBody>
      </p:sp>
      <p:sp>
        <p:nvSpPr>
          <p:cNvPr id="14" name="@3 addText"/>
          <p:cNvSpPr txBox="1"/>
          <p:nvPr/>
        </p:nvSpPr>
        <p:spPr>
          <a:xfrm>
            <a:off x="6217920" y="2084832"/>
            <a:ext cx="23774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soda</a:t>
            </a:r>
            <a:endParaRPr lang="en-US" sz="2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 Loop</a:t>
            </a:r>
            <a:endParaRPr lang="en-US" sz="3000" dirty="0"/>
          </a:p>
        </p:txBody>
      </p:sp>
      <p:sp>
        <p:nvSpPr>
          <p:cNvPr id="3" name="STRETCH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394960" cy="1883664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883664"/>
          </a:xfrm>
          <a:prstGeom prst="rect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51206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82496"/>
            <a:ext cx="51206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buNone/>
            </a:pPr>
            <a:r>
              <a:rPr lang="en-US" sz="22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84832"/>
            <a:ext cx="51206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87168"/>
            <a:ext cx="51206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@1 addShape"/>
          <p:cNvSpPr/>
          <p:nvPr/>
        </p:nvSpPr>
        <p:spPr>
          <a:xfrm>
            <a:off x="6035040" y="1143000"/>
            <a:ext cx="2651760" cy="1481328"/>
          </a:xfrm>
          <a:prstGeom prst="rect">
            <a:avLst/>
          </a:prstGeom>
          <a:solidFill>
            <a:srgbClr val="0B2A57"/>
          </a:solidFill>
          <a:ln w="12700">
            <a:solidFill>
              <a:srgbClr val="0B2A57"/>
            </a:solidFill>
            <a:prstDash val="solid"/>
          </a:ln>
        </p:spPr>
      </p:sp>
      <p:sp>
        <p:nvSpPr>
          <p:cNvPr id="12" name="@1 addShape"/>
          <p:cNvSpPr/>
          <p:nvPr/>
        </p:nvSpPr>
        <p:spPr>
          <a:xfrm>
            <a:off x="6035040" y="1143000"/>
            <a:ext cx="54864" cy="1481328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13" name="@1 addText"/>
          <p:cNvSpPr txBox="1"/>
          <p:nvPr/>
        </p:nvSpPr>
        <p:spPr>
          <a:xfrm>
            <a:off x="6217920" y="1280160"/>
            <a:ext cx="23774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@2 addText"/>
          <p:cNvSpPr txBox="1"/>
          <p:nvPr/>
        </p:nvSpPr>
        <p:spPr>
          <a:xfrm>
            <a:off x="6217920" y="1682496"/>
            <a:ext cx="23774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@3 addText"/>
          <p:cNvSpPr txBox="1"/>
          <p:nvPr/>
        </p:nvSpPr>
        <p:spPr>
          <a:xfrm>
            <a:off x="6217920" y="2084832"/>
            <a:ext cx="237744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@3 addText"/>
          <p:cNvSpPr txBox="1"/>
          <p:nvPr/>
        </p:nvSpPr>
        <p:spPr>
          <a:xfrm>
            <a:off x="457200" y="31638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keeps going while the condition is true. Forget count += 1 and it never stops</a:t>
            </a:r>
            <a:endParaRPr lang="en-US" sz="14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vs while</a:t>
            </a:r>
            <a:endParaRPr lang="en-US" sz="3000" dirty="0"/>
          </a:p>
        </p:txBody>
      </p:sp>
      <p:sp>
        <p:nvSpPr>
          <p:cNvPr id="3" name="STRETCH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</a:t>
            </a:r>
            <a:endParaRPr lang="en-US" sz="1200" dirty="0"/>
          </a:p>
        </p:txBody>
      </p:sp>
      <p:sp>
        <p:nvSpPr>
          <p:cNvPr id="5" name="@1 addShape"/>
          <p:cNvSpPr/>
          <p:nvPr/>
        </p:nvSpPr>
        <p:spPr>
          <a:xfrm>
            <a:off x="457200" y="114300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457200" y="121615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3000" dirty="0"/>
          </a:p>
        </p:txBody>
      </p:sp>
      <p:sp>
        <p:nvSpPr>
          <p:cNvPr id="7" name="@1 addText"/>
          <p:cNvSpPr txBox="1"/>
          <p:nvPr/>
        </p:nvSpPr>
        <p:spPr>
          <a:xfrm>
            <a:off x="457200" y="1796796"/>
            <a:ext cx="4023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known number of times</a:t>
            </a:r>
            <a:endParaRPr lang="en-US" sz="1600" dirty="0"/>
          </a:p>
        </p:txBody>
      </p:sp>
      <p:sp>
        <p:nvSpPr>
          <p:cNvPr id="8" name="@2 addShape"/>
          <p:cNvSpPr/>
          <p:nvPr/>
        </p:nvSpPr>
        <p:spPr>
          <a:xfrm>
            <a:off x="4663440" y="114300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9" name="@2 addText"/>
          <p:cNvSpPr txBox="1"/>
          <p:nvPr/>
        </p:nvSpPr>
        <p:spPr>
          <a:xfrm>
            <a:off x="4663440" y="121615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3000" dirty="0"/>
          </a:p>
        </p:txBody>
      </p:sp>
      <p:sp>
        <p:nvSpPr>
          <p:cNvPr id="10" name="@2 addText"/>
          <p:cNvSpPr txBox="1"/>
          <p:nvPr/>
        </p:nvSpPr>
        <p:spPr>
          <a:xfrm>
            <a:off x="4663440" y="1796796"/>
            <a:ext cx="4023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something changes</a:t>
            </a:r>
            <a:endParaRPr lang="en-US" sz="1600" dirty="0"/>
          </a:p>
        </p:txBody>
      </p:sp>
      <p:sp>
        <p:nvSpPr>
          <p:cNvPr id="11" name="@3 addShape"/>
          <p:cNvSpPr/>
          <p:nvPr/>
        </p:nvSpPr>
        <p:spPr>
          <a:xfrm>
            <a:off x="457200" y="2514600"/>
            <a:ext cx="64008" cy="822960"/>
          </a:xfrm>
          <a:prstGeom prst="rect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2" name="@3 addText"/>
          <p:cNvSpPr txBox="1"/>
          <p:nvPr/>
        </p:nvSpPr>
        <p:spPr>
          <a:xfrm>
            <a:off x="685800" y="251460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= a known number of times. while = until something changes.</a:t>
            </a:r>
            <a:endParaRPr lang="en-US" sz="2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Built Today</a:t>
            </a:r>
            <a:endParaRPr lang="en-US" sz="3000" dirty="0"/>
          </a:p>
        </p:txBody>
      </p:sp>
      <p:sp>
        <p:nvSpPr>
          <p:cNvPr id="3" name="6 MIN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</a:t>
            </a:r>
            <a:endParaRPr lang="en-US" sz="1200" dirty="0"/>
          </a:p>
        </p:txBody>
      </p:sp>
      <p:sp>
        <p:nvSpPr>
          <p:cNvPr id="5" name="@1 addText"/>
          <p:cNvSpPr txBox="1"/>
          <p:nvPr/>
        </p:nvSpPr>
        <p:spPr>
          <a:xfrm>
            <a:off x="731520" y="1188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terminal maths</a:t>
            </a:r>
            <a:endParaRPr lang="en-US" sz="2200" dirty="0"/>
          </a:p>
        </p:txBody>
      </p:sp>
      <p:sp>
        <p:nvSpPr>
          <p:cNvPr id="6" name="@1 addText"/>
          <p:cNvSpPr txBox="1"/>
          <p:nvPr/>
        </p:nvSpPr>
        <p:spPr>
          <a:xfrm>
            <a:off x="731520" y="166420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variables</a:t>
            </a:r>
            <a:endParaRPr lang="en-US" sz="2200" dirty="0"/>
          </a:p>
        </p:txBody>
      </p:sp>
      <p:sp>
        <p:nvSpPr>
          <p:cNvPr id="7" name="@2 addText"/>
          <p:cNvSpPr txBox="1"/>
          <p:nvPr/>
        </p:nvSpPr>
        <p:spPr>
          <a:xfrm>
            <a:off x="731520" y="213969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functions</a:t>
            </a:r>
            <a:endParaRPr lang="en-US" sz="2200" dirty="0"/>
          </a:p>
        </p:txBody>
      </p:sp>
      <p:sp>
        <p:nvSpPr>
          <p:cNvPr id="8" name="@2 addText"/>
          <p:cNvSpPr txBox="1"/>
          <p:nvPr/>
        </p:nvSpPr>
        <p:spPr>
          <a:xfrm>
            <a:off x="731520" y="2615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set of functions you wrote yourself</a:t>
            </a:r>
            <a:endParaRPr lang="en-US" sz="2200" dirty="0"/>
          </a:p>
        </p:txBody>
      </p:sp>
      <p:sp>
        <p:nvSpPr>
          <p:cNvPr id="9" name="@3 addText"/>
          <p:cNvSpPr txBox="1"/>
          <p:nvPr/>
        </p:nvSpPr>
        <p:spPr>
          <a:xfrm>
            <a:off x="731520" y="30906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if statements</a:t>
            </a:r>
            <a:endParaRPr lang="en-US" sz="2200" dirty="0"/>
          </a:p>
        </p:txBody>
      </p:sp>
      <p:sp>
        <p:nvSpPr>
          <p:cNvPr id="10" name="@3 addText"/>
          <p:cNvSpPr txBox="1"/>
          <p:nvPr/>
        </p:nvSpPr>
        <p:spPr>
          <a:xfrm>
            <a:off x="731520" y="3566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working calculator</a:t>
            </a:r>
            <a:endParaRPr lang="en-US" sz="2200" dirty="0"/>
          </a:p>
        </p:txBody>
      </p:sp>
      <p:sp>
        <p:nvSpPr>
          <p:cNvPr id="11" name="@4 addText"/>
          <p:cNvSpPr txBox="1"/>
          <p:nvPr/>
        </p:nvSpPr>
        <p:spPr>
          <a:xfrm>
            <a:off x="731520" y="40416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for &amp; while loops</a:t>
            </a:r>
            <a:endParaRPr lang="en-US" sz="2200" dirty="0"/>
          </a:p>
        </p:txBody>
      </p:sp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 Programmer Now</a:t>
            </a:r>
            <a:endParaRPr lang="en-US" sz="3400" dirty="0"/>
          </a:p>
        </p:txBody>
      </p:sp>
      <p:sp>
        <p:nvSpPr>
          <p:cNvPr id="3" name="@1 addText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big program is just this: smaller pieces, put together.</a:t>
            </a:r>
            <a:endParaRPr lang="en-US" sz="2200" dirty="0"/>
          </a:p>
        </p:txBody>
      </p:sp>
      <p:sp>
        <p:nvSpPr>
          <p:cNvPr id="4" name="@2 addShape"/>
          <p:cNvSpPr/>
          <p:nvPr/>
        </p:nvSpPr>
        <p:spPr>
          <a:xfrm>
            <a:off x="548640" y="338328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0B2A57"/>
          </a:solidFill>
          <a:ln w="12700">
            <a:solidFill>
              <a:srgbClr val="5D79A0"/>
            </a:solidFill>
            <a:prstDash val="solid"/>
          </a:ln>
        </p:spPr>
      </p:sp>
      <p:sp>
        <p:nvSpPr>
          <p:cNvPr id="5" name="@2 addText"/>
          <p:cNvSpPr txBox="1"/>
          <p:nvPr/>
        </p:nvSpPr>
        <p:spPr>
          <a:xfrm>
            <a:off x="777240" y="338328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 </a:t>
            </a:r>
            <a:pPr indent="0" marL="0">
              <a:buNone/>
            </a:pPr>
            <a:r>
              <a:rPr lang="en-US" sz="16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</a:t>
            </a:r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power(a, b)</a:t>
            </a:r>
            <a:pPr indent="0" marL="0">
              <a:buNone/>
            </a:pPr>
            <a:r>
              <a:rPr lang="en-US" sz="16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ladder.py</a:t>
            </a:r>
            <a:pPr indent="0" marL="0">
              <a:buNone/>
            </a:pPr>
            <a:r>
              <a:rPr lang="en-US" sz="16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to the calculator (a new elif for </a:t>
            </a:r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pPr indent="0" marL="0">
              <a:buNone/>
            </a:pPr>
            <a:r>
              <a:rPr lang="en-US" sz="16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Python</dc:title>
  <dc:subject>PptxGenJS Presentation</dc:subject>
  <dc:creator/>
  <cp:lastModifiedBy/>
  <cp:revision>1</cp:revision>
  <dcterms:created xsi:type="dcterms:W3CDTF">2026-10-15T16:28:49Z</dcterms:created>
  <dcterms:modified xsi:type="dcterms:W3CDTF">2026-10-15T16:28:49Z</dcterms:modified>
</cp:coreProperties>
</file>