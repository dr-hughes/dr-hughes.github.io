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1" id="{ee69a959-40c1-7e34-bb17-dbd023e58be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Key Terms 1" id="{cc102b43-7f0a-612d-ad9a-38d4af27fc81}">
          <p14:sldIdLst>
            <p14:sldId id="266"/>
          </p14:sldIdLst>
        </p14:section>
        <p14:section name="Lesson 2" id="{3260a6ca-38c6-e064-85c6-3a2d95b9568b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Key Terms 2" id="{6df38a1f-8f11-b253-50ec-15b15df3d142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Von Neumann and Registers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Von Neumann and Registers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Neumann and Registers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J277  1.1.1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3 of 6. Two lessons.</a:t>
            </a:r>
            <a:endParaRPr lang="en-US" sz="1800" dirty="0"/>
          </a:p>
        </p:txBody>
      </p:sp>
      <p:sp>
        <p:nvSpPr>
          <p:cNvPr id="5" name="CPU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objectives</a:t>
            </a:r>
            <a:endParaRPr lang="en-US" sz="3000" dirty="0"/>
          </a:p>
        </p:txBody>
      </p:sp>
      <p:sp>
        <p:nvSpPr>
          <p:cNvPr id="3" name="LESSON 1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Von Neumann architecture.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difference between storing data and storing an address.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purpose of the Program Counter, MAR, MDR and Accumulator.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register?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tiny, very fast storage location inside the CPU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ALU do?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calculations and logical operations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Control Unit do?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and coordinates the cycle, and decodes instructions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3000" dirty="0"/>
          </a:p>
        </p:txBody>
      </p:sp>
      <p:sp>
        <p:nvSpPr>
          <p:cNvPr id="3" name="KEY WORD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Neumann</a:t>
            </a:r>
            <a:endParaRPr lang="en-US" sz="1400" dirty="0"/>
          </a:p>
        </p:txBody>
      </p:sp>
      <p:sp>
        <p:nvSpPr>
          <p:cNvPr id="7" name="@1 Definition"/>
          <p:cNvSpPr/>
          <p:nvPr/>
        </p:nvSpPr>
        <p:spPr>
          <a:xfrm>
            <a:off x="2560320" y="1097280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2697480" y="1097280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 where instructions and data share one memory.</a:t>
            </a:r>
            <a:endParaRPr lang="en-US" sz="1300" dirty="0"/>
          </a:p>
        </p:txBody>
      </p:sp>
      <p:sp>
        <p:nvSpPr>
          <p:cNvPr id="9" name="@2 Term"/>
          <p:cNvSpPr/>
          <p:nvPr/>
        </p:nvSpPr>
        <p:spPr>
          <a:xfrm>
            <a:off x="457200" y="1613263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613263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11" name="@2 Definition"/>
          <p:cNvSpPr/>
          <p:nvPr/>
        </p:nvSpPr>
        <p:spPr>
          <a:xfrm>
            <a:off x="2560320" y="1613263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2697480" y="1613263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location of an item in memory.</a:t>
            </a:r>
            <a:endParaRPr lang="en-US" sz="1300" dirty="0"/>
          </a:p>
        </p:txBody>
      </p:sp>
      <p:sp>
        <p:nvSpPr>
          <p:cNvPr id="13" name="@3 Term"/>
          <p:cNvSpPr/>
          <p:nvPr/>
        </p:nvSpPr>
        <p:spPr>
          <a:xfrm>
            <a:off x="457200" y="2129246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129246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5" name="@3 Definition"/>
          <p:cNvSpPr/>
          <p:nvPr/>
        </p:nvSpPr>
        <p:spPr>
          <a:xfrm>
            <a:off x="2560320" y="2129246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2697480" y="2129246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 being used or stored, such as a number.</a:t>
            </a:r>
            <a:endParaRPr lang="en-US" sz="1300" dirty="0"/>
          </a:p>
        </p:txBody>
      </p:sp>
      <p:sp>
        <p:nvSpPr>
          <p:cNvPr id="17" name="@4 Term"/>
          <p:cNvSpPr/>
          <p:nvPr/>
        </p:nvSpPr>
        <p:spPr>
          <a:xfrm>
            <a:off x="457200" y="2645229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2645229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Counter</a:t>
            </a:r>
            <a:endParaRPr lang="en-US" sz="1400" dirty="0"/>
          </a:p>
        </p:txBody>
      </p:sp>
      <p:sp>
        <p:nvSpPr>
          <p:cNvPr id="19" name="@4 Definition"/>
          <p:cNvSpPr/>
          <p:nvPr/>
        </p:nvSpPr>
        <p:spPr>
          <a:xfrm>
            <a:off x="2560320" y="2645229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2697480" y="2645229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PC. Stores the address of the next instruction.</a:t>
            </a:r>
            <a:endParaRPr lang="en-US" sz="1300" dirty="0"/>
          </a:p>
        </p:txBody>
      </p:sp>
      <p:sp>
        <p:nvSpPr>
          <p:cNvPr id="21" name="@5 Term"/>
          <p:cNvSpPr/>
          <p:nvPr/>
        </p:nvSpPr>
        <p:spPr>
          <a:xfrm>
            <a:off x="457200" y="3161211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2" name="@5 addText"/>
          <p:cNvSpPr txBox="1"/>
          <p:nvPr/>
        </p:nvSpPr>
        <p:spPr>
          <a:xfrm>
            <a:off x="548640" y="3161211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400" dirty="0"/>
          </a:p>
        </p:txBody>
      </p:sp>
      <p:sp>
        <p:nvSpPr>
          <p:cNvPr id="23" name="@5 Definition"/>
          <p:cNvSpPr/>
          <p:nvPr/>
        </p:nvSpPr>
        <p:spPr>
          <a:xfrm>
            <a:off x="2560320" y="3161211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4" name="@5 addText"/>
          <p:cNvSpPr txBox="1"/>
          <p:nvPr/>
        </p:nvSpPr>
        <p:spPr>
          <a:xfrm>
            <a:off x="2697480" y="3161211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Address Register. Stores an address.</a:t>
            </a:r>
            <a:endParaRPr lang="en-US" sz="1300" dirty="0"/>
          </a:p>
        </p:txBody>
      </p:sp>
      <p:sp>
        <p:nvSpPr>
          <p:cNvPr id="25" name="@6 Term"/>
          <p:cNvSpPr/>
          <p:nvPr/>
        </p:nvSpPr>
        <p:spPr>
          <a:xfrm>
            <a:off x="457200" y="3677194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6" name="@6 addText"/>
          <p:cNvSpPr txBox="1"/>
          <p:nvPr/>
        </p:nvSpPr>
        <p:spPr>
          <a:xfrm>
            <a:off x="548640" y="3677194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</a:t>
            </a:r>
            <a:endParaRPr lang="en-US" sz="1400" dirty="0"/>
          </a:p>
        </p:txBody>
      </p:sp>
      <p:sp>
        <p:nvSpPr>
          <p:cNvPr id="27" name="@6 Definition"/>
          <p:cNvSpPr/>
          <p:nvPr/>
        </p:nvSpPr>
        <p:spPr>
          <a:xfrm>
            <a:off x="2560320" y="3677194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8" name="@6 addText"/>
          <p:cNvSpPr txBox="1"/>
          <p:nvPr/>
        </p:nvSpPr>
        <p:spPr>
          <a:xfrm>
            <a:off x="2697480" y="3677194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Data Register. Stores data.</a:t>
            </a:r>
            <a:endParaRPr lang="en-US" sz="1300" dirty="0"/>
          </a:p>
        </p:txBody>
      </p:sp>
      <p:sp>
        <p:nvSpPr>
          <p:cNvPr id="29" name="@7 Term"/>
          <p:cNvSpPr/>
          <p:nvPr/>
        </p:nvSpPr>
        <p:spPr>
          <a:xfrm>
            <a:off x="457200" y="4193177"/>
            <a:ext cx="2011680" cy="424543"/>
          </a:xfrm>
          <a:prstGeom prst="roundRect">
            <a:avLst>
              <a:gd name="adj" fmla="val 25846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30" name="@7 addText"/>
          <p:cNvSpPr txBox="1"/>
          <p:nvPr/>
        </p:nvSpPr>
        <p:spPr>
          <a:xfrm>
            <a:off x="548640" y="4193177"/>
            <a:ext cx="182880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</a:t>
            </a:r>
            <a:endParaRPr lang="en-US" sz="1400" dirty="0"/>
          </a:p>
        </p:txBody>
      </p:sp>
      <p:sp>
        <p:nvSpPr>
          <p:cNvPr id="31" name="@7 Definition"/>
          <p:cNvSpPr/>
          <p:nvPr/>
        </p:nvSpPr>
        <p:spPr>
          <a:xfrm>
            <a:off x="2560320" y="4193177"/>
            <a:ext cx="6126480" cy="424543"/>
          </a:xfrm>
          <a:prstGeom prst="roundRect">
            <a:avLst>
              <a:gd name="adj" fmla="val 25846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32" name="@7 addText"/>
          <p:cNvSpPr txBox="1"/>
          <p:nvPr/>
        </p:nvSpPr>
        <p:spPr>
          <a:xfrm>
            <a:off x="2697480" y="4193177"/>
            <a:ext cx="585216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ACC. Stores the result of calculations.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Neumann architecture</a:t>
            </a:r>
            <a:endParaRPr lang="en-US" sz="3000" dirty="0"/>
          </a:p>
        </p:txBody>
      </p:sp>
      <p:sp>
        <p:nvSpPr>
          <p:cNvPr id="3" name="ONE SHARED MEMORY pill"/>
          <p:cNvSpPr/>
          <p:nvPr/>
        </p:nvSpPr>
        <p:spPr>
          <a:xfrm>
            <a:off x="6053328" y="411480"/>
            <a:ext cx="263347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53328" y="4114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MEMORY</a:t>
            </a:r>
            <a:endParaRPr lang="en-US" sz="1200" dirty="0"/>
          </a:p>
        </p:txBody>
      </p:sp>
      <p:sp>
        <p:nvSpPr>
          <p:cNvPr id="5" name="@1 Main memory (RAM)"/>
          <p:cNvSpPr/>
          <p:nvPr/>
        </p:nvSpPr>
        <p:spPr>
          <a:xfrm>
            <a:off x="6309360" y="109728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30936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 (RAM)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data</a:t>
            </a:r>
            <a:endParaRPr lang="en-US" sz="1400" dirty="0"/>
          </a:p>
        </p:txBody>
      </p:sp>
      <p:sp>
        <p:nvSpPr>
          <p:cNvPr id="7" name="@1 Instructions"/>
          <p:cNvSpPr/>
          <p:nvPr/>
        </p:nvSpPr>
        <p:spPr>
          <a:xfrm>
            <a:off x="6492240" y="17830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6492240" y="1783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9" name="@1 Data"/>
          <p:cNvSpPr/>
          <p:nvPr/>
        </p:nvSpPr>
        <p:spPr>
          <a:xfrm>
            <a:off x="6492240" y="31089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922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1" name="@1 to memory"/>
          <p:cNvSpPr/>
          <p:nvPr/>
        </p:nvSpPr>
        <p:spPr>
          <a:xfrm>
            <a:off x="5760720" y="3017520"/>
            <a:ext cx="5486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2" name="@1 from memory"/>
          <p:cNvSpPr/>
          <p:nvPr/>
        </p:nvSpPr>
        <p:spPr>
          <a:xfrm flipH="1">
            <a:off x="5760720" y="3566160"/>
            <a:ext cx="5486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3" name="@2 CPU frame"/>
          <p:cNvSpPr/>
          <p:nvPr/>
        </p:nvSpPr>
        <p:spPr>
          <a:xfrm>
            <a:off x="457200" y="10972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002D6A"/>
            </a:solidFill>
            <a:prstDash val="solid"/>
          </a:ln>
        </p:spPr>
      </p:sp>
      <p:sp>
        <p:nvSpPr>
          <p:cNvPr id="14" name="@2 addText"/>
          <p:cNvSpPr txBox="1"/>
          <p:nvPr/>
        </p:nvSpPr>
        <p:spPr>
          <a:xfrm>
            <a:off x="64008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sp>
        <p:nvSpPr>
          <p:cNvPr id="15" name="@2 addText"/>
          <p:cNvSpPr txBox="1"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16" name="@2 Control Unit"/>
          <p:cNvSpPr/>
          <p:nvPr/>
        </p:nvSpPr>
        <p:spPr>
          <a:xfrm>
            <a:off x="91440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2 addText"/>
          <p:cNvSpPr txBox="1"/>
          <p:nvPr/>
        </p:nvSpPr>
        <p:spPr>
          <a:xfrm>
            <a:off x="91440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18" name="@2 ALU"/>
          <p:cNvSpPr/>
          <p:nvPr/>
        </p:nvSpPr>
        <p:spPr>
          <a:xfrm>
            <a:off x="324612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9" name="@2 addText"/>
          <p:cNvSpPr txBox="1"/>
          <p:nvPr/>
        </p:nvSpPr>
        <p:spPr>
          <a:xfrm>
            <a:off x="324612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400" dirty="0"/>
          </a:p>
        </p:txBody>
      </p:sp>
      <p:sp>
        <p:nvSpPr>
          <p:cNvPr id="20" name="@3 PC"/>
          <p:cNvSpPr/>
          <p:nvPr/>
        </p:nvSpPr>
        <p:spPr>
          <a:xfrm>
            <a:off x="77724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5D79A0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3 addText"/>
          <p:cNvSpPr txBox="1"/>
          <p:nvPr/>
        </p:nvSpPr>
        <p:spPr>
          <a:xfrm>
            <a:off x="77724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22" name="@3 MAR"/>
          <p:cNvSpPr/>
          <p:nvPr/>
        </p:nvSpPr>
        <p:spPr>
          <a:xfrm>
            <a:off x="196596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5D79A0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3" name="@3 addText"/>
          <p:cNvSpPr txBox="1"/>
          <p:nvPr/>
        </p:nvSpPr>
        <p:spPr>
          <a:xfrm>
            <a:off x="196596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24" name="@3 MDR"/>
          <p:cNvSpPr/>
          <p:nvPr/>
        </p:nvSpPr>
        <p:spPr>
          <a:xfrm>
            <a:off x="315468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5D79A0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5" name="@3 addText"/>
          <p:cNvSpPr txBox="1"/>
          <p:nvPr/>
        </p:nvSpPr>
        <p:spPr>
          <a:xfrm>
            <a:off x="315468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26" name="@3 ACC"/>
          <p:cNvSpPr/>
          <p:nvPr/>
        </p:nvSpPr>
        <p:spPr>
          <a:xfrm>
            <a:off x="434340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5D79A0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7" name="@3 addText"/>
          <p:cNvSpPr txBox="1"/>
          <p:nvPr/>
        </p:nvSpPr>
        <p:spPr>
          <a:xfrm>
            <a:off x="434340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versus data</a:t>
            </a:r>
            <a:endParaRPr lang="en-US" sz="3000" dirty="0"/>
          </a:p>
        </p:txBody>
      </p:sp>
      <p:sp>
        <p:nvSpPr>
          <p:cNvPr id="3" name="KEY IDEA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389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 contents data?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number from 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number from 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instruction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lockers. The address is the locker number. The data is what is inside.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registers</a:t>
            </a:r>
            <a:endParaRPr lang="en-US" sz="3000" dirty="0"/>
          </a:p>
        </p:txBody>
      </p:sp>
      <p:sp>
        <p:nvSpPr>
          <p:cNvPr id="3" name="REGISTER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Counter (PC)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address of the next instruction to be fetched. Increments each cycle.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80594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80594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80594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80594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address in memory that is about to be read from or written to.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51460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51460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51460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51460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data or instruction that has just been fetched, or is about to be stored.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223260"/>
            <a:ext cx="2377440" cy="617220"/>
          </a:xfrm>
          <a:prstGeom prst="roundRect">
            <a:avLst>
              <a:gd name="adj" fmla="val 1777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322326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 (ACC)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926080" y="3223260"/>
            <a:ext cx="5760720" cy="6172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3063240" y="3223260"/>
            <a:ext cx="5486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result of calculations done by the ALU.</a:t>
            </a:r>
            <a:endParaRPr lang="en-US" sz="1400" dirty="0"/>
          </a:p>
        </p:txBody>
      </p:sp>
      <p:sp>
        <p:nvSpPr>
          <p:cNvPr id="21" name="@5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22" name="@5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STORES, not what it does. 'Stores the address...' earns the mark. 'Fetches' does not.</a:t>
            </a:r>
            <a:endParaRPr lang="en-US" sz="12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or data?</a:t>
            </a:r>
            <a:endParaRPr lang="en-US" sz="3000" dirty="0"/>
          </a:p>
        </p:txBody>
      </p:sp>
      <p:sp>
        <p:nvSpPr>
          <p:cNvPr id="3" name="SORT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Counter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04822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04822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004822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004822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12364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12364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2912364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2912364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19906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19906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343400" y="3819906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4480560" y="3819906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000" dirty="0"/>
          </a:p>
        </p:txBody>
      </p:sp>
      <p:sp>
        <p:nvSpPr>
          <p:cNvPr id="3" name="CHECK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Von Neumann architecture?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data are stored together in the same memory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two registers store addresses?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Counter and MAR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register stores results from the ALU?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Accumulator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Von Neumann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instructions and data in the ...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... of an item in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... being used or stored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Counter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address of the next 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address to read from or 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data fetched or to be 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Accumulator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result of 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427024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in the cycle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registers into fetch, decode and execute.</a:t>
            </a:r>
            <a:endParaRPr lang="en-US" sz="1800" dirty="0"/>
          </a:p>
        </p:txBody>
      </p:sp>
      <p:sp>
        <p:nvSpPr>
          <p:cNvPr id="5" name="Lesson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Les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objectives</a:t>
            </a:r>
            <a:endParaRPr lang="en-US" sz="3000" dirty="0"/>
          </a:p>
        </p:txBody>
      </p:sp>
      <p:sp>
        <p:nvSpPr>
          <p:cNvPr id="3" name="LESSON 2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happens at each stage of the cycle using the named registers.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the common register mistakes.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real exam questions on registers.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Program Counter store?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instruction to be fetched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MAR and MDR?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stores an address; MDR stores the data at that address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Von Neumann architecture.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data share one memory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with registers</a:t>
            </a:r>
            <a:endParaRPr lang="en-US" sz="3000" dirty="0"/>
          </a:p>
        </p:txBody>
      </p:sp>
      <p:sp>
        <p:nvSpPr>
          <p:cNvPr id="3" name="THE CYCLE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</a:t>
            </a:r>
            <a:endParaRPr lang="en-US" sz="1200" dirty="0"/>
          </a:p>
        </p:txBody>
      </p:sp>
      <p:sp>
        <p:nvSpPr>
          <p:cNvPr id="5" name="@1 Step header"/>
          <p:cNvSpPr/>
          <p:nvPr/>
        </p:nvSpPr>
        <p:spPr>
          <a:xfrm>
            <a:off x="4572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4572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000" dirty="0"/>
          </a:p>
        </p:txBody>
      </p:sp>
      <p:sp>
        <p:nvSpPr>
          <p:cNvPr id="7" name="@1 Step body"/>
          <p:cNvSpPr/>
          <p:nvPr/>
        </p:nvSpPr>
        <p:spPr>
          <a:xfrm>
            <a:off x="4572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5669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PC holds the address of the next instruction.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is placed in the MAR.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is read from RAM into the MDR.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PC increments.</a:t>
            </a:r>
            <a:endParaRPr lang="en-US" sz="1400" dirty="0"/>
          </a:p>
        </p:txBody>
      </p:sp>
      <p:sp>
        <p:nvSpPr>
          <p:cNvPr id="9" name="@2 Step header"/>
          <p:cNvSpPr/>
          <p:nvPr/>
        </p:nvSpPr>
        <p:spPr>
          <a:xfrm>
            <a:off x="33528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33528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000" dirty="0"/>
          </a:p>
        </p:txBody>
      </p:sp>
      <p:sp>
        <p:nvSpPr>
          <p:cNvPr id="11" name="@2 Step body"/>
          <p:cNvSpPr/>
          <p:nvPr/>
        </p:nvSpPr>
        <p:spPr>
          <a:xfrm>
            <a:off x="33528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4625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Unit decodes the instruction.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out what to do and which data is needed.</a:t>
            </a:r>
            <a:endParaRPr lang="en-US" sz="1400" dirty="0"/>
          </a:p>
        </p:txBody>
      </p:sp>
      <p:sp>
        <p:nvSpPr>
          <p:cNvPr id="13" name="@2 step arrow"/>
          <p:cNvSpPr/>
          <p:nvPr/>
        </p:nvSpPr>
        <p:spPr>
          <a:xfrm>
            <a:off x="2941320" y="1440180"/>
            <a:ext cx="365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14" name="@3 Step header"/>
          <p:cNvSpPr/>
          <p:nvPr/>
        </p:nvSpPr>
        <p:spPr>
          <a:xfrm>
            <a:off x="6248400" y="1143000"/>
            <a:ext cx="243840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5" name="@3 addText"/>
          <p:cNvSpPr txBox="1"/>
          <p:nvPr/>
        </p:nvSpPr>
        <p:spPr>
          <a:xfrm>
            <a:off x="6248400" y="114300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000" dirty="0"/>
          </a:p>
        </p:txBody>
      </p:sp>
      <p:sp>
        <p:nvSpPr>
          <p:cNvPr id="16" name="@3 Step body"/>
          <p:cNvSpPr/>
          <p:nvPr/>
        </p:nvSpPr>
        <p:spPr>
          <a:xfrm>
            <a:off x="6248400" y="1828800"/>
            <a:ext cx="2438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6358128" y="1901952"/>
            <a:ext cx="2218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is carried out.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ALU does any calculation.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stored in the ACC.</a:t>
            </a:r>
            <a:endParaRPr lang="en-US" sz="1400" dirty="0"/>
          </a:p>
        </p:txBody>
      </p:sp>
      <p:sp>
        <p:nvSpPr>
          <p:cNvPr id="18" name="@3 step arrow"/>
          <p:cNvSpPr/>
          <p:nvPr/>
        </p:nvSpPr>
        <p:spPr>
          <a:xfrm>
            <a:off x="5836920" y="1440180"/>
            <a:ext cx="365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19" name="@4 Callout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cycle then repeats. You do not need to know how data passes between registers.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3" name="WATCH OUT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PC counts the instructions.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3657600" y="109728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794760" y="1097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It stores the address of the next instruction.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 or PC stores data.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3657600" y="196596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794760" y="1965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They store addresses. MDR and ACC store data.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accumulator stores the calculations.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3657600" y="283464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79476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It stores the result of the calculation.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70332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3703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ALU and CU are registers.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3657600" y="370332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3794760" y="3703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They do jobs. Registers store things.</a:t>
            </a:r>
            <a:endParaRPr lang="en-US" sz="14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diagram</a:t>
            </a:r>
            <a:endParaRPr lang="en-US" sz="3000" dirty="0"/>
          </a:p>
        </p:txBody>
      </p:sp>
      <p:sp>
        <p:nvSpPr>
          <p:cNvPr id="3" name="QUIZ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00" dirty="0"/>
          </a:p>
        </p:txBody>
      </p:sp>
      <p:sp>
        <p:nvSpPr>
          <p:cNvPr id="5" name="CPU frame"/>
          <p:cNvSpPr/>
          <p:nvPr/>
        </p:nvSpPr>
        <p:spPr>
          <a:xfrm>
            <a:off x="457200" y="10972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8" name="Instructions"/>
          <p:cNvSpPr/>
          <p:nvPr/>
        </p:nvSpPr>
        <p:spPr>
          <a:xfrm>
            <a:off x="6492240" y="17830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10" name="Data"/>
          <p:cNvSpPr/>
          <p:nvPr/>
        </p:nvSpPr>
        <p:spPr>
          <a:xfrm>
            <a:off x="6492240" y="310896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to memory"/>
          <p:cNvSpPr/>
          <p:nvPr/>
        </p:nvSpPr>
        <p:spPr>
          <a:xfrm>
            <a:off x="5760720" y="3017520"/>
            <a:ext cx="5486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3" name="from memory"/>
          <p:cNvSpPr/>
          <p:nvPr/>
        </p:nvSpPr>
        <p:spPr>
          <a:xfrm flipH="1">
            <a:off x="5760720" y="3566160"/>
            <a:ext cx="54864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4" name="?"/>
          <p:cNvSpPr/>
          <p:nvPr/>
        </p:nvSpPr>
        <p:spPr>
          <a:xfrm>
            <a:off x="6309360" y="109728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?"/>
          <p:cNvSpPr/>
          <p:nvPr/>
        </p:nvSpPr>
        <p:spPr>
          <a:xfrm>
            <a:off x="91440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?"/>
          <p:cNvSpPr/>
          <p:nvPr/>
        </p:nvSpPr>
        <p:spPr>
          <a:xfrm>
            <a:off x="324612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?"/>
          <p:cNvSpPr/>
          <p:nvPr/>
        </p:nvSpPr>
        <p:spPr>
          <a:xfrm>
            <a:off x="77724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?"/>
          <p:cNvSpPr/>
          <p:nvPr/>
        </p:nvSpPr>
        <p:spPr>
          <a:xfrm>
            <a:off x="196596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6596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?"/>
          <p:cNvSpPr/>
          <p:nvPr/>
        </p:nvSpPr>
        <p:spPr>
          <a:xfrm>
            <a:off x="315468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5468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?"/>
          <p:cNvSpPr/>
          <p:nvPr/>
        </p:nvSpPr>
        <p:spPr>
          <a:xfrm>
            <a:off x="434340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38912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@1 Main memory (RAM)"/>
          <p:cNvSpPr/>
          <p:nvPr/>
        </p:nvSpPr>
        <p:spPr>
          <a:xfrm>
            <a:off x="6309360" y="109728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6" name="@1 addText"/>
          <p:cNvSpPr txBox="1"/>
          <p:nvPr/>
        </p:nvSpPr>
        <p:spPr>
          <a:xfrm>
            <a:off x="630936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 (RAM)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data</a:t>
            </a:r>
            <a:endParaRPr lang="en-US" sz="1400" dirty="0"/>
          </a:p>
        </p:txBody>
      </p:sp>
      <p:sp>
        <p:nvSpPr>
          <p:cNvPr id="37" name="@2 Control Unit"/>
          <p:cNvSpPr/>
          <p:nvPr/>
        </p:nvSpPr>
        <p:spPr>
          <a:xfrm>
            <a:off x="91440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8" name="@2 addText"/>
          <p:cNvSpPr txBox="1"/>
          <p:nvPr/>
        </p:nvSpPr>
        <p:spPr>
          <a:xfrm>
            <a:off x="91440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39" name="@3 ALU"/>
          <p:cNvSpPr/>
          <p:nvPr/>
        </p:nvSpPr>
        <p:spPr>
          <a:xfrm>
            <a:off x="3246120" y="169164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0" name="@3 addText"/>
          <p:cNvSpPr txBox="1"/>
          <p:nvPr/>
        </p:nvSpPr>
        <p:spPr>
          <a:xfrm>
            <a:off x="324612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400" dirty="0"/>
          </a:p>
        </p:txBody>
      </p:sp>
      <p:sp>
        <p:nvSpPr>
          <p:cNvPr id="41" name="@4 PC"/>
          <p:cNvSpPr/>
          <p:nvPr/>
        </p:nvSpPr>
        <p:spPr>
          <a:xfrm>
            <a:off x="77724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2" name="@4 addText"/>
          <p:cNvSpPr txBox="1"/>
          <p:nvPr/>
        </p:nvSpPr>
        <p:spPr>
          <a:xfrm>
            <a:off x="77724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43" name="@5 MAR"/>
          <p:cNvSpPr/>
          <p:nvPr/>
        </p:nvSpPr>
        <p:spPr>
          <a:xfrm>
            <a:off x="196596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4" name="@5 addText"/>
          <p:cNvSpPr txBox="1"/>
          <p:nvPr/>
        </p:nvSpPr>
        <p:spPr>
          <a:xfrm>
            <a:off x="196596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400" dirty="0"/>
          </a:p>
        </p:txBody>
      </p:sp>
      <p:sp>
        <p:nvSpPr>
          <p:cNvPr id="45" name="@6 MDR"/>
          <p:cNvSpPr/>
          <p:nvPr/>
        </p:nvSpPr>
        <p:spPr>
          <a:xfrm>
            <a:off x="315468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6" name="@6 addText"/>
          <p:cNvSpPr txBox="1"/>
          <p:nvPr/>
        </p:nvSpPr>
        <p:spPr>
          <a:xfrm>
            <a:off x="315468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47" name="@7 ACC"/>
          <p:cNvSpPr/>
          <p:nvPr/>
        </p:nvSpPr>
        <p:spPr>
          <a:xfrm>
            <a:off x="4343400" y="297180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8" name="@7 addText"/>
          <p:cNvSpPr txBox="1"/>
          <p:nvPr/>
        </p:nvSpPr>
        <p:spPr>
          <a:xfrm>
            <a:off x="434340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practice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2024 Q6(b); June 2025 Q6(c); OCR J277 question from the PMT 1.1 topic collection, Q5(a)(i); OCR J277 question from the PMT 1.1 topic collection, Q5(a)(ii)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registers used in the fetch-execute cycle and give the purpose of each.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PC: stores the address of the next instruction. MAR: stores the address to read from or write to. MDR: stores the data or instruction fetched or to be stored. ACC: stores the result of calculations.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1947672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two registers and state the purpose of each.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1947672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1947672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mark per register with a purpose that says what it stores, not an action (not 'fetches')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798064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98064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components store a single address? (MAR, MDR, Cache, Program Counter, RAM)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2798064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2798064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and Program Counter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648456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register that is not MAR, MDR or Program Counter and describe its purpose.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20" name="@4 Answer card"/>
          <p:cNvSpPr/>
          <p:nvPr/>
        </p:nvSpPr>
        <p:spPr>
          <a:xfrm>
            <a:off x="4343400" y="3648456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4 addText"/>
          <p:cNvSpPr txBox="1"/>
          <p:nvPr/>
        </p:nvSpPr>
        <p:spPr>
          <a:xfrm>
            <a:off x="4480560" y="3648456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Accumulator: stores the result of arithmetic operations</a:t>
            </a:r>
            <a:endParaRPr lang="en-US" sz="13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 read from RAM into the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out what the instruction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 calculates, result in the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... location inside the 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35584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Von Neumann and Registers</dc:title>
  <dc:subject>PptxGenJS Presentation</dc:subject>
  <dc:creator/>
  <cp:lastModifiedBy/>
  <cp:revision>1</cp:revision>
  <dcterms:created xsi:type="dcterms:W3CDTF">2026-10-21T13:03:43Z</dcterms:created>
  <dcterms:modified xsi:type="dcterms:W3CDTF">2026-10-21T13:03:43Z</dcterms:modified>
</cp:coreProperties>
</file>