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er" id="{e9dbbb69-8f3b-1a22-1224-6fb3e8401228}">
          <p14:sldIdLst>
            <p14:sldId id="256"/>
          </p14:sldIdLst>
        </p14:section>
        <p14:section name="Default-1" id="{338c28a1-4992-c76d-fba9-780b6ac1c023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Y12 Networks L6  |  Dr. Hughes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Y12 Networks L6  |  Dr. Hughes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5-A-DAY on SmartRevise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and complete today's 5-A-DAY.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Y12 Networks L6: Consolidate and assess the foundations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A Level Computer Science H446, 1.3.3 Networks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objective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recall and apply L1 to L5 under exam conditions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457200" y="214884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488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set a target for improvement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457200" y="310896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1089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is the first topic next term</a:t>
            </a:r>
            <a:endParaRPr lang="en-US" sz="18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1: Compare with your first lesson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five areas table from the first lesson and improve it.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OneNote: Lesson Tasks, Task 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2: Draw the whole journey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full journey of a web request from memory in OneNote.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OneNote: Lesson Tasks, Task 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the full circle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circle</a:t>
            </a:r>
            <a:endParaRPr lang="en-US" sz="2000" dirty="0"/>
          </a:p>
        </p:txBody>
      </p:sp>
      <p:sp>
        <p:nvSpPr>
          <p:cNvPr id="4" name="@1 1 Browser"/>
          <p:cNvSpPr/>
          <p:nvPr/>
        </p:nvSpPr>
        <p:spPr>
          <a:xfrm>
            <a:off x="411480" y="1234440"/>
            <a:ext cx="22860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5" name="@1 addText"/>
          <p:cNvSpPr txBox="1"/>
          <p:nvPr/>
        </p:nvSpPr>
        <p:spPr>
          <a:xfrm>
            <a:off x="484632" y="126187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Browser</a:t>
            </a:r>
            <a:endParaRPr lang="en-US" sz="1400" dirty="0"/>
          </a:p>
        </p:txBody>
      </p:sp>
      <p:sp>
        <p:nvSpPr>
          <p:cNvPr id="6" name="@1 addText"/>
          <p:cNvSpPr txBox="1"/>
          <p:nvPr/>
        </p:nvSpPr>
        <p:spPr>
          <a:xfrm>
            <a:off x="484632" y="1536192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bbc.co.uk, builds a GET request</a:t>
            </a:r>
            <a:endParaRPr lang="en-US" sz="1200" dirty="0"/>
          </a:p>
        </p:txBody>
      </p:sp>
      <p:sp>
        <p:nvSpPr>
          <p:cNvPr id="7" name="@2 arrow 1"/>
          <p:cNvSpPr/>
          <p:nvPr/>
        </p:nvSpPr>
        <p:spPr>
          <a:xfrm>
            <a:off x="2752344" y="1600200"/>
            <a:ext cx="621792" cy="0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</p:sp>
      <p:sp>
        <p:nvSpPr>
          <p:cNvPr id="8" name="@2 2 DNS"/>
          <p:cNvSpPr/>
          <p:nvPr/>
        </p:nvSpPr>
        <p:spPr>
          <a:xfrm>
            <a:off x="3429000" y="1234440"/>
            <a:ext cx="22860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9" name="@2 addText"/>
          <p:cNvSpPr txBox="1"/>
          <p:nvPr/>
        </p:nvSpPr>
        <p:spPr>
          <a:xfrm>
            <a:off x="3502152" y="126187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DNS</a:t>
            </a:r>
            <a:endParaRPr lang="en-US" sz="1400" dirty="0"/>
          </a:p>
        </p:txBody>
      </p:sp>
      <p:sp>
        <p:nvSpPr>
          <p:cNvPr id="10" name="@2 addText"/>
          <p:cNvSpPr txBox="1"/>
          <p:nvPr/>
        </p:nvSpPr>
        <p:spPr>
          <a:xfrm>
            <a:off x="3502152" y="1536192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becomes an IP address</a:t>
            </a:r>
            <a:endParaRPr lang="en-US" sz="1200" dirty="0"/>
          </a:p>
        </p:txBody>
      </p:sp>
      <p:sp>
        <p:nvSpPr>
          <p:cNvPr id="11" name="@3 arrow 2"/>
          <p:cNvSpPr/>
          <p:nvPr/>
        </p:nvSpPr>
        <p:spPr>
          <a:xfrm>
            <a:off x="5769864" y="1600200"/>
            <a:ext cx="621792" cy="0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</p:sp>
      <p:sp>
        <p:nvSpPr>
          <p:cNvPr id="12" name="@3 3 Packets"/>
          <p:cNvSpPr/>
          <p:nvPr/>
        </p:nvSpPr>
        <p:spPr>
          <a:xfrm>
            <a:off x="6446520" y="1234440"/>
            <a:ext cx="22860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3" name="@3 addText"/>
          <p:cNvSpPr txBox="1"/>
          <p:nvPr/>
        </p:nvSpPr>
        <p:spPr>
          <a:xfrm>
            <a:off x="6519672" y="126187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Packets</a:t>
            </a:r>
            <a:endParaRPr lang="en-US" sz="1400" dirty="0"/>
          </a:p>
        </p:txBody>
      </p:sp>
      <p:sp>
        <p:nvSpPr>
          <p:cNvPr id="14" name="@3 addText"/>
          <p:cNvSpPr txBox="1"/>
          <p:nvPr/>
        </p:nvSpPr>
        <p:spPr>
          <a:xfrm>
            <a:off x="6519672" y="1536192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split and numbered</a:t>
            </a:r>
            <a:endParaRPr lang="en-US" sz="1200" dirty="0"/>
          </a:p>
        </p:txBody>
      </p:sp>
      <p:sp>
        <p:nvSpPr>
          <p:cNvPr id="15" name="@4 arrow 3"/>
          <p:cNvSpPr/>
          <p:nvPr/>
        </p:nvSpPr>
        <p:spPr>
          <a:xfrm>
            <a:off x="7589520" y="2020824"/>
            <a:ext cx="0" cy="484632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</p:sp>
      <p:sp>
        <p:nvSpPr>
          <p:cNvPr id="16" name="@4 4 Routers"/>
          <p:cNvSpPr/>
          <p:nvPr/>
        </p:nvSpPr>
        <p:spPr>
          <a:xfrm>
            <a:off x="6446520" y="2560320"/>
            <a:ext cx="22860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7" name="@4 addText"/>
          <p:cNvSpPr txBox="1"/>
          <p:nvPr/>
        </p:nvSpPr>
        <p:spPr>
          <a:xfrm>
            <a:off x="6519672" y="258775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Routers</a:t>
            </a:r>
            <a:endParaRPr lang="en-US" sz="1400" dirty="0"/>
          </a:p>
        </p:txBody>
      </p:sp>
      <p:sp>
        <p:nvSpPr>
          <p:cNvPr id="18" name="@4 addText"/>
          <p:cNvSpPr txBox="1"/>
          <p:nvPr/>
        </p:nvSpPr>
        <p:spPr>
          <a:xfrm>
            <a:off x="6519672" y="2862072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across the internet</a:t>
            </a:r>
            <a:endParaRPr lang="en-US" sz="1200" dirty="0"/>
          </a:p>
        </p:txBody>
      </p:sp>
      <p:sp>
        <p:nvSpPr>
          <p:cNvPr id="19" name="@5 arrow 4"/>
          <p:cNvSpPr/>
          <p:nvPr/>
        </p:nvSpPr>
        <p:spPr>
          <a:xfrm>
            <a:off x="7589520" y="3346704"/>
            <a:ext cx="0" cy="484632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</p:sp>
      <p:sp>
        <p:nvSpPr>
          <p:cNvPr id="20" name="@5 5 Web server"/>
          <p:cNvSpPr/>
          <p:nvPr/>
        </p:nvSpPr>
        <p:spPr>
          <a:xfrm>
            <a:off x="6446520" y="3886200"/>
            <a:ext cx="22860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1" name="@5 addText"/>
          <p:cNvSpPr txBox="1"/>
          <p:nvPr/>
        </p:nvSpPr>
        <p:spPr>
          <a:xfrm>
            <a:off x="6519672" y="391363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Web server</a:t>
            </a:r>
            <a:endParaRPr lang="en-US" sz="1400" dirty="0"/>
          </a:p>
        </p:txBody>
      </p:sp>
      <p:sp>
        <p:nvSpPr>
          <p:cNvPr id="22" name="@5 addText"/>
          <p:cNvSpPr txBox="1"/>
          <p:nvPr/>
        </p:nvSpPr>
        <p:spPr>
          <a:xfrm>
            <a:off x="6519672" y="4187952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the request</a:t>
            </a:r>
            <a:endParaRPr lang="en-US" sz="1200" dirty="0"/>
          </a:p>
        </p:txBody>
      </p:sp>
      <p:sp>
        <p:nvSpPr>
          <p:cNvPr id="23" name="@6 arrow 5"/>
          <p:cNvSpPr/>
          <p:nvPr/>
        </p:nvSpPr>
        <p:spPr>
          <a:xfrm flipH="1">
            <a:off x="5769864" y="4251960"/>
            <a:ext cx="621792" cy="0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</p:sp>
      <p:sp>
        <p:nvSpPr>
          <p:cNvPr id="24" name="@6 6 Reply"/>
          <p:cNvSpPr/>
          <p:nvPr/>
        </p:nvSpPr>
        <p:spPr>
          <a:xfrm>
            <a:off x="3429000" y="3886200"/>
            <a:ext cx="22860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5" name="@6 addText"/>
          <p:cNvSpPr txBox="1"/>
          <p:nvPr/>
        </p:nvSpPr>
        <p:spPr>
          <a:xfrm>
            <a:off x="3502152" y="391363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Reply</a:t>
            </a:r>
            <a:endParaRPr lang="en-US" sz="1400" dirty="0"/>
          </a:p>
        </p:txBody>
      </p:sp>
      <p:sp>
        <p:nvSpPr>
          <p:cNvPr id="26" name="@6 addText"/>
          <p:cNvSpPr txBox="1"/>
          <p:nvPr/>
        </p:nvSpPr>
        <p:spPr>
          <a:xfrm>
            <a:off x="3502152" y="4187952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sent back as packets</a:t>
            </a:r>
            <a:endParaRPr lang="en-US" sz="1200" dirty="0"/>
          </a:p>
        </p:txBody>
      </p:sp>
      <p:sp>
        <p:nvSpPr>
          <p:cNvPr id="27" name="@7 arrow 6"/>
          <p:cNvSpPr/>
          <p:nvPr/>
        </p:nvSpPr>
        <p:spPr>
          <a:xfrm flipH="1">
            <a:off x="2752344" y="4251960"/>
            <a:ext cx="621792" cy="0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</p:sp>
      <p:sp>
        <p:nvSpPr>
          <p:cNvPr id="28" name="@7 7 Routers"/>
          <p:cNvSpPr/>
          <p:nvPr/>
        </p:nvSpPr>
        <p:spPr>
          <a:xfrm>
            <a:off x="411480" y="3886200"/>
            <a:ext cx="22860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9" name="@7 addText"/>
          <p:cNvSpPr txBox="1"/>
          <p:nvPr/>
        </p:nvSpPr>
        <p:spPr>
          <a:xfrm>
            <a:off x="484632" y="391363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Routers</a:t>
            </a:r>
            <a:endParaRPr lang="en-US" sz="1400" dirty="0"/>
          </a:p>
        </p:txBody>
      </p:sp>
      <p:sp>
        <p:nvSpPr>
          <p:cNvPr id="30" name="@7 addText"/>
          <p:cNvSpPr txBox="1"/>
          <p:nvPr/>
        </p:nvSpPr>
        <p:spPr>
          <a:xfrm>
            <a:off x="484632" y="4187952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back again</a:t>
            </a:r>
            <a:endParaRPr lang="en-US" sz="1200" dirty="0"/>
          </a:p>
        </p:txBody>
      </p:sp>
      <p:sp>
        <p:nvSpPr>
          <p:cNvPr id="31" name="@8 arrow 7"/>
          <p:cNvSpPr/>
          <p:nvPr/>
        </p:nvSpPr>
        <p:spPr>
          <a:xfrm flipV="1">
            <a:off x="1554480" y="3346704"/>
            <a:ext cx="0" cy="484632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</p:sp>
      <p:sp>
        <p:nvSpPr>
          <p:cNvPr id="32" name="@8 8 Browser"/>
          <p:cNvSpPr/>
          <p:nvPr/>
        </p:nvSpPr>
        <p:spPr>
          <a:xfrm>
            <a:off x="411480" y="2560320"/>
            <a:ext cx="22860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33" name="@8 addText"/>
          <p:cNvSpPr txBox="1"/>
          <p:nvPr/>
        </p:nvSpPr>
        <p:spPr>
          <a:xfrm>
            <a:off x="484632" y="258775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Browser</a:t>
            </a:r>
            <a:endParaRPr lang="en-US" sz="1400" dirty="0"/>
          </a:p>
        </p:txBody>
      </p:sp>
      <p:sp>
        <p:nvSpPr>
          <p:cNvPr id="34" name="@8 addText"/>
          <p:cNvSpPr txBox="1"/>
          <p:nvPr/>
        </p:nvSpPr>
        <p:spPr>
          <a:xfrm>
            <a:off x="484632" y="2862072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packets put in order, page shown</a:t>
            </a:r>
            <a:endParaRPr lang="en-US" sz="1200" dirty="0"/>
          </a:p>
        </p:txBody>
      </p:sp>
      <p:sp>
        <p:nvSpPr>
          <p:cNvPr id="35" name="@8 arrow back"/>
          <p:cNvSpPr/>
          <p:nvPr/>
        </p:nvSpPr>
        <p:spPr>
          <a:xfrm flipV="1">
            <a:off x="1554480" y="2020824"/>
            <a:ext cx="0" cy="484632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journey</a:t>
            </a:r>
            <a:endParaRPr lang="en-US" sz="3000" dirty="0"/>
          </a:p>
        </p:txBody>
      </p:sp>
      <p:sp>
        <p:nvSpPr>
          <p:cNvPr id="3" name="@1 Card"/>
          <p:cNvSpPr/>
          <p:nvPr/>
        </p:nvSpPr>
        <p:spPr>
          <a:xfrm>
            <a:off x="457200" y="1554480"/>
            <a:ext cx="1389888" cy="237744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4" name="@1 addText"/>
          <p:cNvSpPr txBox="1"/>
          <p:nvPr/>
        </p:nvSpPr>
        <p:spPr>
          <a:xfrm>
            <a:off x="548640" y="164592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</a:t>
            </a:r>
            <a:endParaRPr lang="en-US" sz="1600" dirty="0"/>
          </a:p>
        </p:txBody>
      </p:sp>
      <p:sp>
        <p:nvSpPr>
          <p:cNvPr id="5" name="@1 addText"/>
          <p:cNvSpPr txBox="1"/>
          <p:nvPr/>
        </p:nvSpPr>
        <p:spPr>
          <a:xfrm>
            <a:off x="548640" y="2240280"/>
            <a:ext cx="12070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to IP</a:t>
            </a:r>
            <a:endParaRPr lang="en-US" sz="1400" dirty="0"/>
          </a:p>
        </p:txBody>
      </p:sp>
      <p:sp>
        <p:nvSpPr>
          <p:cNvPr id="6" name="@1 arrow"/>
          <p:cNvSpPr/>
          <p:nvPr/>
        </p:nvSpPr>
        <p:spPr>
          <a:xfrm>
            <a:off x="1874520" y="2743200"/>
            <a:ext cx="265176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7" name="@2 Card"/>
          <p:cNvSpPr/>
          <p:nvPr/>
        </p:nvSpPr>
        <p:spPr>
          <a:xfrm>
            <a:off x="2167128" y="1554480"/>
            <a:ext cx="1389888" cy="237744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2 addText"/>
          <p:cNvSpPr txBox="1"/>
          <p:nvPr/>
        </p:nvSpPr>
        <p:spPr>
          <a:xfrm>
            <a:off x="2258568" y="164592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</a:t>
            </a:r>
            <a:endParaRPr lang="en-US" sz="1600" dirty="0"/>
          </a:p>
        </p:txBody>
      </p:sp>
      <p:sp>
        <p:nvSpPr>
          <p:cNvPr id="9" name="@2 addText"/>
          <p:cNvSpPr txBox="1"/>
          <p:nvPr/>
        </p:nvSpPr>
        <p:spPr>
          <a:xfrm>
            <a:off x="2258568" y="2240280"/>
            <a:ext cx="12070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app, transport, internet, link</a:t>
            </a:r>
            <a:endParaRPr lang="en-US" sz="1400" dirty="0"/>
          </a:p>
        </p:txBody>
      </p:sp>
      <p:sp>
        <p:nvSpPr>
          <p:cNvPr id="10" name="@2 arrow"/>
          <p:cNvSpPr/>
          <p:nvPr/>
        </p:nvSpPr>
        <p:spPr>
          <a:xfrm>
            <a:off x="3584448" y="2743200"/>
            <a:ext cx="265176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1" name="@3 Card"/>
          <p:cNvSpPr/>
          <p:nvPr/>
        </p:nvSpPr>
        <p:spPr>
          <a:xfrm>
            <a:off x="3877056" y="1554480"/>
            <a:ext cx="1389888" cy="237744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3 addText"/>
          <p:cNvSpPr txBox="1"/>
          <p:nvPr/>
        </p:nvSpPr>
        <p:spPr>
          <a:xfrm>
            <a:off x="3968496" y="164592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Packets</a:t>
            </a:r>
            <a:endParaRPr lang="en-US" sz="1600" dirty="0"/>
          </a:p>
        </p:txBody>
      </p:sp>
      <p:sp>
        <p:nvSpPr>
          <p:cNvPr id="13" name="@3 addText"/>
          <p:cNvSpPr txBox="1"/>
          <p:nvPr/>
        </p:nvSpPr>
        <p:spPr>
          <a:xfrm>
            <a:off x="3968496" y="2240280"/>
            <a:ext cx="12070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numbered, with headers</a:t>
            </a:r>
            <a:endParaRPr lang="en-US" sz="1400" dirty="0"/>
          </a:p>
        </p:txBody>
      </p:sp>
      <p:sp>
        <p:nvSpPr>
          <p:cNvPr id="14" name="@3 arrow"/>
          <p:cNvSpPr/>
          <p:nvPr/>
        </p:nvSpPr>
        <p:spPr>
          <a:xfrm>
            <a:off x="5294376" y="2743200"/>
            <a:ext cx="265176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5" name="@4 Card"/>
          <p:cNvSpPr/>
          <p:nvPr/>
        </p:nvSpPr>
        <p:spPr>
          <a:xfrm>
            <a:off x="5586984" y="1554480"/>
            <a:ext cx="1389888" cy="237744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6" name="@4 addText"/>
          <p:cNvSpPr txBox="1"/>
          <p:nvPr/>
        </p:nvSpPr>
        <p:spPr>
          <a:xfrm>
            <a:off x="5678424" y="164592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Routers</a:t>
            </a:r>
            <a:endParaRPr lang="en-US" sz="1600" dirty="0"/>
          </a:p>
        </p:txBody>
      </p:sp>
      <p:sp>
        <p:nvSpPr>
          <p:cNvPr id="17" name="@4 addText"/>
          <p:cNvSpPr txBox="1"/>
          <p:nvPr/>
        </p:nvSpPr>
        <p:spPr>
          <a:xfrm>
            <a:off x="5678424" y="2240280"/>
            <a:ext cx="12070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by hop, TTL</a:t>
            </a:r>
            <a:endParaRPr lang="en-US" sz="1400" dirty="0"/>
          </a:p>
        </p:txBody>
      </p:sp>
      <p:sp>
        <p:nvSpPr>
          <p:cNvPr id="18" name="@4 arrow"/>
          <p:cNvSpPr/>
          <p:nvPr/>
        </p:nvSpPr>
        <p:spPr>
          <a:xfrm>
            <a:off x="7004304" y="2743200"/>
            <a:ext cx="265176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9" name="@5 Card"/>
          <p:cNvSpPr/>
          <p:nvPr/>
        </p:nvSpPr>
        <p:spPr>
          <a:xfrm>
            <a:off x="7296912" y="1554480"/>
            <a:ext cx="1389888" cy="237744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0" name="@5 addText"/>
          <p:cNvSpPr txBox="1"/>
          <p:nvPr/>
        </p:nvSpPr>
        <p:spPr>
          <a:xfrm>
            <a:off x="7388352" y="164592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1600" dirty="0"/>
          </a:p>
        </p:txBody>
      </p:sp>
      <p:sp>
        <p:nvSpPr>
          <p:cNvPr id="21" name="@5 addText"/>
          <p:cNvSpPr txBox="1"/>
          <p:nvPr/>
        </p:nvSpPr>
        <p:spPr>
          <a:xfrm>
            <a:off x="7388352" y="2240280"/>
            <a:ext cx="12070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reorder and reply</a:t>
            </a:r>
            <a:endParaRPr lang="en-US" sz="1400" dirty="0"/>
          </a:p>
        </p:txBody>
      </p:sp>
      <p:sp>
        <p:nvSpPr>
          <p:cNvPr id="2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3: School email on the school network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a student retrieves school email on a phone in the library, using the school network diagram.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OneNote: Lesson Tasks, Task 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4: Assessment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exam conditions. Answer every question. 27 marks.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min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OneNote: Lesson Tasks, Task 4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5: Self mark and target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your answers, rate each area, and write one target.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OneNote: Lesson Tasks, Task 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Plenary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area is your target?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457200" y="214884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488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your answers in a different colour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457200" y="310896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1089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term: network security</a:t>
            </a:r>
            <a:endParaRPr lang="en-US" sz="18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together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3: school email (Craig'n'Dave 07-4)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@1 Card"/>
          <p:cNvSpPr/>
          <p:nvPr/>
        </p:nvSpPr>
        <p:spPr>
          <a:xfrm>
            <a:off x="457200" y="1188720"/>
            <a:ext cx="8229600" cy="618134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685800" y="1188720"/>
            <a:ext cx="77724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request is sent from the student's phone (172.16.5.17) using POP3. It reaches the WAP at 172.16.5.5, which sends it onto the router that connects the library subnet to the fibre-optic backbone (172.16.0.5)</a:t>
            </a:r>
            <a:endParaRPr lang="en-US" sz="1400" dirty="0"/>
          </a:p>
        </p:txBody>
      </p:sp>
      <p:sp>
        <p:nvSpPr>
          <p:cNvPr id="7" name="@2 Card"/>
          <p:cNvSpPr/>
          <p:nvPr/>
        </p:nvSpPr>
        <p:spPr>
          <a:xfrm>
            <a:off x="457200" y="1880006"/>
            <a:ext cx="8229600" cy="618134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2 addText"/>
          <p:cNvSpPr txBox="1"/>
          <p:nvPr/>
        </p:nvSpPr>
        <p:spPr>
          <a:xfrm>
            <a:off x="685800" y="1880006"/>
            <a:ext cx="77724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travels via fibre-optic to the switch in the server room (172.16.0.2), which directs it to the mail server (172.16.0.8)</a:t>
            </a:r>
            <a:endParaRPr lang="en-US" sz="1400" dirty="0"/>
          </a:p>
        </p:txBody>
      </p:sp>
      <p:sp>
        <p:nvSpPr>
          <p:cNvPr id="9" name="@3 Card"/>
          <p:cNvSpPr/>
          <p:nvPr/>
        </p:nvSpPr>
        <p:spPr>
          <a:xfrm>
            <a:off x="457200" y="2571293"/>
            <a:ext cx="8229600" cy="618134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0" name="@3 addText"/>
          <p:cNvSpPr txBox="1"/>
          <p:nvPr/>
        </p:nvSpPr>
        <p:spPr>
          <a:xfrm>
            <a:off x="685800" y="2571293"/>
            <a:ext cx="77724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mail server sends the email back across the network to the phone and deletes the copy it was storing</a:t>
            </a:r>
            <a:endParaRPr lang="en-US" sz="1400" dirty="0"/>
          </a:p>
        </p:txBody>
      </p:sp>
      <p:sp>
        <p:nvSpPr>
          <p:cNvPr id="11" name="@4 Card"/>
          <p:cNvSpPr/>
          <p:nvPr/>
        </p:nvSpPr>
        <p:spPr>
          <a:xfrm>
            <a:off x="457200" y="3262579"/>
            <a:ext cx="8229600" cy="618134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4 addText"/>
          <p:cNvSpPr txBox="1"/>
          <p:nvPr/>
        </p:nvSpPr>
        <p:spPr>
          <a:xfrm>
            <a:off x="685800" y="3262579"/>
            <a:ext cx="77724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school computer (for example 172.16.1.3 in A-Block) there is no email: they are out of sync as the email is only on the phone</a:t>
            </a:r>
            <a:endParaRPr lang="en-US" sz="1400" dirty="0"/>
          </a:p>
        </p:txBody>
      </p:sp>
      <p:sp>
        <p:nvSpPr>
          <p:cNvPr id="13" name="@5 Card"/>
          <p:cNvSpPr/>
          <p:nvPr/>
        </p:nvSpPr>
        <p:spPr>
          <a:xfrm>
            <a:off x="457200" y="3953866"/>
            <a:ext cx="8229600" cy="618134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4" name="@5 addText"/>
          <p:cNvSpPr txBox="1"/>
          <p:nvPr/>
        </p:nvSpPr>
        <p:spPr>
          <a:xfrm>
            <a:off x="685800" y="3953866"/>
            <a:ext cx="77724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IMAP keeps the original email on the email server, so devices stay in sync</a:t>
            </a:r>
            <a:endParaRPr lang="en-US" sz="14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H046 1.3.2 (2019), PMT booklet, Q6(a) [4]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Mark scheme card"/>
          <p:cNvSpPr/>
          <p:nvPr/>
        </p:nvSpPr>
        <p:spPr>
          <a:xfrm>
            <a:off x="457200" y="109728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(i) Two of: A LAN covers a small geographical area (e.g. a building or campus). [1]; A LAN uses connections owned by the organisation that owns it. [1]; More secure than a WAN [1]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(ii) Two of: A WAN covers a large geographical area. [1]; A WAN often uses third party connections. [1]; Less secure than a LAN [1]</a:t>
            </a:r>
            <a:endParaRPr lang="en-US" sz="1600" dirty="0"/>
          </a:p>
        </p:txBody>
      </p:sp>
      <p:sp>
        <p:nvSpPr>
          <p:cNvPr id="7" name="Guidance card"/>
          <p:cNvSpPr/>
          <p:nvPr/>
        </p:nvSpPr>
        <p:spPr>
          <a:xfrm>
            <a:off x="6035040" y="109728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155448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award security mark if it is relative</a:t>
            </a:r>
            <a:endParaRPr lang="en-US" sz="12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H446 June 2024, Q6(d) [6] (1/2)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Mark scheme card"/>
          <p:cNvSpPr/>
          <p:nvPr/>
        </p:nvSpPr>
        <p:spPr>
          <a:xfrm>
            <a:off x="457200" y="1097280"/>
            <a:ext cx="8229600" cy="3435858"/>
          </a:xfrm>
          <a:prstGeom prst="roundRect">
            <a:avLst>
              <a:gd name="adj" fmla="val 319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7863840" cy="325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mark for hardware and 1 mark for expansion to 6 marks max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e.g. Connect networks together; Assign IP address to devices; Examines data packets and forwards them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Cable/ Ethernet e.g. Carries digital data from one device/NIC to the next; Connects wired devices to the network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e.g. Connects different types of network; Translates protocols from one network to another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e.g. Connects different network segments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Repeater: Receives a signal and retransmits it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Interface Card / NIC e.g. Gives each device a MAC address / unique ID; Allows a computer system to interface with a network</a:t>
            </a:r>
            <a:endParaRPr lang="en-US" sz="14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H446 June 2024, Q6(d) [6] (2/2)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Mark scheme card"/>
          <p:cNvSpPr/>
          <p:nvPr/>
        </p:nvSpPr>
        <p:spPr>
          <a:xfrm>
            <a:off x="457200" y="109728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Wireless Access Point / WAP e.g. Allows wireless devices to communicate with each other; Sends and receives radio waves; Examines data packets and forwards them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e.g. Connects multiple wired devices to the network; Receives data and forwards it to the intended recipient; Examines data packets and forwards them; Routes based on MAC addresses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e.g. Receives data from a device and broadcasts it to all devices connected to it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Modem e.g. Changes a signal from digital to analogue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e.g. Filters traffic coming in and out of a network</a:t>
            </a:r>
            <a:endParaRPr lang="en-US" sz="1400" dirty="0"/>
          </a:p>
        </p:txBody>
      </p:sp>
      <p:sp>
        <p:nvSpPr>
          <p:cNvPr id="7" name="Guidance card"/>
          <p:cNvSpPr/>
          <p:nvPr/>
        </p:nvSpPr>
        <p:spPr>
          <a:xfrm>
            <a:off x="6035040" y="109728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155448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 max each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any suitable expansion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in pairs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Allow: Proxy server e.g. Sits between user and computer to route requests through an external server; Creates separation between a user and the site/service; Protects your security/anonymity by hiding IPs</a:t>
            </a:r>
            <a:endParaRPr lang="en-US" sz="12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H046 1.3.2 (2019), PMT booklet, Q6(b) [2]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Mark scheme card"/>
          <p:cNvSpPr/>
          <p:nvPr/>
        </p:nvSpPr>
        <p:spPr>
          <a:xfrm>
            <a:off x="457200" y="109728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router [1]… … A device that passes data between two networks. [1]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gateway [1]… … A device which connects two dissimilar networks to each other. [1]</a:t>
            </a:r>
            <a:endParaRPr lang="en-US" sz="1800" dirty="0"/>
          </a:p>
        </p:txBody>
      </p:sp>
      <p:sp>
        <p:nvSpPr>
          <p:cNvPr id="7" name="Guidance card"/>
          <p:cNvSpPr/>
          <p:nvPr/>
        </p:nvSpPr>
        <p:spPr>
          <a:xfrm>
            <a:off x="6035040" y="109728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155448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accept MODEM.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accept '...connects LAN to WAN' for 2nd mark.</a:t>
            </a:r>
            <a:endParaRPr lang="en-US" sz="12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H446 Nov 2020, Q1 [3]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Mark scheme card"/>
          <p:cNvSpPr/>
          <p:nvPr/>
        </p:nvSpPr>
        <p:spPr>
          <a:xfrm>
            <a:off x="457200" y="1097280"/>
            <a:ext cx="822960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78638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computers connect to server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provides access to a resource/service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case hotel staff use client computers to connect to database on server (or other sensible example).</a:t>
            </a:r>
            <a:endParaRPr lang="en-US" sz="18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H446 June 2018, Q4(b)(ii) [4]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Mark scheme card"/>
          <p:cNvSpPr/>
          <p:nvPr/>
        </p:nvSpPr>
        <p:spPr>
          <a:xfrm>
            <a:off x="457200" y="109728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Interface/(Data) Link/Physical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Mark per -, max 4)</a:t>
            </a:r>
            <a:endParaRPr lang="en-US" sz="1800" dirty="0"/>
          </a:p>
        </p:txBody>
      </p:sp>
      <p:sp>
        <p:nvSpPr>
          <p:cNvPr id="7" name="Guidance card"/>
          <p:cNvSpPr/>
          <p:nvPr/>
        </p:nvSpPr>
        <p:spPr>
          <a:xfrm>
            <a:off x="6035040" y="109728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155448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Examiner: the layers were accepted in any order</a:t>
            </a:r>
            <a:endParaRPr lang="en-US" sz="12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H046 1.3.2 (2019), PMT booklet, Q4(b) [4]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Mark scheme card"/>
          <p:cNvSpPr/>
          <p:nvPr/>
        </p:nvSpPr>
        <p:spPr>
          <a:xfrm>
            <a:off x="457200" y="109728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split into chunks called packets (1 - AO1.1) which have labels (1 - AO1.1) including address being sent to (1 - AO1.1) and order (1 - AO1.1).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packet is sent on the most convenient / avoidable route (1 - AO1.2) meaning they may arrive in a different order to which they were sent (1 - AO1.2).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packets arrive at receiver they are reordered (1 - AO1.2).</a:t>
            </a:r>
            <a:endParaRPr lang="en-US" sz="1600" dirty="0"/>
          </a:p>
        </p:txBody>
      </p:sp>
      <p:sp>
        <p:nvSpPr>
          <p:cNvPr id="7" name="Guidance card"/>
          <p:cNvSpPr/>
          <p:nvPr/>
        </p:nvSpPr>
        <p:spPr>
          <a:xfrm>
            <a:off x="6035040" y="109728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155448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 marks for demonstrating knowledge (AO1.1). Up to 2 marks for demonstrating understanding (AO1.2).</a:t>
            </a:r>
            <a:endParaRPr lang="en-US" sz="12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H046 1.3.2 (2019), PMT booklet, Q2(b) [4]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Mark scheme card"/>
          <p:cNvSpPr/>
          <p:nvPr/>
        </p:nvSpPr>
        <p:spPr>
          <a:xfrm>
            <a:off x="457200" y="109728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per bullet, max 2 pairs of bullets.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Transmission is safer from interception… …because it is impossible to intercept all the packets as they use different routes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efficient use of network… …as each channel only used for short time / does not tie up a part of the network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there is an error then only a small, identifiable, part of the data is affected… …this can be retransmitted easily</a:t>
            </a:r>
            <a:endParaRPr lang="en-US" sz="1600" dirty="0"/>
          </a:p>
        </p:txBody>
      </p:sp>
      <p:sp>
        <p:nvSpPr>
          <p:cNvPr id="7" name="Guidance card"/>
          <p:cNvSpPr/>
          <p:nvPr/>
        </p:nvSpPr>
        <p:spPr>
          <a:xfrm>
            <a:off x="6035040" y="109728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155448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award marks for opposite points made about Circuit Switching but do not give explanation mark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use, not speed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credit anything about speed of transmission of the file</a:t>
            </a:r>
            <a:endParaRPr lang="en-US" sz="12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Y12 Networks L6</dc:title>
  <dc:subject>PptxGenJS Presentation</dc:subject>
  <dc:creator/>
  <cp:lastModifiedBy/>
  <cp:revision>1</cp:revision>
  <dcterms:created xsi:type="dcterms:W3CDTF">2026-10-21T13:01:51Z</dcterms:created>
  <dcterms:modified xsi:type="dcterms:W3CDTF">2026-10-21T13:01:51Z</dcterms:modified>
</cp:coreProperties>
</file>