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091EB29D-D5E3-34BC-E6EA-86AE1540E1C4}">
          <p14:sldIdLst>
            <p14:sldId id="256"/>
          </p14:sldIdLst>
        </p14:section>
        <p14:section name="Welcome" id="{085ED464-2464-B37E-9EC5-5D142D5AE472}">
          <p14:sldIdLst>
            <p14:sldId id="257"/>
          </p14:sldIdLst>
        </p14:section>
        <p14:section name="Task 1" id="{145D6F61-AEDF-4A96-1DCE-52734DCE1AF3}">
          <p14:sldIdLst>
            <p14:sldId id="260"/>
            <p14:sldId id="261"/>
          </p14:sldIdLst>
        </p14:section>
        <p14:section name="Task 2" id="{D751C1D3-B1FA-63AD-2C68-8A8841312B9E}">
          <p14:sldIdLst>
            <p14:sldId id="262"/>
            <p14:sldId id="263"/>
          </p14:sldIdLst>
        </p14:section>
        <p14:section name="Task 3" id="{EEE8C468-FB30-1D5D-AC2A-661F49DFDC01}">
          <p14:sldIdLst>
            <p14:sldId id="264"/>
            <p14:sldId id="265"/>
            <p14:sldId id="266"/>
          </p14:sldIdLst>
        </p14:section>
        <p14:section name="Task 4" id="{7947C80F-5403-FB23-489A-A61539A57BB6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Task 5" id="{9D33F081-6191-077B-94DF-9E6C55FF0C2D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82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 Digital Literacy &amp; E-Safety  |  Term 1 Recap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 Digital Literacy &amp; E-Safety  |  Term 1 Recap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5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200" dirty="0"/>
          </a:p>
        </p:txBody>
      </p:sp>
      <p:sp>
        <p:nvSpPr>
          <p:cNvPr id="3" name="Starter tag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Question 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you find the ribbon?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top of an application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Question 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you find the taskbar?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at the bottom of the screen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Question 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save a file for the first time, or if you need to save with a different name?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Save As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Question 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 on the keyboard allows you to input a special character or an uppercase letter?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key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Question 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backspace key do?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characters to the left of the cursor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 Digital Literacy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E-Safety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Recap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Detectives Lesson</a:t>
            </a:r>
            <a:endParaRPr lang="en-US" sz="1800" dirty="0"/>
          </a:p>
        </p:txBody>
      </p:sp>
      <p:sp>
        <p:nvSpPr>
          <p:cNvPr id="5" name="Hero circle"/>
          <p:cNvSpPr/>
          <p:nvPr/>
        </p:nvSpPr>
        <p:spPr>
          <a:xfrm>
            <a:off x="5577840" y="731520"/>
            <a:ext cx="3108960" cy="3108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shiel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1554480" cy="1554480"/>
          </a:xfrm>
          <a:prstGeom prst="rect">
            <a:avLst/>
          </a:prstGeom>
        </p:spPr>
      </p:pic>
      <p:sp>
        <p:nvSpPr>
          <p:cNvPr id="7" name="Lock icon circle"/>
          <p:cNvSpPr/>
          <p:nvPr/>
        </p:nvSpPr>
        <p:spPr>
          <a:xfrm>
            <a:off x="5120640" y="3246120"/>
            <a:ext cx="731520" cy="73152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0" y="3443630"/>
            <a:ext cx="336499" cy="336499"/>
          </a:xfrm>
          <a:prstGeom prst="rect">
            <a:avLst/>
          </a:prstGeom>
        </p:spPr>
      </p:pic>
      <p:sp>
        <p:nvSpPr>
          <p:cNvPr id="9" name="Mail icon circle"/>
          <p:cNvSpPr/>
          <p:nvPr/>
        </p:nvSpPr>
        <p:spPr>
          <a:xfrm>
            <a:off x="8138160" y="3246120"/>
            <a:ext cx="731520" cy="73152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2" descr="Mai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3443630"/>
            <a:ext cx="336499" cy="336499"/>
          </a:xfrm>
          <a:prstGeom prst="rect">
            <a:avLst/>
          </a:prstGeom>
        </p:spPr>
      </p:pic>
      <p:sp>
        <p:nvSpPr>
          <p:cNvPr id="11" name="Keyboard icon circle"/>
          <p:cNvSpPr/>
          <p:nvPr/>
        </p:nvSpPr>
        <p:spPr>
          <a:xfrm>
            <a:off x="6629400" y="3931920"/>
            <a:ext cx="731520" cy="73152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3" descr="Keyboar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910" y="4129430"/>
            <a:ext cx="336499" cy="336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the Password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four stories. Draw a line from each person to their password.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  <p:pic>
        <p:nvPicPr>
          <p:cNvPr id="10" name="Image 2" descr="Story pictur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60720" y="1371600"/>
            <a:ext cx="1417320" cy="1417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  <p:pic>
        <p:nvPicPr>
          <p:cNvPr id="11" name="Image 3" descr="Story picture 2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15200" y="1371600"/>
            <a:ext cx="1417320" cy="1417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  <p:pic>
        <p:nvPicPr>
          <p:cNvPr id="12" name="Image 4" descr="Story picture 3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0720" y="2926080"/>
            <a:ext cx="1417320" cy="1417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  <p:pic>
        <p:nvPicPr>
          <p:cNvPr id="13" name="Image 5" descr="Story picture 4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15200" y="2926080"/>
            <a:ext cx="1417320" cy="141732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Guess the Password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4300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@1 addImage" descr="Jenn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80160"/>
            <a:ext cx="1371600" cy="1371600"/>
          </a:xfrm>
          <a:prstGeom prst="rect">
            <a:avLst/>
          </a:prstGeom>
        </p:spPr>
      </p:pic>
      <p:sp>
        <p:nvSpPr>
          <p:cNvPr id="7" name="@1 addText"/>
          <p:cNvSpPr txBox="1"/>
          <p:nvPr/>
        </p:nvSpPr>
        <p:spPr>
          <a:xfrm>
            <a:off x="54864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Jenny</a:t>
            </a:r>
            <a:endParaRPr lang="en-US" sz="1600" dirty="0"/>
          </a:p>
        </p:txBody>
      </p:sp>
      <p:sp>
        <p:nvSpPr>
          <p:cNvPr id="8" name="@1 addText"/>
          <p:cNvSpPr txBox="1"/>
          <p:nvPr/>
        </p:nvSpPr>
        <p:spPr>
          <a:xfrm>
            <a:off x="54864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PrincessPenny1</a:t>
            </a:r>
            <a:endParaRPr lang="en-US" sz="1400" dirty="0"/>
          </a:p>
        </p:txBody>
      </p:sp>
      <p:sp>
        <p:nvSpPr>
          <p:cNvPr id="9" name="@1 addText"/>
          <p:cNvSpPr txBox="1"/>
          <p:nvPr/>
        </p:nvSpPr>
        <p:spPr>
          <a:xfrm>
            <a:off x="566928" y="33832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kitten's name, and she always writes #PrincessPenny</a:t>
            </a:r>
            <a:endParaRPr lang="en-US" sz="1100" dirty="0"/>
          </a:p>
        </p:txBody>
      </p:sp>
      <p:sp>
        <p:nvSpPr>
          <p:cNvPr id="10" name="@2 Card"/>
          <p:cNvSpPr/>
          <p:nvPr/>
        </p:nvSpPr>
        <p:spPr>
          <a:xfrm>
            <a:off x="2542032" y="114300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@2 addImage" descr="Jame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16352" y="1280160"/>
            <a:ext cx="1371600" cy="1371600"/>
          </a:xfrm>
          <a:prstGeom prst="rect">
            <a:avLst/>
          </a:prstGeom>
        </p:spPr>
      </p:pic>
      <p:sp>
        <p:nvSpPr>
          <p:cNvPr id="12" name="@2 addText"/>
          <p:cNvSpPr txBox="1"/>
          <p:nvPr/>
        </p:nvSpPr>
        <p:spPr>
          <a:xfrm>
            <a:off x="2633472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</a:t>
            </a:r>
            <a:endParaRPr lang="en-US" sz="1600" dirty="0"/>
          </a:p>
        </p:txBody>
      </p:sp>
      <p:sp>
        <p:nvSpPr>
          <p:cNvPr id="13" name="@2 addText"/>
          <p:cNvSpPr txBox="1"/>
          <p:nvPr/>
        </p:nvSpPr>
        <p:spPr>
          <a:xfrm>
            <a:off x="2633472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Haaland9</a:t>
            </a:r>
            <a:endParaRPr lang="en-US" sz="1400" dirty="0"/>
          </a:p>
        </p:txBody>
      </p:sp>
      <p:sp>
        <p:nvSpPr>
          <p:cNvPr id="14" name="@2 addText"/>
          <p:cNvSpPr txBox="1"/>
          <p:nvPr/>
        </p:nvSpPr>
        <p:spPr>
          <a:xfrm>
            <a:off x="2651760" y="33832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favourite footballer</a:t>
            </a:r>
            <a:endParaRPr lang="en-US" sz="1100" dirty="0"/>
          </a:p>
        </p:txBody>
      </p:sp>
      <p:sp>
        <p:nvSpPr>
          <p:cNvPr id="15" name="@3 Card"/>
          <p:cNvSpPr/>
          <p:nvPr/>
        </p:nvSpPr>
        <p:spPr>
          <a:xfrm>
            <a:off x="4626864" y="114300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@3 addImage" descr="Aisha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1184" y="1280160"/>
            <a:ext cx="1371600" cy="1371600"/>
          </a:xfrm>
          <a:prstGeom prst="rect">
            <a:avLst/>
          </a:prstGeom>
        </p:spPr>
      </p:pic>
      <p:sp>
        <p:nvSpPr>
          <p:cNvPr id="17" name="@3 addText"/>
          <p:cNvSpPr txBox="1"/>
          <p:nvPr/>
        </p:nvSpPr>
        <p:spPr>
          <a:xfrm>
            <a:off x="4718304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Aisha</a:t>
            </a:r>
            <a:endParaRPr lang="en-US" sz="1600" dirty="0"/>
          </a:p>
        </p:txBody>
      </p:sp>
      <p:sp>
        <p:nvSpPr>
          <p:cNvPr id="18" name="@3 addText"/>
          <p:cNvSpPr txBox="1"/>
          <p:nvPr/>
        </p:nvSpPr>
        <p:spPr>
          <a:xfrm>
            <a:off x="4718304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Taylor1989</a:t>
            </a:r>
            <a:endParaRPr lang="en-US" sz="1400" dirty="0"/>
          </a:p>
        </p:txBody>
      </p:sp>
      <p:sp>
        <p:nvSpPr>
          <p:cNvPr id="19" name="@3 addText"/>
          <p:cNvSpPr txBox="1"/>
          <p:nvPr/>
        </p:nvSpPr>
        <p:spPr>
          <a:xfrm>
            <a:off x="4736592" y="33832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favourite artist and album</a:t>
            </a:r>
            <a:endParaRPr lang="en-US" sz="1100" dirty="0"/>
          </a:p>
        </p:txBody>
      </p:sp>
      <p:sp>
        <p:nvSpPr>
          <p:cNvPr id="20" name="@4 Card"/>
          <p:cNvSpPr/>
          <p:nvPr/>
        </p:nvSpPr>
        <p:spPr>
          <a:xfrm>
            <a:off x="6711696" y="114300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@4 addImage" descr="Owen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6016" y="1280160"/>
            <a:ext cx="1371600" cy="1371600"/>
          </a:xfrm>
          <a:prstGeom prst="rect">
            <a:avLst/>
          </a:prstGeom>
        </p:spPr>
      </p:pic>
      <p:sp>
        <p:nvSpPr>
          <p:cNvPr id="22" name="@4 addText"/>
          <p:cNvSpPr txBox="1"/>
          <p:nvPr/>
        </p:nvSpPr>
        <p:spPr>
          <a:xfrm>
            <a:off x="6803136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</a:t>
            </a:r>
            <a:endParaRPr lang="en-US" sz="1600" dirty="0"/>
          </a:p>
        </p:txBody>
      </p:sp>
      <p:sp>
        <p:nvSpPr>
          <p:cNvPr id="23" name="@4 addText"/>
          <p:cNvSpPr txBox="1"/>
          <p:nvPr/>
        </p:nvSpPr>
        <p:spPr>
          <a:xfrm>
            <a:off x="6803136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OwenRoblox</a:t>
            </a:r>
            <a:endParaRPr lang="en-US" sz="1400" dirty="0"/>
          </a:p>
        </p:txBody>
      </p:sp>
      <p:sp>
        <p:nvSpPr>
          <p:cNvPr id="24" name="@4 addText"/>
          <p:cNvSpPr txBox="1"/>
          <p:nvPr/>
        </p:nvSpPr>
        <p:spPr>
          <a:xfrm>
            <a:off x="6821424" y="33832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own name and his favourite game</a:t>
            </a:r>
            <a:endParaRPr lang="en-US" sz="1100" dirty="0"/>
          </a:p>
        </p:txBody>
      </p:sp>
      <p:sp>
        <p:nvSpPr>
          <p:cNvPr id="25" name="@5 addText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made from things people know about you are easy to guess.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Cyberbullying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each sentence with a word from the word bank.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Cyberbullying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Example: </a:t>
            </a: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receive mean messages online, you should </a:t>
            </a: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tell an </a:t>
            </a: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</a:t>
            </a: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trust.</a:t>
            </a:r>
            <a:endParaRPr lang="en-US" sz="1400" dirty="0"/>
          </a:p>
        </p:txBody>
      </p:sp>
      <p:sp>
        <p:nvSpPr>
          <p:cNvPr id="6" name="@1 Number 2"/>
          <p:cNvSpPr/>
          <p:nvPr/>
        </p:nvSpPr>
        <p:spPr>
          <a:xfrm>
            <a:off x="457200" y="1545336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ddText"/>
          <p:cNvSpPr txBox="1"/>
          <p:nvPr/>
        </p:nvSpPr>
        <p:spPr>
          <a:xfrm>
            <a:off x="457200" y="1545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@1 addText"/>
          <p:cNvSpPr txBox="1"/>
          <p:nvPr/>
        </p:nvSpPr>
        <p:spPr>
          <a:xfrm>
            <a:off x="868680" y="15087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Spreading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rumours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someone online is a form of bullying.</a:t>
            </a:r>
            <a:endParaRPr lang="en-US" sz="1500" dirty="0"/>
          </a:p>
        </p:txBody>
      </p:sp>
      <p:sp>
        <p:nvSpPr>
          <p:cNvPr id="9" name="@2 Number 3"/>
          <p:cNvSpPr/>
          <p:nvPr/>
        </p:nvSpPr>
        <p:spPr>
          <a:xfrm>
            <a:off x="457200" y="1883664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45720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@2 addText"/>
          <p:cNvSpPr txBox="1"/>
          <p:nvPr/>
        </p:nvSpPr>
        <p:spPr>
          <a:xfrm>
            <a:off x="868680" y="184708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messages to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threaten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someone is cyberbullying.</a:t>
            </a:r>
            <a:endParaRPr lang="en-US" sz="1500" dirty="0"/>
          </a:p>
        </p:txBody>
      </p:sp>
      <p:sp>
        <p:nvSpPr>
          <p:cNvPr id="12" name="@3 Number 4"/>
          <p:cNvSpPr/>
          <p:nvPr/>
        </p:nvSpPr>
        <p:spPr>
          <a:xfrm>
            <a:off x="457200" y="2221992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3 addText"/>
          <p:cNvSpPr txBox="1"/>
          <p:nvPr/>
        </p:nvSpPr>
        <p:spPr>
          <a:xfrm>
            <a:off x="45720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@3 addText"/>
          <p:cNvSpPr txBox="1"/>
          <p:nvPr/>
        </p:nvSpPr>
        <p:spPr>
          <a:xfrm>
            <a:off x="868680" y="21854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cyberbullying often feels alone and scared.</a:t>
            </a:r>
            <a:endParaRPr lang="en-US" sz="1500" dirty="0"/>
          </a:p>
        </p:txBody>
      </p:sp>
      <p:sp>
        <p:nvSpPr>
          <p:cNvPr id="15" name="@4 Number 5"/>
          <p:cNvSpPr/>
          <p:nvPr/>
        </p:nvSpPr>
        <p:spPr>
          <a:xfrm>
            <a:off x="457200" y="2560320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4 addText"/>
          <p:cNvSpPr txBox="1"/>
          <p:nvPr/>
        </p:nvSpPr>
        <p:spPr>
          <a:xfrm>
            <a:off x="45720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@4 addText"/>
          <p:cNvSpPr txBox="1"/>
          <p:nvPr/>
        </p:nvSpPr>
        <p:spPr>
          <a:xfrm>
            <a:off x="868680" y="25237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mean message as proof.</a:t>
            </a:r>
            <a:endParaRPr lang="en-US" sz="1500" dirty="0"/>
          </a:p>
        </p:txBody>
      </p:sp>
      <p:sp>
        <p:nvSpPr>
          <p:cNvPr id="18" name="@5 Number 6"/>
          <p:cNvSpPr/>
          <p:nvPr/>
        </p:nvSpPr>
        <p:spPr>
          <a:xfrm>
            <a:off x="457200" y="2898648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@5 addText"/>
          <p:cNvSpPr txBox="1"/>
          <p:nvPr/>
        </p:nvSpPr>
        <p:spPr>
          <a:xfrm>
            <a:off x="45720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@5 addText"/>
          <p:cNvSpPr txBox="1"/>
          <p:nvPr/>
        </p:nvSpPr>
        <p:spPr>
          <a:xfrm>
            <a:off x="868680" y="2862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Bullies often hide behind a fake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nickname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@6 Number 7"/>
          <p:cNvSpPr/>
          <p:nvPr/>
        </p:nvSpPr>
        <p:spPr>
          <a:xfrm>
            <a:off x="457200" y="3236976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6 addText"/>
          <p:cNvSpPr txBox="1"/>
          <p:nvPr/>
        </p:nvSpPr>
        <p:spPr>
          <a:xfrm>
            <a:off x="45720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@6 addText"/>
          <p:cNvSpPr txBox="1"/>
          <p:nvPr/>
        </p:nvSpPr>
        <p:spPr>
          <a:xfrm>
            <a:off x="868680" y="32004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tell anyone your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@7 Number 8"/>
          <p:cNvSpPr/>
          <p:nvPr/>
        </p:nvSpPr>
        <p:spPr>
          <a:xfrm>
            <a:off x="457200" y="3575304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7 addText"/>
          <p:cNvSpPr txBox="1"/>
          <p:nvPr/>
        </p:nvSpPr>
        <p:spPr>
          <a:xfrm>
            <a:off x="45720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@7 addText"/>
          <p:cNvSpPr txBox="1"/>
          <p:nvPr/>
        </p:nvSpPr>
        <p:spPr>
          <a:xfrm>
            <a:off x="868680" y="35387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mean messages. Do not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them.</a:t>
            </a:r>
            <a:endParaRPr lang="en-US" sz="1500" dirty="0"/>
          </a:p>
        </p:txBody>
      </p:sp>
      <p:sp>
        <p:nvSpPr>
          <p:cNvPr id="27" name="@8 Number 9"/>
          <p:cNvSpPr/>
          <p:nvPr/>
        </p:nvSpPr>
        <p:spPr>
          <a:xfrm>
            <a:off x="457200" y="3913632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8 addText"/>
          <p:cNvSpPr txBox="1"/>
          <p:nvPr/>
        </p:nvSpPr>
        <p:spPr>
          <a:xfrm>
            <a:off x="457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@8 addText"/>
          <p:cNvSpPr txBox="1"/>
          <p:nvPr/>
        </p:nvSpPr>
        <p:spPr>
          <a:xfrm>
            <a:off x="868680" y="38770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reply. Just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bully.</a:t>
            </a:r>
            <a:endParaRPr lang="en-US" sz="1500" dirty="0"/>
          </a:p>
        </p:txBody>
      </p:sp>
      <p:sp>
        <p:nvSpPr>
          <p:cNvPr id="30" name="@9 Number 10"/>
          <p:cNvSpPr/>
          <p:nvPr/>
        </p:nvSpPr>
        <p:spPr>
          <a:xfrm>
            <a:off x="457200" y="4251960"/>
            <a:ext cx="256032" cy="25603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@9 addText"/>
          <p:cNvSpPr txBox="1"/>
          <p:nvPr/>
        </p:nvSpPr>
        <p:spPr>
          <a:xfrm>
            <a:off x="45720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@9 addText"/>
          <p:cNvSpPr txBox="1"/>
          <p:nvPr/>
        </p:nvSpPr>
        <p:spPr>
          <a:xfrm>
            <a:off x="868680" y="42153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</a:t>
            </a: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</a:t>
            </a: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would not post mean things about you.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parts of the email, then complete the do and don't rules.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  <p:pic>
        <p:nvPicPr>
          <p:cNvPr id="10" name="Image 2" descr="Screenshot of an ema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504621"/>
            <a:ext cx="3566160" cy="229427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Emails (Part A)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Email with the parts numb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212080" cy="3353176"/>
          </a:xfrm>
          <a:prstGeom prst="rect">
            <a:avLst/>
          </a:prstGeom>
          <a:effectLst>
            <a:outerShdw blurRad="635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6" name="@1 Outline 1"/>
          <p:cNvSpPr/>
          <p:nvPr/>
        </p:nvSpPr>
        <p:spPr>
          <a:xfrm>
            <a:off x="478570" y="1324524"/>
            <a:ext cx="475342" cy="167994"/>
          </a:xfrm>
          <a:prstGeom prst="roundRect">
            <a:avLst>
              <a:gd name="adj" fmla="val 16329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Badge 1"/>
          <p:cNvSpPr/>
          <p:nvPr/>
        </p:nvSpPr>
        <p:spPr>
          <a:xfrm>
            <a:off x="1041959" y="1120146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1041959" y="112014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@2 Outline 2"/>
          <p:cNvSpPr/>
          <p:nvPr/>
        </p:nvSpPr>
        <p:spPr>
          <a:xfrm>
            <a:off x="553623" y="2050151"/>
            <a:ext cx="1759077" cy="186101"/>
          </a:xfrm>
          <a:prstGeom prst="roundRect">
            <a:avLst>
              <a:gd name="adj" fmla="val 14740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Badge 2"/>
          <p:cNvSpPr/>
          <p:nvPr/>
        </p:nvSpPr>
        <p:spPr>
          <a:xfrm>
            <a:off x="2527402" y="2024162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2 addText"/>
          <p:cNvSpPr txBox="1"/>
          <p:nvPr/>
        </p:nvSpPr>
        <p:spPr>
          <a:xfrm>
            <a:off x="2527402" y="20241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@3 Outline 3"/>
          <p:cNvSpPr/>
          <p:nvPr/>
        </p:nvSpPr>
        <p:spPr>
          <a:xfrm>
            <a:off x="5101163" y="2064570"/>
            <a:ext cx="139163" cy="114343"/>
          </a:xfrm>
          <a:prstGeom prst="roundRect">
            <a:avLst>
              <a:gd name="adj" fmla="val 23991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3 Badge 3"/>
          <p:cNvSpPr/>
          <p:nvPr/>
        </p:nvSpPr>
        <p:spPr>
          <a:xfrm>
            <a:off x="4742536" y="2002702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4742536" y="20027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@4 Outline 4"/>
          <p:cNvSpPr/>
          <p:nvPr/>
        </p:nvSpPr>
        <p:spPr>
          <a:xfrm>
            <a:off x="5304434" y="2064570"/>
            <a:ext cx="186071" cy="114343"/>
          </a:xfrm>
          <a:prstGeom prst="roundRect">
            <a:avLst>
              <a:gd name="adj" fmla="val 23991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4 Badge 4"/>
          <p:cNvSpPr/>
          <p:nvPr/>
        </p:nvSpPr>
        <p:spPr>
          <a:xfrm>
            <a:off x="5524348" y="2002702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4 addText"/>
          <p:cNvSpPr txBox="1"/>
          <p:nvPr/>
        </p:nvSpPr>
        <p:spPr>
          <a:xfrm>
            <a:off x="5524348" y="20027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@5 Outline 5"/>
          <p:cNvSpPr/>
          <p:nvPr/>
        </p:nvSpPr>
        <p:spPr>
          <a:xfrm>
            <a:off x="557272" y="2386139"/>
            <a:ext cx="1626690" cy="157599"/>
          </a:xfrm>
          <a:prstGeom prst="roundRect">
            <a:avLst>
              <a:gd name="adj" fmla="val 17406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@5 Badge 5"/>
          <p:cNvSpPr/>
          <p:nvPr/>
        </p:nvSpPr>
        <p:spPr>
          <a:xfrm>
            <a:off x="2423160" y="2346067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5 addText"/>
          <p:cNvSpPr txBox="1"/>
          <p:nvPr/>
        </p:nvSpPr>
        <p:spPr>
          <a:xfrm>
            <a:off x="2423160" y="23460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@6 Outline 6"/>
          <p:cNvSpPr/>
          <p:nvPr/>
        </p:nvSpPr>
        <p:spPr>
          <a:xfrm>
            <a:off x="600011" y="3126185"/>
            <a:ext cx="765133" cy="139492"/>
          </a:xfrm>
          <a:prstGeom prst="roundRect">
            <a:avLst>
              <a:gd name="adj" fmla="val 19666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6 Badge 6"/>
          <p:cNvSpPr/>
          <p:nvPr/>
        </p:nvSpPr>
        <p:spPr>
          <a:xfrm>
            <a:off x="1615288" y="3077059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6 addText"/>
          <p:cNvSpPr txBox="1"/>
          <p:nvPr/>
        </p:nvSpPr>
        <p:spPr>
          <a:xfrm>
            <a:off x="1615288" y="307705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@7 Outline 7"/>
          <p:cNvSpPr/>
          <p:nvPr/>
        </p:nvSpPr>
        <p:spPr>
          <a:xfrm>
            <a:off x="593235" y="3819622"/>
            <a:ext cx="529026" cy="261212"/>
          </a:xfrm>
          <a:prstGeom prst="roundRect">
            <a:avLst>
              <a:gd name="adj" fmla="val 10502"/>
            </a:avLst>
          </a:prstGeom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7 Badge 7"/>
          <p:cNvSpPr/>
          <p:nvPr/>
        </p:nvSpPr>
        <p:spPr>
          <a:xfrm>
            <a:off x="1458925" y="3831189"/>
            <a:ext cx="237744" cy="237744"/>
          </a:xfrm>
          <a:prstGeom prst="ellipse">
            <a:avLst/>
          </a:prstGeom>
          <a:solidFill>
            <a:srgbClr val="002D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@7 addText"/>
          <p:cNvSpPr txBox="1"/>
          <p:nvPr/>
        </p:nvSpPr>
        <p:spPr>
          <a:xfrm>
            <a:off x="1458925" y="383118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@1 Key number 1"/>
          <p:cNvSpPr/>
          <p:nvPr/>
        </p:nvSpPr>
        <p:spPr>
          <a:xfrm>
            <a:off x="6172200" y="12252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1 addText"/>
          <p:cNvSpPr txBox="1"/>
          <p:nvPr/>
        </p:nvSpPr>
        <p:spPr>
          <a:xfrm>
            <a:off x="617220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@1 addText"/>
          <p:cNvSpPr txBox="1"/>
          <p:nvPr/>
        </p:nvSpPr>
        <p:spPr>
          <a:xfrm>
            <a:off x="662940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800" dirty="0"/>
          </a:p>
        </p:txBody>
      </p:sp>
      <p:sp>
        <p:nvSpPr>
          <p:cNvPr id="30" name="@2 Key number 2"/>
          <p:cNvSpPr/>
          <p:nvPr/>
        </p:nvSpPr>
        <p:spPr>
          <a:xfrm>
            <a:off x="6172200" y="16824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@2 addText"/>
          <p:cNvSpPr txBox="1"/>
          <p:nvPr/>
        </p:nvSpPr>
        <p:spPr>
          <a:xfrm>
            <a:off x="6172200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@2 addText"/>
          <p:cNvSpPr txBox="1"/>
          <p:nvPr/>
        </p:nvSpPr>
        <p:spPr>
          <a:xfrm>
            <a:off x="662940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800" dirty="0"/>
          </a:p>
        </p:txBody>
      </p:sp>
      <p:sp>
        <p:nvSpPr>
          <p:cNvPr id="33" name="@3 Key number 3"/>
          <p:cNvSpPr/>
          <p:nvPr/>
        </p:nvSpPr>
        <p:spPr>
          <a:xfrm>
            <a:off x="6172200" y="21396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@3 addText"/>
          <p:cNvSpPr txBox="1"/>
          <p:nvPr/>
        </p:nvSpPr>
        <p:spPr>
          <a:xfrm>
            <a:off x="61722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@3 addText"/>
          <p:cNvSpPr txBox="1"/>
          <p:nvPr/>
        </p:nvSpPr>
        <p:spPr>
          <a:xfrm>
            <a:off x="6629400" y="2103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</a:t>
            </a:r>
            <a:endParaRPr lang="en-US" sz="1800" dirty="0"/>
          </a:p>
        </p:txBody>
      </p:sp>
      <p:sp>
        <p:nvSpPr>
          <p:cNvPr id="36" name="@4 Key number 4"/>
          <p:cNvSpPr/>
          <p:nvPr/>
        </p:nvSpPr>
        <p:spPr>
          <a:xfrm>
            <a:off x="6172200" y="25968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@4 addText"/>
          <p:cNvSpPr txBox="1"/>
          <p:nvPr/>
        </p:nvSpPr>
        <p:spPr>
          <a:xfrm>
            <a:off x="617220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@4 addText"/>
          <p:cNvSpPr txBox="1"/>
          <p:nvPr/>
        </p:nvSpPr>
        <p:spPr>
          <a:xfrm>
            <a:off x="662940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Bcc</a:t>
            </a:r>
            <a:endParaRPr lang="en-US" sz="1800" dirty="0"/>
          </a:p>
        </p:txBody>
      </p:sp>
      <p:sp>
        <p:nvSpPr>
          <p:cNvPr id="39" name="@5 Key number 5"/>
          <p:cNvSpPr/>
          <p:nvPr/>
        </p:nvSpPr>
        <p:spPr>
          <a:xfrm>
            <a:off x="6172200" y="30540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@5 addText"/>
          <p:cNvSpPr txBox="1"/>
          <p:nvPr/>
        </p:nvSpPr>
        <p:spPr>
          <a:xfrm>
            <a:off x="617220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@5 addText"/>
          <p:cNvSpPr txBox="1"/>
          <p:nvPr/>
        </p:nvSpPr>
        <p:spPr>
          <a:xfrm>
            <a:off x="662940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800" dirty="0"/>
          </a:p>
        </p:txBody>
      </p:sp>
      <p:sp>
        <p:nvSpPr>
          <p:cNvPr id="42" name="@6 Key number 6"/>
          <p:cNvSpPr/>
          <p:nvPr/>
        </p:nvSpPr>
        <p:spPr>
          <a:xfrm>
            <a:off x="6172200" y="35112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@6 addText"/>
          <p:cNvSpPr txBox="1"/>
          <p:nvPr/>
        </p:nvSpPr>
        <p:spPr>
          <a:xfrm>
            <a:off x="6172200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@6 addText"/>
          <p:cNvSpPr txBox="1"/>
          <p:nvPr/>
        </p:nvSpPr>
        <p:spPr>
          <a:xfrm>
            <a:off x="662940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1800" dirty="0"/>
          </a:p>
        </p:txBody>
      </p:sp>
      <p:sp>
        <p:nvSpPr>
          <p:cNvPr id="45" name="@7 Key number 7"/>
          <p:cNvSpPr/>
          <p:nvPr/>
        </p:nvSpPr>
        <p:spPr>
          <a:xfrm>
            <a:off x="6172200" y="3968496"/>
            <a:ext cx="310896" cy="310896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@7 addText"/>
          <p:cNvSpPr txBox="1"/>
          <p:nvPr/>
        </p:nvSpPr>
        <p:spPr>
          <a:xfrm>
            <a:off x="61722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@7 addText"/>
          <p:cNvSpPr txBox="1"/>
          <p:nvPr/>
        </p:nvSpPr>
        <p:spPr>
          <a:xfrm>
            <a:off x="6629400" y="3931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8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Emails (Part B)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430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200" dirty="0"/>
          </a:p>
        </p:txBody>
      </p:sp>
      <p:sp>
        <p:nvSpPr>
          <p:cNvPr id="7" name="@1 addText"/>
          <p:cNvSpPr txBox="1"/>
          <p:nvPr/>
        </p:nvSpPr>
        <p:spPr>
          <a:xfrm>
            <a:off x="68580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all emails with a greeting</a:t>
            </a:r>
            <a:endParaRPr lang="en-US" sz="1500" dirty="0"/>
          </a:p>
        </p:txBody>
      </p:sp>
      <p:sp>
        <p:nvSpPr>
          <p:cNvPr id="8" name="@2 addText"/>
          <p:cNvSpPr txBox="1"/>
          <p:nvPr/>
        </p:nvSpPr>
        <p:spPr>
          <a:xfrm>
            <a:off x="685800" y="23042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clear subject line</a:t>
            </a:r>
            <a:endParaRPr lang="en-US" sz="1500" dirty="0"/>
          </a:p>
        </p:txBody>
      </p:sp>
      <p:sp>
        <p:nvSpPr>
          <p:cNvPr id="9" name="@3 addText"/>
          <p:cNvSpPr txBox="1"/>
          <p:nvPr/>
        </p:nvSpPr>
        <p:spPr>
          <a:xfrm>
            <a:off x="685800" y="28254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off with your name</a:t>
            </a:r>
            <a:endParaRPr lang="en-US" sz="1500" dirty="0"/>
          </a:p>
        </p:txBody>
      </p:sp>
      <p:sp>
        <p:nvSpPr>
          <p:cNvPr id="10" name="@4 addText"/>
          <p:cNvSpPr txBox="1"/>
          <p:nvPr/>
        </p:nvSpPr>
        <p:spPr>
          <a:xfrm>
            <a:off x="685800" y="33467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spelling before you send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8920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2200" dirty="0"/>
          </a:p>
        </p:txBody>
      </p:sp>
      <p:sp>
        <p:nvSpPr>
          <p:cNvPr id="13" name="@5 addText"/>
          <p:cNvSpPr txBox="1"/>
          <p:nvPr/>
        </p:nvSpPr>
        <p:spPr>
          <a:xfrm>
            <a:off x="489204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passwords or personal details</a:t>
            </a:r>
            <a:endParaRPr lang="en-US" sz="1500" dirty="0"/>
          </a:p>
        </p:txBody>
      </p:sp>
      <p:sp>
        <p:nvSpPr>
          <p:cNvPr id="14" name="@6 addText"/>
          <p:cNvSpPr txBox="1"/>
          <p:nvPr/>
        </p:nvSpPr>
        <p:spPr>
          <a:xfrm>
            <a:off x="4892040" y="23042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ALL CAPITALS or be rude</a:t>
            </a:r>
            <a:endParaRPr lang="en-US" sz="1500" dirty="0"/>
          </a:p>
        </p:txBody>
      </p:sp>
      <p:sp>
        <p:nvSpPr>
          <p:cNvPr id="15" name="@7 addText"/>
          <p:cNvSpPr txBox="1"/>
          <p:nvPr/>
        </p:nvSpPr>
        <p:spPr>
          <a:xfrm>
            <a:off x="4892040" y="28254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attachments or links from people you do not know</a:t>
            </a:r>
            <a:endParaRPr lang="en-US" sz="15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Mouse, Keyboard and Desktop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mouse, the keyboard, the desktop and a File Explorer window, then write what each part does.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  <p:pic>
        <p:nvPicPr>
          <p:cNvPr id="10" name="Image 2" descr="Key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296219"/>
            <a:ext cx="3566160" cy="143092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  <p:pic>
        <p:nvPicPr>
          <p:cNvPr id="11" name="Image 3" descr="Mou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260" y="2926080"/>
            <a:ext cx="1139800" cy="192024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  <p:pic>
        <p:nvPicPr>
          <p:cNvPr id="12" name="Image 4" descr="Deskt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057739"/>
            <a:ext cx="1920240" cy="1199721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4A: The Mouse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Labelled m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91" y="1051560"/>
            <a:ext cx="5742417" cy="3611880"/>
          </a:xfrm>
          <a:prstGeom prst="rect">
            <a:avLst/>
          </a:prstGeom>
        </p:spPr>
      </p:pic>
      <p:pic>
        <p:nvPicPr>
          <p:cNvPr id="6" name="@1 addImage" descr="Labelled mouse, lab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91" y="1051560"/>
            <a:ext cx="5742417" cy="3611880"/>
          </a:xfrm>
          <a:prstGeom prst="rect">
            <a:avLst/>
          </a:prstGeom>
        </p:spPr>
      </p:pic>
      <p:pic>
        <p:nvPicPr>
          <p:cNvPr id="7" name="@2 addImage" descr="Labelled mouse, lab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91" y="1051560"/>
            <a:ext cx="5742417" cy="3611880"/>
          </a:xfrm>
          <a:prstGeom prst="rect">
            <a:avLst/>
          </a:prstGeom>
        </p:spPr>
      </p:pic>
      <p:pic>
        <p:nvPicPr>
          <p:cNvPr id="8" name="@3 addImage" descr="Labelled mouse, label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0791" y="1051560"/>
            <a:ext cx="5742417" cy="3611880"/>
          </a:xfrm>
          <a:prstGeom prst="rect">
            <a:avLst/>
          </a:prstGeom>
        </p:spPr>
      </p:pic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4A: The Keyboard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Labelled key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pic>
        <p:nvPicPr>
          <p:cNvPr id="6" name="@1 addImage" descr="Labelled keyboard, lab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pic>
        <p:nvPicPr>
          <p:cNvPr id="7" name="@2 addImage" descr="Labelled keyboard, lab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pic>
        <p:nvPicPr>
          <p:cNvPr id="8" name="@3 addImage" descr="Labelled keyboard, label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pic>
        <p:nvPicPr>
          <p:cNvPr id="9" name="@4 addImage" descr="Labelled keyboard, label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pic>
        <p:nvPicPr>
          <p:cNvPr id="10" name="@5 addImage" descr="Labelled keyboard, label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688" y="1051560"/>
            <a:ext cx="8170624" cy="3611880"/>
          </a:xfrm>
          <a:prstGeom prst="rect">
            <a:avLst/>
          </a:prstGeom>
        </p:spPr>
      </p:pic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4B: The Desktop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Labelled desk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pic>
        <p:nvPicPr>
          <p:cNvPr id="6" name="@1 addImage" descr="Labelled desktop, lab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pic>
        <p:nvPicPr>
          <p:cNvPr id="7" name="@2 addImage" descr="Labelled desktop, lab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pic>
        <p:nvPicPr>
          <p:cNvPr id="8" name="@3 addImage" descr="Labelled desktop, label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pic>
        <p:nvPicPr>
          <p:cNvPr id="9" name="@4 addImage" descr="Labelled desktop, label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pic>
        <p:nvPicPr>
          <p:cNvPr id="10" name="@5 addImage" descr="Labelled desktop, label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5729" y="1051560"/>
            <a:ext cx="4932543" cy="3611880"/>
          </a:xfrm>
          <a:prstGeom prst="rect">
            <a:avLst/>
          </a:prstGeom>
        </p:spPr>
      </p:pic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4B: File Explorer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Labelled File Explorer wind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pic>
        <p:nvPicPr>
          <p:cNvPr id="6" name="@1 addImage" descr="Labelled File Explorer window, lab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pic>
        <p:nvPicPr>
          <p:cNvPr id="7" name="@2 addImage" descr="Labelled File Explorer window, lab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pic>
        <p:nvPicPr>
          <p:cNvPr id="8" name="@3 addImage" descr="Labelled File Explorer window, label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pic>
        <p:nvPicPr>
          <p:cNvPr id="9" name="@4 addImage" descr="Labelled File Explorer window, label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pic>
        <p:nvPicPr>
          <p:cNvPr id="10" name="@5 addImage" descr="Labelled File Explorer window, label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3857" y="1051560"/>
            <a:ext cx="6076286" cy="3611880"/>
          </a:xfrm>
          <a:prstGeom prst="rect">
            <a:avLst/>
          </a:prstGeom>
        </p:spPr>
      </p:pic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4C: Keys and mouse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Item"/>
          <p:cNvSpPr/>
          <p:nvPr/>
        </p:nvSpPr>
        <p:spPr>
          <a:xfrm>
            <a:off x="457200" y="1097280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66928" y="10972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key</a:t>
            </a:r>
            <a:endParaRPr lang="en-US" sz="1400" dirty="0"/>
          </a:p>
        </p:txBody>
      </p:sp>
      <p:sp>
        <p:nvSpPr>
          <p:cNvPr id="7" name="@1 Answer"/>
          <p:cNvSpPr/>
          <p:nvPr/>
        </p:nvSpPr>
        <p:spPr>
          <a:xfrm>
            <a:off x="2560320" y="1097280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670048" y="109728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Start menu, so you can find apps and files</a:t>
            </a:r>
            <a:endParaRPr lang="en-US" sz="1400" dirty="0"/>
          </a:p>
        </p:txBody>
      </p:sp>
      <p:sp>
        <p:nvSpPr>
          <p:cNvPr id="9" name="@2 Item"/>
          <p:cNvSpPr/>
          <p:nvPr/>
        </p:nvSpPr>
        <p:spPr>
          <a:xfrm>
            <a:off x="457200" y="1517904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66928" y="15179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key</a:t>
            </a:r>
            <a:endParaRPr lang="en-US" sz="1400" dirty="0"/>
          </a:p>
        </p:txBody>
      </p:sp>
      <p:sp>
        <p:nvSpPr>
          <p:cNvPr id="11" name="@2 Answer"/>
          <p:cNvSpPr/>
          <p:nvPr/>
        </p:nvSpPr>
        <p:spPr>
          <a:xfrm>
            <a:off x="2560320" y="1517904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670048" y="151790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with other keys to give commands, e.g. Ctrl + C to copy</a:t>
            </a:r>
            <a:endParaRPr lang="en-US" sz="1400" dirty="0"/>
          </a:p>
        </p:txBody>
      </p:sp>
      <p:sp>
        <p:nvSpPr>
          <p:cNvPr id="13" name="@3 Item"/>
          <p:cNvSpPr/>
          <p:nvPr/>
        </p:nvSpPr>
        <p:spPr>
          <a:xfrm>
            <a:off x="457200" y="1938528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66928" y="1938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key</a:t>
            </a:r>
            <a:endParaRPr lang="en-US" sz="1400" dirty="0"/>
          </a:p>
        </p:txBody>
      </p:sp>
      <p:sp>
        <p:nvSpPr>
          <p:cNvPr id="15" name="@3 Answer"/>
          <p:cNvSpPr/>
          <p:nvPr/>
        </p:nvSpPr>
        <p:spPr>
          <a:xfrm>
            <a:off x="2560320" y="1938528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670048" y="193852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with other keys for shortcuts, e.g. Alt + Tab to switch windows</a:t>
            </a:r>
            <a:endParaRPr lang="en-US" sz="1400" dirty="0"/>
          </a:p>
        </p:txBody>
      </p:sp>
      <p:sp>
        <p:nvSpPr>
          <p:cNvPr id="17" name="@4 Item"/>
          <p:cNvSpPr/>
          <p:nvPr/>
        </p:nvSpPr>
        <p:spPr>
          <a:xfrm>
            <a:off x="457200" y="2359152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566928" y="23591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key</a:t>
            </a:r>
            <a:endParaRPr lang="en-US" sz="1400" dirty="0"/>
          </a:p>
        </p:txBody>
      </p:sp>
      <p:sp>
        <p:nvSpPr>
          <p:cNvPr id="19" name="@4 Answer"/>
          <p:cNvSpPr/>
          <p:nvPr/>
        </p:nvSpPr>
        <p:spPr>
          <a:xfrm>
            <a:off x="2560320" y="2359152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2670048" y="235915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Cancels commands</a:t>
            </a:r>
            <a:endParaRPr lang="en-US" sz="1400" dirty="0"/>
          </a:p>
        </p:txBody>
      </p:sp>
      <p:sp>
        <p:nvSpPr>
          <p:cNvPr id="21" name="@5 Item"/>
          <p:cNvSpPr/>
          <p:nvPr/>
        </p:nvSpPr>
        <p:spPr>
          <a:xfrm>
            <a:off x="457200" y="2779776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5 addText"/>
          <p:cNvSpPr txBox="1"/>
          <p:nvPr/>
        </p:nvSpPr>
        <p:spPr>
          <a:xfrm>
            <a:off x="566928" y="27797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Lock key</a:t>
            </a:r>
            <a:endParaRPr lang="en-US" sz="1400" dirty="0"/>
          </a:p>
        </p:txBody>
      </p:sp>
      <p:sp>
        <p:nvSpPr>
          <p:cNvPr id="23" name="@5 Answer"/>
          <p:cNvSpPr/>
          <p:nvPr/>
        </p:nvSpPr>
        <p:spPr>
          <a:xfrm>
            <a:off x="2560320" y="2779776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5 addText"/>
          <p:cNvSpPr txBox="1"/>
          <p:nvPr/>
        </p:nvSpPr>
        <p:spPr>
          <a:xfrm>
            <a:off x="2670048" y="27797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all letters in capitals</a:t>
            </a:r>
            <a:endParaRPr lang="en-US" sz="1400" dirty="0"/>
          </a:p>
        </p:txBody>
      </p:sp>
      <p:sp>
        <p:nvSpPr>
          <p:cNvPr id="25" name="@6 Item"/>
          <p:cNvSpPr/>
          <p:nvPr/>
        </p:nvSpPr>
        <p:spPr>
          <a:xfrm>
            <a:off x="457200" y="3200400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@6 addText"/>
          <p:cNvSpPr txBox="1"/>
          <p:nvPr/>
        </p:nvSpPr>
        <p:spPr>
          <a:xfrm>
            <a:off x="566928" y="32004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click</a:t>
            </a:r>
            <a:endParaRPr lang="en-US" sz="1400" dirty="0"/>
          </a:p>
        </p:txBody>
      </p:sp>
      <p:sp>
        <p:nvSpPr>
          <p:cNvPr id="27" name="@6 Answer"/>
          <p:cNvSpPr/>
          <p:nvPr/>
        </p:nvSpPr>
        <p:spPr>
          <a:xfrm>
            <a:off x="2560320" y="3200400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6 addText"/>
          <p:cNvSpPr txBox="1"/>
          <p:nvPr/>
        </p:nvSpPr>
        <p:spPr>
          <a:xfrm>
            <a:off x="2670048" y="320040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something, or opens it with a double click</a:t>
            </a:r>
            <a:endParaRPr lang="en-US" sz="1400" dirty="0"/>
          </a:p>
        </p:txBody>
      </p:sp>
      <p:sp>
        <p:nvSpPr>
          <p:cNvPr id="29" name="@7 Item"/>
          <p:cNvSpPr/>
          <p:nvPr/>
        </p:nvSpPr>
        <p:spPr>
          <a:xfrm>
            <a:off x="457200" y="3621024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7 addText"/>
          <p:cNvSpPr txBox="1"/>
          <p:nvPr/>
        </p:nvSpPr>
        <p:spPr>
          <a:xfrm>
            <a:off x="566928" y="36210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click</a:t>
            </a:r>
            <a:endParaRPr lang="en-US" sz="1400" dirty="0"/>
          </a:p>
        </p:txBody>
      </p:sp>
      <p:sp>
        <p:nvSpPr>
          <p:cNvPr id="31" name="@7 Answer"/>
          <p:cNvSpPr/>
          <p:nvPr/>
        </p:nvSpPr>
        <p:spPr>
          <a:xfrm>
            <a:off x="2560320" y="3621024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@7 addText"/>
          <p:cNvSpPr txBox="1"/>
          <p:nvPr/>
        </p:nvSpPr>
        <p:spPr>
          <a:xfrm>
            <a:off x="2670048" y="362102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menu of options</a:t>
            </a:r>
            <a:endParaRPr lang="en-US" sz="1400" dirty="0"/>
          </a:p>
        </p:txBody>
      </p:sp>
      <p:sp>
        <p:nvSpPr>
          <p:cNvPr id="33" name="@8 Item"/>
          <p:cNvSpPr/>
          <p:nvPr/>
        </p:nvSpPr>
        <p:spPr>
          <a:xfrm>
            <a:off x="457200" y="4041648"/>
            <a:ext cx="210312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@8 addText"/>
          <p:cNvSpPr txBox="1"/>
          <p:nvPr/>
        </p:nvSpPr>
        <p:spPr>
          <a:xfrm>
            <a:off x="566928" y="40416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wheel</a:t>
            </a:r>
            <a:endParaRPr lang="en-US" sz="1400" dirty="0"/>
          </a:p>
        </p:txBody>
      </p:sp>
      <p:sp>
        <p:nvSpPr>
          <p:cNvPr id="35" name="@8 Answer"/>
          <p:cNvSpPr/>
          <p:nvPr/>
        </p:nvSpPr>
        <p:spPr>
          <a:xfrm>
            <a:off x="2560320" y="4041648"/>
            <a:ext cx="6126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8 addText"/>
          <p:cNvSpPr txBox="1"/>
          <p:nvPr/>
        </p:nvSpPr>
        <p:spPr>
          <a:xfrm>
            <a:off x="2670048" y="404164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Scrolls up and down a page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4D: Desktop and Explorer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Item"/>
          <p:cNvSpPr/>
          <p:nvPr/>
        </p:nvSpPr>
        <p:spPr>
          <a:xfrm>
            <a:off x="457200" y="1097280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566928" y="1097280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</a:t>
            </a:r>
            <a:endParaRPr lang="en-US" sz="1400" dirty="0"/>
          </a:p>
        </p:txBody>
      </p:sp>
      <p:sp>
        <p:nvSpPr>
          <p:cNvPr id="7" name="@1 Answer"/>
          <p:cNvSpPr/>
          <p:nvPr/>
        </p:nvSpPr>
        <p:spPr>
          <a:xfrm>
            <a:off x="2560320" y="1097280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2670048" y="1097280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Start menu, so you can find apps and files</a:t>
            </a:r>
            <a:endParaRPr lang="en-US" sz="1400" dirty="0"/>
          </a:p>
        </p:txBody>
      </p:sp>
      <p:sp>
        <p:nvSpPr>
          <p:cNvPr id="9" name="@2 Item"/>
          <p:cNvSpPr/>
          <p:nvPr/>
        </p:nvSpPr>
        <p:spPr>
          <a:xfrm>
            <a:off x="457200" y="1449324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addText"/>
          <p:cNvSpPr txBox="1"/>
          <p:nvPr/>
        </p:nvSpPr>
        <p:spPr>
          <a:xfrm>
            <a:off x="566928" y="1449324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Taskbar</a:t>
            </a:r>
            <a:endParaRPr lang="en-US" sz="1400" dirty="0"/>
          </a:p>
        </p:txBody>
      </p:sp>
      <p:sp>
        <p:nvSpPr>
          <p:cNvPr id="11" name="@2 Answer"/>
          <p:cNvSpPr/>
          <p:nvPr/>
        </p:nvSpPr>
        <p:spPr>
          <a:xfrm>
            <a:off x="2560320" y="1449324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2670048" y="1449324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open apps and shortcuts along the bottom</a:t>
            </a:r>
            <a:endParaRPr lang="en-US" sz="1400" dirty="0"/>
          </a:p>
        </p:txBody>
      </p:sp>
      <p:sp>
        <p:nvSpPr>
          <p:cNvPr id="13" name="@3 Item"/>
          <p:cNvSpPr/>
          <p:nvPr/>
        </p:nvSpPr>
        <p:spPr>
          <a:xfrm>
            <a:off x="457200" y="1801368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566928" y="1801368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icon</a:t>
            </a:r>
            <a:endParaRPr lang="en-US" sz="1400" dirty="0"/>
          </a:p>
        </p:txBody>
      </p:sp>
      <p:sp>
        <p:nvSpPr>
          <p:cNvPr id="15" name="@3 Answer"/>
          <p:cNvSpPr/>
          <p:nvPr/>
        </p:nvSpPr>
        <p:spPr>
          <a:xfrm>
            <a:off x="2560320" y="1801368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2670048" y="1801368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shortcut that opens a program or file</a:t>
            </a:r>
            <a:endParaRPr lang="en-US" sz="1400" dirty="0"/>
          </a:p>
        </p:txBody>
      </p:sp>
      <p:sp>
        <p:nvSpPr>
          <p:cNvPr id="17" name="@4 Item"/>
          <p:cNvSpPr/>
          <p:nvPr/>
        </p:nvSpPr>
        <p:spPr>
          <a:xfrm>
            <a:off x="457200" y="2153412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4 addText"/>
          <p:cNvSpPr txBox="1"/>
          <p:nvPr/>
        </p:nvSpPr>
        <p:spPr>
          <a:xfrm>
            <a:off x="566928" y="2153412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9" name="@4 Answer"/>
          <p:cNvSpPr/>
          <p:nvPr/>
        </p:nvSpPr>
        <p:spPr>
          <a:xfrm>
            <a:off x="2560320" y="2153412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2670048" y="2153412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picture behind your icons</a:t>
            </a:r>
            <a:endParaRPr lang="en-US" sz="1400" dirty="0"/>
          </a:p>
        </p:txBody>
      </p:sp>
      <p:sp>
        <p:nvSpPr>
          <p:cNvPr id="21" name="@5 Item"/>
          <p:cNvSpPr/>
          <p:nvPr/>
        </p:nvSpPr>
        <p:spPr>
          <a:xfrm>
            <a:off x="457200" y="2505456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5 addText"/>
          <p:cNvSpPr txBox="1"/>
          <p:nvPr/>
        </p:nvSpPr>
        <p:spPr>
          <a:xfrm>
            <a:off x="566928" y="2505456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</a:t>
            </a:r>
            <a:endParaRPr lang="en-US" sz="1400" dirty="0"/>
          </a:p>
        </p:txBody>
      </p:sp>
      <p:sp>
        <p:nvSpPr>
          <p:cNvPr id="23" name="@5 Answer"/>
          <p:cNvSpPr/>
          <p:nvPr/>
        </p:nvSpPr>
        <p:spPr>
          <a:xfrm>
            <a:off x="2560320" y="2505456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5 addText"/>
          <p:cNvSpPr txBox="1"/>
          <p:nvPr/>
        </p:nvSpPr>
        <p:spPr>
          <a:xfrm>
            <a:off x="2670048" y="2505456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time and date</a:t>
            </a:r>
            <a:endParaRPr lang="en-US" sz="1400" dirty="0"/>
          </a:p>
        </p:txBody>
      </p:sp>
      <p:sp>
        <p:nvSpPr>
          <p:cNvPr id="25" name="@6 Item"/>
          <p:cNvSpPr/>
          <p:nvPr/>
        </p:nvSpPr>
        <p:spPr>
          <a:xfrm>
            <a:off x="457200" y="2857500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@6 addText"/>
          <p:cNvSpPr txBox="1"/>
          <p:nvPr/>
        </p:nvSpPr>
        <p:spPr>
          <a:xfrm>
            <a:off x="566928" y="2857500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bar</a:t>
            </a:r>
            <a:endParaRPr lang="en-US" sz="1400" dirty="0"/>
          </a:p>
        </p:txBody>
      </p:sp>
      <p:sp>
        <p:nvSpPr>
          <p:cNvPr id="27" name="@6 Answer"/>
          <p:cNvSpPr/>
          <p:nvPr/>
        </p:nvSpPr>
        <p:spPr>
          <a:xfrm>
            <a:off x="2560320" y="2857500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6 addText"/>
          <p:cNvSpPr txBox="1"/>
          <p:nvPr/>
        </p:nvSpPr>
        <p:spPr>
          <a:xfrm>
            <a:off x="2670048" y="2857500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which folder you are in</a:t>
            </a:r>
            <a:endParaRPr lang="en-US" sz="1400" dirty="0"/>
          </a:p>
        </p:txBody>
      </p:sp>
      <p:sp>
        <p:nvSpPr>
          <p:cNvPr id="29" name="@7 Item"/>
          <p:cNvSpPr/>
          <p:nvPr/>
        </p:nvSpPr>
        <p:spPr>
          <a:xfrm>
            <a:off x="457200" y="3209544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7 addText"/>
          <p:cNvSpPr txBox="1"/>
          <p:nvPr/>
        </p:nvSpPr>
        <p:spPr>
          <a:xfrm>
            <a:off x="566928" y="3209544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Ribbon</a:t>
            </a:r>
            <a:endParaRPr lang="en-US" sz="1400" dirty="0"/>
          </a:p>
        </p:txBody>
      </p:sp>
      <p:sp>
        <p:nvSpPr>
          <p:cNvPr id="31" name="@7 Answer"/>
          <p:cNvSpPr/>
          <p:nvPr/>
        </p:nvSpPr>
        <p:spPr>
          <a:xfrm>
            <a:off x="2560320" y="3209544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@7 addText"/>
          <p:cNvSpPr txBox="1"/>
          <p:nvPr/>
        </p:nvSpPr>
        <p:spPr>
          <a:xfrm>
            <a:off x="2670048" y="3209544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for actions such as copy, sort and view</a:t>
            </a:r>
            <a:endParaRPr lang="en-US" sz="1400" dirty="0"/>
          </a:p>
        </p:txBody>
      </p:sp>
      <p:sp>
        <p:nvSpPr>
          <p:cNvPr id="33" name="@8 Item"/>
          <p:cNvSpPr/>
          <p:nvPr/>
        </p:nvSpPr>
        <p:spPr>
          <a:xfrm>
            <a:off x="457200" y="3561588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@8 addText"/>
          <p:cNvSpPr txBox="1"/>
          <p:nvPr/>
        </p:nvSpPr>
        <p:spPr>
          <a:xfrm>
            <a:off x="566928" y="3561588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pane</a:t>
            </a:r>
            <a:endParaRPr lang="en-US" sz="1400" dirty="0"/>
          </a:p>
        </p:txBody>
      </p:sp>
      <p:sp>
        <p:nvSpPr>
          <p:cNvPr id="35" name="@8 Answer"/>
          <p:cNvSpPr/>
          <p:nvPr/>
        </p:nvSpPr>
        <p:spPr>
          <a:xfrm>
            <a:off x="2560320" y="3561588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8 addText"/>
          <p:cNvSpPr txBox="1"/>
          <p:nvPr/>
        </p:nvSpPr>
        <p:spPr>
          <a:xfrm>
            <a:off x="2670048" y="3561588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 to folders and drives</a:t>
            </a:r>
            <a:endParaRPr lang="en-US" sz="1400" dirty="0"/>
          </a:p>
        </p:txBody>
      </p:sp>
      <p:sp>
        <p:nvSpPr>
          <p:cNvPr id="37" name="@9 Item"/>
          <p:cNvSpPr/>
          <p:nvPr/>
        </p:nvSpPr>
        <p:spPr>
          <a:xfrm>
            <a:off x="457200" y="3913632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@9 addText"/>
          <p:cNvSpPr txBox="1"/>
          <p:nvPr/>
        </p:nvSpPr>
        <p:spPr>
          <a:xfrm>
            <a:off x="566928" y="3913632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box</a:t>
            </a:r>
            <a:endParaRPr lang="en-US" sz="1400" dirty="0"/>
          </a:p>
        </p:txBody>
      </p:sp>
      <p:sp>
        <p:nvSpPr>
          <p:cNvPr id="39" name="@9 Answer"/>
          <p:cNvSpPr/>
          <p:nvPr/>
        </p:nvSpPr>
        <p:spPr>
          <a:xfrm>
            <a:off x="2560320" y="3913632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@9 addText"/>
          <p:cNvSpPr txBox="1"/>
          <p:nvPr/>
        </p:nvSpPr>
        <p:spPr>
          <a:xfrm>
            <a:off x="2670048" y="3913632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files and folders</a:t>
            </a:r>
            <a:endParaRPr lang="en-US" sz="1400" dirty="0"/>
          </a:p>
        </p:txBody>
      </p:sp>
      <p:sp>
        <p:nvSpPr>
          <p:cNvPr id="41" name="@10 Item"/>
          <p:cNvSpPr/>
          <p:nvPr/>
        </p:nvSpPr>
        <p:spPr>
          <a:xfrm>
            <a:off x="457200" y="4265676"/>
            <a:ext cx="2103120" cy="352044"/>
          </a:xfrm>
          <a:prstGeom prst="rect">
            <a:avLst/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@10 addText"/>
          <p:cNvSpPr txBox="1"/>
          <p:nvPr/>
        </p:nvSpPr>
        <p:spPr>
          <a:xfrm>
            <a:off x="566928" y="4265676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button</a:t>
            </a:r>
            <a:endParaRPr lang="en-US" sz="1400" dirty="0"/>
          </a:p>
        </p:txBody>
      </p:sp>
      <p:sp>
        <p:nvSpPr>
          <p:cNvPr id="43" name="@10 Answer"/>
          <p:cNvSpPr/>
          <p:nvPr/>
        </p:nvSpPr>
        <p:spPr>
          <a:xfrm>
            <a:off x="2560320" y="4265676"/>
            <a:ext cx="6126480" cy="3520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@10 addText"/>
          <p:cNvSpPr txBox="1"/>
          <p:nvPr/>
        </p:nvSpPr>
        <p:spPr>
          <a:xfrm>
            <a:off x="2670048" y="4265676"/>
            <a:ext cx="5943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window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File, Folders and Desktop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ten words in the word search. DESKTOP is done for you.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  <p:pic>
        <p:nvPicPr>
          <p:cNvPr id="10" name="Image 2" descr="School desk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400573"/>
            <a:ext cx="3566160" cy="2228054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5: File, Folders and Desktop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Answer word sear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566160" cy="344728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@1 Found DESKTOP"/>
          <p:cNvSpPr/>
          <p:nvPr/>
        </p:nvSpPr>
        <p:spPr>
          <a:xfrm>
            <a:off x="470916" y="1124712"/>
            <a:ext cx="189280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Word chip DESKTOP"/>
          <p:cNvSpPr/>
          <p:nvPr/>
        </p:nvSpPr>
        <p:spPr>
          <a:xfrm>
            <a:off x="4480560" y="13258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61772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400" dirty="0"/>
          </a:p>
        </p:txBody>
      </p:sp>
      <p:sp>
        <p:nvSpPr>
          <p:cNvPr id="9" name="@2 Found TASKBAR"/>
          <p:cNvSpPr/>
          <p:nvPr/>
        </p:nvSpPr>
        <p:spPr>
          <a:xfrm>
            <a:off x="1842516" y="4306824"/>
            <a:ext cx="189280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2 Word chip TASKBAR"/>
          <p:cNvSpPr/>
          <p:nvPr/>
        </p:nvSpPr>
        <p:spPr>
          <a:xfrm>
            <a:off x="4480560" y="189280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2 addText"/>
          <p:cNvSpPr txBox="1"/>
          <p:nvPr/>
        </p:nvSpPr>
        <p:spPr>
          <a:xfrm>
            <a:off x="4617720" y="1892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TASKBAR</a:t>
            </a:r>
            <a:endParaRPr lang="en-US" sz="1400" dirty="0"/>
          </a:p>
        </p:txBody>
      </p:sp>
      <p:sp>
        <p:nvSpPr>
          <p:cNvPr id="12" name="@3 Found RIBBON"/>
          <p:cNvSpPr/>
          <p:nvPr/>
        </p:nvSpPr>
        <p:spPr>
          <a:xfrm>
            <a:off x="745236" y="1389888"/>
            <a:ext cx="161848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3 Word chip RIBBON"/>
          <p:cNvSpPr/>
          <p:nvPr/>
        </p:nvSpPr>
        <p:spPr>
          <a:xfrm>
            <a:off x="4480560" y="2459736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3 addText"/>
          <p:cNvSpPr txBox="1"/>
          <p:nvPr/>
        </p:nvSpPr>
        <p:spPr>
          <a:xfrm>
            <a:off x="4617720" y="2459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RIBBON</a:t>
            </a:r>
            <a:endParaRPr lang="en-US" sz="1400" dirty="0"/>
          </a:p>
        </p:txBody>
      </p:sp>
      <p:sp>
        <p:nvSpPr>
          <p:cNvPr id="15" name="@4 Found EXPLORER"/>
          <p:cNvSpPr/>
          <p:nvPr/>
        </p:nvSpPr>
        <p:spPr>
          <a:xfrm rot="5400000">
            <a:off x="2560320" y="2848356"/>
            <a:ext cx="2103120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4 Word chip EXPLORER"/>
          <p:cNvSpPr/>
          <p:nvPr/>
        </p:nvSpPr>
        <p:spPr>
          <a:xfrm>
            <a:off x="4480560" y="3026664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4 addText"/>
          <p:cNvSpPr txBox="1"/>
          <p:nvPr/>
        </p:nvSpPr>
        <p:spPr>
          <a:xfrm>
            <a:off x="4617720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400" dirty="0"/>
          </a:p>
        </p:txBody>
      </p:sp>
      <p:sp>
        <p:nvSpPr>
          <p:cNvPr id="18" name="@5 Found FOLDER"/>
          <p:cNvSpPr/>
          <p:nvPr/>
        </p:nvSpPr>
        <p:spPr>
          <a:xfrm rot="2641739">
            <a:off x="477196" y="3113532"/>
            <a:ext cx="215456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@5 Word chip FOLDER"/>
          <p:cNvSpPr/>
          <p:nvPr/>
        </p:nvSpPr>
        <p:spPr>
          <a:xfrm>
            <a:off x="4480560" y="3593592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5 addText"/>
          <p:cNvSpPr txBox="1"/>
          <p:nvPr/>
        </p:nvSpPr>
        <p:spPr>
          <a:xfrm>
            <a:off x="4617720" y="3593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</a:t>
            </a:r>
            <a:endParaRPr lang="en-US" sz="1400" dirty="0"/>
          </a:p>
        </p:txBody>
      </p:sp>
      <p:sp>
        <p:nvSpPr>
          <p:cNvPr id="21" name="@6 Found DOCUMENTS"/>
          <p:cNvSpPr/>
          <p:nvPr/>
        </p:nvSpPr>
        <p:spPr>
          <a:xfrm rot="5400000">
            <a:off x="1330452" y="3246120"/>
            <a:ext cx="2368296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6 Word chip DOCUMENTS"/>
          <p:cNvSpPr/>
          <p:nvPr/>
        </p:nvSpPr>
        <p:spPr>
          <a:xfrm>
            <a:off x="6629400" y="13258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6 addText"/>
          <p:cNvSpPr txBox="1"/>
          <p:nvPr/>
        </p:nvSpPr>
        <p:spPr>
          <a:xfrm>
            <a:off x="67665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24" name="@7 Found RESOURCES"/>
          <p:cNvSpPr/>
          <p:nvPr/>
        </p:nvSpPr>
        <p:spPr>
          <a:xfrm rot="2641739">
            <a:off x="1139332" y="2715768"/>
            <a:ext cx="3299177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7 Word chip RESOURCES"/>
          <p:cNvSpPr/>
          <p:nvPr/>
        </p:nvSpPr>
        <p:spPr>
          <a:xfrm>
            <a:off x="6629400" y="189280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@7 addText"/>
          <p:cNvSpPr txBox="1"/>
          <p:nvPr/>
        </p:nvSpPr>
        <p:spPr>
          <a:xfrm>
            <a:off x="6766560" y="1892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7" name="@8 Found USERNAME"/>
          <p:cNvSpPr/>
          <p:nvPr/>
        </p:nvSpPr>
        <p:spPr>
          <a:xfrm>
            <a:off x="1293876" y="3776472"/>
            <a:ext cx="216712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8 Word chip USERNAME"/>
          <p:cNvSpPr/>
          <p:nvPr/>
        </p:nvSpPr>
        <p:spPr>
          <a:xfrm>
            <a:off x="6629400" y="2459736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@8 addText"/>
          <p:cNvSpPr txBox="1"/>
          <p:nvPr/>
        </p:nvSpPr>
        <p:spPr>
          <a:xfrm>
            <a:off x="6766560" y="2459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400" dirty="0"/>
          </a:p>
        </p:txBody>
      </p:sp>
      <p:sp>
        <p:nvSpPr>
          <p:cNvPr id="30" name="@9 Found SAVEAS"/>
          <p:cNvSpPr/>
          <p:nvPr/>
        </p:nvSpPr>
        <p:spPr>
          <a:xfrm rot="2641739">
            <a:off x="1300156" y="3378708"/>
            <a:ext cx="215456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@9 Word chip SAVEAS"/>
          <p:cNvSpPr/>
          <p:nvPr/>
        </p:nvSpPr>
        <p:spPr>
          <a:xfrm>
            <a:off x="6629400" y="3026664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@9 addText"/>
          <p:cNvSpPr txBox="1"/>
          <p:nvPr/>
        </p:nvSpPr>
        <p:spPr>
          <a:xfrm>
            <a:off x="6766560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SAVEAS</a:t>
            </a:r>
            <a:endParaRPr lang="en-US" sz="1400" dirty="0"/>
          </a:p>
        </p:txBody>
      </p:sp>
      <p:sp>
        <p:nvSpPr>
          <p:cNvPr id="33" name="@10 Found OVERWRITE"/>
          <p:cNvSpPr/>
          <p:nvPr/>
        </p:nvSpPr>
        <p:spPr>
          <a:xfrm>
            <a:off x="1293876" y="1920240"/>
            <a:ext cx="2441448" cy="210312"/>
          </a:xfrm>
          <a:prstGeom prst="roundRect">
            <a:avLst>
              <a:gd name="adj" fmla="val 50000"/>
            </a:avLst>
          </a:prstGeom>
          <a:solidFill>
            <a:srgbClr val="5D79A0">
              <a:alpha val="50000"/>
            </a:srgbClr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@10 Word chip OVERWRITE"/>
          <p:cNvSpPr/>
          <p:nvPr/>
        </p:nvSpPr>
        <p:spPr>
          <a:xfrm>
            <a:off x="6629400" y="3593592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@10 addText"/>
          <p:cNvSpPr txBox="1"/>
          <p:nvPr/>
        </p:nvSpPr>
        <p:spPr>
          <a:xfrm>
            <a:off x="6766560" y="3593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OVERWRITE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48056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run across, down and diagonally.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1169</Words>
  <Application>Microsoft Macintosh PowerPoint</Application>
  <PresentationFormat>On-screen Show (16:9)</PresentationFormat>
  <Paragraphs>384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5-A-DAY: Knowledge Recall</vt:lpstr>
      <vt:lpstr>Y7 Digital Literacy &amp; E-Safety</vt:lpstr>
      <vt:lpstr>Guess the Password</vt:lpstr>
      <vt:lpstr>Task 1: Guess the Password</vt:lpstr>
      <vt:lpstr>Cyberbullying</vt:lpstr>
      <vt:lpstr>Task 2: Cyberbullying</vt:lpstr>
      <vt:lpstr>Emails</vt:lpstr>
      <vt:lpstr>Task 3: Emails (Part A)</vt:lpstr>
      <vt:lpstr>Task 3: Emails (Part B)</vt:lpstr>
      <vt:lpstr>Mouse, Keyboard and Desktop</vt:lpstr>
      <vt:lpstr>Task 4A: The Mouse</vt:lpstr>
      <vt:lpstr>Task 4A: The Keyboard</vt:lpstr>
      <vt:lpstr>Task 4B: The Desktop</vt:lpstr>
      <vt:lpstr>Task 4B: File Explorer</vt:lpstr>
      <vt:lpstr>Task 4C: Keys and mouse</vt:lpstr>
      <vt:lpstr>Task 4D: Desktop and Explorer</vt:lpstr>
      <vt:lpstr>File, Folders and Desktop</vt:lpstr>
      <vt:lpstr>Task 5: File, Folders and Desktop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Y7 Digital Literacy and E-Safety: Term 1 Recap</dc:title>
  <dc:subject>PptxGenJS Presentation</dc:subject>
  <dc:creator/>
  <cp:lastModifiedBy/>
  <cp:revision>2</cp:revision>
  <dcterms:created xsi:type="dcterms:W3CDTF">2026-10-12T10:09:29Z</dcterms:created>
  <dcterms:modified xsi:type="dcterms:W3CDTF">2026-10-12T10:35:04Z</dcterms:modified>
</cp:coreProperties>
</file>