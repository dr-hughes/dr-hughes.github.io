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57E325CA-D897-FB36-0709-8A42354A9E12}">
          <p14:sldIdLst>
            <p14:sldId id="256"/>
          </p14:sldIdLst>
        </p14:section>
        <p14:section name="Starter" id="{866F9F96-5CBF-090C-C6E6-7AAA2A6A51BA}">
          <p14:sldIdLst/>
        </p14:section>
        <p14:section name="Welcome" id="{6DCBBC1A-2293-3B1F-272C-88FADFB261CE}">
          <p14:sldIdLst>
            <p14:sldId id="257"/>
          </p14:sldIdLst>
        </p14:section>
        <p14:section name="Part A" id="{5B787A24-BCE4-76C9-3AE7-CA961ADC30EC}">
          <p14:sldIdLst>
            <p14:sldId id="258"/>
          </p14:sldIdLst>
        </p14:section>
        <p14:section name="Parts tour" id="{274B2A90-8F85-47FE-B37C-B10A99BA4E8A}">
          <p14:sldIdLst>
            <p14:sldId id="259"/>
            <p14:sldId id="260"/>
            <p14:sldId id="261"/>
          </p14:sldIdLst>
        </p14:section>
        <p14:section name="Check Part B" id="{9B4C85E4-60EF-451F-0E71-8C654730B7B7}">
          <p14:sldIdLst>
            <p14:sldId id="262"/>
            <p14:sldId id="263"/>
          </p14:sldIdLst>
        </p14:section>
        <p14:section name="Together" id="{FF4B6667-A800-5A11-B599-63B70A7927B9}">
          <p14:sldIdLst>
            <p14:sldId id="264"/>
            <p14:sldId id="265"/>
            <p14:sldId id="266"/>
            <p14:sldId id="267"/>
          </p14:sldIdLst>
        </p14:section>
        <p14:section name="Part E" id="{E42CDF8D-06A7-A44A-B807-3AD24E44E3A6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84" y="2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50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Inside the Computer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Inside the Computer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200" dirty="0"/>
          </a:p>
        </p:txBody>
      </p:sp>
      <p:sp>
        <p:nvSpPr>
          <p:cNvPr id="3" name="STARTER tag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variable?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location in which to store values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input() do?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user to enter data, which is stored in a variable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command shows a message on the screen?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2nd_score a valid variable name? Why?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 variable name cannot start with a number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"average price" in camel case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averagePrice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GCSE Computer Science  |  Systems Architecture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take a real computer apart.</a:t>
            </a:r>
            <a:endParaRPr lang="en-US" sz="1800" dirty="0"/>
          </a:p>
        </p:txBody>
      </p:sp>
      <p:sp>
        <p:nvSpPr>
          <p:cNvPr id="5" name="Chip icon circle"/>
          <p:cNvSpPr/>
          <p:nvPr/>
        </p:nvSpPr>
        <p:spPr>
          <a:xfrm>
            <a:off x="7040880" y="1097280"/>
            <a:ext cx="1463040" cy="146304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hi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1" y="1492301"/>
            <a:ext cx="672998" cy="672998"/>
          </a:xfrm>
          <a:prstGeom prst="rect">
            <a:avLst/>
          </a:prstGeom>
        </p:spPr>
      </p:pic>
      <p:sp>
        <p:nvSpPr>
          <p:cNvPr id="7" name="Memory icon circle"/>
          <p:cNvSpPr/>
          <p:nvPr/>
        </p:nvSpPr>
        <p:spPr>
          <a:xfrm>
            <a:off x="7818120" y="2697480"/>
            <a:ext cx="731520" cy="73152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Memor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630" y="2894990"/>
            <a:ext cx="336499" cy="336499"/>
          </a:xfrm>
          <a:prstGeom prst="rect">
            <a:avLst/>
          </a:prstGeom>
        </p:spPr>
      </p:pic>
      <p:sp>
        <p:nvSpPr>
          <p:cNvPr id="9" name="Storage icon circle"/>
          <p:cNvSpPr/>
          <p:nvPr/>
        </p:nvSpPr>
        <p:spPr>
          <a:xfrm>
            <a:off x="6583680" y="2880360"/>
            <a:ext cx="731520" cy="73152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2" descr="Storag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90" y="3077870"/>
            <a:ext cx="336499" cy="336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each part of a computer on the worksheet, 1 to 3. Write one thing you know. No talking.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tour</a:t>
            </a:r>
            <a:endParaRPr lang="en-US" sz="3200" dirty="0"/>
          </a:p>
        </p:txBody>
      </p:sp>
      <p:sp>
        <p:nvSpPr>
          <p:cNvPr id="3" name="WATCH tag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Motherboard circle"/>
          <p:cNvSpPr/>
          <p:nvPr/>
        </p:nvSpPr>
        <p:spPr>
          <a:xfrm>
            <a:off x="1097280" y="125272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@1 addImage" descr="Mother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02" y="1425550"/>
            <a:ext cx="294437" cy="294437"/>
          </a:xfrm>
          <a:prstGeom prst="rect">
            <a:avLst/>
          </a:prstGeom>
        </p:spPr>
      </p:pic>
      <p:sp>
        <p:nvSpPr>
          <p:cNvPr id="8" name="@1 addText"/>
          <p:cNvSpPr txBox="1"/>
          <p:nvPr/>
        </p:nvSpPr>
        <p:spPr>
          <a:xfrm>
            <a:off x="530352" y="19476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Motherboard</a:t>
            </a:r>
            <a:endParaRPr lang="en-US" sz="1400" dirty="0"/>
          </a:p>
        </p:txBody>
      </p:sp>
      <p:sp>
        <p:nvSpPr>
          <p:cNvPr id="9" name="@1 addText"/>
          <p:cNvSpPr txBox="1"/>
          <p:nvPr/>
        </p:nvSpPr>
        <p:spPr>
          <a:xfrm>
            <a:off x="566928" y="22402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plugs into it</a:t>
            </a:r>
            <a:endParaRPr lang="en-US" sz="1050" dirty="0"/>
          </a:p>
        </p:txBody>
      </p:sp>
      <p:sp>
        <p:nvSpPr>
          <p:cNvPr id="10" name="@2 Card"/>
          <p:cNvSpPr/>
          <p:nvPr/>
        </p:nvSpPr>
        <p:spPr>
          <a:xfrm>
            <a:off x="2542032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2 CPU circle"/>
          <p:cNvSpPr/>
          <p:nvPr/>
        </p:nvSpPr>
        <p:spPr>
          <a:xfrm>
            <a:off x="3182112" y="125272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@2 addImage" descr="CP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934" y="1425550"/>
            <a:ext cx="294437" cy="294437"/>
          </a:xfrm>
          <a:prstGeom prst="rect">
            <a:avLst/>
          </a:prstGeom>
        </p:spPr>
      </p:pic>
      <p:sp>
        <p:nvSpPr>
          <p:cNvPr id="13" name="@2 addText"/>
          <p:cNvSpPr txBox="1"/>
          <p:nvPr/>
        </p:nvSpPr>
        <p:spPr>
          <a:xfrm>
            <a:off x="2615184" y="19476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14" name="@2 addText"/>
          <p:cNvSpPr txBox="1"/>
          <p:nvPr/>
        </p:nvSpPr>
        <p:spPr>
          <a:xfrm>
            <a:off x="2651760" y="22402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brain: follows instructions</a:t>
            </a:r>
            <a:endParaRPr lang="en-US" sz="1050" dirty="0"/>
          </a:p>
        </p:txBody>
      </p:sp>
      <p:sp>
        <p:nvSpPr>
          <p:cNvPr id="15" name="@3 Card"/>
          <p:cNvSpPr/>
          <p:nvPr/>
        </p:nvSpPr>
        <p:spPr>
          <a:xfrm>
            <a:off x="4626864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RAM circle"/>
          <p:cNvSpPr/>
          <p:nvPr/>
        </p:nvSpPr>
        <p:spPr>
          <a:xfrm>
            <a:off x="5266944" y="125272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@3 addImage" descr="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766" y="1425550"/>
            <a:ext cx="294437" cy="294437"/>
          </a:xfrm>
          <a:prstGeom prst="rect">
            <a:avLst/>
          </a:prstGeom>
        </p:spPr>
      </p:pic>
      <p:sp>
        <p:nvSpPr>
          <p:cNvPr id="18" name="@3 addText"/>
          <p:cNvSpPr txBox="1"/>
          <p:nvPr/>
        </p:nvSpPr>
        <p:spPr>
          <a:xfrm>
            <a:off x="4700016" y="19476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400" dirty="0"/>
          </a:p>
        </p:txBody>
      </p:sp>
      <p:sp>
        <p:nvSpPr>
          <p:cNvPr id="19" name="@3 addText"/>
          <p:cNvSpPr txBox="1"/>
          <p:nvPr/>
        </p:nvSpPr>
        <p:spPr>
          <a:xfrm>
            <a:off x="4736592" y="22402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memory: what is in use now</a:t>
            </a:r>
            <a:endParaRPr lang="en-US" sz="1050" dirty="0"/>
          </a:p>
        </p:txBody>
      </p:sp>
      <p:sp>
        <p:nvSpPr>
          <p:cNvPr id="20" name="@4 Card"/>
          <p:cNvSpPr/>
          <p:nvPr/>
        </p:nvSpPr>
        <p:spPr>
          <a:xfrm>
            <a:off x="6711696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@4 Storage circle"/>
          <p:cNvSpPr/>
          <p:nvPr/>
        </p:nvSpPr>
        <p:spPr>
          <a:xfrm>
            <a:off x="7351776" y="125272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@4 addImage" descr="Stor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598" y="1425550"/>
            <a:ext cx="294437" cy="294437"/>
          </a:xfrm>
          <a:prstGeom prst="rect">
            <a:avLst/>
          </a:prstGeom>
        </p:spPr>
      </p:pic>
      <p:sp>
        <p:nvSpPr>
          <p:cNvPr id="23" name="@4 addText"/>
          <p:cNvSpPr txBox="1"/>
          <p:nvPr/>
        </p:nvSpPr>
        <p:spPr>
          <a:xfrm>
            <a:off x="6784848" y="19476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00" dirty="0"/>
          </a:p>
        </p:txBody>
      </p:sp>
      <p:sp>
        <p:nvSpPr>
          <p:cNvPr id="24" name="@4 addText"/>
          <p:cNvSpPr txBox="1"/>
          <p:nvPr/>
        </p:nvSpPr>
        <p:spPr>
          <a:xfrm>
            <a:off x="6821424" y="22402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memory: keeps files when off</a:t>
            </a:r>
            <a:endParaRPr lang="en-US" sz="1050" dirty="0"/>
          </a:p>
        </p:txBody>
      </p:sp>
      <p:sp>
        <p:nvSpPr>
          <p:cNvPr id="25" name="@5 Card"/>
          <p:cNvSpPr/>
          <p:nvPr/>
        </p:nvSpPr>
        <p:spPr>
          <a:xfrm>
            <a:off x="457200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@5 Power supply circle"/>
          <p:cNvSpPr/>
          <p:nvPr/>
        </p:nvSpPr>
        <p:spPr>
          <a:xfrm>
            <a:off x="1097280" y="303580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@5 addImage" descr="Power suppl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102" y="3208630"/>
            <a:ext cx="294437" cy="294437"/>
          </a:xfrm>
          <a:prstGeom prst="rect">
            <a:avLst/>
          </a:prstGeom>
        </p:spPr>
      </p:pic>
      <p:sp>
        <p:nvSpPr>
          <p:cNvPr id="28" name="@5 addText"/>
          <p:cNvSpPr txBox="1"/>
          <p:nvPr/>
        </p:nvSpPr>
        <p:spPr>
          <a:xfrm>
            <a:off x="530352" y="37307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supply</a:t>
            </a:r>
            <a:endParaRPr lang="en-US" sz="1400" dirty="0"/>
          </a:p>
        </p:txBody>
      </p:sp>
      <p:sp>
        <p:nvSpPr>
          <p:cNvPr id="29" name="@5 addText"/>
          <p:cNvSpPr txBox="1"/>
          <p:nvPr/>
        </p:nvSpPr>
        <p:spPr>
          <a:xfrm>
            <a:off x="566928" y="402336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mains electricity into power for the parts</a:t>
            </a:r>
            <a:endParaRPr lang="en-US" sz="1050" dirty="0"/>
          </a:p>
        </p:txBody>
      </p:sp>
      <p:sp>
        <p:nvSpPr>
          <p:cNvPr id="30" name="@6 Card"/>
          <p:cNvSpPr/>
          <p:nvPr/>
        </p:nvSpPr>
        <p:spPr>
          <a:xfrm>
            <a:off x="2542032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@6 Heat sink and fan circle"/>
          <p:cNvSpPr/>
          <p:nvPr/>
        </p:nvSpPr>
        <p:spPr>
          <a:xfrm>
            <a:off x="3182112" y="303580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@6 addImage" descr="Heat sink and fa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4934" y="3208630"/>
            <a:ext cx="294437" cy="294437"/>
          </a:xfrm>
          <a:prstGeom prst="rect">
            <a:avLst/>
          </a:prstGeom>
        </p:spPr>
      </p:pic>
      <p:sp>
        <p:nvSpPr>
          <p:cNvPr id="33" name="@6 addText"/>
          <p:cNvSpPr txBox="1"/>
          <p:nvPr/>
        </p:nvSpPr>
        <p:spPr>
          <a:xfrm>
            <a:off x="2615184" y="37307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sink and fan</a:t>
            </a:r>
            <a:endParaRPr lang="en-US" sz="1400" dirty="0"/>
          </a:p>
        </p:txBody>
      </p:sp>
      <p:sp>
        <p:nvSpPr>
          <p:cNvPr id="34" name="@6 addText"/>
          <p:cNvSpPr txBox="1"/>
          <p:nvPr/>
        </p:nvSpPr>
        <p:spPr>
          <a:xfrm>
            <a:off x="2651760" y="402336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CPU cool</a:t>
            </a:r>
            <a:endParaRPr lang="en-US" sz="1050" dirty="0"/>
          </a:p>
        </p:txBody>
      </p:sp>
      <p:sp>
        <p:nvSpPr>
          <p:cNvPr id="35" name="@7 Card"/>
          <p:cNvSpPr/>
          <p:nvPr/>
        </p:nvSpPr>
        <p:spPr>
          <a:xfrm>
            <a:off x="4626864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7 Graphics card circle"/>
          <p:cNvSpPr/>
          <p:nvPr/>
        </p:nvSpPr>
        <p:spPr>
          <a:xfrm>
            <a:off x="5266944" y="3035808"/>
            <a:ext cx="640080" cy="640080"/>
          </a:xfrm>
          <a:prstGeom prst="ellipse">
            <a:avLst/>
          </a:prstGeom>
          <a:solidFill>
            <a:srgbClr val="0B3D85"/>
          </a:solidFill>
          <a:ln w="12700">
            <a:solidFill>
              <a:srgbClr val="0B3D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7" name="@7 addImage" descr="Graphics car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9766" y="3208630"/>
            <a:ext cx="294437" cy="294437"/>
          </a:xfrm>
          <a:prstGeom prst="rect">
            <a:avLst/>
          </a:prstGeom>
        </p:spPr>
      </p:pic>
      <p:sp>
        <p:nvSpPr>
          <p:cNvPr id="38" name="@7 addText"/>
          <p:cNvSpPr txBox="1"/>
          <p:nvPr/>
        </p:nvSpPr>
        <p:spPr>
          <a:xfrm>
            <a:off x="4700016" y="373075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 card</a:t>
            </a:r>
            <a:endParaRPr lang="en-US" sz="1400" dirty="0"/>
          </a:p>
        </p:txBody>
      </p:sp>
      <p:sp>
        <p:nvSpPr>
          <p:cNvPr id="39" name="@7 addText"/>
          <p:cNvSpPr txBox="1"/>
          <p:nvPr/>
        </p:nvSpPr>
        <p:spPr>
          <a:xfrm>
            <a:off x="4736592" y="402336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pictures for the screen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B AND C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the worksheet.</a:t>
            </a:r>
            <a:br>
              <a:rPr lang="en-US" sz="3600" dirty="0"/>
            </a:b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at the table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ule number"/>
          <p:cNvSpPr/>
          <p:nvPr/>
        </p:nvSpPr>
        <p:spPr>
          <a:xfrm>
            <a:off x="640080" y="1645920"/>
            <a:ext cx="594360" cy="5943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by the edges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 and cards: edges only, with two hands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ule number"/>
          <p:cNvSpPr/>
          <p:nvPr/>
        </p:nvSpPr>
        <p:spPr>
          <a:xfrm>
            <a:off x="4846320" y="1645920"/>
            <a:ext cx="594360" cy="5943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 the gold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874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and contacts can be damaged by fingers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ule number"/>
          <p:cNvSpPr/>
          <p:nvPr/>
        </p:nvSpPr>
        <p:spPr>
          <a:xfrm>
            <a:off x="640080" y="3246120"/>
            <a:ext cx="594360" cy="5943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back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every part to the tray for the next group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ule number"/>
          <p:cNvSpPr/>
          <p:nvPr/>
        </p:nvSpPr>
        <p:spPr>
          <a:xfrm>
            <a:off x="4846320" y="3246120"/>
            <a:ext cx="594360" cy="5943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484632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your seat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on with your worksheet when you are done</a:t>
            </a:r>
            <a:endParaRPr lang="en-US" sz="14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Part B: the motherboard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pic>
        <p:nvPicPr>
          <p:cNvPr id="5" name="Image 0" descr="Desktop motherboard with the CPU remo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05840"/>
            <a:ext cx="2743200" cy="3657600"/>
          </a:xfrm>
          <a:prstGeom prst="rect">
            <a:avLst/>
          </a:prstGeom>
        </p:spPr>
      </p:pic>
      <p:sp>
        <p:nvSpPr>
          <p:cNvPr id="6" name="@1 CPU socket line"/>
          <p:cNvSpPr/>
          <p:nvPr/>
        </p:nvSpPr>
        <p:spPr>
          <a:xfrm flipV="1">
            <a:off x="4824374" y="2386584"/>
            <a:ext cx="1393546" cy="82296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Marker 1"/>
          <p:cNvSpPr/>
          <p:nvPr/>
        </p:nvSpPr>
        <p:spPr>
          <a:xfrm>
            <a:off x="4687214" y="2331720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687214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@1 CPU socket label"/>
          <p:cNvSpPr/>
          <p:nvPr/>
        </p:nvSpPr>
        <p:spPr>
          <a:xfrm>
            <a:off x="6217920" y="205740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1 addText"/>
          <p:cNvSpPr txBox="1"/>
          <p:nvPr/>
        </p:nvSpPr>
        <p:spPr>
          <a:xfrm>
            <a:off x="6309360" y="2057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CPU socket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CPU is fitted</a:t>
            </a:r>
            <a:endParaRPr lang="en-US" sz="1300" dirty="0"/>
          </a:p>
        </p:txBody>
      </p:sp>
      <p:sp>
        <p:nvSpPr>
          <p:cNvPr id="11" name="@2 RAM slots line"/>
          <p:cNvSpPr/>
          <p:nvPr/>
        </p:nvSpPr>
        <p:spPr>
          <a:xfrm flipV="1">
            <a:off x="5485486" y="1426464"/>
            <a:ext cx="732434" cy="724205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Marker 2"/>
          <p:cNvSpPr/>
          <p:nvPr/>
        </p:nvSpPr>
        <p:spPr>
          <a:xfrm>
            <a:off x="5348326" y="2013509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2 addText"/>
          <p:cNvSpPr txBox="1"/>
          <p:nvPr/>
        </p:nvSpPr>
        <p:spPr>
          <a:xfrm>
            <a:off x="5348326" y="20135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@2 RAM slots label"/>
          <p:cNvSpPr/>
          <p:nvPr/>
        </p:nvSpPr>
        <p:spPr>
          <a:xfrm>
            <a:off x="6217920" y="10972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@2 addText"/>
          <p:cNvSpPr txBox="1"/>
          <p:nvPr/>
        </p:nvSpPr>
        <p:spPr>
          <a:xfrm>
            <a:off x="6309360" y="1097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RAM slots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sticks go here</a:t>
            </a:r>
            <a:endParaRPr lang="en-US" sz="1300" dirty="0"/>
          </a:p>
        </p:txBody>
      </p:sp>
      <p:sp>
        <p:nvSpPr>
          <p:cNvPr id="16" name="@3 Graphics card slot line"/>
          <p:cNvSpPr/>
          <p:nvPr/>
        </p:nvSpPr>
        <p:spPr>
          <a:xfrm>
            <a:off x="2926080" y="3026664"/>
            <a:ext cx="1462126" cy="206654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Marker 3"/>
          <p:cNvSpPr/>
          <p:nvPr/>
        </p:nvSpPr>
        <p:spPr>
          <a:xfrm>
            <a:off x="4251046" y="3096158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3 addText"/>
          <p:cNvSpPr txBox="1"/>
          <p:nvPr/>
        </p:nvSpPr>
        <p:spPr>
          <a:xfrm>
            <a:off x="4251046" y="30961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@3 Graphics card slot label"/>
          <p:cNvSpPr/>
          <p:nvPr/>
        </p:nvSpPr>
        <p:spPr>
          <a:xfrm>
            <a:off x="182880" y="26974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3 addText"/>
          <p:cNvSpPr txBox="1"/>
          <p:nvPr/>
        </p:nvSpPr>
        <p:spPr>
          <a:xfrm>
            <a:off x="274320" y="2697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Graphics card slot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graphics card (PCIe)</a:t>
            </a:r>
            <a:endParaRPr lang="en-US" sz="1300" dirty="0"/>
          </a:p>
        </p:txBody>
      </p:sp>
      <p:sp>
        <p:nvSpPr>
          <p:cNvPr id="21" name="@4 SATA ports line"/>
          <p:cNvSpPr/>
          <p:nvPr/>
        </p:nvSpPr>
        <p:spPr>
          <a:xfrm>
            <a:off x="5485486" y="3727094"/>
            <a:ext cx="732434" cy="351130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4 Marker 4"/>
          <p:cNvSpPr/>
          <p:nvPr/>
        </p:nvSpPr>
        <p:spPr>
          <a:xfrm>
            <a:off x="5348326" y="3589934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4 addText"/>
          <p:cNvSpPr txBox="1"/>
          <p:nvPr/>
        </p:nvSpPr>
        <p:spPr>
          <a:xfrm>
            <a:off x="5348326" y="35899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@4 SATA ports label"/>
          <p:cNvSpPr/>
          <p:nvPr/>
        </p:nvSpPr>
        <p:spPr>
          <a:xfrm>
            <a:off x="6217920" y="374904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4 addText"/>
          <p:cNvSpPr txBox="1"/>
          <p:nvPr/>
        </p:nvSpPr>
        <p:spPr>
          <a:xfrm>
            <a:off x="6309360" y="3749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SATA ports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to storage drives</a:t>
            </a:r>
            <a:endParaRPr lang="en-US" sz="1300" dirty="0"/>
          </a:p>
        </p:txBody>
      </p:sp>
      <p:sp>
        <p:nvSpPr>
          <p:cNvPr id="26" name="@5 Main power connector line"/>
          <p:cNvSpPr/>
          <p:nvPr/>
        </p:nvSpPr>
        <p:spPr>
          <a:xfrm>
            <a:off x="5795467" y="2607869"/>
            <a:ext cx="422453" cy="629107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@5 Marker 5"/>
          <p:cNvSpPr/>
          <p:nvPr/>
        </p:nvSpPr>
        <p:spPr>
          <a:xfrm>
            <a:off x="5658307" y="2470709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5 addText"/>
          <p:cNvSpPr txBox="1"/>
          <p:nvPr/>
        </p:nvSpPr>
        <p:spPr>
          <a:xfrm>
            <a:off x="5658307" y="24707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@5 Main power connector label"/>
          <p:cNvSpPr/>
          <p:nvPr/>
        </p:nvSpPr>
        <p:spPr>
          <a:xfrm>
            <a:off x="6217920" y="2907792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5 addText"/>
          <p:cNvSpPr txBox="1"/>
          <p:nvPr/>
        </p:nvSpPr>
        <p:spPr>
          <a:xfrm>
            <a:off x="6309360" y="29077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Main power connector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from the power supply</a:t>
            </a:r>
            <a:endParaRPr lang="en-US" sz="1300" dirty="0"/>
          </a:p>
        </p:txBody>
      </p:sp>
      <p:sp>
        <p:nvSpPr>
          <p:cNvPr id="31" name="@6 CMOS battery line"/>
          <p:cNvSpPr/>
          <p:nvPr/>
        </p:nvSpPr>
        <p:spPr>
          <a:xfrm flipV="1">
            <a:off x="2926080" y="3522269"/>
            <a:ext cx="1451153" cy="464515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@6 Marker 6"/>
          <p:cNvSpPr/>
          <p:nvPr/>
        </p:nvSpPr>
        <p:spPr>
          <a:xfrm>
            <a:off x="4240073" y="3385109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@6 addText"/>
          <p:cNvSpPr txBox="1"/>
          <p:nvPr/>
        </p:nvSpPr>
        <p:spPr>
          <a:xfrm>
            <a:off x="4240073" y="33851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@6 CMOS battery label"/>
          <p:cNvSpPr/>
          <p:nvPr/>
        </p:nvSpPr>
        <p:spPr>
          <a:xfrm>
            <a:off x="182880" y="365760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@6 addText"/>
          <p:cNvSpPr txBox="1"/>
          <p:nvPr/>
        </p:nvSpPr>
        <p:spPr>
          <a:xfrm>
            <a:off x="274320" y="36576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CMOS battery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clock running when off</a:t>
            </a:r>
            <a:endParaRPr lang="en-US" sz="1300" dirty="0"/>
          </a:p>
        </p:txBody>
      </p:sp>
      <p:sp>
        <p:nvSpPr>
          <p:cNvPr id="36" name="@7 Back panel ports line"/>
          <p:cNvSpPr/>
          <p:nvPr/>
        </p:nvSpPr>
        <p:spPr>
          <a:xfrm flipV="1">
            <a:off x="2926080" y="2033626"/>
            <a:ext cx="458114" cy="32918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@7 Marker 7"/>
          <p:cNvSpPr/>
          <p:nvPr/>
        </p:nvSpPr>
        <p:spPr>
          <a:xfrm>
            <a:off x="3247034" y="1896466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@7 addText"/>
          <p:cNvSpPr txBox="1"/>
          <p:nvPr/>
        </p:nvSpPr>
        <p:spPr>
          <a:xfrm>
            <a:off x="3247034" y="18964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@7 Back panel ports label"/>
          <p:cNvSpPr/>
          <p:nvPr/>
        </p:nvSpPr>
        <p:spPr>
          <a:xfrm>
            <a:off x="182880" y="173736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@7 addText"/>
          <p:cNvSpPr txBox="1"/>
          <p:nvPr/>
        </p:nvSpPr>
        <p:spPr>
          <a:xfrm>
            <a:off x="274320" y="1737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Back panel ports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USB, video and network</a:t>
            </a:r>
            <a:endParaRPr lang="en-US" sz="1300" dirty="0"/>
          </a:p>
        </p:txBody>
      </p:sp>
      <p:sp>
        <p:nvSpPr>
          <p:cNvPr id="41" name="@8 CPU power connector line"/>
          <p:cNvSpPr/>
          <p:nvPr/>
        </p:nvSpPr>
        <p:spPr>
          <a:xfrm>
            <a:off x="2926080" y="1335024"/>
            <a:ext cx="1176833" cy="138989"/>
          </a:xfrm>
          <a:prstGeom prst="line">
            <a:avLst/>
          </a:prstGeom>
          <a:noFill/>
          <a:ln w="254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@8 Marker 8"/>
          <p:cNvSpPr/>
          <p:nvPr/>
        </p:nvSpPr>
        <p:spPr>
          <a:xfrm>
            <a:off x="3965753" y="1336853"/>
            <a:ext cx="274320" cy="274320"/>
          </a:xfrm>
          <a:prstGeom prst="ellipse">
            <a:avLst/>
          </a:prstGeom>
          <a:solidFill>
            <a:srgbClr val="002D6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@8 addText"/>
          <p:cNvSpPr txBox="1"/>
          <p:nvPr/>
        </p:nvSpPr>
        <p:spPr>
          <a:xfrm>
            <a:off x="3965753" y="1336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@8 CPU power connector label"/>
          <p:cNvSpPr/>
          <p:nvPr/>
        </p:nvSpPr>
        <p:spPr>
          <a:xfrm>
            <a:off x="182880" y="100584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@8 addText"/>
          <p:cNvSpPr txBox="1"/>
          <p:nvPr/>
        </p:nvSpPr>
        <p:spPr>
          <a:xfrm>
            <a:off x="274320" y="1005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CPU power connector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power for the CPU</a:t>
            </a:r>
            <a:endParaRPr lang="en-US" sz="13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Part C: match up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Match each part to its job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206240" y="118872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343400" y="1188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C, RAM E, Storage A, Motherboard D, Power supply F, Heat sink and fan B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48256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048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Pick up one part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206240" y="2048256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343400" y="20482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answer: size, weight, metal or plastic, pins, moving parts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07792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29077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part gets hot? How is it cooled?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206240" y="2907792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343400" y="29077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(and graphics card). A heat sink and a fan cool it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767328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7673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RAM or storage loses everything with no power?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206240" y="3767328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4343400" y="37673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RAM. Storage keeps your files when the power is off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parts work together</a:t>
            </a:r>
            <a:endParaRPr lang="en-US" sz="3200" dirty="0"/>
          </a:p>
        </p:txBody>
      </p:sp>
      <p:sp>
        <p:nvSpPr>
          <p:cNvPr id="3" name="TOGETHER tag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Storage circle"/>
          <p:cNvSpPr/>
          <p:nvPr/>
        </p:nvSpPr>
        <p:spPr>
          <a:xfrm>
            <a:off x="1234440" y="1298448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@1 addImage" descr="Stor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39" y="1520647"/>
            <a:ext cx="378562" cy="378562"/>
          </a:xfrm>
          <a:prstGeom prst="rect">
            <a:avLst/>
          </a:prstGeom>
        </p:spPr>
      </p:pic>
      <p:sp>
        <p:nvSpPr>
          <p:cNvPr id="8" name="@1 addText"/>
          <p:cNvSpPr txBox="1"/>
          <p:nvPr/>
        </p:nvSpPr>
        <p:spPr>
          <a:xfrm>
            <a:off x="548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800" dirty="0"/>
          </a:p>
        </p:txBody>
      </p:sp>
      <p:sp>
        <p:nvSpPr>
          <p:cNvPr id="9" name="@1 addText"/>
          <p:cNvSpPr txBox="1"/>
          <p:nvPr/>
        </p:nvSpPr>
        <p:spPr>
          <a:xfrm>
            <a:off x="59436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Long-term. Files and folders live here.</a:t>
            </a:r>
            <a:endParaRPr lang="en-US" sz="1200" dirty="0"/>
          </a:p>
        </p:txBody>
      </p:sp>
      <p:sp>
        <p:nvSpPr>
          <p:cNvPr id="10" name="@2 Card"/>
          <p:cNvSpPr/>
          <p:nvPr/>
        </p:nvSpPr>
        <p:spPr>
          <a:xfrm>
            <a:off x="3383280" y="118872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2 RAM circle"/>
          <p:cNvSpPr/>
          <p:nvPr/>
        </p:nvSpPr>
        <p:spPr>
          <a:xfrm>
            <a:off x="4160520" y="1298448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@2 addImage" descr="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719" y="1520647"/>
            <a:ext cx="378562" cy="378562"/>
          </a:xfrm>
          <a:prstGeom prst="rect">
            <a:avLst/>
          </a:prstGeom>
        </p:spPr>
      </p:pic>
      <p:sp>
        <p:nvSpPr>
          <p:cNvPr id="13" name="@2 addText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800" dirty="0"/>
          </a:p>
        </p:txBody>
      </p:sp>
      <p:sp>
        <p:nvSpPr>
          <p:cNvPr id="14" name="@2 addText"/>
          <p:cNvSpPr txBox="1"/>
          <p:nvPr/>
        </p:nvSpPr>
        <p:spPr>
          <a:xfrm>
            <a:off x="352044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Short-term. Copied here when you open them.</a:t>
            </a:r>
            <a:endParaRPr lang="en-US" sz="1200" dirty="0"/>
          </a:p>
        </p:txBody>
      </p:sp>
      <p:sp>
        <p:nvSpPr>
          <p:cNvPr id="15" name="@2 Arrow 1"/>
          <p:cNvSpPr/>
          <p:nvPr/>
        </p:nvSpPr>
        <p:spPr>
          <a:xfrm>
            <a:off x="2880360" y="2103120"/>
            <a:ext cx="45720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Card"/>
          <p:cNvSpPr/>
          <p:nvPr/>
        </p:nvSpPr>
        <p:spPr>
          <a:xfrm>
            <a:off x="6309360" y="118872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CPU circle"/>
          <p:cNvSpPr/>
          <p:nvPr/>
        </p:nvSpPr>
        <p:spPr>
          <a:xfrm>
            <a:off x="7086600" y="1298448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@3 addImage" descr="CP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799" y="1520647"/>
            <a:ext cx="378562" cy="378562"/>
          </a:xfrm>
          <a:prstGeom prst="rect">
            <a:avLst/>
          </a:prstGeom>
        </p:spPr>
      </p:pic>
      <p:sp>
        <p:nvSpPr>
          <p:cNvPr id="19" name="@3 addText"/>
          <p:cNvSpPr txBox="1"/>
          <p:nvPr/>
        </p:nvSpPr>
        <p:spPr>
          <a:xfrm>
            <a:off x="6400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800" dirty="0"/>
          </a:p>
        </p:txBody>
      </p:sp>
      <p:sp>
        <p:nvSpPr>
          <p:cNvPr id="20" name="@3 addText"/>
          <p:cNvSpPr txBox="1"/>
          <p:nvPr/>
        </p:nvSpPr>
        <p:spPr>
          <a:xfrm>
            <a:off x="644652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and runs instructions from RAM.</a:t>
            </a:r>
            <a:endParaRPr lang="en-US" sz="1200" dirty="0"/>
          </a:p>
        </p:txBody>
      </p:sp>
      <p:sp>
        <p:nvSpPr>
          <p:cNvPr id="21" name="@3 Arrow 2"/>
          <p:cNvSpPr/>
          <p:nvPr/>
        </p:nvSpPr>
        <p:spPr>
          <a:xfrm>
            <a:off x="5806440" y="2103120"/>
            <a:ext cx="45720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@4 Motherboard bar"/>
          <p:cNvSpPr/>
          <p:nvPr/>
        </p:nvSpPr>
        <p:spPr>
          <a:xfrm>
            <a:off x="457200" y="33375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4 addText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motherboard connects all of them</a:t>
            </a:r>
            <a:endParaRPr lang="en-US" sz="1500" dirty="0"/>
          </a:p>
        </p:txBody>
      </p:sp>
      <p:sp>
        <p:nvSpPr>
          <p:cNvPr id="24" name="@5 Power bar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5 addText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supply powers everything, and the fan keeps the CPU cool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fetch-decode-execute cycle</a:t>
            </a:r>
            <a:endParaRPr lang="en-US" sz="3200" dirty="0"/>
          </a:p>
        </p:txBody>
      </p:sp>
      <p:sp>
        <p:nvSpPr>
          <p:cNvPr id="3" name="TOGETHER tag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FETCH circle"/>
          <p:cNvSpPr/>
          <p:nvPr/>
        </p:nvSpPr>
        <p:spPr>
          <a:xfrm>
            <a:off x="1280160" y="1325880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@1 addImage" descr="FET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359" y="1548079"/>
            <a:ext cx="378562" cy="378562"/>
          </a:xfrm>
          <a:prstGeom prst="rect">
            <a:avLst/>
          </a:prstGeom>
        </p:spPr>
      </p:pic>
      <p:sp>
        <p:nvSpPr>
          <p:cNvPr id="8" name="@1 addText"/>
          <p:cNvSpPr txBox="1"/>
          <p:nvPr/>
        </p:nvSpPr>
        <p:spPr>
          <a:xfrm>
            <a:off x="5486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FETCH</a:t>
            </a:r>
            <a:endParaRPr lang="en-US" sz="2000" dirty="0"/>
          </a:p>
        </p:txBody>
      </p:sp>
      <p:sp>
        <p:nvSpPr>
          <p:cNvPr id="9" name="@1 addText"/>
          <p:cNvSpPr txBox="1"/>
          <p:nvPr/>
        </p:nvSpPr>
        <p:spPr>
          <a:xfrm>
            <a:off x="64008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next instruction from RAM</a:t>
            </a:r>
            <a:endParaRPr lang="en-US" sz="1300" dirty="0"/>
          </a:p>
        </p:txBody>
      </p:sp>
      <p:sp>
        <p:nvSpPr>
          <p:cNvPr id="10" name="@2 Card"/>
          <p:cNvSpPr/>
          <p:nvPr/>
        </p:nvSpPr>
        <p:spPr>
          <a:xfrm>
            <a:off x="3383280" y="118872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2 DECODE circle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@2 addImage" descr="DE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1548079"/>
            <a:ext cx="378562" cy="378562"/>
          </a:xfrm>
          <a:prstGeom prst="rect">
            <a:avLst/>
          </a:prstGeom>
        </p:spPr>
      </p:pic>
      <p:sp>
        <p:nvSpPr>
          <p:cNvPr id="13" name="@2 addText"/>
          <p:cNvSpPr txBox="1"/>
          <p:nvPr/>
        </p:nvSpPr>
        <p:spPr>
          <a:xfrm>
            <a:off x="34747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DECODE</a:t>
            </a:r>
            <a:endParaRPr lang="en-US" sz="2000" dirty="0"/>
          </a:p>
        </p:txBody>
      </p:sp>
      <p:sp>
        <p:nvSpPr>
          <p:cNvPr id="14" name="@2 addText"/>
          <p:cNvSpPr txBox="1"/>
          <p:nvPr/>
        </p:nvSpPr>
        <p:spPr>
          <a:xfrm>
            <a:off x="356616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the instruction means</a:t>
            </a:r>
            <a:endParaRPr lang="en-US" sz="1300" dirty="0"/>
          </a:p>
        </p:txBody>
      </p:sp>
      <p:sp>
        <p:nvSpPr>
          <p:cNvPr id="15" name="@2 Arrow 1"/>
          <p:cNvSpPr/>
          <p:nvPr/>
        </p:nvSpPr>
        <p:spPr>
          <a:xfrm>
            <a:off x="2926080" y="224028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Card"/>
          <p:cNvSpPr/>
          <p:nvPr/>
        </p:nvSpPr>
        <p:spPr>
          <a:xfrm>
            <a:off x="6309360" y="118872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3 EXECUTE circle"/>
          <p:cNvSpPr/>
          <p:nvPr/>
        </p:nvSpPr>
        <p:spPr>
          <a:xfrm>
            <a:off x="7132320" y="1325880"/>
            <a:ext cx="822960" cy="8229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@3 addImage" descr="EXECU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519" y="1548079"/>
            <a:ext cx="378562" cy="378562"/>
          </a:xfrm>
          <a:prstGeom prst="rect">
            <a:avLst/>
          </a:prstGeom>
        </p:spPr>
      </p:pic>
      <p:sp>
        <p:nvSpPr>
          <p:cNvPr id="19" name="@3 addText"/>
          <p:cNvSpPr txBox="1"/>
          <p:nvPr/>
        </p:nvSpPr>
        <p:spPr>
          <a:xfrm>
            <a:off x="64008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EXECUTE</a:t>
            </a:r>
            <a:endParaRPr lang="en-US" sz="2000" dirty="0"/>
          </a:p>
        </p:txBody>
      </p:sp>
      <p:sp>
        <p:nvSpPr>
          <p:cNvPr id="20" name="@3 addText"/>
          <p:cNvSpPr txBox="1"/>
          <p:nvPr/>
        </p:nvSpPr>
        <p:spPr>
          <a:xfrm>
            <a:off x="649224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out the instruction</a:t>
            </a:r>
            <a:endParaRPr lang="en-US" sz="1300" dirty="0"/>
          </a:p>
        </p:txBody>
      </p:sp>
      <p:sp>
        <p:nvSpPr>
          <p:cNvPr id="21" name="@3 Arrow 2"/>
          <p:cNvSpPr/>
          <p:nvPr/>
        </p:nvSpPr>
        <p:spPr>
          <a:xfrm>
            <a:off x="5852160" y="2240280"/>
            <a:ext cx="4114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@4 Repeat box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4 addText"/>
          <p:cNvSpPr txBox="1"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repeat. A 3 GHz CPU does about 3 billion cycles every second.</a:t>
            </a:r>
            <a:endParaRPr lang="en-US" sz="1600" dirty="0"/>
          </a:p>
        </p:txBody>
      </p:sp>
      <p:sp>
        <p:nvSpPr>
          <p:cNvPr id="24" name="@5 addTex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word: the CPU has a control unit. It organises these steps, like the conductor of an orchestra.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saving a document</a:t>
            </a:r>
            <a:endParaRPr lang="en-US" sz="3200" dirty="0"/>
          </a:p>
        </p:txBody>
      </p:sp>
      <p:sp>
        <p:nvSpPr>
          <p:cNvPr id="3" name="TOGETHER tag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press Save. What does the CPU do?</a:t>
            </a:r>
            <a:endParaRPr lang="en-US" sz="1800" dirty="0"/>
          </a:p>
        </p:txBody>
      </p:sp>
      <p:sp>
        <p:nvSpPr>
          <p:cNvPr id="6" name="@1 Card"/>
          <p:cNvSpPr/>
          <p:nvPr/>
        </p:nvSpPr>
        <p:spPr>
          <a:xfrm>
            <a:off x="457200" y="1554480"/>
            <a:ext cx="8229600" cy="768096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Step pill"/>
          <p:cNvSpPr/>
          <p:nvPr/>
        </p:nvSpPr>
        <p:spPr>
          <a:xfrm>
            <a:off x="594360" y="1709928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594360" y="1709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FETCH</a:t>
            </a:r>
            <a:endParaRPr lang="en-US" sz="1300" dirty="0"/>
          </a:p>
        </p:txBody>
      </p:sp>
      <p:sp>
        <p:nvSpPr>
          <p:cNvPr id="9" name="@1 addText"/>
          <p:cNvSpPr txBox="1"/>
          <p:nvPr/>
        </p:nvSpPr>
        <p:spPr>
          <a:xfrm>
            <a:off x="2148840" y="15544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gets the save instruction from RAM</a:t>
            </a:r>
            <a:endParaRPr lang="en-US" sz="1400" dirty="0"/>
          </a:p>
        </p:txBody>
      </p:sp>
      <p:sp>
        <p:nvSpPr>
          <p:cNvPr id="10" name="@1 Component chip"/>
          <p:cNvSpPr/>
          <p:nvPr/>
        </p:nvSpPr>
        <p:spPr>
          <a:xfrm>
            <a:off x="6995160" y="1709928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1 addText"/>
          <p:cNvSpPr txBox="1"/>
          <p:nvPr/>
        </p:nvSpPr>
        <p:spPr>
          <a:xfrm>
            <a:off x="6995160" y="1709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300" dirty="0"/>
          </a:p>
        </p:txBody>
      </p:sp>
      <p:sp>
        <p:nvSpPr>
          <p:cNvPr id="12" name="@2 Card"/>
          <p:cNvSpPr/>
          <p:nvPr/>
        </p:nvSpPr>
        <p:spPr>
          <a:xfrm>
            <a:off x="457200" y="2450592"/>
            <a:ext cx="8229600" cy="768096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2 Step pill"/>
          <p:cNvSpPr/>
          <p:nvPr/>
        </p:nvSpPr>
        <p:spPr>
          <a:xfrm>
            <a:off x="594360" y="26060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2 addText"/>
          <p:cNvSpPr txBox="1"/>
          <p:nvPr/>
        </p:nvSpPr>
        <p:spPr>
          <a:xfrm>
            <a:off x="59436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DECODE</a:t>
            </a:r>
            <a:endParaRPr lang="en-US" sz="1300" dirty="0"/>
          </a:p>
        </p:txBody>
      </p:sp>
      <p:sp>
        <p:nvSpPr>
          <p:cNvPr id="15" name="@2 addText"/>
          <p:cNvSpPr txBox="1"/>
          <p:nvPr/>
        </p:nvSpPr>
        <p:spPr>
          <a:xfrm>
            <a:off x="2148840" y="2450592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works out: write this document to storage</a:t>
            </a:r>
            <a:endParaRPr lang="en-US" sz="1400" dirty="0"/>
          </a:p>
        </p:txBody>
      </p:sp>
      <p:sp>
        <p:nvSpPr>
          <p:cNvPr id="16" name="@2 Component chip"/>
          <p:cNvSpPr/>
          <p:nvPr/>
        </p:nvSpPr>
        <p:spPr>
          <a:xfrm>
            <a:off x="6995160" y="260604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@2 addText"/>
          <p:cNvSpPr txBox="1"/>
          <p:nvPr/>
        </p:nvSpPr>
        <p:spPr>
          <a:xfrm>
            <a:off x="699516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300" dirty="0"/>
          </a:p>
        </p:txBody>
      </p:sp>
      <p:sp>
        <p:nvSpPr>
          <p:cNvPr id="18" name="@3 Card"/>
          <p:cNvSpPr/>
          <p:nvPr/>
        </p:nvSpPr>
        <p:spPr>
          <a:xfrm>
            <a:off x="457200" y="3346704"/>
            <a:ext cx="8229600" cy="768096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@3 Step pill"/>
          <p:cNvSpPr/>
          <p:nvPr/>
        </p:nvSpPr>
        <p:spPr>
          <a:xfrm>
            <a:off x="594360" y="350215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3 addText"/>
          <p:cNvSpPr txBox="1"/>
          <p:nvPr/>
        </p:nvSpPr>
        <p:spPr>
          <a:xfrm>
            <a:off x="594360" y="3502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EXECUTE</a:t>
            </a:r>
            <a:endParaRPr lang="en-US" sz="1300" dirty="0"/>
          </a:p>
        </p:txBody>
      </p:sp>
      <p:sp>
        <p:nvSpPr>
          <p:cNvPr id="21" name="@3 addText"/>
          <p:cNvSpPr txBox="1"/>
          <p:nvPr/>
        </p:nvSpPr>
        <p:spPr>
          <a:xfrm>
            <a:off x="2148840" y="334670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is copied from RAM to the SSD, so it is kept when the power is off</a:t>
            </a:r>
            <a:endParaRPr lang="en-US" sz="1400" dirty="0"/>
          </a:p>
        </p:txBody>
      </p:sp>
      <p:sp>
        <p:nvSpPr>
          <p:cNvPr id="22" name="@3 Component chip"/>
          <p:cNvSpPr/>
          <p:nvPr/>
        </p:nvSpPr>
        <p:spPr>
          <a:xfrm>
            <a:off x="6995160" y="3502152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@3 addText"/>
          <p:cNvSpPr txBox="1"/>
          <p:nvPr/>
        </p:nvSpPr>
        <p:spPr>
          <a:xfrm>
            <a:off x="6995160" y="35021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24" name="@4 addText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CPU fetches the next instruction. One real save takes thousands of cycles.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Part D: bringing it together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three steps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206240" y="118872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343400" y="1188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next instruction from RAM. DECODE: work out what it means. EXECUTE: carry it out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48256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048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Opening a game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206240" y="2048256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343400" y="20482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from storage into RAM, so the CPU can run it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07792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29077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Saving a document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206240" y="2907792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343400" y="29077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save instruction from RAM. Decode: write it to storage. Execute: copy it to storage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767328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7673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repeat the cycle?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206240" y="3767328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4343400" y="37673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keep running the program, one instruction after another, billions of times a second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spec table to answer questions 1 to 4 on the worksheet. Questions 5 to 9 are extension.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Tas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laptops</a:t>
            </a:r>
            <a:endParaRPr lang="en-US" sz="3200" dirty="0"/>
          </a:p>
        </p:txBody>
      </p:sp>
      <p:graphicFrame>
        <p:nvGraphicFramePr>
          <p:cNvPr id="3" name="Sp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Core 3 (100U)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Core Ultra 7 (258V)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GHz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 GHz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(MB)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8533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(SSD)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£1,320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Image 0" descr="Laptop A, Dell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2194560" cy="14806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26480" y="250479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A: Dell 15</a:t>
            </a:r>
            <a:endParaRPr lang="en-US" sz="1200" dirty="0"/>
          </a:p>
        </p:txBody>
      </p:sp>
      <p:pic>
        <p:nvPicPr>
          <p:cNvPr id="6" name="Image 1" descr="Laptop B, Dell 14 Pl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88920"/>
            <a:ext cx="1920240" cy="156706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126480" y="437427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B: Dell 14 Plus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E: answers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Which laptop has more RAM, and how many GB more?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206240" y="118872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343400" y="1188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B, by 24 GB (32 - 8). That is 4 times as much.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48256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2048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many 50 GB Blu-ray movies?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206240" y="2048256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343400" y="20482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512 ÷ 50 = 10 (10.24, so 10). B: 1000 ÷ 50 = 20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07792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29077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many 500 MB apps open at once?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206240" y="2907792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343400" y="29077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8000 ÷ 500 = 16.  B: 32000 ÷ 500 = 64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767328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7673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GHz: million or billion? Cycles per second for A?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206240" y="3767328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4343400" y="37673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 (giga). Laptop A: 1.2 billion cycles every second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 extension: answers</a:t>
            </a:r>
            <a:endParaRPr lang="en-US" sz="2800" dirty="0"/>
          </a:p>
        </p:txBody>
      </p:sp>
      <p:sp>
        <p:nvSpPr>
          <p:cNvPr id="3" name="ANSWERS tag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097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4400 MHz in GHz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206240" y="1097280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4343400" y="1097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GHz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1755648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7556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More cores?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206240" y="1755648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2 addText"/>
          <p:cNvSpPr txBox="1"/>
          <p:nvPr/>
        </p:nvSpPr>
        <p:spPr>
          <a:xfrm>
            <a:off x="4343400" y="17556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more (8 and 6). Not always faster: software must use them, and clock speed matters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414016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94360" y="24140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Why fewer apps in real life?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206240" y="2414016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3 addText"/>
          <p:cNvSpPr txBox="1"/>
          <p:nvPr/>
        </p:nvSpPr>
        <p:spPr>
          <a:xfrm>
            <a:off x="4343400" y="24140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and other programs use RAM too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072384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0723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Essays and browsing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206240" y="3072384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4 addText"/>
          <p:cNvSpPr txBox="1"/>
          <p:nvPr/>
        </p:nvSpPr>
        <p:spPr>
          <a:xfrm>
            <a:off x="4343400" y="30723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A: enough RAM and storage, and £836 cheaper (any choice backed by numbers)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57200" y="3730752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94360" y="3730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Video editing</a:t>
            </a:r>
            <a:endParaRPr lang="en-US" sz="1400" dirty="0"/>
          </a:p>
        </p:txBody>
      </p:sp>
      <p:sp>
        <p:nvSpPr>
          <p:cNvPr id="23" name="@5 Answer card"/>
          <p:cNvSpPr/>
          <p:nvPr/>
        </p:nvSpPr>
        <p:spPr>
          <a:xfrm>
            <a:off x="4206240" y="3730752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5 addText"/>
          <p:cNvSpPr txBox="1"/>
          <p:nvPr/>
        </p:nvSpPr>
        <p:spPr>
          <a:xfrm>
            <a:off x="4343400" y="37307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B: 32 GB RAM, 1 TB storage, faster processor and RAM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2103</Words>
  <Application>Microsoft Macintosh PowerPoint</Application>
  <PresentationFormat>On-screen Show (16:9)</PresentationFormat>
  <Paragraphs>239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5-A-DAY: Knowledge Recall</vt:lpstr>
      <vt:lpstr>Inside the Computer</vt:lpstr>
      <vt:lpstr>What do you already know?</vt:lpstr>
      <vt:lpstr>Parts tour</vt:lpstr>
      <vt:lpstr>Work on the worksheet. </vt:lpstr>
      <vt:lpstr>Rules at the table</vt:lpstr>
      <vt:lpstr>Check Part B: the motherboard</vt:lpstr>
      <vt:lpstr>Check Part C: match up</vt:lpstr>
      <vt:lpstr>How the parts work together</vt:lpstr>
      <vt:lpstr>The fetch-decode-execute cycle</vt:lpstr>
      <vt:lpstr>Example: saving a document</vt:lpstr>
      <vt:lpstr>Check Part D: bringing it together</vt:lpstr>
      <vt:lpstr>Compare two laptops</vt:lpstr>
      <vt:lpstr>Compare two laptops</vt:lpstr>
      <vt:lpstr>Part E: answers</vt:lpstr>
      <vt:lpstr>Part E extension: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Inside the Computer</dc:title>
  <dc:subject>PptxGenJS Presentation</dc:subject>
  <dc:creator/>
  <cp:lastModifiedBy/>
  <cp:revision>2</cp:revision>
  <dcterms:created xsi:type="dcterms:W3CDTF">2026-10-13T17:53:53Z</dcterms:created>
  <dcterms:modified xsi:type="dcterms:W3CDTF">2026-10-14T06:46:01Z</dcterms:modified>
</cp:coreProperties>
</file>