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-1" id="{3064DA51-616D-A0E4-3FE1-E7C8078DD6F3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872"/>
  </p:normalViewPr>
  <p:slideViewPr>
    <p:cSldViewPr snapToGrid="0" snapToObjects="1">
      <p:cViewPr varScale="1">
        <p:scale>
          <a:sx n="158" d="100"/>
          <a:sy n="158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754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L1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L1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L1: Networks: LAN, WAN and hardware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A Level Computer Science H446, 1.3.3 Networks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Objectives: describe a network, compare a LAN with a WAN, and describe the purpose of network hardware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457200" y="206883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731520" y="206883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Networks, LAN and WAN: what a network is, then LAN vs WAN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457200" y="294894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31520" y="294894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2, Network hardware and design: devices and cables, then draw a two-site network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57200" y="382905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731520" y="382905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3, Debate: cables or Wi-Fi in the head office</a:t>
            </a:r>
            <a:endParaRPr lang="en-US" sz="18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areas of 1.3.3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11480" y="10972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21208" y="115214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Protocols and standards</a:t>
            </a:r>
            <a:endParaRPr lang="en-US" sz="1400" dirty="0"/>
          </a:p>
        </p:txBody>
      </p:sp>
      <p:sp>
        <p:nvSpPr>
          <p:cNvPr id="5" name="box Device A"/>
          <p:cNvSpPr/>
          <p:nvPr/>
        </p:nvSpPr>
        <p:spPr>
          <a:xfrm>
            <a:off x="548640" y="1641348"/>
            <a:ext cx="7772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66928" y="1641348"/>
            <a:ext cx="74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A</a:t>
            </a:r>
            <a:endParaRPr lang="en-US" sz="1000" dirty="0"/>
          </a:p>
        </p:txBody>
      </p:sp>
      <p:sp>
        <p:nvSpPr>
          <p:cNvPr id="7" name="box Device B"/>
          <p:cNvSpPr/>
          <p:nvPr/>
        </p:nvSpPr>
        <p:spPr>
          <a:xfrm>
            <a:off x="2148840" y="1641348"/>
            <a:ext cx="7772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2167128" y="1641348"/>
            <a:ext cx="74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B</a:t>
            </a:r>
            <a:endParaRPr lang="en-US" sz="1000" dirty="0"/>
          </a:p>
        </p:txBody>
      </p:sp>
      <p:sp>
        <p:nvSpPr>
          <p:cNvPr id="9" name="arrow"/>
          <p:cNvSpPr/>
          <p:nvPr/>
        </p:nvSpPr>
        <p:spPr>
          <a:xfrm>
            <a:off x="1371600" y="1778508"/>
            <a:ext cx="73152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arrow"/>
          <p:cNvSpPr/>
          <p:nvPr/>
        </p:nvSpPr>
        <p:spPr>
          <a:xfrm flipH="1">
            <a:off x="1371600" y="1979676"/>
            <a:ext cx="73152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1325880" y="15590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19979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ready!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" y="228600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agreements so devices can talk to each other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3246120" y="10972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355848" y="115214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Internet structure</a:t>
            </a:r>
            <a:endParaRPr lang="en-US" sz="1400" dirty="0"/>
          </a:p>
        </p:txBody>
      </p:sp>
      <p:sp>
        <p:nvSpPr>
          <p:cNvPr id="16" name="box Application"/>
          <p:cNvSpPr/>
          <p:nvPr/>
        </p:nvSpPr>
        <p:spPr>
          <a:xfrm>
            <a:off x="3657600" y="1517904"/>
            <a:ext cx="1828800" cy="176645"/>
          </a:xfrm>
          <a:prstGeom prst="roundRect">
            <a:avLst>
              <a:gd name="adj" fmla="val 62118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3675888" y="1517904"/>
            <a:ext cx="1792224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18" name="box Transport"/>
          <p:cNvSpPr/>
          <p:nvPr/>
        </p:nvSpPr>
        <p:spPr>
          <a:xfrm>
            <a:off x="3657600" y="1721981"/>
            <a:ext cx="1828800" cy="176645"/>
          </a:xfrm>
          <a:prstGeom prst="roundRect">
            <a:avLst>
              <a:gd name="adj" fmla="val 62118"/>
            </a:avLst>
          </a:prstGeom>
          <a:solidFill>
            <a:srgbClr val="EEF2F7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3675888" y="1721981"/>
            <a:ext cx="1792224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900" dirty="0"/>
          </a:p>
        </p:txBody>
      </p:sp>
      <p:sp>
        <p:nvSpPr>
          <p:cNvPr id="20" name="box Internet"/>
          <p:cNvSpPr/>
          <p:nvPr/>
        </p:nvSpPr>
        <p:spPr>
          <a:xfrm>
            <a:off x="3657600" y="1926059"/>
            <a:ext cx="1828800" cy="176645"/>
          </a:xfrm>
          <a:prstGeom prst="roundRect">
            <a:avLst>
              <a:gd name="adj" fmla="val 62118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3675888" y="1926059"/>
            <a:ext cx="1792224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900" dirty="0"/>
          </a:p>
        </p:txBody>
      </p:sp>
      <p:sp>
        <p:nvSpPr>
          <p:cNvPr id="22" name="box Link"/>
          <p:cNvSpPr/>
          <p:nvPr/>
        </p:nvSpPr>
        <p:spPr>
          <a:xfrm>
            <a:off x="3657600" y="2130136"/>
            <a:ext cx="1828800" cy="176645"/>
          </a:xfrm>
          <a:prstGeom prst="roundRect">
            <a:avLst>
              <a:gd name="adj" fmla="val 62118"/>
            </a:avLst>
          </a:prstGeom>
          <a:solidFill>
            <a:srgbClr val="EEF2F7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3675888" y="2130136"/>
            <a:ext cx="1792224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355848" y="228600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layers, DNS, LANs and WANs, packet and circuit switching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6080760" y="10972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6190488" y="115214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Security</a:t>
            </a:r>
            <a:endParaRPr lang="en-US" sz="1400" dirty="0"/>
          </a:p>
        </p:txBody>
      </p:sp>
      <p:sp>
        <p:nvSpPr>
          <p:cNvPr id="27" name="box Internet"/>
          <p:cNvSpPr/>
          <p:nvPr/>
        </p:nvSpPr>
        <p:spPr>
          <a:xfrm>
            <a:off x="6217920" y="1641348"/>
            <a:ext cx="60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6236208" y="1641348"/>
            <a:ext cx="573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900" dirty="0"/>
          </a:p>
        </p:txBody>
      </p:sp>
      <p:sp>
        <p:nvSpPr>
          <p:cNvPr id="29" name="box Firewall"/>
          <p:cNvSpPr/>
          <p:nvPr/>
        </p:nvSpPr>
        <p:spPr>
          <a:xfrm>
            <a:off x="7101840" y="1641348"/>
            <a:ext cx="609600" cy="457200"/>
          </a:xfrm>
          <a:prstGeom prst="roundRect">
            <a:avLst>
              <a:gd name="adj" fmla="val 240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7120128" y="1641348"/>
            <a:ext cx="573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900" dirty="0"/>
          </a:p>
        </p:txBody>
      </p:sp>
      <p:sp>
        <p:nvSpPr>
          <p:cNvPr id="31" name="box Network"/>
          <p:cNvSpPr/>
          <p:nvPr/>
        </p:nvSpPr>
        <p:spPr>
          <a:xfrm>
            <a:off x="7985760" y="1641348"/>
            <a:ext cx="60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 txBox="1"/>
          <p:nvPr/>
        </p:nvSpPr>
        <p:spPr>
          <a:xfrm>
            <a:off x="8004048" y="1641348"/>
            <a:ext cx="573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900" dirty="0"/>
          </a:p>
        </p:txBody>
      </p:sp>
      <p:sp>
        <p:nvSpPr>
          <p:cNvPr id="33" name="arrow"/>
          <p:cNvSpPr/>
          <p:nvPr/>
        </p:nvSpPr>
        <p:spPr>
          <a:xfrm>
            <a:off x="6845808" y="1869948"/>
            <a:ext cx="237744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arrow"/>
          <p:cNvSpPr/>
          <p:nvPr/>
        </p:nvSpPr>
        <p:spPr>
          <a:xfrm>
            <a:off x="7729728" y="1869948"/>
            <a:ext cx="237744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190488" y="228600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Threats, firewalls, proxies, encryption (next term)</a:t>
            </a:r>
            <a:endParaRPr lang="en-US" sz="1100" dirty="0"/>
          </a:p>
        </p:txBody>
      </p:sp>
      <p:sp>
        <p:nvSpPr>
          <p:cNvPr id="36" name="Card"/>
          <p:cNvSpPr/>
          <p:nvPr/>
        </p:nvSpPr>
        <p:spPr>
          <a:xfrm>
            <a:off x="1828800" y="2990088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1938528" y="30449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Hardware</a:t>
            </a:r>
            <a:endParaRPr lang="en-US" sz="1400" dirty="0"/>
          </a:p>
        </p:txBody>
      </p:sp>
      <p:sp>
        <p:nvSpPr>
          <p:cNvPr id="38" name="box Router"/>
          <p:cNvSpPr/>
          <p:nvPr/>
        </p:nvSpPr>
        <p:spPr>
          <a:xfrm>
            <a:off x="1965960" y="3557016"/>
            <a:ext cx="670560" cy="411480"/>
          </a:xfrm>
          <a:prstGeom prst="roundRect">
            <a:avLst>
              <a:gd name="adj" fmla="val 26667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1984248" y="3557016"/>
            <a:ext cx="63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900" dirty="0"/>
          </a:p>
        </p:txBody>
      </p:sp>
      <p:sp>
        <p:nvSpPr>
          <p:cNvPr id="40" name="box Switch"/>
          <p:cNvSpPr/>
          <p:nvPr/>
        </p:nvSpPr>
        <p:spPr>
          <a:xfrm>
            <a:off x="2819400" y="3557016"/>
            <a:ext cx="670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2837688" y="3557016"/>
            <a:ext cx="63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900" dirty="0"/>
          </a:p>
        </p:txBody>
      </p:sp>
      <p:sp>
        <p:nvSpPr>
          <p:cNvPr id="42" name="arrow"/>
          <p:cNvSpPr/>
          <p:nvPr/>
        </p:nvSpPr>
        <p:spPr>
          <a:xfrm>
            <a:off x="2654808" y="3762756"/>
            <a:ext cx="146304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box PCs"/>
          <p:cNvSpPr/>
          <p:nvPr/>
        </p:nvSpPr>
        <p:spPr>
          <a:xfrm>
            <a:off x="3672840" y="3557016"/>
            <a:ext cx="67056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 txBox="1"/>
          <p:nvPr/>
        </p:nvSpPr>
        <p:spPr>
          <a:xfrm>
            <a:off x="3691128" y="3557016"/>
            <a:ext cx="63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</a:t>
            </a:r>
            <a:endParaRPr lang="en-US" sz="900" dirty="0"/>
          </a:p>
        </p:txBody>
      </p:sp>
      <p:sp>
        <p:nvSpPr>
          <p:cNvPr id="45" name="arrow"/>
          <p:cNvSpPr/>
          <p:nvPr/>
        </p:nvSpPr>
        <p:spPr>
          <a:xfrm>
            <a:off x="3508248" y="3762756"/>
            <a:ext cx="146304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1965960" y="40370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modem and WAP often in the same box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938528" y="417880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Routers, switches, hubs, cables, WAPs and NICs</a:t>
            </a:r>
            <a:endParaRPr lang="en-US" sz="1100" dirty="0"/>
          </a:p>
        </p:txBody>
      </p:sp>
      <p:sp>
        <p:nvSpPr>
          <p:cNvPr id="48" name="Card"/>
          <p:cNvSpPr/>
          <p:nvPr/>
        </p:nvSpPr>
        <p:spPr>
          <a:xfrm>
            <a:off x="4663439" y="2990088"/>
            <a:ext cx="3404319" cy="178308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 txBox="1"/>
          <p:nvPr/>
        </p:nvSpPr>
        <p:spPr>
          <a:xfrm>
            <a:off x="4773168" y="30449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Client-server and P2P</a:t>
            </a:r>
            <a:endParaRPr lang="en-US" sz="1400" dirty="0"/>
          </a:p>
        </p:txBody>
      </p:sp>
      <p:sp>
        <p:nvSpPr>
          <p:cNvPr id="50" name="box Server"/>
          <p:cNvSpPr/>
          <p:nvPr/>
        </p:nvSpPr>
        <p:spPr>
          <a:xfrm>
            <a:off x="5166360" y="3392424"/>
            <a:ext cx="457200" cy="237744"/>
          </a:xfrm>
          <a:prstGeom prst="roundRect">
            <a:avLst>
              <a:gd name="adj" fmla="val 46154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 txBox="1"/>
          <p:nvPr/>
        </p:nvSpPr>
        <p:spPr>
          <a:xfrm>
            <a:off x="5184648" y="339242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800" dirty="0"/>
          </a:p>
        </p:txBody>
      </p:sp>
      <p:sp>
        <p:nvSpPr>
          <p:cNvPr id="52" name="box Client"/>
          <p:cNvSpPr/>
          <p:nvPr/>
        </p:nvSpPr>
        <p:spPr>
          <a:xfrm>
            <a:off x="4818888" y="3730752"/>
            <a:ext cx="420624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 txBox="1"/>
          <p:nvPr/>
        </p:nvSpPr>
        <p:spPr>
          <a:xfrm>
            <a:off x="4837176" y="37307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700" dirty="0"/>
          </a:p>
        </p:txBody>
      </p:sp>
      <p:sp>
        <p:nvSpPr>
          <p:cNvPr id="54" name="line"/>
          <p:cNvSpPr/>
          <p:nvPr/>
        </p:nvSpPr>
        <p:spPr>
          <a:xfrm flipV="1">
            <a:off x="5029200" y="3630168"/>
            <a:ext cx="365760" cy="100584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box Client"/>
          <p:cNvSpPr/>
          <p:nvPr/>
        </p:nvSpPr>
        <p:spPr>
          <a:xfrm>
            <a:off x="5276088" y="3730752"/>
            <a:ext cx="420624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 txBox="1"/>
          <p:nvPr/>
        </p:nvSpPr>
        <p:spPr>
          <a:xfrm>
            <a:off x="5294376" y="37307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700" dirty="0"/>
          </a:p>
        </p:txBody>
      </p:sp>
      <p:sp>
        <p:nvSpPr>
          <p:cNvPr id="57" name="line"/>
          <p:cNvSpPr/>
          <p:nvPr/>
        </p:nvSpPr>
        <p:spPr>
          <a:xfrm>
            <a:off x="5394960" y="3630168"/>
            <a:ext cx="91440" cy="100584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box Client"/>
          <p:cNvSpPr/>
          <p:nvPr/>
        </p:nvSpPr>
        <p:spPr>
          <a:xfrm>
            <a:off x="5733288" y="3730752"/>
            <a:ext cx="420624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5751576" y="37307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700" dirty="0"/>
          </a:p>
        </p:txBody>
      </p:sp>
      <p:sp>
        <p:nvSpPr>
          <p:cNvPr id="60" name="line"/>
          <p:cNvSpPr/>
          <p:nvPr/>
        </p:nvSpPr>
        <p:spPr>
          <a:xfrm>
            <a:off x="5394960" y="3630168"/>
            <a:ext cx="548640" cy="100584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box Peer"/>
          <p:cNvSpPr/>
          <p:nvPr/>
        </p:nvSpPr>
        <p:spPr>
          <a:xfrm>
            <a:off x="6777079" y="3392424"/>
            <a:ext cx="457200" cy="237744"/>
          </a:xfrm>
          <a:prstGeom prst="roundRect">
            <a:avLst>
              <a:gd name="adj" fmla="val 46154"/>
            </a:avLst>
          </a:prstGeom>
          <a:solidFill>
            <a:srgbClr val="EEF2F7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 txBox="1"/>
          <p:nvPr/>
        </p:nvSpPr>
        <p:spPr>
          <a:xfrm>
            <a:off x="6784848" y="339242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</a:t>
            </a:r>
            <a:endParaRPr lang="en-US" sz="800" dirty="0"/>
          </a:p>
        </p:txBody>
      </p:sp>
      <p:sp>
        <p:nvSpPr>
          <p:cNvPr id="63" name="box Peer"/>
          <p:cNvSpPr/>
          <p:nvPr/>
        </p:nvSpPr>
        <p:spPr>
          <a:xfrm>
            <a:off x="6437376" y="3703320"/>
            <a:ext cx="457200" cy="237744"/>
          </a:xfrm>
          <a:prstGeom prst="roundRect">
            <a:avLst>
              <a:gd name="adj" fmla="val 46154"/>
            </a:avLst>
          </a:prstGeom>
          <a:solidFill>
            <a:srgbClr val="EEF2F7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 txBox="1"/>
          <p:nvPr/>
        </p:nvSpPr>
        <p:spPr>
          <a:xfrm>
            <a:off x="6441948" y="371246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</a:t>
            </a:r>
            <a:endParaRPr lang="en-US" sz="800" dirty="0"/>
          </a:p>
        </p:txBody>
      </p:sp>
      <p:sp>
        <p:nvSpPr>
          <p:cNvPr id="65" name="box Peer"/>
          <p:cNvSpPr/>
          <p:nvPr/>
        </p:nvSpPr>
        <p:spPr>
          <a:xfrm>
            <a:off x="7114032" y="3689847"/>
            <a:ext cx="457200" cy="237744"/>
          </a:xfrm>
          <a:prstGeom prst="roundRect">
            <a:avLst>
              <a:gd name="adj" fmla="val 46154"/>
            </a:avLst>
          </a:prstGeom>
          <a:solidFill>
            <a:srgbClr val="EEF2F7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127748" y="371246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</a:t>
            </a:r>
            <a:endParaRPr lang="en-US" sz="800" dirty="0"/>
          </a:p>
        </p:txBody>
      </p:sp>
      <p:sp>
        <p:nvSpPr>
          <p:cNvPr id="67" name="l1"/>
          <p:cNvSpPr/>
          <p:nvPr/>
        </p:nvSpPr>
        <p:spPr>
          <a:xfrm flipV="1">
            <a:off x="6652260" y="3630168"/>
            <a:ext cx="342900" cy="64008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l2"/>
          <p:cNvSpPr/>
          <p:nvPr/>
        </p:nvSpPr>
        <p:spPr>
          <a:xfrm>
            <a:off x="6995160" y="3630168"/>
            <a:ext cx="342900" cy="64008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l3"/>
          <p:cNvSpPr/>
          <p:nvPr/>
        </p:nvSpPr>
        <p:spPr>
          <a:xfrm>
            <a:off x="6880860" y="3813048"/>
            <a:ext cx="228600" cy="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 txBox="1"/>
          <p:nvPr/>
        </p:nvSpPr>
        <p:spPr>
          <a:xfrm>
            <a:off x="4800600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client-server | peer-to-peer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4773168" y="417880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holds the files and does the work</a:t>
            </a:r>
            <a:endParaRPr lang="en-US" sz="1100" dirty="0"/>
          </a:p>
        </p:txBody>
      </p:sp>
      <p:sp>
        <p:nvSpPr>
          <p:cNvPr id="7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 vs WAN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1828800" y="118872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1938528" y="124358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</a:t>
            </a:r>
            <a:endParaRPr lang="en-US" sz="1400" dirty="0"/>
          </a:p>
        </p:txBody>
      </p:sp>
      <p:sp>
        <p:nvSpPr>
          <p:cNvPr id="5" name="LAN outline"/>
          <p:cNvSpPr/>
          <p:nvPr/>
        </p:nvSpPr>
        <p:spPr>
          <a:xfrm>
            <a:off x="2148840" y="1591056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box Router"/>
          <p:cNvSpPr/>
          <p:nvPr/>
        </p:nvSpPr>
        <p:spPr>
          <a:xfrm>
            <a:off x="2788920" y="1682496"/>
            <a:ext cx="731520" cy="256032"/>
          </a:xfrm>
          <a:prstGeom prst="roundRect">
            <a:avLst>
              <a:gd name="adj" fmla="val 42857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2807208" y="168249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900" dirty="0"/>
          </a:p>
        </p:txBody>
      </p:sp>
      <p:sp>
        <p:nvSpPr>
          <p:cNvPr id="8" name="box PC"/>
          <p:cNvSpPr/>
          <p:nvPr/>
        </p:nvSpPr>
        <p:spPr>
          <a:xfrm>
            <a:off x="2377440" y="2487168"/>
            <a:ext cx="50292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2395728" y="248716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900" dirty="0"/>
          </a:p>
        </p:txBody>
      </p:sp>
      <p:sp>
        <p:nvSpPr>
          <p:cNvPr id="10" name="line"/>
          <p:cNvSpPr/>
          <p:nvPr/>
        </p:nvSpPr>
        <p:spPr>
          <a:xfrm flipV="1">
            <a:off x="2628900" y="1938528"/>
            <a:ext cx="525780" cy="54864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box PC"/>
          <p:cNvSpPr/>
          <p:nvPr/>
        </p:nvSpPr>
        <p:spPr>
          <a:xfrm>
            <a:off x="2903220" y="2487168"/>
            <a:ext cx="50292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2921508" y="248716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900" dirty="0"/>
          </a:p>
        </p:txBody>
      </p:sp>
      <p:sp>
        <p:nvSpPr>
          <p:cNvPr id="13" name="line"/>
          <p:cNvSpPr/>
          <p:nvPr/>
        </p:nvSpPr>
        <p:spPr>
          <a:xfrm>
            <a:off x="3154680" y="1938528"/>
            <a:ext cx="0" cy="54864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box PC"/>
          <p:cNvSpPr/>
          <p:nvPr/>
        </p:nvSpPr>
        <p:spPr>
          <a:xfrm>
            <a:off x="3429000" y="2487168"/>
            <a:ext cx="50292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447288" y="248716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900" dirty="0"/>
          </a:p>
        </p:txBody>
      </p:sp>
      <p:sp>
        <p:nvSpPr>
          <p:cNvPr id="16" name="line"/>
          <p:cNvSpPr/>
          <p:nvPr/>
        </p:nvSpPr>
        <p:spPr>
          <a:xfrm>
            <a:off x="3154680" y="1938528"/>
            <a:ext cx="525780" cy="54864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1938528" y="301752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area, one site, owned by the organisation. Home, school, office. Fast, low latency.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663440" y="118872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4773168" y="124358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</a:t>
            </a:r>
            <a:endParaRPr lang="en-US" sz="1400" dirty="0"/>
          </a:p>
        </p:txBody>
      </p:sp>
      <p:sp>
        <p:nvSpPr>
          <p:cNvPr id="20" name="LAN box"/>
          <p:cNvSpPr/>
          <p:nvPr/>
        </p:nvSpPr>
        <p:spPr>
          <a:xfrm>
            <a:off x="4800600" y="1591056"/>
            <a:ext cx="914400" cy="1280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80060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</a:t>
            </a:r>
            <a:endParaRPr lang="en-US" sz="900" dirty="0"/>
          </a:p>
        </p:txBody>
      </p:sp>
      <p:sp>
        <p:nvSpPr>
          <p:cNvPr id="23" name="LAN box"/>
          <p:cNvSpPr/>
          <p:nvPr/>
        </p:nvSpPr>
        <p:spPr>
          <a:xfrm>
            <a:off x="6263640" y="1591056"/>
            <a:ext cx="914400" cy="12801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626364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</a:t>
            </a:r>
            <a:endParaRPr lang="en-US" sz="900" dirty="0"/>
          </a:p>
        </p:txBody>
      </p:sp>
      <p:sp>
        <p:nvSpPr>
          <p:cNvPr id="26" name="link"/>
          <p:cNvSpPr/>
          <p:nvPr/>
        </p:nvSpPr>
        <p:spPr>
          <a:xfrm>
            <a:off x="5760720" y="2212848"/>
            <a:ext cx="45720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5715000" y="23042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leased lines, internet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773168" y="301752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area, links LANs together over third-party links. The internet is the biggest WAN. Slower, higher latency.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Networks, LAN and WAN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what a network is, then compare a LAN with a WAN.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Network hardware and design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the hardware that builds and connects a network, then draw a network that uses it.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Debate: wired or wireless?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case for your side, then take part in the debate and make notes from the discussion.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Debate: cables or Wi-Fi?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21280" cy="2743200"/>
          </a:xfrm>
          <a:prstGeom prst="roundRect">
            <a:avLst>
              <a:gd name="adj" fmla="val 4186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234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all 10 computers to a switch with cables.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261360" y="1188720"/>
            <a:ext cx="2621280" cy="2743200"/>
          </a:xfrm>
          <a:prstGeom prst="roundRect">
            <a:avLst>
              <a:gd name="adj" fmla="val 4186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3398520" y="128016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98520" y="1783080"/>
            <a:ext cx="234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them by Wi-Fi through wireless access points.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065520" y="1188720"/>
            <a:ext cx="2621280" cy="2743200"/>
          </a:xfrm>
          <a:prstGeom prst="roundRect">
            <a:avLst>
              <a:gd name="adj" fmla="val 4186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202680" y="128016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02680" y="1783080"/>
            <a:ext cx="234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cost, reliability, which cable type, and the hardware each option needs.</a:t>
            </a:r>
            <a:endParaRPr lang="en-US" sz="1600" dirty="0"/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answers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ANSWERS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1A: what is a network?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68580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network: two or more computing devices connected, by cable or wireless, so they can transmit data</a:t>
            </a:r>
            <a:endParaRPr lang="en-US" sz="1600" dirty="0"/>
          </a:p>
        </p:txBody>
      </p:sp>
      <p:sp>
        <p:nvSpPr>
          <p:cNvPr id="7" name="@2 Card"/>
          <p:cNvSpPr/>
          <p:nvPr/>
        </p:nvSpPr>
        <p:spPr>
          <a:xfrm>
            <a:off x="457200" y="2039112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2 addText"/>
          <p:cNvSpPr txBox="1"/>
          <p:nvPr/>
        </p:nvSpPr>
        <p:spPr>
          <a:xfrm>
            <a:off x="685800" y="203911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(OCR mark schemes): share hardware, files and the internet connection; communicate between machines; any machine can be used; central security, backup and updates; easier to maintain</a:t>
            </a:r>
            <a:endParaRPr lang="en-US" sz="1600" dirty="0"/>
          </a:p>
        </p:txBody>
      </p:sp>
      <p:sp>
        <p:nvSpPr>
          <p:cNvPr id="9" name="@3 Card"/>
          <p:cNvSpPr/>
          <p:nvPr/>
        </p:nvSpPr>
        <p:spPr>
          <a:xfrm>
            <a:off x="457200" y="2889504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3 addText"/>
          <p:cNvSpPr txBox="1"/>
          <p:nvPr/>
        </p:nvSpPr>
        <p:spPr>
          <a:xfrm>
            <a:off x="685800" y="2889504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Disadvantages: malware and viruses spread more easily; if a server fails, connected computers may stop working; heavy traffic can slow computers; data is more widely available so security is more of a risk</a:t>
            </a:r>
            <a:endParaRPr lang="en-US" sz="1600" dirty="0"/>
          </a:p>
        </p:txBody>
      </p:sp>
      <p:sp>
        <p:nvSpPr>
          <p:cNvPr id="11" name="@4 Card"/>
          <p:cNvSpPr/>
          <p:nvPr/>
        </p:nvSpPr>
        <p:spPr>
          <a:xfrm>
            <a:off x="457200" y="3739896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4 addText"/>
          <p:cNvSpPr txBox="1"/>
          <p:nvPr/>
        </p:nvSpPr>
        <p:spPr>
          <a:xfrm>
            <a:off x="685800" y="373989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small, a home network or a classroom; large, a school, a company or the internet</a:t>
            </a:r>
            <a:endParaRPr lang="en-US" sz="16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1B: LAN vs WAN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247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Geographic scope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area: a home, office or building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area: cities, countries, continents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speed, e.g. 100 Mbps to 10 Gbps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Slower, varies with the technology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person or organisation owns and maintains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Several telecoms providers and public infrastructure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Wi-Fi, school computer labs, office networks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Internet, leased lines, public Wi-Fi hotspots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the internet a LAN or WAN?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Yes: the biggest WAN, a network of networks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2A: hardware (1/2)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6745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 or WAN?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Turns digital data into analogue signals for phone or cable lines, and back, to reach the ISP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Routes data between networks, such as a LAN and the internet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Both: the edge of the LAN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Connects LAN devices and sends data only to the device it is for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2A: hardware (2/2)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0236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 or WAN?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Connects devices in a LAN but copies all data to every device, so traffic floods the network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Creates a wireless LAN by connecting to a wired router or switch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Lets a computer connect to a network, wired or wireless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2A: cables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0236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Bandwidth, cost and noise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Twisted pair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bandwidth, cheapest, most affected by noise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Telephone and data networks, office LANs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Coaxial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bandwidth, costs more than twisted pair but less than fibre, less affected by noise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Aerial and cable TV feeds, linking radio equipment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Fibre optic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bandwidth, most expensive, light so not affected by electrical noise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distance links between cities and countries, data centres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2B: the drawing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685800" y="1188720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office LAN: computers, printer and server cabled to a switch (not a hub), a WAP for Wi-Fi, and a router with a modem at the edge</a:t>
            </a:r>
            <a:endParaRPr lang="en-US" sz="1400" dirty="0"/>
          </a:p>
        </p:txBody>
      </p:sp>
      <p:sp>
        <p:nvSpPr>
          <p:cNvPr id="7" name="@2 Card"/>
          <p:cNvSpPr/>
          <p:nvPr/>
        </p:nvSpPr>
        <p:spPr>
          <a:xfrm>
            <a:off x="457200" y="188000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2 addText"/>
          <p:cNvSpPr txBox="1"/>
          <p:nvPr/>
        </p:nvSpPr>
        <p:spPr>
          <a:xfrm>
            <a:off x="685800" y="188000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office LAN: 5 computers on a switch with its own router and modem</a:t>
            </a:r>
            <a:endParaRPr lang="en-US" sz="1400" dirty="0"/>
          </a:p>
        </p:txBody>
      </p:sp>
      <p:sp>
        <p:nvSpPr>
          <p:cNvPr id="9" name="@3 Card"/>
          <p:cNvSpPr/>
          <p:nvPr/>
        </p:nvSpPr>
        <p:spPr>
          <a:xfrm>
            <a:off x="457200" y="2571293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3 addText"/>
          <p:cNvSpPr txBox="1"/>
          <p:nvPr/>
        </p:nvSpPr>
        <p:spPr>
          <a:xfrm>
            <a:off x="685800" y="2571293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sites joined across the internet: this part is the WAN, owned by telecoms companies, and each LAN is owned by the company</a:t>
            </a:r>
            <a:endParaRPr lang="en-US" sz="1400" dirty="0"/>
          </a:p>
        </p:txBody>
      </p:sp>
      <p:sp>
        <p:nvSpPr>
          <p:cNvPr id="11" name="@4 Card"/>
          <p:cNvSpPr/>
          <p:nvPr/>
        </p:nvSpPr>
        <p:spPr>
          <a:xfrm>
            <a:off x="457200" y="3262579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4 addText"/>
          <p:cNvSpPr txBox="1"/>
          <p:nvPr/>
        </p:nvSpPr>
        <p:spPr>
          <a:xfrm>
            <a:off x="685800" y="3262579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 labelled: twisted pair inside the buildings, fibre optic for a long run or a link between switches, with a reason</a:t>
            </a:r>
            <a:endParaRPr lang="en-US" sz="1400" dirty="0"/>
          </a:p>
        </p:txBody>
      </p:sp>
      <p:sp>
        <p:nvSpPr>
          <p:cNvPr id="13" name="@5 Card"/>
          <p:cNvSpPr/>
          <p:nvPr/>
        </p:nvSpPr>
        <p:spPr>
          <a:xfrm>
            <a:off x="457200" y="395386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5 addText"/>
          <p:cNvSpPr txBox="1"/>
          <p:nvPr/>
        </p:nvSpPr>
        <p:spPr>
          <a:xfrm>
            <a:off x="685800" y="395386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Justify: a switch sends data only to the right device so there is less traffic and it is faster, a hub floods every device</a:t>
            </a:r>
            <a:endParaRPr lang="en-US" sz="14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LAN and WAN diagram</a:t>
            </a:r>
            <a:endParaRPr lang="en-US" sz="3000" dirty="0"/>
          </a:p>
        </p:txBody>
      </p:sp>
      <p:sp>
        <p:nvSpPr>
          <p:cNvPr id="3" name="@1 LAN: head office outline"/>
          <p:cNvSpPr/>
          <p:nvPr/>
        </p:nvSpPr>
        <p:spPr>
          <a:xfrm>
            <a:off x="457200" y="118872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58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@1 addText"/>
          <p:cNvSpPr txBox="1"/>
          <p:nvPr/>
        </p:nvSpPr>
        <p:spPr>
          <a:xfrm>
            <a:off x="594360" y="12252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LAN: head office</a:t>
            </a:r>
            <a:endParaRPr lang="en-US" sz="1500" dirty="0"/>
          </a:p>
        </p:txBody>
      </p:sp>
      <p:sp>
        <p:nvSpPr>
          <p:cNvPr id="5" name="@1 Router"/>
          <p:cNvSpPr/>
          <p:nvPr/>
        </p:nvSpPr>
        <p:spPr>
          <a:xfrm>
            <a:off x="1325880" y="164592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1325880" y="1645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100" dirty="0"/>
          </a:p>
        </p:txBody>
      </p:sp>
      <p:sp>
        <p:nvSpPr>
          <p:cNvPr id="7" name="@1 PC"/>
          <p:cNvSpPr/>
          <p:nvPr/>
        </p:nvSpPr>
        <p:spPr>
          <a:xfrm>
            <a:off x="64008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6400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100" dirty="0"/>
          </a:p>
        </p:txBody>
      </p:sp>
      <p:sp>
        <p:nvSpPr>
          <p:cNvPr id="9" name="@1 line"/>
          <p:cNvSpPr/>
          <p:nvPr/>
        </p:nvSpPr>
        <p:spPr>
          <a:xfrm flipV="1">
            <a:off x="1005840" y="2011680"/>
            <a:ext cx="82296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1 PC"/>
          <p:cNvSpPr/>
          <p:nvPr/>
        </p:nvSpPr>
        <p:spPr>
          <a:xfrm>
            <a:off x="150876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@1 addText"/>
          <p:cNvSpPr txBox="1"/>
          <p:nvPr/>
        </p:nvSpPr>
        <p:spPr>
          <a:xfrm>
            <a:off x="150876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100" dirty="0"/>
          </a:p>
        </p:txBody>
      </p:sp>
      <p:sp>
        <p:nvSpPr>
          <p:cNvPr id="12" name="@1 line"/>
          <p:cNvSpPr/>
          <p:nvPr/>
        </p:nvSpPr>
        <p:spPr>
          <a:xfrm>
            <a:off x="1828800" y="2011680"/>
            <a:ext cx="4572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@1 Printer"/>
          <p:cNvSpPr/>
          <p:nvPr/>
        </p:nvSpPr>
        <p:spPr>
          <a:xfrm>
            <a:off x="237744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1 addText"/>
          <p:cNvSpPr txBox="1"/>
          <p:nvPr/>
        </p:nvSpPr>
        <p:spPr>
          <a:xfrm>
            <a:off x="23774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1100" dirty="0"/>
          </a:p>
        </p:txBody>
      </p:sp>
      <p:sp>
        <p:nvSpPr>
          <p:cNvPr id="15" name="@1 line"/>
          <p:cNvSpPr/>
          <p:nvPr/>
        </p:nvSpPr>
        <p:spPr>
          <a:xfrm>
            <a:off x="1828800" y="2011680"/>
            <a:ext cx="91440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@1 addText"/>
          <p:cNvSpPr txBox="1"/>
          <p:nvPr/>
        </p:nvSpPr>
        <p:spPr>
          <a:xfrm>
            <a:off x="59436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area, one site. Owned and managed by the company.</a:t>
            </a:r>
            <a:endParaRPr lang="en-US" sz="1200" dirty="0"/>
          </a:p>
        </p:txBody>
      </p:sp>
      <p:sp>
        <p:nvSpPr>
          <p:cNvPr id="17" name="@2 LAN: branch office outline"/>
          <p:cNvSpPr/>
          <p:nvPr/>
        </p:nvSpPr>
        <p:spPr>
          <a:xfrm>
            <a:off x="5943600" y="118872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58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2 addText"/>
          <p:cNvSpPr txBox="1"/>
          <p:nvPr/>
        </p:nvSpPr>
        <p:spPr>
          <a:xfrm>
            <a:off x="6080760" y="12252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LAN: branch office</a:t>
            </a:r>
            <a:endParaRPr lang="en-US" sz="1500" dirty="0"/>
          </a:p>
        </p:txBody>
      </p:sp>
      <p:sp>
        <p:nvSpPr>
          <p:cNvPr id="19" name="@2 Router"/>
          <p:cNvSpPr/>
          <p:nvPr/>
        </p:nvSpPr>
        <p:spPr>
          <a:xfrm>
            <a:off x="6812280" y="164592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@2 addText"/>
          <p:cNvSpPr txBox="1"/>
          <p:nvPr/>
        </p:nvSpPr>
        <p:spPr>
          <a:xfrm>
            <a:off x="6812280" y="1645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100" dirty="0"/>
          </a:p>
        </p:txBody>
      </p:sp>
      <p:sp>
        <p:nvSpPr>
          <p:cNvPr id="21" name="@2 PC"/>
          <p:cNvSpPr/>
          <p:nvPr/>
        </p:nvSpPr>
        <p:spPr>
          <a:xfrm>
            <a:off x="612648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@2 addText"/>
          <p:cNvSpPr txBox="1"/>
          <p:nvPr/>
        </p:nvSpPr>
        <p:spPr>
          <a:xfrm>
            <a:off x="61264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100" dirty="0"/>
          </a:p>
        </p:txBody>
      </p:sp>
      <p:sp>
        <p:nvSpPr>
          <p:cNvPr id="23" name="@2 line"/>
          <p:cNvSpPr/>
          <p:nvPr/>
        </p:nvSpPr>
        <p:spPr>
          <a:xfrm flipV="1">
            <a:off x="6492240" y="2011680"/>
            <a:ext cx="82296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@2 PC"/>
          <p:cNvSpPr/>
          <p:nvPr/>
        </p:nvSpPr>
        <p:spPr>
          <a:xfrm>
            <a:off x="699516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@2 addText"/>
          <p:cNvSpPr txBox="1"/>
          <p:nvPr/>
        </p:nvSpPr>
        <p:spPr>
          <a:xfrm>
            <a:off x="699516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100" dirty="0"/>
          </a:p>
        </p:txBody>
      </p:sp>
      <p:sp>
        <p:nvSpPr>
          <p:cNvPr id="26" name="@2 line"/>
          <p:cNvSpPr/>
          <p:nvPr/>
        </p:nvSpPr>
        <p:spPr>
          <a:xfrm>
            <a:off x="7315200" y="2011680"/>
            <a:ext cx="4572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@2 Printer"/>
          <p:cNvSpPr/>
          <p:nvPr/>
        </p:nvSpPr>
        <p:spPr>
          <a:xfrm>
            <a:off x="786384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@2 addText"/>
          <p:cNvSpPr txBox="1"/>
          <p:nvPr/>
        </p:nvSpPr>
        <p:spPr>
          <a:xfrm>
            <a:off x="78638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1100" dirty="0"/>
          </a:p>
        </p:txBody>
      </p:sp>
      <p:sp>
        <p:nvSpPr>
          <p:cNvPr id="29" name="@2 line"/>
          <p:cNvSpPr/>
          <p:nvPr/>
        </p:nvSpPr>
        <p:spPr>
          <a:xfrm>
            <a:off x="7315200" y="2011680"/>
            <a:ext cx="91440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@2 addText"/>
          <p:cNvSpPr txBox="1"/>
          <p:nvPr/>
        </p:nvSpPr>
        <p:spPr>
          <a:xfrm>
            <a:off x="608076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area, another site. Owned and managed by the company.</a:t>
            </a:r>
            <a:endParaRPr lang="en-US" sz="1200" dirty="0"/>
          </a:p>
        </p:txBody>
      </p:sp>
      <p:sp>
        <p:nvSpPr>
          <p:cNvPr id="31" name="@3 link to branch"/>
          <p:cNvSpPr/>
          <p:nvPr/>
        </p:nvSpPr>
        <p:spPr>
          <a:xfrm>
            <a:off x="3246120" y="1828800"/>
            <a:ext cx="2651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@3 link to head office"/>
          <p:cNvSpPr/>
          <p:nvPr/>
        </p:nvSpPr>
        <p:spPr>
          <a:xfrm flipH="1">
            <a:off x="3246120" y="2286000"/>
            <a:ext cx="2651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@3 WAN note"/>
          <p:cNvSpPr/>
          <p:nvPr/>
        </p:nvSpPr>
        <p:spPr>
          <a:xfrm>
            <a:off x="3429000" y="274320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@3 addText"/>
          <p:cNvSpPr txBox="1"/>
          <p:nvPr/>
        </p:nvSpPr>
        <p:spPr>
          <a:xfrm>
            <a:off x="352044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WAN: large area, links the LANs over leased lines and the internet, owned by telecoms companies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debate points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@1 addText"/>
          <p:cNvSpPr txBox="1"/>
          <p:nvPr/>
        </p:nvSpPr>
        <p:spPr>
          <a:xfrm>
            <a:off x="685800" y="1188720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Cables: faster, steadier and not weakened by walls or distance, and fibre optic resists noise best. But every computer needs a cable run and a switch port, so adding or moving one is harder</a:t>
            </a:r>
            <a:endParaRPr lang="en-US" sz="1400" dirty="0"/>
          </a:p>
        </p:txBody>
      </p:sp>
      <p:sp>
        <p:nvSpPr>
          <p:cNvPr id="7" name="@2 Card"/>
          <p:cNvSpPr/>
          <p:nvPr/>
        </p:nvSpPr>
        <p:spPr>
          <a:xfrm>
            <a:off x="457200" y="188000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2 addText"/>
          <p:cNvSpPr txBox="1"/>
          <p:nvPr/>
        </p:nvSpPr>
        <p:spPr>
          <a:xfrm>
            <a:off x="685800" y="188000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Wi-Fi: no cable runs, laptops can move, a new computer joins quickly and a WAP is cheap. But the signal weakens through walls and distance, and a WAP's speed is shared</a:t>
            </a:r>
            <a:endParaRPr lang="en-US" sz="1400" dirty="0"/>
          </a:p>
        </p:txBody>
      </p:sp>
      <p:sp>
        <p:nvSpPr>
          <p:cNvPr id="9" name="@3 Card"/>
          <p:cNvSpPr/>
          <p:nvPr/>
        </p:nvSpPr>
        <p:spPr>
          <a:xfrm>
            <a:off x="457200" y="2571293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@3 addText"/>
          <p:cNvSpPr txBox="1"/>
          <p:nvPr/>
        </p:nvSpPr>
        <p:spPr>
          <a:xfrm>
            <a:off x="685800" y="2571293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cables need a switch, a NIC and a cable type. Wi-Fi needs WAPs and wireless NICs, and each WAP is still cabled to the switch</a:t>
            </a:r>
            <a:endParaRPr lang="en-US" sz="1400" dirty="0"/>
          </a:p>
        </p:txBody>
      </p:sp>
      <p:sp>
        <p:nvSpPr>
          <p:cNvPr id="11" name="@4 Card"/>
          <p:cNvSpPr/>
          <p:nvPr/>
        </p:nvSpPr>
        <p:spPr>
          <a:xfrm>
            <a:off x="457200" y="3262579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4 addText"/>
          <p:cNvSpPr txBox="1"/>
          <p:nvPr/>
        </p:nvSpPr>
        <p:spPr>
          <a:xfrm>
            <a:off x="685800" y="3262579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answer: use both. Cable the server, printer and desktops, and use Wi-Fi for laptops and visitors</a:t>
            </a:r>
            <a:endParaRPr lang="en-US" sz="1400" dirty="0"/>
          </a:p>
        </p:txBody>
      </p:sp>
      <p:sp>
        <p:nvSpPr>
          <p:cNvPr id="13" name="@5 Card"/>
          <p:cNvSpPr/>
          <p:nvPr/>
        </p:nvSpPr>
        <p:spPr>
          <a:xfrm>
            <a:off x="457200" y="395386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@5 addText"/>
          <p:cNvSpPr txBox="1"/>
          <p:nvPr/>
        </p:nvSpPr>
        <p:spPr>
          <a:xfrm>
            <a:off x="685800" y="395386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question: link the head office to the branch. The link between the sites is the WAN, run over third party lines owned by telecoms companies</a:t>
            </a:r>
            <a:endParaRPr lang="en-US" sz="14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cables or Wi-Fi in the head office</a:t>
            </a:r>
            <a:endParaRPr lang="en-US" sz="3000" dirty="0"/>
          </a:p>
        </p:txBody>
      </p:sp>
      <p:sp>
        <p:nvSpPr>
          <p:cNvPr id="3" name="CABLES panel"/>
          <p:cNvSpPr/>
          <p:nvPr/>
        </p:nvSpPr>
        <p:spPr>
          <a:xfrm>
            <a:off x="36576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EEF2F7"/>
          </a:solidFill>
          <a:ln w="158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02920" y="1133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</a:t>
            </a:r>
            <a:endParaRPr lang="en-US" sz="1500" dirty="0"/>
          </a:p>
        </p:txBody>
      </p:sp>
      <p:sp>
        <p:nvSpPr>
          <p:cNvPr id="5" name="box Server"/>
          <p:cNvSpPr/>
          <p:nvPr/>
        </p:nvSpPr>
        <p:spPr>
          <a:xfrm>
            <a:off x="548640" y="155448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7" name="box Router"/>
          <p:cNvSpPr/>
          <p:nvPr/>
        </p:nvSpPr>
        <p:spPr>
          <a:xfrm>
            <a:off x="1920240" y="155448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192024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900" dirty="0"/>
          </a:p>
        </p:txBody>
      </p:sp>
      <p:sp>
        <p:nvSpPr>
          <p:cNvPr id="9" name="box Printer"/>
          <p:cNvSpPr/>
          <p:nvPr/>
        </p:nvSpPr>
        <p:spPr>
          <a:xfrm>
            <a:off x="3474720" y="155448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4747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900" dirty="0"/>
          </a:p>
        </p:txBody>
      </p:sp>
      <p:sp>
        <p:nvSpPr>
          <p:cNvPr id="11" name="box Switch"/>
          <p:cNvSpPr/>
          <p:nvPr/>
        </p:nvSpPr>
        <p:spPr>
          <a:xfrm>
            <a:off x="548640" y="2103120"/>
            <a:ext cx="3657600" cy="292608"/>
          </a:xfrm>
          <a:prstGeom prst="roundRect">
            <a:avLst>
              <a:gd name="adj" fmla="val 375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4864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000" dirty="0"/>
          </a:p>
        </p:txBody>
      </p:sp>
      <p:sp>
        <p:nvSpPr>
          <p:cNvPr id="13" name="cable"/>
          <p:cNvSpPr/>
          <p:nvPr/>
        </p:nvSpPr>
        <p:spPr>
          <a:xfrm>
            <a:off x="91440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cable"/>
          <p:cNvSpPr/>
          <p:nvPr/>
        </p:nvSpPr>
        <p:spPr>
          <a:xfrm>
            <a:off x="237744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cable"/>
          <p:cNvSpPr/>
          <p:nvPr/>
        </p:nvSpPr>
        <p:spPr>
          <a:xfrm>
            <a:off x="384048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box PC"/>
          <p:cNvSpPr/>
          <p:nvPr/>
        </p:nvSpPr>
        <p:spPr>
          <a:xfrm>
            <a:off x="548640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548640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18" name="cable"/>
          <p:cNvSpPr/>
          <p:nvPr/>
        </p:nvSpPr>
        <p:spPr>
          <a:xfrm>
            <a:off x="722376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box PC"/>
          <p:cNvSpPr/>
          <p:nvPr/>
        </p:nvSpPr>
        <p:spPr>
          <a:xfrm>
            <a:off x="916432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916432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21" name="cable"/>
          <p:cNvSpPr/>
          <p:nvPr/>
        </p:nvSpPr>
        <p:spPr>
          <a:xfrm>
            <a:off x="1090168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box PC"/>
          <p:cNvSpPr/>
          <p:nvPr/>
        </p:nvSpPr>
        <p:spPr>
          <a:xfrm>
            <a:off x="1284224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1284224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24" name="cable"/>
          <p:cNvSpPr/>
          <p:nvPr/>
        </p:nvSpPr>
        <p:spPr>
          <a:xfrm>
            <a:off x="1457960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box PC"/>
          <p:cNvSpPr/>
          <p:nvPr/>
        </p:nvSpPr>
        <p:spPr>
          <a:xfrm>
            <a:off x="1652016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1652016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27" name="cable"/>
          <p:cNvSpPr/>
          <p:nvPr/>
        </p:nvSpPr>
        <p:spPr>
          <a:xfrm>
            <a:off x="1825752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box PC"/>
          <p:cNvSpPr/>
          <p:nvPr/>
        </p:nvSpPr>
        <p:spPr>
          <a:xfrm>
            <a:off x="2019808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2019808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0" name="cable"/>
          <p:cNvSpPr/>
          <p:nvPr/>
        </p:nvSpPr>
        <p:spPr>
          <a:xfrm>
            <a:off x="2193544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box PC"/>
          <p:cNvSpPr/>
          <p:nvPr/>
        </p:nvSpPr>
        <p:spPr>
          <a:xfrm>
            <a:off x="2387600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 txBox="1"/>
          <p:nvPr/>
        </p:nvSpPr>
        <p:spPr>
          <a:xfrm>
            <a:off x="2387600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3" name="cable"/>
          <p:cNvSpPr/>
          <p:nvPr/>
        </p:nvSpPr>
        <p:spPr>
          <a:xfrm>
            <a:off x="2561336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box PC"/>
          <p:cNvSpPr/>
          <p:nvPr/>
        </p:nvSpPr>
        <p:spPr>
          <a:xfrm>
            <a:off x="2755392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2755392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6" name="cable"/>
          <p:cNvSpPr/>
          <p:nvPr/>
        </p:nvSpPr>
        <p:spPr>
          <a:xfrm>
            <a:off x="2929128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box PC"/>
          <p:cNvSpPr/>
          <p:nvPr/>
        </p:nvSpPr>
        <p:spPr>
          <a:xfrm>
            <a:off x="3123184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 txBox="1"/>
          <p:nvPr/>
        </p:nvSpPr>
        <p:spPr>
          <a:xfrm>
            <a:off x="3123184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9" name="cable"/>
          <p:cNvSpPr/>
          <p:nvPr/>
        </p:nvSpPr>
        <p:spPr>
          <a:xfrm>
            <a:off x="3296920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box PC"/>
          <p:cNvSpPr/>
          <p:nvPr/>
        </p:nvSpPr>
        <p:spPr>
          <a:xfrm>
            <a:off x="3490976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3490976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42" name="cable"/>
          <p:cNvSpPr/>
          <p:nvPr/>
        </p:nvSpPr>
        <p:spPr>
          <a:xfrm>
            <a:off x="3664712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box PC"/>
          <p:cNvSpPr/>
          <p:nvPr/>
        </p:nvSpPr>
        <p:spPr>
          <a:xfrm>
            <a:off x="3858768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 txBox="1"/>
          <p:nvPr/>
        </p:nvSpPr>
        <p:spPr>
          <a:xfrm>
            <a:off x="3858768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45" name="cable"/>
          <p:cNvSpPr/>
          <p:nvPr/>
        </p:nvSpPr>
        <p:spPr>
          <a:xfrm>
            <a:off x="4032504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54864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computer is cabled to the switch with twisted pair. The router links on to the branch.</a:t>
            </a:r>
            <a:endParaRPr lang="en-US" sz="1200" dirty="0"/>
          </a:p>
        </p:txBody>
      </p:sp>
      <p:sp>
        <p:nvSpPr>
          <p:cNvPr id="47" name="WI-FI panel"/>
          <p:cNvSpPr/>
          <p:nvPr/>
        </p:nvSpPr>
        <p:spPr>
          <a:xfrm>
            <a:off x="475488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EEF2F7"/>
          </a:solidFill>
          <a:ln w="15875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 txBox="1"/>
          <p:nvPr/>
        </p:nvSpPr>
        <p:spPr>
          <a:xfrm>
            <a:off x="4892040" y="1133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1500" dirty="0"/>
          </a:p>
        </p:txBody>
      </p:sp>
      <p:sp>
        <p:nvSpPr>
          <p:cNvPr id="49" name="box Server"/>
          <p:cNvSpPr/>
          <p:nvPr/>
        </p:nvSpPr>
        <p:spPr>
          <a:xfrm>
            <a:off x="4937760" y="155448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9377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51" name="box Router"/>
          <p:cNvSpPr/>
          <p:nvPr/>
        </p:nvSpPr>
        <p:spPr>
          <a:xfrm>
            <a:off x="6309360" y="155448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63093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900" dirty="0"/>
          </a:p>
        </p:txBody>
      </p:sp>
      <p:sp>
        <p:nvSpPr>
          <p:cNvPr id="53" name="box Printer"/>
          <p:cNvSpPr/>
          <p:nvPr/>
        </p:nvSpPr>
        <p:spPr>
          <a:xfrm>
            <a:off x="7863840" y="155448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 txBox="1"/>
          <p:nvPr/>
        </p:nvSpPr>
        <p:spPr>
          <a:xfrm>
            <a:off x="78638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900" dirty="0"/>
          </a:p>
        </p:txBody>
      </p:sp>
      <p:sp>
        <p:nvSpPr>
          <p:cNvPr id="55" name="box Switch"/>
          <p:cNvSpPr/>
          <p:nvPr/>
        </p:nvSpPr>
        <p:spPr>
          <a:xfrm>
            <a:off x="4937760" y="2103120"/>
            <a:ext cx="3657600" cy="292608"/>
          </a:xfrm>
          <a:prstGeom prst="roundRect">
            <a:avLst>
              <a:gd name="adj" fmla="val 375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 txBox="1"/>
          <p:nvPr/>
        </p:nvSpPr>
        <p:spPr>
          <a:xfrm>
            <a:off x="493776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000" dirty="0"/>
          </a:p>
        </p:txBody>
      </p:sp>
      <p:sp>
        <p:nvSpPr>
          <p:cNvPr id="57" name="cable"/>
          <p:cNvSpPr/>
          <p:nvPr/>
        </p:nvSpPr>
        <p:spPr>
          <a:xfrm>
            <a:off x="530352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cable"/>
          <p:cNvSpPr/>
          <p:nvPr/>
        </p:nvSpPr>
        <p:spPr>
          <a:xfrm>
            <a:off x="676656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cable"/>
          <p:cNvSpPr/>
          <p:nvPr/>
        </p:nvSpPr>
        <p:spPr>
          <a:xfrm>
            <a:off x="822960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box WAP"/>
          <p:cNvSpPr/>
          <p:nvPr/>
        </p:nvSpPr>
        <p:spPr>
          <a:xfrm>
            <a:off x="5532120" y="2697480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 txBox="1"/>
          <p:nvPr/>
        </p:nvSpPr>
        <p:spPr>
          <a:xfrm>
            <a:off x="553212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</a:t>
            </a:r>
            <a:endParaRPr lang="en-US" sz="900" dirty="0"/>
          </a:p>
        </p:txBody>
      </p:sp>
      <p:sp>
        <p:nvSpPr>
          <p:cNvPr id="62" name="cable"/>
          <p:cNvSpPr/>
          <p:nvPr/>
        </p:nvSpPr>
        <p:spPr>
          <a:xfrm>
            <a:off x="5852160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box PC"/>
          <p:cNvSpPr/>
          <p:nvPr/>
        </p:nvSpPr>
        <p:spPr>
          <a:xfrm>
            <a:off x="498348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 txBox="1"/>
          <p:nvPr/>
        </p:nvSpPr>
        <p:spPr>
          <a:xfrm>
            <a:off x="498348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65" name="wireless link"/>
          <p:cNvSpPr/>
          <p:nvPr/>
        </p:nvSpPr>
        <p:spPr>
          <a:xfrm flipV="1">
            <a:off x="5148072" y="3063240"/>
            <a:ext cx="704088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6" name="box PC"/>
          <p:cNvSpPr/>
          <p:nvPr/>
        </p:nvSpPr>
        <p:spPr>
          <a:xfrm>
            <a:off x="534924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 txBox="1"/>
          <p:nvPr/>
        </p:nvSpPr>
        <p:spPr>
          <a:xfrm>
            <a:off x="534924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68" name="wireless link"/>
          <p:cNvSpPr/>
          <p:nvPr/>
        </p:nvSpPr>
        <p:spPr>
          <a:xfrm flipV="1">
            <a:off x="5513832" y="3063240"/>
            <a:ext cx="338328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9" name="box PC"/>
          <p:cNvSpPr/>
          <p:nvPr/>
        </p:nvSpPr>
        <p:spPr>
          <a:xfrm>
            <a:off x="571500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 txBox="1"/>
          <p:nvPr/>
        </p:nvSpPr>
        <p:spPr>
          <a:xfrm>
            <a:off x="571500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71" name="wireless link"/>
          <p:cNvSpPr/>
          <p:nvPr/>
        </p:nvSpPr>
        <p:spPr>
          <a:xfrm>
            <a:off x="5852160" y="3063240"/>
            <a:ext cx="2743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2" name="box PC"/>
          <p:cNvSpPr/>
          <p:nvPr/>
        </p:nvSpPr>
        <p:spPr>
          <a:xfrm>
            <a:off x="608076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 txBox="1"/>
          <p:nvPr/>
        </p:nvSpPr>
        <p:spPr>
          <a:xfrm>
            <a:off x="608076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74" name="wireless link"/>
          <p:cNvSpPr/>
          <p:nvPr/>
        </p:nvSpPr>
        <p:spPr>
          <a:xfrm>
            <a:off x="5852160" y="3063240"/>
            <a:ext cx="39319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5" name="box PC"/>
          <p:cNvSpPr/>
          <p:nvPr/>
        </p:nvSpPr>
        <p:spPr>
          <a:xfrm>
            <a:off x="644652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 txBox="1"/>
          <p:nvPr/>
        </p:nvSpPr>
        <p:spPr>
          <a:xfrm>
            <a:off x="644652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77" name="wireless link"/>
          <p:cNvSpPr/>
          <p:nvPr/>
        </p:nvSpPr>
        <p:spPr>
          <a:xfrm>
            <a:off x="5852160" y="3063240"/>
            <a:ext cx="75895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8" name="box WAP"/>
          <p:cNvSpPr/>
          <p:nvPr/>
        </p:nvSpPr>
        <p:spPr>
          <a:xfrm>
            <a:off x="7452360" y="2697480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 txBox="1"/>
          <p:nvPr/>
        </p:nvSpPr>
        <p:spPr>
          <a:xfrm>
            <a:off x="745236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</a:t>
            </a:r>
            <a:endParaRPr lang="en-US" sz="900" dirty="0"/>
          </a:p>
        </p:txBody>
      </p:sp>
      <p:sp>
        <p:nvSpPr>
          <p:cNvPr id="80" name="cable"/>
          <p:cNvSpPr/>
          <p:nvPr/>
        </p:nvSpPr>
        <p:spPr>
          <a:xfrm>
            <a:off x="7772400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box PC"/>
          <p:cNvSpPr/>
          <p:nvPr/>
        </p:nvSpPr>
        <p:spPr>
          <a:xfrm>
            <a:off x="690372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80"/>
          <p:cNvSpPr txBox="1"/>
          <p:nvPr/>
        </p:nvSpPr>
        <p:spPr>
          <a:xfrm>
            <a:off x="690372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83" name="wireless link"/>
          <p:cNvSpPr/>
          <p:nvPr/>
        </p:nvSpPr>
        <p:spPr>
          <a:xfrm flipV="1">
            <a:off x="7068312" y="3063240"/>
            <a:ext cx="704088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4" name="box PC"/>
          <p:cNvSpPr/>
          <p:nvPr/>
        </p:nvSpPr>
        <p:spPr>
          <a:xfrm>
            <a:off x="726948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 txBox="1"/>
          <p:nvPr/>
        </p:nvSpPr>
        <p:spPr>
          <a:xfrm>
            <a:off x="726948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86" name="wireless link"/>
          <p:cNvSpPr/>
          <p:nvPr/>
        </p:nvSpPr>
        <p:spPr>
          <a:xfrm flipV="1">
            <a:off x="7434072" y="3063240"/>
            <a:ext cx="338328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7" name="box PC"/>
          <p:cNvSpPr/>
          <p:nvPr/>
        </p:nvSpPr>
        <p:spPr>
          <a:xfrm>
            <a:off x="763524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 txBox="1"/>
          <p:nvPr/>
        </p:nvSpPr>
        <p:spPr>
          <a:xfrm>
            <a:off x="763524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89" name="wireless link"/>
          <p:cNvSpPr/>
          <p:nvPr/>
        </p:nvSpPr>
        <p:spPr>
          <a:xfrm>
            <a:off x="7772400" y="3063240"/>
            <a:ext cx="2743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90" name="box PC"/>
          <p:cNvSpPr/>
          <p:nvPr/>
        </p:nvSpPr>
        <p:spPr>
          <a:xfrm>
            <a:off x="800100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9"/>
          <p:cNvSpPr txBox="1"/>
          <p:nvPr/>
        </p:nvSpPr>
        <p:spPr>
          <a:xfrm>
            <a:off x="800100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92" name="wireless link"/>
          <p:cNvSpPr/>
          <p:nvPr/>
        </p:nvSpPr>
        <p:spPr>
          <a:xfrm>
            <a:off x="7772400" y="3063240"/>
            <a:ext cx="39319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93" name="box PC"/>
          <p:cNvSpPr/>
          <p:nvPr/>
        </p:nvSpPr>
        <p:spPr>
          <a:xfrm>
            <a:off x="836676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2"/>
          <p:cNvSpPr txBox="1"/>
          <p:nvPr/>
        </p:nvSpPr>
        <p:spPr>
          <a:xfrm>
            <a:off x="836676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95" name="wireless link"/>
          <p:cNvSpPr/>
          <p:nvPr/>
        </p:nvSpPr>
        <p:spPr>
          <a:xfrm>
            <a:off x="7772400" y="3063240"/>
            <a:ext cx="75895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 txBox="1"/>
          <p:nvPr/>
        </p:nvSpPr>
        <p:spPr>
          <a:xfrm>
            <a:off x="4937760" y="3794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line: cable. Dashed line: wireless. The WAPs are cabled to the switch and the computers need wireless NICs.</a:t>
            </a:r>
            <a:endParaRPr lang="en-US" sz="1200" dirty="0"/>
          </a:p>
        </p:txBody>
      </p:sp>
      <p:sp>
        <p:nvSpPr>
          <p:cNvPr id="9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2863</Words>
  <Application>Microsoft Macintosh PowerPoint</Application>
  <PresentationFormat>On-screen Show (16:9)</PresentationFormat>
  <Paragraphs>256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Y12 Networks L1: Networks: LAN, WAN and hardware</vt:lpstr>
      <vt:lpstr>Today</vt:lpstr>
      <vt:lpstr>The five areas of 1.3.3</vt:lpstr>
      <vt:lpstr>LAN vs WAN</vt:lpstr>
      <vt:lpstr>Task 1: Networks, LAN and WAN</vt:lpstr>
      <vt:lpstr>Task 2: Network hardware and design</vt:lpstr>
      <vt:lpstr>Task 3: Debate: wired or wireless?</vt:lpstr>
      <vt:lpstr>Debate: cables or Wi-Fi?</vt:lpstr>
      <vt:lpstr>Model answers</vt:lpstr>
      <vt:lpstr>Task 1A: what is a network?</vt:lpstr>
      <vt:lpstr>Task 1B: LAN vs WAN</vt:lpstr>
      <vt:lpstr>Task 2A: hardware (1/2)</vt:lpstr>
      <vt:lpstr>Task 2A: hardware (2/2)</vt:lpstr>
      <vt:lpstr>Task 2A: cables</vt:lpstr>
      <vt:lpstr>Task 2B: the drawing</vt:lpstr>
      <vt:lpstr>Example: a LAN and WAN diagram</vt:lpstr>
      <vt:lpstr>Task 3: debate points</vt:lpstr>
      <vt:lpstr>Example: cables or Wi-Fi in the head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Y12 Networks L1</dc:title>
  <dc:subject>PptxGenJS Presentation</dc:subject>
  <dc:creator/>
  <cp:lastModifiedBy/>
  <cp:revision>3</cp:revision>
  <dcterms:created xsi:type="dcterms:W3CDTF">2026-10-21T21:54:14Z</dcterms:created>
  <dcterms:modified xsi:type="dcterms:W3CDTF">2026-10-21T22:24:58Z</dcterms:modified>
</cp:coreProperties>
</file>