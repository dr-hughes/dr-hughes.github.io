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1" id="{51496a96-b850-248d-869f-243eff97f74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Key Terms 1" id="{baa4aea6-72bc-ac8d-6974-9bf15d1aab29}">
          <p14:sldIdLst>
            <p14:sldId id="266"/>
          </p14:sldIdLst>
        </p14:section>
        <p14:section name="Lesson 2" id="{283bd4a9-0ebe-3275-c0c0-4bba1b3fef9f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Key Terms 2" id="{8f4aa805-eb31-176d-9d4b-9536a5599a2a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Inside the CPU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Computer Science  |  Inside the CPU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CPU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J277  1.1.1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architecture 2 of 6. Two lessons.</a:t>
            </a:r>
            <a:endParaRPr lang="en-US" sz="1800" dirty="0"/>
          </a:p>
        </p:txBody>
      </p:sp>
      <p:sp>
        <p:nvSpPr>
          <p:cNvPr id="5" name="CPU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CPU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 objectives</a:t>
            </a:r>
            <a:endParaRPr lang="en-US" sz="3000" dirty="0"/>
          </a:p>
        </p:txBody>
      </p:sp>
      <p:sp>
        <p:nvSpPr>
          <p:cNvPr id="3" name="LESSON 1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main components inside the CPU.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role of the ALU.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role of the Control Unit.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stages of the cycle.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decode, execute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Program Counter hold?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of the next instruction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an instruction fetched from?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(RAM)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3000" dirty="0"/>
          </a:p>
        </p:txBody>
      </p:sp>
      <p:sp>
        <p:nvSpPr>
          <p:cNvPr id="3" name="KEY WORD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560320" y="1097280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2697480" y="1097280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Logic Unit. Does the calculations and logic.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819656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819656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560320" y="1819656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2697480" y="1819656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the fetch-execute cycle.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542032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542032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560320" y="2542032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2697480" y="2542032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everything working together, in the right order.</a:t>
            </a:r>
            <a:endParaRPr lang="en-US" sz="1400" dirty="0"/>
          </a:p>
        </p:txBody>
      </p:sp>
      <p:sp>
        <p:nvSpPr>
          <p:cNvPr id="17" name="@4 Term"/>
          <p:cNvSpPr/>
          <p:nvPr/>
        </p:nvSpPr>
        <p:spPr>
          <a:xfrm>
            <a:off x="457200" y="3264408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548640" y="3264408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</a:t>
            </a:r>
            <a:endParaRPr lang="en-US" sz="1500" dirty="0"/>
          </a:p>
        </p:txBody>
      </p:sp>
      <p:sp>
        <p:nvSpPr>
          <p:cNvPr id="19" name="@4 Definition"/>
          <p:cNvSpPr/>
          <p:nvPr/>
        </p:nvSpPr>
        <p:spPr>
          <a:xfrm>
            <a:off x="2560320" y="3264408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2697480" y="3264408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calculations such as add and subtract.</a:t>
            </a:r>
            <a:endParaRPr lang="en-US" sz="1400" dirty="0"/>
          </a:p>
        </p:txBody>
      </p:sp>
      <p:sp>
        <p:nvSpPr>
          <p:cNvPr id="21" name="@5 Term"/>
          <p:cNvSpPr/>
          <p:nvPr/>
        </p:nvSpPr>
        <p:spPr>
          <a:xfrm>
            <a:off x="457200" y="3986784"/>
            <a:ext cx="2011680" cy="630936"/>
          </a:xfrm>
          <a:prstGeom prst="roundRect">
            <a:avLst>
              <a:gd name="adj" fmla="val 17391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2" name="@5 addText"/>
          <p:cNvSpPr txBox="1"/>
          <p:nvPr/>
        </p:nvSpPr>
        <p:spPr>
          <a:xfrm>
            <a:off x="548640" y="3986784"/>
            <a:ext cx="1828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500" dirty="0"/>
          </a:p>
        </p:txBody>
      </p:sp>
      <p:sp>
        <p:nvSpPr>
          <p:cNvPr id="23" name="@5 Definition"/>
          <p:cNvSpPr/>
          <p:nvPr/>
        </p:nvSpPr>
        <p:spPr>
          <a:xfrm>
            <a:off x="2560320" y="3986784"/>
            <a:ext cx="612648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24" name="@5 addText"/>
          <p:cNvSpPr txBox="1"/>
          <p:nvPr/>
        </p:nvSpPr>
        <p:spPr>
          <a:xfrm>
            <a:off x="2697480" y="3986784"/>
            <a:ext cx="5852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 and decisions such as AND, OR, NOT.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parts of the CPU</a:t>
            </a:r>
            <a:endParaRPr lang="en-US" sz="3000" dirty="0"/>
          </a:p>
        </p:txBody>
      </p:sp>
      <p:sp>
        <p:nvSpPr>
          <p:cNvPr id="3" name="OVERVIEW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CPU frame"/>
          <p:cNvSpPr/>
          <p:nvPr/>
        </p:nvSpPr>
        <p:spPr>
          <a:xfrm>
            <a:off x="457200" y="109728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70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sp>
        <p:nvSpPr>
          <p:cNvPr id="7" name="@1 Control Unit"/>
          <p:cNvSpPr/>
          <p:nvPr/>
        </p:nvSpPr>
        <p:spPr>
          <a:xfrm>
            <a:off x="822960" y="169164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82296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the cycle, decodes</a:t>
            </a:r>
            <a:endParaRPr lang="en-US" sz="1400" dirty="0"/>
          </a:p>
        </p:txBody>
      </p:sp>
      <p:sp>
        <p:nvSpPr>
          <p:cNvPr id="9" name="@2 ALU"/>
          <p:cNvSpPr/>
          <p:nvPr/>
        </p:nvSpPr>
        <p:spPr>
          <a:xfrm>
            <a:off x="3291840" y="169164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002D6A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329184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calculations and logic</a:t>
            </a:r>
            <a:endParaRPr lang="en-US" sz="1400" dirty="0"/>
          </a:p>
        </p:txBody>
      </p:sp>
      <p:sp>
        <p:nvSpPr>
          <p:cNvPr id="11" name="@3 Cache"/>
          <p:cNvSpPr/>
          <p:nvPr/>
        </p:nvSpPr>
        <p:spPr>
          <a:xfrm>
            <a:off x="822960" y="3017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5D79A0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3 addText"/>
          <p:cNvSpPr txBox="1"/>
          <p:nvPr/>
        </p:nvSpPr>
        <p:spPr>
          <a:xfrm>
            <a:off x="82296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very fast memory</a:t>
            </a:r>
            <a:endParaRPr lang="en-US" sz="1400" dirty="0"/>
          </a:p>
        </p:txBody>
      </p:sp>
      <p:sp>
        <p:nvSpPr>
          <p:cNvPr id="13" name="@4 Registers"/>
          <p:cNvSpPr/>
          <p:nvPr/>
        </p:nvSpPr>
        <p:spPr>
          <a:xfrm>
            <a:off x="3291840" y="30175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5D79A0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4" name="@4 addText"/>
          <p:cNvSpPr txBox="1"/>
          <p:nvPr/>
        </p:nvSpPr>
        <p:spPr>
          <a:xfrm>
            <a:off x="329184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tiny, fastest storage</a:t>
            </a:r>
            <a:endParaRPr lang="en-US" sz="1400" dirty="0"/>
          </a:p>
        </p:txBody>
      </p:sp>
      <p:sp>
        <p:nvSpPr>
          <p:cNvPr id="15" name="@5 RAM"/>
          <p:cNvSpPr/>
          <p:nvPr/>
        </p:nvSpPr>
        <p:spPr>
          <a:xfrm>
            <a:off x="6583680" y="21031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5 addText"/>
          <p:cNvSpPr txBox="1"/>
          <p:nvPr/>
        </p:nvSpPr>
        <p:spPr>
          <a:xfrm>
            <a:off x="6583680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</a:t>
            </a:r>
            <a:endParaRPr lang="en-US" sz="1400" dirty="0"/>
          </a:p>
        </p:txBody>
      </p:sp>
      <p:sp>
        <p:nvSpPr>
          <p:cNvPr id="17" name="@5 to RAM"/>
          <p:cNvSpPr/>
          <p:nvPr/>
        </p:nvSpPr>
        <p:spPr>
          <a:xfrm>
            <a:off x="5943600" y="2651760"/>
            <a:ext cx="6400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8" name="@5 from RAM"/>
          <p:cNvSpPr/>
          <p:nvPr/>
        </p:nvSpPr>
        <p:spPr>
          <a:xfrm flipH="1">
            <a:off x="5943600" y="3017520"/>
            <a:ext cx="640080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ALU</a:t>
            </a:r>
            <a:endParaRPr lang="en-US" sz="3000" dirty="0"/>
          </a:p>
        </p:txBody>
      </p:sp>
      <p:sp>
        <p:nvSpPr>
          <p:cNvPr id="3" name="ALU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calculations such as add, subtract, multiply and divide.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operations: comparisons such as is 10 greater than 7? AND, OR, NOT.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works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execute stage, when an instruction needs a calculation or a comparison.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wording: performs mathematical calculations and logical operations.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Unit</a:t>
            </a:r>
            <a:endParaRPr lang="en-US" sz="3000" dirty="0"/>
          </a:p>
        </p:txBody>
      </p:sp>
      <p:sp>
        <p:nvSpPr>
          <p:cNvPr id="3" name="CU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and coordinates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fetch-execute cycle running in the right order.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Decodes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 what each instruction means.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signals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other parts what to do, for example RAM to send data.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B71C1C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controls the cycle. It does not run the instructions or do the calculations.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 or Control Unit?</a:t>
            </a:r>
            <a:endParaRPr lang="en-US" sz="3000" dirty="0"/>
          </a:p>
        </p:txBody>
      </p:sp>
      <p:sp>
        <p:nvSpPr>
          <p:cNvPr id="3" name="SORT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two numbers together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004822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04822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what an instruction means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004822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004822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912364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12364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one number is bigger than another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2912364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2912364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19906"/>
            <a:ext cx="3749040" cy="797814"/>
          </a:xfrm>
          <a:prstGeom prst="roundRect">
            <a:avLst>
              <a:gd name="adj" fmla="val 1375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819906"/>
            <a:ext cx="352044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the stages of the cycle</a:t>
            </a:r>
            <a:endParaRPr lang="en-US" sz="1400" dirty="0"/>
          </a:p>
        </p:txBody>
      </p:sp>
      <p:sp>
        <p:nvSpPr>
          <p:cNvPr id="19" name="@4 Answer card"/>
          <p:cNvSpPr/>
          <p:nvPr/>
        </p:nvSpPr>
        <p:spPr>
          <a:xfrm>
            <a:off x="4343400" y="3819906"/>
            <a:ext cx="43434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20" name="@4 addText"/>
          <p:cNvSpPr txBox="1"/>
          <p:nvPr/>
        </p:nvSpPr>
        <p:spPr>
          <a:xfrm>
            <a:off x="4480560" y="3819906"/>
            <a:ext cx="411480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000" dirty="0"/>
          </a:p>
        </p:txBody>
      </p:sp>
      <p:sp>
        <p:nvSpPr>
          <p:cNvPr id="3" name="CHECK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ALU stand for?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Logic Unit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things the ALU does.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calculations and logical operations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Control Unit do?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and coordinates the cycle, and decodes instructions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mathematical calculations and ... operations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Unit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 and ... the cycle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everything in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Arithmetic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calculations such as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comparisons such as 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3739896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3630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and registers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memory close to the CPU.</a:t>
            </a:r>
            <a:endParaRPr lang="en-US" sz="1800" dirty="0"/>
          </a:p>
        </p:txBody>
      </p:sp>
      <p:sp>
        <p:nvSpPr>
          <p:cNvPr id="5" name="Lesson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6" name="Image 0" descr="Les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objectives</a:t>
            </a:r>
            <a:endParaRPr lang="en-US" sz="3000" dirty="0"/>
          </a:p>
        </p:txBody>
      </p:sp>
      <p:sp>
        <p:nvSpPr>
          <p:cNvPr id="3" name="LESSON 2 pill"/>
          <p:cNvSpPr/>
          <p:nvPr/>
        </p:nvSpPr>
        <p:spPr>
          <a:xfrm>
            <a:off x="7205472" y="41148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05472" y="4114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purpose of cache and why it is used.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purpose of registers.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component to its role in the fetch-execute cycle.</a:t>
            </a:r>
            <a:endParaRPr lang="en-US" sz="17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back</a:t>
            </a:r>
            <a:endParaRPr lang="en-US" sz="3000" dirty="0"/>
          </a:p>
        </p:txBody>
      </p:sp>
      <p:sp>
        <p:nvSpPr>
          <p:cNvPr id="3" name="RECALL pill"/>
          <p:cNvSpPr/>
          <p:nvPr/>
        </p:nvSpPr>
        <p:spPr>
          <a:xfrm>
            <a:off x="7461504" y="41148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61504" y="4114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097280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97280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job of the ALU?</a:t>
            </a:r>
            <a:endParaRPr lang="en-US" sz="1400" dirty="0"/>
          </a:p>
        </p:txBody>
      </p:sp>
      <p:sp>
        <p:nvSpPr>
          <p:cNvPr id="7" name="@1 Answer card"/>
          <p:cNvSpPr/>
          <p:nvPr/>
        </p:nvSpPr>
        <p:spPr>
          <a:xfrm>
            <a:off x="4343400" y="1097280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4480560" y="1097280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calculations and logical operations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57200" y="2307336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07336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job of the Control Unit?</a:t>
            </a:r>
            <a:endParaRPr lang="en-US" sz="1400" dirty="0"/>
          </a:p>
        </p:txBody>
      </p:sp>
      <p:sp>
        <p:nvSpPr>
          <p:cNvPr id="11" name="@2 Answer card"/>
          <p:cNvSpPr/>
          <p:nvPr/>
        </p:nvSpPr>
        <p:spPr>
          <a:xfrm>
            <a:off x="4343400" y="2307336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4480560" y="2307336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and coordinates the cycle, and decodes instructions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517392"/>
            <a:ext cx="3749040" cy="1100328"/>
          </a:xfrm>
          <a:prstGeom prst="roundRect">
            <a:avLst>
              <a:gd name="adj" fmla="val 997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17392"/>
            <a:ext cx="352044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Control Unit do the calculations?</a:t>
            </a:r>
            <a:endParaRPr lang="en-US" sz="1400" dirty="0"/>
          </a:p>
        </p:txBody>
      </p:sp>
      <p:sp>
        <p:nvSpPr>
          <p:cNvPr id="15" name="@3 Answer card"/>
          <p:cNvSpPr/>
          <p:nvPr/>
        </p:nvSpPr>
        <p:spPr>
          <a:xfrm>
            <a:off x="4343400" y="3517392"/>
            <a:ext cx="4343400" cy="1100328"/>
          </a:xfrm>
          <a:prstGeom prst="roundRect">
            <a:avLst>
              <a:gd name="adj" fmla="val 997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4480560" y="3517392"/>
            <a:ext cx="411480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The ALU does.</a:t>
            </a:r>
            <a:endParaRPr lang="en-US" sz="13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3000" dirty="0"/>
          </a:p>
        </p:txBody>
      </p:sp>
      <p:sp>
        <p:nvSpPr>
          <p:cNvPr id="3" name="CACHE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amount of very fast memory, on or very near the CPU.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store?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data that are used often (frequently used).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used?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faster to transfer to and from cache than to and from RAM, so the CPU waits less.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is faster than RAM but much smaller and more expensive.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3000" dirty="0"/>
          </a:p>
        </p:txBody>
      </p:sp>
      <p:sp>
        <p:nvSpPr>
          <p:cNvPr id="3" name="REGISTER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5" name="@1 Term"/>
          <p:cNvSpPr/>
          <p:nvPr/>
        </p:nvSpPr>
        <p:spPr>
          <a:xfrm>
            <a:off x="457200" y="109728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54864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they?</a:t>
            </a:r>
            <a:endParaRPr lang="en-US" sz="1500" dirty="0"/>
          </a:p>
        </p:txBody>
      </p:sp>
      <p:sp>
        <p:nvSpPr>
          <p:cNvPr id="7" name="@1 Definition"/>
          <p:cNvSpPr/>
          <p:nvPr/>
        </p:nvSpPr>
        <p:spPr>
          <a:xfrm>
            <a:off x="2926080" y="10972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306324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storage locations inside the CPU.</a:t>
            </a:r>
            <a:endParaRPr lang="en-US" sz="1400" dirty="0"/>
          </a:p>
        </p:txBody>
      </p:sp>
      <p:sp>
        <p:nvSpPr>
          <p:cNvPr id="9" name="@2 Term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fast?</a:t>
            </a:r>
            <a:endParaRPr lang="en-US" sz="1500" dirty="0"/>
          </a:p>
        </p:txBody>
      </p:sp>
      <p:sp>
        <p:nvSpPr>
          <p:cNvPr id="11" name="@2 Definition"/>
          <p:cNvSpPr/>
          <p:nvPr/>
        </p:nvSpPr>
        <p:spPr>
          <a:xfrm>
            <a:off x="2926080" y="19659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2" name="@2 addText"/>
          <p:cNvSpPr txBox="1"/>
          <p:nvPr/>
        </p:nvSpPr>
        <p:spPr>
          <a:xfrm>
            <a:off x="306324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 memory in the computer.</a:t>
            </a:r>
            <a:endParaRPr lang="en-US" sz="1400" dirty="0"/>
          </a:p>
        </p:txBody>
      </p:sp>
      <p:sp>
        <p:nvSpPr>
          <p:cNvPr id="13" name="@3 Term"/>
          <p:cNvSpPr/>
          <p:nvPr/>
        </p:nvSpPr>
        <p:spPr>
          <a:xfrm>
            <a:off x="457200" y="28346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3 addText"/>
          <p:cNvSpPr txBox="1"/>
          <p:nvPr/>
        </p:nvSpPr>
        <p:spPr>
          <a:xfrm>
            <a:off x="5486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hold?</a:t>
            </a:r>
            <a:endParaRPr lang="en-US" sz="1500" dirty="0"/>
          </a:p>
        </p:txBody>
      </p:sp>
      <p:sp>
        <p:nvSpPr>
          <p:cNvPr id="15" name="@3 Definition"/>
          <p:cNvSpPr/>
          <p:nvPr/>
        </p:nvSpPr>
        <p:spPr>
          <a:xfrm>
            <a:off x="2926080" y="28346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6" name="@3 addText"/>
          <p:cNvSpPr txBox="1"/>
          <p:nvPr/>
        </p:nvSpPr>
        <p:spPr>
          <a:xfrm>
            <a:off x="3063240" y="2834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item at a time: a piece of data, or an address, while the CPU works on it.</a:t>
            </a:r>
            <a:endParaRPr lang="en-US" sz="1400" dirty="0"/>
          </a:p>
        </p:txBody>
      </p:sp>
      <p:sp>
        <p:nvSpPr>
          <p:cNvPr id="17" name="@4 Callout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18" name="@4 addText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D7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register stores either data or an address. We name them in the next deck.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in the cycle</a:t>
            </a:r>
            <a:endParaRPr lang="en-US" sz="3000" dirty="0"/>
          </a:p>
        </p:txBody>
      </p:sp>
      <p:sp>
        <p:nvSpPr>
          <p:cNvPr id="3" name="SUMMARY pill"/>
          <p:cNvSpPr/>
          <p:nvPr/>
        </p:nvSpPr>
        <p:spPr>
          <a:xfrm>
            <a:off x="7333488" y="41148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33488" y="4114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Manages, stores or controls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Unit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 and coordinates the cycle. Decodes instructions.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Mathematical calculations and logical operations, in the execute stage.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frequently used instructions and data, close to the CPU.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the data or address currently in use.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to be added here.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8" name="Task icon circle"/>
          <p:cNvSpPr/>
          <p:nvPr/>
        </p:nvSpPr>
        <p:spPr>
          <a:xfrm>
            <a:off x="7680960" y="457200"/>
            <a:ext cx="822960" cy="822960"/>
          </a:xfrm>
          <a:prstGeom prst="ellipse">
            <a:avLst/>
          </a:prstGeom>
          <a:solidFill>
            <a:srgbClr val="5D79A0"/>
          </a:solidFill>
          <a:ln w="12700">
            <a:solidFill>
              <a:srgbClr val="5D79A0"/>
            </a:solidFill>
            <a:prstDash val="solid"/>
          </a:ln>
        </p:spPr>
      </p:sp>
      <p:pic>
        <p:nvPicPr>
          <p:cNvPr id="9" name="Image 1" descr="T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59" y="679399"/>
            <a:ext cx="378562" cy="3785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practice</a:t>
            </a:r>
            <a:endParaRPr lang="en-US" sz="3000" dirty="0"/>
          </a:p>
        </p:txBody>
      </p:sp>
      <p:sp>
        <p:nvSpPr>
          <p:cNvPr id="3" name="EXAM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OCR J277/01 past papers: June 2022 Q2; OCR J277 question from the PMT 1.1 topic collection, Q5(a)(i)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457200" y="1097280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component that 'performs mathematical calculations and logical operations'.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8" name="@1 Answer card"/>
          <p:cNvSpPr/>
          <p:nvPr/>
        </p:nvSpPr>
        <p:spPr>
          <a:xfrm>
            <a:off x="4343400" y="1097280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9" name="@1 addText"/>
          <p:cNvSpPr txBox="1"/>
          <p:nvPr/>
        </p:nvSpPr>
        <p:spPr>
          <a:xfrm>
            <a:off x="4480560" y="109728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Logic Unit (ALU)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2231136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231136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definition of the CU (Control Unit).  </a:t>
            </a:r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12" name="@2 Answer card"/>
          <p:cNvSpPr/>
          <p:nvPr/>
        </p:nvSpPr>
        <p:spPr>
          <a:xfrm>
            <a:off x="4343400" y="2231136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2 addText"/>
          <p:cNvSpPr txBox="1"/>
          <p:nvPr/>
        </p:nvSpPr>
        <p:spPr>
          <a:xfrm>
            <a:off x="4480560" y="2231136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/ coordinates the fetch-execute cycle, or decodes instructions. 'Sends signals' on its own is not enough.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57200" y="3364992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364992"/>
            <a:ext cx="3520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component stores frequently used instructions? (MAR, MDR, Cache, Program Counter, RAM)  </a:t>
            </a:r>
            <a:pPr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16" name="@3 Answer card"/>
          <p:cNvSpPr/>
          <p:nvPr/>
        </p:nvSpPr>
        <p:spPr>
          <a:xfrm>
            <a:off x="4343400" y="3364992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7" name="@3 addText"/>
          <p:cNvSpPr txBox="1"/>
          <p:nvPr/>
        </p:nvSpPr>
        <p:spPr>
          <a:xfrm>
            <a:off x="4480560" y="3364992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3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Review</a:t>
            </a:r>
            <a:endParaRPr lang="en-US" sz="3000" dirty="0"/>
          </a:p>
        </p:txBody>
      </p:sp>
      <p:sp>
        <p:nvSpPr>
          <p:cNvPr id="3" name="KEY TERMS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frequently used ... close to the 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 storage ... inside the 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1B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D6B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... that holds running programs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ot"/>
          <p:cNvSpPr/>
          <p:nvPr/>
        </p:nvSpPr>
        <p:spPr>
          <a:xfrm>
            <a:off x="548640" y="2971800"/>
            <a:ext cx="164592" cy="164592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862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meaning in your own words in your workbook.</a:t>
            </a:r>
            <a:endParaRPr lang="en-US" sz="18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Inside the CPU</dc:title>
  <dc:subject>PptxGenJS Presentation</dc:subject>
  <dc:creator/>
  <cp:lastModifiedBy/>
  <cp:revision>1</cp:revision>
  <dcterms:created xsi:type="dcterms:W3CDTF">2026-10-21T11:32:51Z</dcterms:created>
  <dcterms:modified xsi:type="dcterms:W3CDTF">2026-10-21T11:32:51Z</dcterms:modified>
</cp:coreProperties>
</file>