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1" r:id="rId18"/>
    <p:sldId id="272" r:id="rId19"/>
    <p:sldId id="325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326" r:id="rId77"/>
    <p:sldId id="327" r:id="rId78"/>
    <p:sldId id="328" r:id="rId79"/>
    <p:sldId id="329" r:id="rId80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2" r:id="rId59"/>
    <p:sldId id="313" r:id="rId60"/>
    <p:sldId id="314" r:id="rId61"/>
    <p:sldId id="315" r:id="rId62"/>
    <p:sldId id="316" r:id="rId63"/>
    <p:sldId id="317" r:id="rId64"/>
    <p:sldId id="318" r:id="rId65"/>
    <p:sldId id="319" r:id="rId66"/>
    <p:sldId id="320" r:id="rId67"/>
    <p:sldId id="321" r:id="rId68"/>
    <p:sldId id="322" r:id="rId69"/>
    <p:sldId id="323" r:id="rId70"/>
    <p:sldId id="324" r:id="rId7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er" id="{509CECAE-E259-ACB9-BEBA-45AEB049A861}">
          <p14:sldIdLst>
            <p14:sldId id="256"/>
            <p14:sldId id="257"/>
            <p14:sldId id="258"/>
            <p14:sldId id="259"/>
          </p14:sldIdLst>
        </p14:section>
        <p14:section name="Talk" id="{8BF6855D-9F83-3DFC-5A36-9CBD9EBAFB5F}">
          <p14:sldIdLst>
            <p14:sldId id="260"/>
          </p14:sldIdLst>
        </p14:section>
        <p14:section name="Default-1" id="{4271A547-6AEA-C796-F6A6-6752DFA1BAB4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3"/>
            <p14:sldId id="271"/>
            <p14:sldId id="272"/>
            <p14:sldId id="325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Code" id="{8C98A65C-B7C4-7C64-5DB5-8575552778F9}">
          <p14:sldIdLst>
            <p14:sldId id="295"/>
          </p14:sldIdLst>
        </p14:section>
        <p14:section name="Default-2" id="{B4AA1D81-B6A1-A8F7-EDD0-CDEA3C11B802}">
          <p14:sldIdLst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</p14:sldIdLst>
        </p14:section>
        <p14:section name="Recap" id="{B11F9674-014C-A24E-E4A3-338619C5205E}">
          <p14:sldIdLst>
            <p14:sldId id="323"/>
          </p14:sldIdLst>
        </p14:section>
        <p14:section name="Default-3" id="{C24209AE-846F-AFEC-DD86-CA667C567F0C}">
          <p14:sldIdLst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56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84" y="1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624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T+0: Hook, about 3 minutes. Show the picture and ask: what is this? Take two or three guesses (a fingerprint, coral, a maze). Do not say yet. Click for the hint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T+2: The hint. Where in nature have you seen patterns like this? The picture is an animation: it grows from a few random specks. Click for each clue. Take guesses before the second click. Then move to the next slide: it is a Turing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T+3: It is a Turing pattern. Alan Turing did more than codebreaking and computers: he also wrote about how living things get their patterns. One bullet per click. Keep it quick: this is the hook, and the lesson is about encoding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T+4: Same maths, different settings. These three are computer simulations: change how fast the chemicals are made and used up, and the pattern changes from spots to blotches to stripes. Click for each, then the last line. Quick: move on to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T+0: Hook. Ask: what do you think encoding means? Intro block is 10 minutes: be on the 'Compressing a Picture' slide by T+10.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T+1: One message, four codes. Nothing is lost: you can get HELP back from any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T+2: Everyday encoding (texting). Quick. Compression is encoding with a goal: fewer symbols.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T+3: Computers encode everything. Skim.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T+4: Packets on the internet. Skim, or skip if behind. Packets organise data for the journey; compression shrinks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T+5: Why compress: less storage, faster sending. Picture A is 46 by 38 (1,748 values), run-length encoded 182. Picture B is 47 by 47 (2,209 values), 183. RLE is lossless; MP3 throws a little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T+6: Introduce RLE: store what repeats, and how many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T+7: A few things worth knowing. Skip if behind. Still used in fax machines, BMP, TIFF and PCX.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T+8: Compress a sentence: count the runs together. YESSSSS!!!! is 11 characters, 1Y 1E 5S 4! is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T+9: Not every sentence compresses. Skip if behind. HAHAHA is 6 characters; RLE makes it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T+9: Compressing a picture: clue = blanks, coloured, blanks. Move on by T+10.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T+12: Pupils open the booklet at page 2. 10 minutes: pages 2 to 4 (warm-up rows, mystery 1, mysteries 2 and 3). Page 5, mystery 4, is the stretch. Circulate. Pens down at T+22. Block: 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T+10: Worked example, 2 minutes. Pupils decode the first rows with you. Block: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T+11: Click to reveal the picture. Be done by T+12.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T+11: Click to reveal the picture. Be done by T+12.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0610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T+22: Pens down. Talk block 10 minutes (T+22 to T+32). Check one answer on the next slide. Block: 10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T+23: Decoded. Keep it quick.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T+23: Optional: only if pupils did page 4 mystery 3. Skip if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T+23: Optional answer check. Skip if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T+23: Optional: only for fast finishers who did page 5. Skip if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T+23: Optional answer check. Skip if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T+24: That took a while. Now let the computer do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T+25: How long did that take? Now imagine 46 rows, or a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T+26: Computers are great at repeating things. You already know loops and functions.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T+26: A list is like a filing cabinet. Each drawer holds one thing. Click to open the drawers one at a time: 7, then 3, then 9. The last click shows the same thing as a Python list. Next slide: a row of 0s and 1s is exactly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T+27: A list can hold other lists: a filing cabinet whose drawers each hold a smaller filing cabinet. Click to open each drawer in turn. The last click shows it as Python. A picture will be a list of rows, and each row is a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T+26: A row is a list of 0s and 1s.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T+27: A picture is a list of rows. A list of lists: each inner list is one row of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T+28: Same thing, two ways: the clue and the row. Our job is clue to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T+28: show_picture is given. Use it without reading inside.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T+29: Live in Spyder: run the heart.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T+29: The heart. Check it matches the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T+30: The import line. pictures.py must be in the same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T+30: Decode one row: [2, 7, 3] becomes the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T+31: What the computer does: four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T+31: Follow [2, 7, 3]. Be here by T+32, then pupils start Task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T+32: Task 1 (T+32 to T+37, 5 minutes). Pupils open rle_starter.py, run it and see the heart, then trace a row on paper (booklet page 7) and plan in English (page 8). Leave the next slide up if they are stuck. Block: 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T+32: Stuck? Booklet pages: 6 get ready, 7 trace, 8 plan, 9 and 10 hints. Leave up while pupils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T+37: Talk block 5 minutes (T+37 to T+42). New trick: .append. Block: 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T+38: A loop inside a loop: the outer loop picks each number, the inner loop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T+40: Your decode_row: point to booklet page 9 and the three hints.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T+41: Test it. Run print(decode_row([2, 7, 3])). If yours matches, it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T+42: Task 2 (T+42 to T+57, 15 minutes). Pupils write decode_row for 15 minutes. Hints in layers on page 9. Circulate. Watch for swapping the colour inside the inner loop (stripes), a missing return, append indented in the wrong loop. Block: 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T+57: Now a whole picture: reuse the row decoder. Talk block 3 minutes. Block: 3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T+58: Your decode_picture: loop, decode, append. Booklet page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T+59: The big moment. Then swap mystery_image_1 for mystery_image_7. Pupils do Tasks 3 and 4 for 15 minutes (T+60 to T+75).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T+60: Tasks 3 and 4 share one 15 minute block (T+60 to T+75). Task 3: decode_picture shows the mug. Task 4: the big pictures. Circulate. Block: 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T+75: Finished product, 5 minutes (T+75 to T+80). Same code, much bigger pictures. The next slides show what the plots should look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T+76: Clues for the first big picture, rows in groups of 12. Click for each column. Pupils do not decode these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T+76: Clues for the first big picture, rows in groups of 12. Click for each column. Pupils do not decode these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T+76: Clues for the first big picture, rows in groups of 12. Click for each column. Pupils do not decode these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T+76: Clues for the first big picture, rows in groups of 12. Click for each column. Pupils do not decode these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T+77: What your plot should look like. Do not linger.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T+77: Clues for the second big picture, rows in groups of 12. Click for each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T+77: Clues for the second big picture, rows in groups of 12. Click for each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T+77: Clues for the second big picture, rows in groups of 12. Click for each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T+78: What your plot should look 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T+78: Clues for the biggest picture, rows in groups of 12. This one took ages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T+78: Clues for the biggest picture, rows in groups of 12. This one took ages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T+78: Clues for the biggest picture, rows in groups of 12. This one took ages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T+78: Clues for the biggest picture, rows in groups of 12. This one took ages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T+79: What your plot should look like. Then Task 5 for the last pupil block (8 minutes).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T+80: Task 5 (T+80 to T+88, 8 minutes). Pupils time the big pictures, compare with the by-hand time and write the reasons on booklet page 11. Stretch: encode_row and Encode It (page 12). Block: 8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T+80: Finished early? Stretch: encode_row goes backwards, row in and clue out. Off the computer: Encode It (booklet page 12), or race the computer by hand with a big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T+88: Recap, 2 minutes. Ask: what did you learn today? Block: 2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T+89: Close. Pens and keyboards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Worked example, about 4 minutes in four slides. Slide 1: the heart as a picture and the run-length clue for each row. Click once per row. Point out row 2: the clue starts with 0 because the row starts with a coloured square. Last click: our job is the other way round, clue back to row. Next slides: plan it in pseudocode, then step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Pseudocode: say what we want in plain English before writing any Python. Click through the groups. The outer loop picks one clue (one row) at a time. The inner loop picks one number at a time and adds that many blanks or coloured squares. Ask pupils where the colour swap goes and why it is inside the inner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inner loop on row 3 of the heart, the clue [1, 3, 1]. One click per pass of the loop. Start: row is empty, colour is 0. Each pass: add that many of the colour, then swap it. The last click shows the finished row as squares: it is the middle row of the heart. Pupils can predict the next row before each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Now the outer loop: one clue, one row, four times. Click once per row. Each click runs the whole inner loop from the last slide and adds a row to the picture. Last click: say it out loud, outer loop picks each row, inner loop picks each number. This is exactly what decode_picture and decode_row will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01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Challenge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NSW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Challenge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1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7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this?</a:t>
            </a:r>
            <a:endParaRPr lang="en-US" sz="3400" dirty="0"/>
          </a:p>
        </p:txBody>
      </p:sp>
      <p:pic>
        <p:nvPicPr>
          <p:cNvPr id="3" name="Image 0" descr="A pattern of wavy pale blue stripes and spots on a dark blue background, made by a computer simulation of two chemical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548640"/>
            <a:ext cx="3657600" cy="3657600"/>
          </a:xfrm>
          <a:prstGeom prst="rect">
            <a:avLst/>
          </a:prstGeom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Here's a Hint</a:t>
            </a:r>
            <a:endParaRPr lang="en-US" sz="3000" dirty="0"/>
          </a:p>
        </p:txBody>
      </p:sp>
      <p:pic>
        <p:nvPicPr>
          <p:cNvPr id="3" name="Image 0" descr="Animation: a pattern of pale blue stripes and spots grows out of a few random specks on a dark blue backgrou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3291840" cy="3291840"/>
          </a:xfrm>
          <a:prstGeom prst="rect">
            <a:avLst/>
          </a:prstGeom>
        </p:spPr>
      </p:pic>
      <p:sp>
        <p:nvSpPr>
          <p:cNvPr id="4" name="@1 Card"/>
          <p:cNvSpPr/>
          <p:nvPr/>
        </p:nvSpPr>
        <p:spPr>
          <a:xfrm>
            <a:off x="4114800" y="137160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@1 addText"/>
          <p:cNvSpPr txBox="1"/>
          <p:nvPr/>
        </p:nvSpPr>
        <p:spPr>
          <a:xfrm>
            <a:off x="4343400" y="13716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at the animal kingdom: zebra stripes, leopard spots, the markings on fish.</a:t>
            </a:r>
            <a:endParaRPr lang="en-US" sz="1800" dirty="0"/>
          </a:p>
        </p:txBody>
      </p:sp>
      <p:sp>
        <p:nvSpPr>
          <p:cNvPr id="6" name="@2 Card"/>
          <p:cNvSpPr/>
          <p:nvPr/>
        </p:nvSpPr>
        <p:spPr>
          <a:xfrm>
            <a:off x="4114800" y="274320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@2 addText"/>
          <p:cNvSpPr txBox="1"/>
          <p:nvPr/>
        </p:nvSpPr>
        <p:spPr>
          <a:xfrm>
            <a:off x="4343400" y="2743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think about who is famous for cracking the Enigma code.</a:t>
            </a:r>
            <a:endParaRPr lang="en-US" sz="18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Turing's Work in Biology</a:t>
            </a:r>
            <a:endParaRPr lang="en-US" sz="3000" dirty="0"/>
          </a:p>
        </p:txBody>
      </p:sp>
      <p:pic>
        <p:nvPicPr>
          <p:cNvPr id="3" name="Image 0" descr="A Turing pattern: wavy pale blue stripes on dark blue, made by a computer simulation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188720"/>
            <a:ext cx="3108960" cy="3291840"/>
          </a:xfrm>
          <a:prstGeom prst="rect">
            <a:avLst/>
          </a:prstGeom>
        </p:spPr>
      </p:pic>
      <p:sp>
        <p:nvSpPr>
          <p:cNvPr id="4" name="@1 addText"/>
          <p:cNvSpPr txBox="1"/>
          <p:nvPr/>
        </p:nvSpPr>
        <p:spPr>
          <a:xfrm>
            <a:off x="3931920" y="118872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Alan Turing is famous for Enigma and for the ideas behind computers. He also studied biology.</a:t>
            </a:r>
            <a:endParaRPr lang="en-US" sz="1500" dirty="0"/>
          </a:p>
        </p:txBody>
      </p:sp>
      <p:sp>
        <p:nvSpPr>
          <p:cNvPr id="5" name="@2 addText"/>
          <p:cNvSpPr txBox="1"/>
          <p:nvPr/>
        </p:nvSpPr>
        <p:spPr>
          <a:xfrm>
            <a:off x="3931920" y="18288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1952 he asked: how does a ball of identical cells grow into stripes and spots?</a:t>
            </a:r>
            <a:endParaRPr lang="en-US" sz="1500" dirty="0"/>
          </a:p>
        </p:txBody>
      </p:sp>
      <p:sp>
        <p:nvSpPr>
          <p:cNvPr id="6" name="@3 addText"/>
          <p:cNvSpPr txBox="1"/>
          <p:nvPr/>
        </p:nvSpPr>
        <p:spPr>
          <a:xfrm>
            <a:off x="3931920" y="2468880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idea: two chemicals spread through the body and react with each other. Where they meet, a pattern appears by itself.</a:t>
            </a:r>
            <a:endParaRPr lang="en-US" sz="1500" dirty="0"/>
          </a:p>
        </p:txBody>
      </p:sp>
      <p:sp>
        <p:nvSpPr>
          <p:cNvPr id="7" name="@4 addText"/>
          <p:cNvSpPr txBox="1"/>
          <p:nvPr/>
        </p:nvSpPr>
        <p:spPr>
          <a:xfrm>
            <a:off x="3931920" y="334670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used maths and an early computer to test it. This picture is a computer simulation of that idea.</a:t>
            </a:r>
            <a:endParaRPr lang="en-US" sz="1500" dirty="0"/>
          </a:p>
        </p:txBody>
      </p:sp>
      <p:sp>
        <p:nvSpPr>
          <p:cNvPr id="8" name="@5 addText"/>
          <p:cNvSpPr txBox="1"/>
          <p:nvPr/>
        </p:nvSpPr>
        <p:spPr>
          <a:xfrm>
            <a:off x="3931920" y="3986784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buSzPct val="100000"/>
              <a:buChar char="•"/>
            </a:pPr>
            <a:r>
              <a:rPr lang="en-US" sz="15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Scientists have since found Turing patterns in zebrafish stripes and in the spacing of mouse toes.</a:t>
            </a:r>
            <a:endParaRPr lang="en-US" sz="1500" dirty="0"/>
          </a:p>
        </p:txBody>
      </p:sp>
      <p:sp>
        <p:nvSpPr>
          <p:cNvPr id="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 Patterns in Nature</a:t>
            </a:r>
            <a:endParaRPr lang="en-US" sz="3000" dirty="0"/>
          </a:p>
        </p:txBody>
      </p:sp>
      <p:pic>
        <p:nvPicPr>
          <p:cNvPr id="3" name="@1 addImage" descr="Simulated spots, pale blue dots on dark blu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2560320" cy="2560320"/>
          </a:xfrm>
          <a:prstGeom prst="rect">
            <a:avLst/>
          </a:prstGeom>
        </p:spPr>
      </p:pic>
      <p:sp>
        <p:nvSpPr>
          <p:cNvPr id="4" name="@1 addText"/>
          <p:cNvSpPr txBox="1"/>
          <p:nvPr/>
        </p:nvSpPr>
        <p:spPr>
          <a:xfrm>
            <a:off x="457200" y="37490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Spots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457200" y="4023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leopards and cheetahs</a:t>
            </a:r>
            <a:endParaRPr lang="en-US" sz="1300" dirty="0"/>
          </a:p>
        </p:txBody>
      </p:sp>
      <p:pic>
        <p:nvPicPr>
          <p:cNvPr id="6" name="@2 addImage" descr="Simulated blotches, pale blue patches on dark bl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143000"/>
            <a:ext cx="2560320" cy="2560320"/>
          </a:xfrm>
          <a:prstGeom prst="rect">
            <a:avLst/>
          </a:prstGeom>
        </p:spPr>
      </p:pic>
      <p:sp>
        <p:nvSpPr>
          <p:cNvPr id="7" name="@2 addText"/>
          <p:cNvSpPr txBox="1"/>
          <p:nvPr/>
        </p:nvSpPr>
        <p:spPr>
          <a:xfrm>
            <a:off x="3337560" y="37490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Blotches</a:t>
            </a:r>
            <a:endParaRPr lang="en-US" sz="1600" dirty="0"/>
          </a:p>
        </p:txBody>
      </p:sp>
      <p:sp>
        <p:nvSpPr>
          <p:cNvPr id="8" name="@2 addText"/>
          <p:cNvSpPr txBox="1"/>
          <p:nvPr/>
        </p:nvSpPr>
        <p:spPr>
          <a:xfrm>
            <a:off x="3337560" y="4023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giraffe-style patches</a:t>
            </a:r>
            <a:endParaRPr lang="en-US" sz="1300" dirty="0"/>
          </a:p>
        </p:txBody>
      </p:sp>
      <p:pic>
        <p:nvPicPr>
          <p:cNvPr id="9" name="@3 addImage" descr="Simulated stripes and mazes, wavy pale blue lines on dark blu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143000"/>
            <a:ext cx="2560320" cy="2560320"/>
          </a:xfrm>
          <a:prstGeom prst="rect">
            <a:avLst/>
          </a:prstGeom>
        </p:spPr>
      </p:pic>
      <p:sp>
        <p:nvSpPr>
          <p:cNvPr id="10" name="@3 addText"/>
          <p:cNvSpPr txBox="1"/>
          <p:nvPr/>
        </p:nvSpPr>
        <p:spPr>
          <a:xfrm>
            <a:off x="6217920" y="37490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Stripes and mazes</a:t>
            </a:r>
            <a:endParaRPr lang="en-US" sz="1600" dirty="0"/>
          </a:p>
        </p:txBody>
      </p:sp>
      <p:sp>
        <p:nvSpPr>
          <p:cNvPr id="11" name="@3 addText"/>
          <p:cNvSpPr txBox="1"/>
          <p:nvPr/>
        </p:nvSpPr>
        <p:spPr>
          <a:xfrm>
            <a:off x="6217920" y="4023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zebrafish, angelfish, fingerprints</a:t>
            </a:r>
            <a:endParaRPr lang="en-US" sz="1300" dirty="0"/>
          </a:p>
        </p:txBody>
      </p:sp>
      <p:sp>
        <p:nvSpPr>
          <p:cNvPr id="12" name="@4 addText"/>
          <p:cNvSpPr txBox="1"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 seashell patterns, the spacing of hairs and feathers, and the ridges in a mouse's mouth.</a:t>
            </a:r>
            <a:endParaRPr lang="en-US" sz="13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Challenge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9C4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cryptography.py _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 can break codes, let's see how data gets encoded in the first place.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Hughes</a:t>
            </a:r>
            <a:endParaRPr lang="en-US" sz="1400" dirty="0"/>
          </a:p>
        </p:txBody>
      </p:sp>
      <p:sp>
        <p:nvSpPr>
          <p:cNvPr id="6" name="Timer pill"/>
          <p:cNvSpPr/>
          <p:nvPr/>
        </p:nvSpPr>
        <p:spPr>
          <a:xfrm>
            <a:off x="548640" y="411480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0" descr="c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270248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70432" y="41148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"Encoding" Mean?</a:t>
            </a:r>
            <a:endParaRPr lang="en-US" sz="3000" dirty="0"/>
          </a:p>
        </p:txBody>
      </p:sp>
      <p:sp>
        <p:nvSpPr>
          <p:cNvPr id="3" name="Bar"/>
          <p:cNvSpPr/>
          <p:nvPr/>
        </p:nvSpPr>
        <p:spPr>
          <a:xfrm>
            <a:off x="457200" y="100584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685800" y="100584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= writing the same information in a different way.</a:t>
            </a:r>
            <a:endParaRPr lang="en-US" sz="2000" dirty="0"/>
          </a:p>
        </p:txBody>
      </p:sp>
      <p:sp>
        <p:nvSpPr>
          <p:cNvPr id="5" name="Card"/>
          <p:cNvSpPr/>
          <p:nvPr/>
        </p:nvSpPr>
        <p:spPr>
          <a:xfrm>
            <a:off x="457200" y="178308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plain text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7830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</a:t>
            </a:r>
            <a:endParaRPr lang="en-US" sz="2200" dirty="0"/>
          </a:p>
        </p:txBody>
      </p:sp>
      <p:sp>
        <p:nvSpPr>
          <p:cNvPr id="8" name="@1 Card"/>
          <p:cNvSpPr/>
          <p:nvPr/>
        </p:nvSpPr>
        <p:spPr>
          <a:xfrm>
            <a:off x="457200" y="242316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@1 addText"/>
          <p:cNvSpPr txBox="1"/>
          <p:nvPr/>
        </p:nvSpPr>
        <p:spPr>
          <a:xfrm>
            <a:off x="6858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Morse code</a:t>
            </a:r>
            <a:endParaRPr lang="en-US" sz="1400" dirty="0"/>
          </a:p>
        </p:txBody>
      </p:sp>
      <p:sp>
        <p:nvSpPr>
          <p:cNvPr id="10" name="@1 addText"/>
          <p:cNvSpPr txBox="1"/>
          <p:nvPr/>
        </p:nvSpPr>
        <p:spPr>
          <a:xfrm>
            <a:off x="3383280" y="2423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....  .  .-..  .--.</a:t>
            </a:r>
            <a:endParaRPr lang="en-US" sz="1600" dirty="0"/>
          </a:p>
        </p:txBody>
      </p:sp>
      <p:sp>
        <p:nvSpPr>
          <p:cNvPr id="11" name="@2 Card"/>
          <p:cNvSpPr/>
          <p:nvPr/>
        </p:nvSpPr>
        <p:spPr>
          <a:xfrm>
            <a:off x="457200" y="306324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@2 addText"/>
          <p:cNvSpPr txBox="1"/>
          <p:nvPr/>
        </p:nvSpPr>
        <p:spPr>
          <a:xfrm>
            <a:off x="685800" y="3063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A=1, B=2, C=3 ...</a:t>
            </a:r>
            <a:endParaRPr lang="en-US" sz="1400" dirty="0"/>
          </a:p>
        </p:txBody>
      </p:sp>
      <p:sp>
        <p:nvSpPr>
          <p:cNvPr id="13" name="@2 addText"/>
          <p:cNvSpPr txBox="1"/>
          <p:nvPr/>
        </p:nvSpPr>
        <p:spPr>
          <a:xfrm>
            <a:off x="3383280" y="30632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8  5  12  16</a:t>
            </a:r>
            <a:endParaRPr lang="en-US" sz="1600" dirty="0"/>
          </a:p>
        </p:txBody>
      </p:sp>
      <p:sp>
        <p:nvSpPr>
          <p:cNvPr id="14" name="@3 Card"/>
          <p:cNvSpPr/>
          <p:nvPr/>
        </p:nvSpPr>
        <p:spPr>
          <a:xfrm>
            <a:off x="457200" y="3703320"/>
            <a:ext cx="82296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@3 addText"/>
          <p:cNvSpPr txBox="1"/>
          <p:nvPr/>
        </p:nvSpPr>
        <p:spPr>
          <a:xfrm>
            <a:off x="685800" y="3703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binary</a:t>
            </a:r>
            <a:endParaRPr lang="en-US" sz="1400" dirty="0"/>
          </a:p>
        </p:txBody>
      </p:sp>
      <p:sp>
        <p:nvSpPr>
          <p:cNvPr id="16" name="@3 addText"/>
          <p:cNvSpPr txBox="1"/>
          <p:nvPr/>
        </p:nvSpPr>
        <p:spPr>
          <a:xfrm>
            <a:off x="3383280" y="37033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01001000 01000101 01001100 01010000</a:t>
            </a:r>
            <a:endParaRPr lang="en-US" sz="1600" dirty="0"/>
          </a:p>
        </p:txBody>
      </p:sp>
      <p:sp>
        <p:nvSpPr>
          <p:cNvPr id="17" name="@3 addText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message, four codes. Nothing was lost.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Do It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18872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1887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laughing out loud</a:t>
            </a:r>
            <a:endParaRPr lang="en-US" sz="1800" dirty="0"/>
          </a:p>
        </p:txBody>
      </p:sp>
      <p:sp>
        <p:nvSpPr>
          <p:cNvPr id="5" name="@1 addText"/>
          <p:cNvSpPr txBox="1"/>
          <p:nvPr/>
        </p:nvSpPr>
        <p:spPr>
          <a:xfrm>
            <a:off x="3657600" y="11887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000" dirty="0"/>
          </a:p>
        </p:txBody>
      </p:sp>
      <p:sp>
        <p:nvSpPr>
          <p:cNvPr id="6" name="@1 addText"/>
          <p:cNvSpPr txBox="1"/>
          <p:nvPr/>
        </p:nvSpPr>
        <p:spPr>
          <a:xfrm>
            <a:off x="4297680" y="11887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lol</a:t>
            </a:r>
            <a:endParaRPr lang="en-US" sz="2000" dirty="0"/>
          </a:p>
        </p:txBody>
      </p:sp>
      <p:sp>
        <p:nvSpPr>
          <p:cNvPr id="7" name="@1 addText"/>
          <p:cNvSpPr txBox="1"/>
          <p:nvPr/>
        </p:nvSpPr>
        <p:spPr>
          <a:xfrm>
            <a:off x="6126480" y="1188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to 3 characters</a:t>
            </a:r>
            <a:endParaRPr lang="en-US" sz="1400" dirty="0"/>
          </a:p>
        </p:txBody>
      </p:sp>
      <p:sp>
        <p:nvSpPr>
          <p:cNvPr id="8" name="@2 Card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@2 addText"/>
          <p:cNvSpPr txBox="1"/>
          <p:nvPr/>
        </p:nvSpPr>
        <p:spPr>
          <a:xfrm>
            <a:off x="731520" y="19659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my way</a:t>
            </a:r>
            <a:endParaRPr lang="en-US" sz="1800" dirty="0"/>
          </a:p>
        </p:txBody>
      </p:sp>
      <p:sp>
        <p:nvSpPr>
          <p:cNvPr id="10" name="@2 addText"/>
          <p:cNvSpPr txBox="1"/>
          <p:nvPr/>
        </p:nvSpPr>
        <p:spPr>
          <a:xfrm>
            <a:off x="3657600" y="1965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000" dirty="0"/>
          </a:p>
        </p:txBody>
      </p:sp>
      <p:sp>
        <p:nvSpPr>
          <p:cNvPr id="11" name="@2 addText"/>
          <p:cNvSpPr txBox="1"/>
          <p:nvPr/>
        </p:nvSpPr>
        <p:spPr>
          <a:xfrm>
            <a:off x="4297680" y="1965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omw</a:t>
            </a:r>
            <a:endParaRPr lang="en-US" sz="2000" dirty="0"/>
          </a:p>
        </p:txBody>
      </p:sp>
      <p:sp>
        <p:nvSpPr>
          <p:cNvPr id="12" name="@2 addText"/>
          <p:cNvSpPr txBox="1"/>
          <p:nvPr/>
        </p:nvSpPr>
        <p:spPr>
          <a:xfrm>
            <a:off x="6126480" y="1965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to 3 characters</a:t>
            </a:r>
            <a:endParaRPr lang="en-US" sz="1400" dirty="0"/>
          </a:p>
        </p:txBody>
      </p:sp>
      <p:sp>
        <p:nvSpPr>
          <p:cNvPr id="13" name="@3 Card"/>
          <p:cNvSpPr/>
          <p:nvPr/>
        </p:nvSpPr>
        <p:spPr>
          <a:xfrm>
            <a:off x="457200" y="2743200"/>
            <a:ext cx="822960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@3 addText"/>
          <p:cNvSpPr txBox="1"/>
          <p:nvPr/>
        </p:nvSpPr>
        <p:spPr>
          <a:xfrm>
            <a:off x="731520" y="2743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agree with that</a:t>
            </a:r>
            <a:endParaRPr lang="en-US" sz="1800" dirty="0"/>
          </a:p>
        </p:txBody>
      </p:sp>
      <p:sp>
        <p:nvSpPr>
          <p:cNvPr id="15" name="@3 addText"/>
          <p:cNvSpPr txBox="1"/>
          <p:nvPr/>
        </p:nvSpPr>
        <p:spPr>
          <a:xfrm>
            <a:off x="3657600" y="27432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000" dirty="0"/>
          </a:p>
        </p:txBody>
      </p:sp>
      <p:sp>
        <p:nvSpPr>
          <p:cNvPr id="16" name="@3 addText"/>
          <p:cNvSpPr txBox="1"/>
          <p:nvPr/>
        </p:nvSpPr>
        <p:spPr>
          <a:xfrm>
            <a:off x="4297680" y="2743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thumbs up</a:t>
            </a:r>
            <a:endParaRPr lang="en-US" sz="2000" dirty="0"/>
          </a:p>
        </p:txBody>
      </p:sp>
      <p:sp>
        <p:nvSpPr>
          <p:cNvPr id="17" name="@3 addText"/>
          <p:cNvSpPr txBox="1"/>
          <p:nvPr/>
        </p:nvSpPr>
        <p:spPr>
          <a:xfrm>
            <a:off x="6126480" y="27432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characters to 1 symbol</a:t>
            </a:r>
            <a:endParaRPr lang="en-US" sz="1400" dirty="0"/>
          </a:p>
        </p:txBody>
      </p:sp>
      <p:sp>
        <p:nvSpPr>
          <p:cNvPr id="18" name="@4 Callout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@4 addText"/>
          <p:cNvSpPr txBox="1"/>
          <p:nvPr/>
        </p:nvSpPr>
        <p:spPr>
          <a:xfrm>
            <a:off x="685800" y="36576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Compression is encoding with a goal: say the same thing with as few symbols as possible.</a:t>
            </a:r>
            <a:endParaRPr lang="en-US" sz="12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 Encode Everything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Text, pictures, sound, video: a computer stores all of it as numbers.</a:t>
            </a:r>
            <a:endParaRPr lang="en-US" sz="1800" dirty="0"/>
          </a:p>
        </p:txBody>
      </p:sp>
      <p:sp>
        <p:nvSpPr>
          <p:cNvPr id="4" name="@1 Card"/>
          <p:cNvSpPr/>
          <p:nvPr/>
        </p:nvSpPr>
        <p:spPr>
          <a:xfrm>
            <a:off x="457200" y="173736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@1 addText"/>
          <p:cNvSpPr txBox="1"/>
          <p:nvPr/>
        </p:nvSpPr>
        <p:spPr>
          <a:xfrm>
            <a:off x="45720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400" dirty="0"/>
          </a:p>
        </p:txBody>
      </p:sp>
      <p:sp>
        <p:nvSpPr>
          <p:cNvPr id="6" name="@1 addText"/>
          <p:cNvSpPr txBox="1"/>
          <p:nvPr/>
        </p:nvSpPr>
        <p:spPr>
          <a:xfrm>
            <a:off x="457200" y="2377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457200" y="2743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65</a:t>
            </a:r>
            <a:endParaRPr lang="en-US" sz="2400" dirty="0"/>
          </a:p>
        </p:txBody>
      </p:sp>
      <p:sp>
        <p:nvSpPr>
          <p:cNvPr id="8" name="@1 addText"/>
          <p:cNvSpPr txBox="1"/>
          <p:nvPr/>
        </p:nvSpPr>
        <p:spPr>
          <a:xfrm>
            <a:off x="64008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letter</a:t>
            </a:r>
            <a:endParaRPr lang="en-US" sz="1400" dirty="0"/>
          </a:p>
        </p:txBody>
      </p:sp>
      <p:sp>
        <p:nvSpPr>
          <p:cNvPr id="9" name="@2 Card"/>
          <p:cNvSpPr/>
          <p:nvPr/>
        </p:nvSpPr>
        <p:spPr>
          <a:xfrm>
            <a:off x="3291840" y="173736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@2 addText"/>
          <p:cNvSpPr txBox="1"/>
          <p:nvPr/>
        </p:nvSpPr>
        <p:spPr>
          <a:xfrm>
            <a:off x="32918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2400" dirty="0"/>
          </a:p>
        </p:txBody>
      </p:sp>
      <p:sp>
        <p:nvSpPr>
          <p:cNvPr id="11" name="@2 addText"/>
          <p:cNvSpPr txBox="1"/>
          <p:nvPr/>
        </p:nvSpPr>
        <p:spPr>
          <a:xfrm>
            <a:off x="3291840" y="2377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3291840" y="2743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255, 0, 0</a:t>
            </a:r>
            <a:endParaRPr lang="en-US" sz="2400" dirty="0"/>
          </a:p>
        </p:txBody>
      </p:sp>
      <p:sp>
        <p:nvSpPr>
          <p:cNvPr id="13" name="@2 addText"/>
          <p:cNvSpPr txBox="1"/>
          <p:nvPr/>
        </p:nvSpPr>
        <p:spPr>
          <a:xfrm>
            <a:off x="347472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red pixel (red, green, blue)</a:t>
            </a:r>
            <a:endParaRPr lang="en-US" sz="1400" dirty="0"/>
          </a:p>
        </p:txBody>
      </p:sp>
      <p:sp>
        <p:nvSpPr>
          <p:cNvPr id="14" name="@3 Card"/>
          <p:cNvSpPr/>
          <p:nvPr/>
        </p:nvSpPr>
        <p:spPr>
          <a:xfrm>
            <a:off x="6126480" y="173736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@3 addText"/>
          <p:cNvSpPr txBox="1"/>
          <p:nvPr/>
        </p:nvSpPr>
        <p:spPr>
          <a:xfrm>
            <a:off x="612648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note</a:t>
            </a:r>
            <a:endParaRPr lang="en-US" sz="2400" dirty="0"/>
          </a:p>
        </p:txBody>
      </p:sp>
      <p:sp>
        <p:nvSpPr>
          <p:cNvPr id="16" name="@3 addText"/>
          <p:cNvSpPr txBox="1"/>
          <p:nvPr/>
        </p:nvSpPr>
        <p:spPr>
          <a:xfrm>
            <a:off x="6126480" y="23774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600" dirty="0"/>
          </a:p>
        </p:txBody>
      </p:sp>
      <p:sp>
        <p:nvSpPr>
          <p:cNvPr id="17" name="@3 addText"/>
          <p:cNvSpPr txBox="1"/>
          <p:nvPr/>
        </p:nvSpPr>
        <p:spPr>
          <a:xfrm>
            <a:off x="6126480" y="2743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440</a:t>
            </a:r>
            <a:endParaRPr lang="en-US" sz="2400" dirty="0"/>
          </a:p>
        </p:txBody>
      </p:sp>
      <p:sp>
        <p:nvSpPr>
          <p:cNvPr id="18" name="@3 addText"/>
          <p:cNvSpPr txBox="1"/>
          <p:nvPr/>
        </p:nvSpPr>
        <p:spPr>
          <a:xfrm>
            <a:off x="6309360" y="3337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wobbles per second</a:t>
            </a:r>
            <a:endParaRPr lang="en-US" sz="1400" dirty="0"/>
          </a:p>
        </p:txBody>
      </p:sp>
      <p:sp>
        <p:nvSpPr>
          <p:cNvPr id="19" name="@3 addText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different jobs use different codes.</a:t>
            </a:r>
            <a:endParaRPr lang="en-US" sz="14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About the Internet?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travels in packets: small chunks with a number on them.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</a:t>
            </a:r>
            <a:endParaRPr lang="en-US" sz="1400" dirty="0"/>
          </a:p>
        </p:txBody>
      </p:sp>
      <p:sp>
        <p:nvSpPr>
          <p:cNvPr id="5" name="Card"/>
          <p:cNvSpPr/>
          <p:nvPr/>
        </p:nvSpPr>
        <p:spPr>
          <a:xfrm>
            <a:off x="1645920" y="164592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world!</a:t>
            </a:r>
            <a:endParaRPr lang="en-US" sz="1800" dirty="0"/>
          </a:p>
        </p:txBody>
      </p:sp>
      <p:sp>
        <p:nvSpPr>
          <p:cNvPr id="7" name="@1 addText"/>
          <p:cNvSpPr txBox="1"/>
          <p:nvPr/>
        </p:nvSpPr>
        <p:spPr>
          <a:xfrm>
            <a:off x="457200" y="23774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</a:t>
            </a:r>
            <a:endParaRPr lang="en-US" sz="1400" dirty="0"/>
          </a:p>
        </p:txBody>
      </p:sp>
      <p:sp>
        <p:nvSpPr>
          <p:cNvPr id="8" name="@1 Card"/>
          <p:cNvSpPr/>
          <p:nvPr/>
        </p:nvSpPr>
        <p:spPr>
          <a:xfrm>
            <a:off x="164592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@1 addText"/>
          <p:cNvSpPr txBox="1"/>
          <p:nvPr/>
        </p:nvSpPr>
        <p:spPr>
          <a:xfrm>
            <a:off x="16459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Hel</a:t>
            </a:r>
            <a:endParaRPr lang="en-US" sz="1800" dirty="0"/>
          </a:p>
        </p:txBody>
      </p:sp>
      <p:sp>
        <p:nvSpPr>
          <p:cNvPr id="10" name="@1 Card"/>
          <p:cNvSpPr/>
          <p:nvPr/>
        </p:nvSpPr>
        <p:spPr>
          <a:xfrm>
            <a:off x="329184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1 addText"/>
          <p:cNvSpPr txBox="1"/>
          <p:nvPr/>
        </p:nvSpPr>
        <p:spPr>
          <a:xfrm>
            <a:off x="329184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lo_</a:t>
            </a:r>
            <a:endParaRPr lang="en-US" sz="1800" dirty="0"/>
          </a:p>
        </p:txBody>
      </p:sp>
      <p:sp>
        <p:nvSpPr>
          <p:cNvPr id="12" name="@1 Card"/>
          <p:cNvSpPr/>
          <p:nvPr/>
        </p:nvSpPr>
        <p:spPr>
          <a:xfrm>
            <a:off x="493776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@1 addText"/>
          <p:cNvSpPr txBox="1"/>
          <p:nvPr/>
        </p:nvSpPr>
        <p:spPr>
          <a:xfrm>
            <a:off x="493776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wor</a:t>
            </a:r>
            <a:endParaRPr lang="en-US" sz="1800" dirty="0"/>
          </a:p>
        </p:txBody>
      </p:sp>
      <p:sp>
        <p:nvSpPr>
          <p:cNvPr id="14" name="@1 Card"/>
          <p:cNvSpPr/>
          <p:nvPr/>
        </p:nvSpPr>
        <p:spPr>
          <a:xfrm>
            <a:off x="658368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@1 addText"/>
          <p:cNvSpPr txBox="1"/>
          <p:nvPr/>
        </p:nvSpPr>
        <p:spPr>
          <a:xfrm>
            <a:off x="658368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ld!</a:t>
            </a:r>
            <a:endParaRPr lang="en-US" sz="1800" dirty="0"/>
          </a:p>
        </p:txBody>
      </p:sp>
      <p:sp>
        <p:nvSpPr>
          <p:cNvPr id="16" name="@2 addText"/>
          <p:cNvSpPr txBox="1"/>
          <p:nvPr/>
        </p:nvSpPr>
        <p:spPr>
          <a:xfrm>
            <a:off x="457200" y="3108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arrive</a:t>
            </a:r>
            <a:endParaRPr lang="en-US" sz="1400" dirty="0"/>
          </a:p>
        </p:txBody>
      </p:sp>
      <p:sp>
        <p:nvSpPr>
          <p:cNvPr id="17" name="@2 Card"/>
          <p:cNvSpPr/>
          <p:nvPr/>
        </p:nvSpPr>
        <p:spPr>
          <a:xfrm>
            <a:off x="164592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@2 addText"/>
          <p:cNvSpPr txBox="1"/>
          <p:nvPr/>
        </p:nvSpPr>
        <p:spPr>
          <a:xfrm>
            <a:off x="164592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wor</a:t>
            </a:r>
            <a:endParaRPr lang="en-US" sz="1800" dirty="0"/>
          </a:p>
        </p:txBody>
      </p:sp>
      <p:sp>
        <p:nvSpPr>
          <p:cNvPr id="19" name="@2 Card"/>
          <p:cNvSpPr/>
          <p:nvPr/>
        </p:nvSpPr>
        <p:spPr>
          <a:xfrm>
            <a:off x="329184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@2 addText"/>
          <p:cNvSpPr txBox="1"/>
          <p:nvPr/>
        </p:nvSpPr>
        <p:spPr>
          <a:xfrm>
            <a:off x="329184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Hel</a:t>
            </a:r>
            <a:endParaRPr lang="en-US" sz="1800" dirty="0"/>
          </a:p>
        </p:txBody>
      </p:sp>
      <p:sp>
        <p:nvSpPr>
          <p:cNvPr id="21" name="@2 Card"/>
          <p:cNvSpPr/>
          <p:nvPr/>
        </p:nvSpPr>
        <p:spPr>
          <a:xfrm>
            <a:off x="493776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@2 addText"/>
          <p:cNvSpPr txBox="1"/>
          <p:nvPr/>
        </p:nvSpPr>
        <p:spPr>
          <a:xfrm>
            <a:off x="493776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ld!</a:t>
            </a:r>
            <a:endParaRPr lang="en-US" sz="1800" dirty="0"/>
          </a:p>
        </p:txBody>
      </p:sp>
      <p:sp>
        <p:nvSpPr>
          <p:cNvPr id="23" name="@2 Card"/>
          <p:cNvSpPr/>
          <p:nvPr/>
        </p:nvSpPr>
        <p:spPr>
          <a:xfrm>
            <a:off x="6583680" y="31089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@2 addText"/>
          <p:cNvSpPr txBox="1"/>
          <p:nvPr/>
        </p:nvSpPr>
        <p:spPr>
          <a:xfrm>
            <a:off x="6583680" y="31089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lo_</a:t>
            </a:r>
            <a:endParaRPr lang="en-US" sz="1800" dirty="0"/>
          </a:p>
        </p:txBody>
      </p:sp>
      <p:sp>
        <p:nvSpPr>
          <p:cNvPr id="25" name="@3 addText"/>
          <p:cNvSpPr txBox="1"/>
          <p:nvPr/>
        </p:nvSpPr>
        <p:spPr>
          <a:xfrm>
            <a:off x="457200" y="3840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</a:t>
            </a:r>
            <a:endParaRPr lang="en-US" sz="1400" dirty="0"/>
          </a:p>
        </p:txBody>
      </p:sp>
      <p:sp>
        <p:nvSpPr>
          <p:cNvPr id="26" name="@3 Card"/>
          <p:cNvSpPr/>
          <p:nvPr/>
        </p:nvSpPr>
        <p:spPr>
          <a:xfrm>
            <a:off x="1645920" y="3840480"/>
            <a:ext cx="2926080" cy="548640"/>
          </a:xfrm>
          <a:prstGeom prst="roundRect">
            <a:avLst>
              <a:gd name="adj" fmla="val 20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@3 addText"/>
          <p:cNvSpPr txBox="1"/>
          <p:nvPr/>
        </p:nvSpPr>
        <p:spPr>
          <a:xfrm>
            <a:off x="1645920" y="3840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 world!</a:t>
            </a:r>
            <a:endParaRPr lang="en-US" sz="18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Compress Data?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data = less storage, faster sending.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Picture A: 46 x 38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by pixel</a:t>
            </a:r>
            <a:endParaRPr lang="en-US" sz="1400" dirty="0"/>
          </a:p>
        </p:txBody>
      </p:sp>
      <p:sp>
        <p:nvSpPr>
          <p:cNvPr id="6" name="Bar raw"/>
          <p:cNvSpPr/>
          <p:nvPr/>
        </p:nvSpPr>
        <p:spPr>
          <a:xfrm>
            <a:off x="2194560" y="2011680"/>
            <a:ext cx="4486148" cy="36576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228600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1,748 values</a:t>
            </a:r>
            <a:endParaRPr lang="en-US" sz="1400" dirty="0"/>
          </a:p>
        </p:txBody>
      </p:sp>
      <p:sp>
        <p:nvSpPr>
          <p:cNvPr id="8" name="@1 addText"/>
          <p:cNvSpPr txBox="1"/>
          <p:nvPr/>
        </p:nvSpPr>
        <p:spPr>
          <a:xfrm>
            <a:off x="457200" y="2423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encoded</a:t>
            </a:r>
            <a:endParaRPr lang="en-US" sz="1400" dirty="0"/>
          </a:p>
        </p:txBody>
      </p:sp>
      <p:sp>
        <p:nvSpPr>
          <p:cNvPr id="9" name="@1 Bar rle"/>
          <p:cNvSpPr/>
          <p:nvPr/>
        </p:nvSpPr>
        <p:spPr>
          <a:xfrm>
            <a:off x="2194560" y="2423160"/>
            <a:ext cx="467093" cy="36576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@1 addText"/>
          <p:cNvSpPr txBox="1"/>
          <p:nvPr/>
        </p:nvSpPr>
        <p:spPr>
          <a:xfrm>
            <a:off x="2753093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Picture B: 47 x 47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383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pixel by pixel</a:t>
            </a:r>
            <a:endParaRPr lang="en-US" sz="1400" dirty="0"/>
          </a:p>
        </p:txBody>
      </p:sp>
      <p:sp>
        <p:nvSpPr>
          <p:cNvPr id="13" name="Bar raw"/>
          <p:cNvSpPr/>
          <p:nvPr/>
        </p:nvSpPr>
        <p:spPr>
          <a:xfrm>
            <a:off x="2194560" y="3383280"/>
            <a:ext cx="5669280" cy="36576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228600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2,209 values</a:t>
            </a:r>
            <a:endParaRPr lang="en-US" sz="1400" dirty="0"/>
          </a:p>
        </p:txBody>
      </p:sp>
      <p:sp>
        <p:nvSpPr>
          <p:cNvPr id="15" name="@2 addText"/>
          <p:cNvSpPr txBox="1"/>
          <p:nvPr/>
        </p:nvSpPr>
        <p:spPr>
          <a:xfrm>
            <a:off x="45720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encoded</a:t>
            </a:r>
            <a:endParaRPr lang="en-US" sz="1400" dirty="0"/>
          </a:p>
        </p:txBody>
      </p:sp>
      <p:sp>
        <p:nvSpPr>
          <p:cNvPr id="16" name="@2 Bar rle"/>
          <p:cNvSpPr/>
          <p:nvPr/>
        </p:nvSpPr>
        <p:spPr>
          <a:xfrm>
            <a:off x="2194560" y="3794760"/>
            <a:ext cx="469660" cy="36576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@2 addText"/>
          <p:cNvSpPr txBox="1"/>
          <p:nvPr/>
        </p:nvSpPr>
        <p:spPr>
          <a:xfrm>
            <a:off x="2755660" y="3794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183</a:t>
            </a:r>
            <a:endParaRPr lang="en-US" sz="1600" dirty="0"/>
          </a:p>
        </p:txBody>
      </p:sp>
      <p:sp>
        <p:nvSpPr>
          <p:cNvPr id="18" name="@3 addText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RLE is lossless. MP3 throws a little away to save more.</a:t>
            </a:r>
            <a:endParaRPr lang="en-US" sz="140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Run-Length Encoding?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28016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encoding (RLE) replaces a repeated run of the same value with two things: what is repeated, and how many times.</a:t>
            </a:r>
            <a:endParaRPr lang="en-US" sz="1200" dirty="0"/>
          </a:p>
        </p:txBody>
      </p:sp>
      <p:sp>
        <p:nvSpPr>
          <p:cNvPr id="5" name="@1 addText"/>
          <p:cNvSpPr txBox="1"/>
          <p:nvPr/>
        </p:nvSpPr>
        <p:spPr>
          <a:xfrm>
            <a:off x="685800" y="3108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AAAABBBCCCCD</a:t>
            </a:r>
            <a:endParaRPr lang="en-US" sz="2600" dirty="0"/>
          </a:p>
        </p:txBody>
      </p:sp>
      <p:sp>
        <p:nvSpPr>
          <p:cNvPr id="6" name="@1 addText"/>
          <p:cNvSpPr txBox="1"/>
          <p:nvPr/>
        </p:nvSpPr>
        <p:spPr>
          <a:xfrm>
            <a:off x="4297680" y="31089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  <a:endParaRPr lang="en-US" sz="2400" dirty="0"/>
          </a:p>
        </p:txBody>
      </p:sp>
      <p:sp>
        <p:nvSpPr>
          <p:cNvPr id="7" name="@1 addText"/>
          <p:cNvSpPr txBox="1"/>
          <p:nvPr/>
        </p:nvSpPr>
        <p:spPr>
          <a:xfrm>
            <a:off x="4937760" y="3108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4A 3B 4C 1D</a:t>
            </a:r>
            <a:endParaRPr lang="en-US" sz="26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Few Things Worth Knowing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64008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2000" dirty="0"/>
          </a:p>
        </p:txBody>
      </p:sp>
      <p:sp>
        <p:nvSpPr>
          <p:cNvPr id="5" name="@1 addText"/>
          <p:cNvSpPr txBox="1"/>
          <p:nvPr/>
        </p:nvSpPr>
        <p:spPr>
          <a:xfrm>
            <a:off x="64008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AAAABBB &gt; 4A3B &gt; AAAABBB</a:t>
            </a:r>
            <a:endParaRPr lang="en-US" sz="1400" dirty="0"/>
          </a:p>
        </p:txBody>
      </p:sp>
      <p:sp>
        <p:nvSpPr>
          <p:cNvPr id="6" name="@1 addText"/>
          <p:cNvSpPr txBox="1"/>
          <p:nvPr/>
        </p:nvSpPr>
        <p:spPr>
          <a:xfrm>
            <a:off x="640080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it and you get the exact original back.</a:t>
            </a:r>
            <a:endParaRPr lang="en-US" sz="1600" dirty="0"/>
          </a:p>
        </p:txBody>
      </p:sp>
      <p:sp>
        <p:nvSpPr>
          <p:cNvPr id="7" name="@2 Card"/>
          <p:cNvSpPr/>
          <p:nvPr/>
        </p:nvSpPr>
        <p:spPr>
          <a:xfrm>
            <a:off x="329184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@2 addText"/>
          <p:cNvSpPr txBox="1"/>
          <p:nvPr/>
        </p:nvSpPr>
        <p:spPr>
          <a:xfrm>
            <a:off x="347472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Loves repeats</a:t>
            </a:r>
            <a:endParaRPr lang="en-US" sz="2000" dirty="0"/>
          </a:p>
        </p:txBody>
      </p:sp>
      <p:sp>
        <p:nvSpPr>
          <p:cNvPr id="9" name="@2 addText"/>
          <p:cNvSpPr txBox="1"/>
          <p:nvPr/>
        </p:nvSpPr>
        <p:spPr>
          <a:xfrm>
            <a:off x="347472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AAAAAAAA &gt; 8A</a:t>
            </a:r>
            <a:endParaRPr lang="en-US" sz="1400" dirty="0"/>
          </a:p>
        </p:txBody>
      </p:sp>
      <p:sp>
        <p:nvSpPr>
          <p:cNvPr id="10" name="@2 addText"/>
          <p:cNvSpPr txBox="1"/>
          <p:nvPr/>
        </p:nvSpPr>
        <p:spPr>
          <a:xfrm>
            <a:off x="3474720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characters become 2.</a:t>
            </a:r>
            <a:endParaRPr lang="en-US" sz="1600" dirty="0"/>
          </a:p>
        </p:txBody>
      </p:sp>
      <p:sp>
        <p:nvSpPr>
          <p:cNvPr id="11" name="@3 Card"/>
          <p:cNvSpPr/>
          <p:nvPr/>
        </p:nvSpPr>
        <p:spPr>
          <a:xfrm>
            <a:off x="6126480" y="1188720"/>
            <a:ext cx="2651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@3 addText"/>
          <p:cNvSpPr txBox="1"/>
          <p:nvPr/>
        </p:nvSpPr>
        <p:spPr>
          <a:xfrm>
            <a:off x="6309360" y="1280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Hates noise</a:t>
            </a:r>
            <a:endParaRPr lang="en-US" sz="2000" dirty="0"/>
          </a:p>
        </p:txBody>
      </p:sp>
      <p:sp>
        <p:nvSpPr>
          <p:cNvPr id="13" name="@3 addText"/>
          <p:cNvSpPr txBox="1"/>
          <p:nvPr/>
        </p:nvSpPr>
        <p:spPr>
          <a:xfrm>
            <a:off x="6309360" y="1828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ABABAB &gt; 1A1B1A1B1A1B</a:t>
            </a:r>
            <a:endParaRPr lang="en-US" sz="1400" dirty="0"/>
          </a:p>
        </p:txBody>
      </p:sp>
      <p:sp>
        <p:nvSpPr>
          <p:cNvPr id="14" name="@3 addText"/>
          <p:cNvSpPr txBox="1"/>
          <p:nvPr/>
        </p:nvSpPr>
        <p:spPr>
          <a:xfrm>
            <a:off x="6309360" y="26517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become 12. Bigger!</a:t>
            </a:r>
            <a:endParaRPr lang="en-US" sz="1600" dirty="0"/>
          </a:p>
        </p:txBody>
      </p:sp>
      <p:sp>
        <p:nvSpPr>
          <p:cNvPr id="15" name="@4 addText"/>
          <p:cNvSpPr txBox="1"/>
          <p:nvPr/>
        </p:nvSpPr>
        <p:spPr>
          <a:xfrm>
            <a:off x="4572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used in:</a:t>
            </a:r>
            <a:endParaRPr lang="en-US" sz="1400" dirty="0"/>
          </a:p>
        </p:txBody>
      </p:sp>
      <p:sp>
        <p:nvSpPr>
          <p:cNvPr id="16" name="@4 Card"/>
          <p:cNvSpPr/>
          <p:nvPr/>
        </p:nvSpPr>
        <p:spPr>
          <a:xfrm>
            <a:off x="2103120" y="3931920"/>
            <a:ext cx="164592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@4 addText"/>
          <p:cNvSpPr txBox="1"/>
          <p:nvPr/>
        </p:nvSpPr>
        <p:spPr>
          <a:xfrm>
            <a:off x="21031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fax machines</a:t>
            </a:r>
            <a:endParaRPr lang="en-US" sz="1400" dirty="0"/>
          </a:p>
        </p:txBody>
      </p:sp>
      <p:sp>
        <p:nvSpPr>
          <p:cNvPr id="18" name="@4 Card"/>
          <p:cNvSpPr/>
          <p:nvPr/>
        </p:nvSpPr>
        <p:spPr>
          <a:xfrm>
            <a:off x="3931920" y="3931920"/>
            <a:ext cx="91440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@4 addText"/>
          <p:cNvSpPr txBox="1"/>
          <p:nvPr/>
        </p:nvSpPr>
        <p:spPr>
          <a:xfrm>
            <a:off x="3931920" y="3931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BMP</a:t>
            </a:r>
            <a:endParaRPr lang="en-US" sz="1400" dirty="0"/>
          </a:p>
        </p:txBody>
      </p:sp>
      <p:sp>
        <p:nvSpPr>
          <p:cNvPr id="20" name="@4 Card"/>
          <p:cNvSpPr/>
          <p:nvPr/>
        </p:nvSpPr>
        <p:spPr>
          <a:xfrm>
            <a:off x="5029200" y="3931920"/>
            <a:ext cx="91440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@4 addText"/>
          <p:cNvSpPr txBox="1"/>
          <p:nvPr/>
        </p:nvSpPr>
        <p:spPr>
          <a:xfrm>
            <a:off x="5029200" y="3931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TIFF</a:t>
            </a:r>
            <a:endParaRPr lang="en-US" sz="1400" dirty="0"/>
          </a:p>
        </p:txBody>
      </p:sp>
      <p:sp>
        <p:nvSpPr>
          <p:cNvPr id="22" name="@4 Card"/>
          <p:cNvSpPr/>
          <p:nvPr/>
        </p:nvSpPr>
        <p:spPr>
          <a:xfrm>
            <a:off x="6126480" y="3931920"/>
            <a:ext cx="914400" cy="457200"/>
          </a:xfrm>
          <a:prstGeom prst="roundRect">
            <a:avLst>
              <a:gd name="adj" fmla="val 24000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@4 addText"/>
          <p:cNvSpPr txBox="1"/>
          <p:nvPr/>
        </p:nvSpPr>
        <p:spPr>
          <a:xfrm>
            <a:off x="6126480" y="39319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PCX</a:t>
            </a:r>
            <a:endParaRPr lang="en-US" sz="14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Compressing a Sentence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RLE works on any run of repeated symbols, including text.</a:t>
            </a:r>
            <a:endParaRPr lang="en-US" sz="1800" dirty="0"/>
          </a:p>
        </p:txBody>
      </p:sp>
      <p:sp>
        <p:nvSpPr>
          <p:cNvPr id="4" name="Card"/>
          <p:cNvSpPr/>
          <p:nvPr/>
        </p:nvSpPr>
        <p:spPr>
          <a:xfrm>
            <a:off x="18745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18745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32461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32461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000" dirty="0"/>
          </a:p>
        </p:txBody>
      </p:sp>
      <p:sp>
        <p:nvSpPr>
          <p:cNvPr id="8" name="Card"/>
          <p:cNvSpPr/>
          <p:nvPr/>
        </p:nvSpPr>
        <p:spPr>
          <a:xfrm>
            <a:off x="46177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46177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SSSSS</a:t>
            </a:r>
            <a:endParaRPr lang="en-US" sz="2000" dirty="0"/>
          </a:p>
        </p:txBody>
      </p:sp>
      <p:sp>
        <p:nvSpPr>
          <p:cNvPr id="10" name="Card"/>
          <p:cNvSpPr/>
          <p:nvPr/>
        </p:nvSpPr>
        <p:spPr>
          <a:xfrm>
            <a:off x="5989320" y="173736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5989320" y="17373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!!!!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</a:t>
            </a:r>
            <a:endParaRPr lang="en-US" sz="1400" dirty="0"/>
          </a:p>
        </p:txBody>
      </p:sp>
      <p:sp>
        <p:nvSpPr>
          <p:cNvPr id="13" name="@1 Card"/>
          <p:cNvSpPr/>
          <p:nvPr/>
        </p:nvSpPr>
        <p:spPr>
          <a:xfrm>
            <a:off x="18745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@1 addText"/>
          <p:cNvSpPr txBox="1"/>
          <p:nvPr/>
        </p:nvSpPr>
        <p:spPr>
          <a:xfrm>
            <a:off x="18745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1Y</a:t>
            </a:r>
            <a:endParaRPr lang="en-US" sz="2000" dirty="0"/>
          </a:p>
        </p:txBody>
      </p:sp>
      <p:sp>
        <p:nvSpPr>
          <p:cNvPr id="15" name="@1 Card"/>
          <p:cNvSpPr/>
          <p:nvPr/>
        </p:nvSpPr>
        <p:spPr>
          <a:xfrm>
            <a:off x="32461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@1 addText"/>
          <p:cNvSpPr txBox="1"/>
          <p:nvPr/>
        </p:nvSpPr>
        <p:spPr>
          <a:xfrm>
            <a:off x="32461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</a:t>
            </a:r>
            <a:endParaRPr lang="en-US" sz="2000" dirty="0"/>
          </a:p>
        </p:txBody>
      </p:sp>
      <p:sp>
        <p:nvSpPr>
          <p:cNvPr id="17" name="@1 Card"/>
          <p:cNvSpPr/>
          <p:nvPr/>
        </p:nvSpPr>
        <p:spPr>
          <a:xfrm>
            <a:off x="46177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@1 addText"/>
          <p:cNvSpPr txBox="1"/>
          <p:nvPr/>
        </p:nvSpPr>
        <p:spPr>
          <a:xfrm>
            <a:off x="46177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5S</a:t>
            </a:r>
            <a:endParaRPr lang="en-US" sz="2000" dirty="0"/>
          </a:p>
        </p:txBody>
      </p:sp>
      <p:sp>
        <p:nvSpPr>
          <p:cNvPr id="19" name="@1 Card"/>
          <p:cNvSpPr/>
          <p:nvPr/>
        </p:nvSpPr>
        <p:spPr>
          <a:xfrm>
            <a:off x="5989320" y="2926080"/>
            <a:ext cx="128016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@1 addText"/>
          <p:cNvSpPr txBox="1"/>
          <p:nvPr/>
        </p:nvSpPr>
        <p:spPr>
          <a:xfrm>
            <a:off x="5989320" y="2926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4!</a:t>
            </a:r>
            <a:endParaRPr lang="en-US" sz="2000" dirty="0"/>
          </a:p>
        </p:txBody>
      </p:sp>
      <p:sp>
        <p:nvSpPr>
          <p:cNvPr id="21" name="@2 addText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characters become 8. Long runs compress well.</a:t>
            </a:r>
            <a:endParaRPr lang="en-US" sz="18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...But Not Every Sentence Compresses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on a different sentence.</a:t>
            </a:r>
            <a:endParaRPr lang="en-US" sz="1800" dirty="0"/>
          </a:p>
        </p:txBody>
      </p:sp>
      <p:sp>
        <p:nvSpPr>
          <p:cNvPr id="4" name="Card"/>
          <p:cNvSpPr/>
          <p:nvPr/>
        </p:nvSpPr>
        <p:spPr>
          <a:xfrm>
            <a:off x="77724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77724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2000" dirty="0"/>
          </a:p>
        </p:txBody>
      </p:sp>
      <p:sp>
        <p:nvSpPr>
          <p:cNvPr id="6" name="Card"/>
          <p:cNvSpPr/>
          <p:nvPr/>
        </p:nvSpPr>
        <p:spPr>
          <a:xfrm>
            <a:off x="205740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205740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8" name="Card"/>
          <p:cNvSpPr/>
          <p:nvPr/>
        </p:nvSpPr>
        <p:spPr>
          <a:xfrm>
            <a:off x="333756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33756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2000" dirty="0"/>
          </a:p>
        </p:txBody>
      </p:sp>
      <p:sp>
        <p:nvSpPr>
          <p:cNvPr id="10" name="Card"/>
          <p:cNvSpPr/>
          <p:nvPr/>
        </p:nvSpPr>
        <p:spPr>
          <a:xfrm>
            <a:off x="461772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461772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2" name="Card"/>
          <p:cNvSpPr/>
          <p:nvPr/>
        </p:nvSpPr>
        <p:spPr>
          <a:xfrm>
            <a:off x="589788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589788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2000" dirty="0"/>
          </a:p>
        </p:txBody>
      </p:sp>
      <p:sp>
        <p:nvSpPr>
          <p:cNvPr id="14" name="Card"/>
          <p:cNvSpPr/>
          <p:nvPr/>
        </p:nvSpPr>
        <p:spPr>
          <a:xfrm>
            <a:off x="7178040" y="173736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 txBox="1"/>
          <p:nvPr/>
        </p:nvSpPr>
        <p:spPr>
          <a:xfrm>
            <a:off x="7178040" y="1737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514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D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run-length encode</a:t>
            </a:r>
            <a:endParaRPr lang="en-US" sz="1400" dirty="0"/>
          </a:p>
        </p:txBody>
      </p:sp>
      <p:sp>
        <p:nvSpPr>
          <p:cNvPr id="17" name="@1 Card"/>
          <p:cNvSpPr/>
          <p:nvPr/>
        </p:nvSpPr>
        <p:spPr>
          <a:xfrm>
            <a:off x="77724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@1 addText"/>
          <p:cNvSpPr txBox="1"/>
          <p:nvPr/>
        </p:nvSpPr>
        <p:spPr>
          <a:xfrm>
            <a:off x="77724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1H</a:t>
            </a:r>
            <a:endParaRPr lang="en-US" sz="2000" dirty="0"/>
          </a:p>
        </p:txBody>
      </p:sp>
      <p:sp>
        <p:nvSpPr>
          <p:cNvPr id="19" name="@1 Card"/>
          <p:cNvSpPr/>
          <p:nvPr/>
        </p:nvSpPr>
        <p:spPr>
          <a:xfrm>
            <a:off x="205740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@1 addText"/>
          <p:cNvSpPr txBox="1"/>
          <p:nvPr/>
        </p:nvSpPr>
        <p:spPr>
          <a:xfrm>
            <a:off x="205740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</a:t>
            </a:r>
            <a:endParaRPr lang="en-US" sz="2000" dirty="0"/>
          </a:p>
        </p:txBody>
      </p:sp>
      <p:sp>
        <p:nvSpPr>
          <p:cNvPr id="21" name="@1 Card"/>
          <p:cNvSpPr/>
          <p:nvPr/>
        </p:nvSpPr>
        <p:spPr>
          <a:xfrm>
            <a:off x="333756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@1 addText"/>
          <p:cNvSpPr txBox="1"/>
          <p:nvPr/>
        </p:nvSpPr>
        <p:spPr>
          <a:xfrm>
            <a:off x="333756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1H</a:t>
            </a:r>
            <a:endParaRPr lang="en-US" sz="2000" dirty="0"/>
          </a:p>
        </p:txBody>
      </p:sp>
      <p:sp>
        <p:nvSpPr>
          <p:cNvPr id="23" name="@1 Card"/>
          <p:cNvSpPr/>
          <p:nvPr/>
        </p:nvSpPr>
        <p:spPr>
          <a:xfrm>
            <a:off x="461772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@1 addText"/>
          <p:cNvSpPr txBox="1"/>
          <p:nvPr/>
        </p:nvSpPr>
        <p:spPr>
          <a:xfrm>
            <a:off x="461772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</a:t>
            </a:r>
            <a:endParaRPr lang="en-US" sz="2000" dirty="0"/>
          </a:p>
        </p:txBody>
      </p:sp>
      <p:sp>
        <p:nvSpPr>
          <p:cNvPr id="25" name="@1 Card"/>
          <p:cNvSpPr/>
          <p:nvPr/>
        </p:nvSpPr>
        <p:spPr>
          <a:xfrm>
            <a:off x="589788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@1 addText"/>
          <p:cNvSpPr txBox="1"/>
          <p:nvPr/>
        </p:nvSpPr>
        <p:spPr>
          <a:xfrm>
            <a:off x="589788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1H</a:t>
            </a:r>
            <a:endParaRPr lang="en-US" sz="2000" dirty="0"/>
          </a:p>
        </p:txBody>
      </p:sp>
      <p:sp>
        <p:nvSpPr>
          <p:cNvPr id="27" name="@1 Card"/>
          <p:cNvSpPr/>
          <p:nvPr/>
        </p:nvSpPr>
        <p:spPr>
          <a:xfrm>
            <a:off x="7178040" y="2926080"/>
            <a:ext cx="1188720" cy="640080"/>
          </a:xfrm>
          <a:prstGeom prst="roundRect">
            <a:avLst>
              <a:gd name="adj" fmla="val 17143"/>
            </a:avLst>
          </a:prstGeom>
          <a:solidFill>
            <a:srgbClr val="A9C4E8"/>
          </a:solidFill>
          <a:ln w="9525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@1 addText"/>
          <p:cNvSpPr txBox="1"/>
          <p:nvPr/>
        </p:nvSpPr>
        <p:spPr>
          <a:xfrm>
            <a:off x="7178040" y="2926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01B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</a:t>
            </a:r>
            <a:endParaRPr lang="en-US" sz="2000" dirty="0"/>
          </a:p>
        </p:txBody>
      </p:sp>
      <p:sp>
        <p:nvSpPr>
          <p:cNvPr id="29" name="@2 addText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characters become 12. No repeats: RLE makes it bigger.</a:t>
            </a:r>
            <a:endParaRPr lang="en-US" sz="18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Compressing a Picture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18872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Instead of storing every pixel, store how many blanks, then how many coloured pixels, one row at a time.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6, 4</a:t>
            </a:r>
            <a:endParaRPr lang="en-US" sz="2400" dirty="0"/>
          </a:p>
        </p:txBody>
      </p:sp>
      <p:sp>
        <p:nvSpPr>
          <p:cNvPr id="6" name="Cell off"/>
          <p:cNvSpPr/>
          <p:nvPr/>
        </p:nvSpPr>
        <p:spPr>
          <a:xfrm>
            <a:off x="23774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Cell off"/>
          <p:cNvSpPr/>
          <p:nvPr/>
        </p:nvSpPr>
        <p:spPr>
          <a:xfrm>
            <a:off x="28346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Cell off"/>
          <p:cNvSpPr/>
          <p:nvPr/>
        </p:nvSpPr>
        <p:spPr>
          <a:xfrm>
            <a:off x="32918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Cell off"/>
          <p:cNvSpPr/>
          <p:nvPr/>
        </p:nvSpPr>
        <p:spPr>
          <a:xfrm>
            <a:off x="37490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Cell off"/>
          <p:cNvSpPr/>
          <p:nvPr/>
        </p:nvSpPr>
        <p:spPr>
          <a:xfrm>
            <a:off x="42062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Cell off"/>
          <p:cNvSpPr/>
          <p:nvPr/>
        </p:nvSpPr>
        <p:spPr>
          <a:xfrm>
            <a:off x="4663440" y="269748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Cell on"/>
          <p:cNvSpPr/>
          <p:nvPr/>
        </p:nvSpPr>
        <p:spPr>
          <a:xfrm>
            <a:off x="51206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Cell on"/>
          <p:cNvSpPr/>
          <p:nvPr/>
        </p:nvSpPr>
        <p:spPr>
          <a:xfrm>
            <a:off x="55778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Cell on"/>
          <p:cNvSpPr/>
          <p:nvPr/>
        </p:nvSpPr>
        <p:spPr>
          <a:xfrm>
            <a:off x="60350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Cell on"/>
          <p:cNvSpPr/>
          <p:nvPr/>
        </p:nvSpPr>
        <p:spPr>
          <a:xfrm>
            <a:off x="6492240" y="269748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@1 addText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 4 = 6 blanks, then 4 coloured pixels.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clue that starts with 0 means the row starts with a coloured pixel.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Shade the Grids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HAND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c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#1: the clues</a:t>
            </a:r>
            <a:endParaRPr lang="en-US" sz="3000" dirty="0"/>
          </a:p>
        </p:txBody>
      </p:sp>
      <p:sp>
        <p:nvSpPr>
          <p:cNvPr id="3" name="2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200" dirty="0"/>
          </a:p>
        </p:txBody>
      </p:sp>
      <p:sp>
        <p:nvSpPr>
          <p:cNvPr id="5" name="Clue card"/>
          <p:cNvSpPr/>
          <p:nvPr/>
        </p:nvSpPr>
        <p:spPr>
          <a:xfrm>
            <a:off x="45720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2, 7, 3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1, 10, 1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1, 8, 2, 1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1, 8, 2, 1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1, 10, 1</a:t>
            </a:r>
            <a:endParaRPr lang="en-US" sz="2000" dirty="0"/>
          </a:p>
        </p:txBody>
      </p:sp>
      <p:sp>
        <p:nvSpPr>
          <p:cNvPr id="11" name="Clue card"/>
          <p:cNvSpPr/>
          <p:nvPr/>
        </p:nvSpPr>
        <p:spPr>
          <a:xfrm>
            <a:off x="475488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2, 6, 4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3, 4, 5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4, 3, 5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#1: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 mug, shaded from the clues not yet shad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163882"/>
            <a:ext cx="4572000" cy="3432955"/>
          </a:xfrm>
          <a:prstGeom prst="rect">
            <a:avLst/>
          </a:prstGeom>
        </p:spPr>
      </p:pic>
      <p:pic>
        <p:nvPicPr>
          <p:cNvPr id="6" name="@1 addImage" descr="a mug, shaded from the clu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1163882"/>
            <a:ext cx="4572000" cy="3432955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  <p:pic>
        <p:nvPicPr>
          <p:cNvPr id="8" name="Image 0" descr="blank grid, a mug, shaded from the clues not yet shaded">
            <a:extLst>
              <a:ext uri="{FF2B5EF4-FFF2-40B4-BE49-F238E27FC236}">
                <a16:creationId xmlns:a16="http://schemas.microsoft.com/office/drawing/2014/main" id="{FA8D9A28-E4B3-CED9-7833-E61C7A0B63C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1378"/>
          <a:stretch/>
        </p:blipFill>
        <p:spPr>
          <a:xfrm>
            <a:off x="2286000" y="1554480"/>
            <a:ext cx="4572000" cy="30423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#1: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 mug, shaded from the clues not yet shad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1163882"/>
            <a:ext cx="4572000" cy="3432955"/>
          </a:xfrm>
          <a:prstGeom prst="rect">
            <a:avLst/>
          </a:prstGeom>
        </p:spPr>
      </p:pic>
      <p:pic>
        <p:nvPicPr>
          <p:cNvPr id="6" name="@1 addImage" descr="a mug, shaded from the clu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1163882"/>
            <a:ext cx="4572000" cy="3432955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43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#2: the clues</a:t>
            </a:r>
            <a:endParaRPr lang="en-US" sz="3000" dirty="0"/>
          </a:p>
        </p:txBody>
      </p:sp>
      <p:sp>
        <p:nvSpPr>
          <p:cNvPr id="3" name="10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200" dirty="0"/>
          </a:p>
        </p:txBody>
      </p:sp>
      <p:sp>
        <p:nvSpPr>
          <p:cNvPr id="5" name="Clue card"/>
          <p:cNvSpPr/>
          <p:nvPr/>
        </p:nvSpPr>
        <p:spPr>
          <a:xfrm>
            <a:off x="45720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731520" y="128016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65735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7, 3, 4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3454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6, 4, 4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1173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6, 2, 6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8892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3, 3, 2, 3, 3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16611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54330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92049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1, 10, 3</a:t>
            </a:r>
            <a:endParaRPr lang="en-US" sz="1600" dirty="0"/>
          </a:p>
        </p:txBody>
      </p:sp>
      <p:sp>
        <p:nvSpPr>
          <p:cNvPr id="14" name="Clue card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 txBox="1"/>
          <p:nvPr/>
        </p:nvSpPr>
        <p:spPr>
          <a:xfrm>
            <a:off x="5029200" y="128016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65735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03454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41173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1, 9, 4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78892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1, 11, 2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16611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54330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920490"/>
            <a:ext cx="3474720" cy="3771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4, 6, 4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#2: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n apple, shaded from the clues not yet shad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1226" y="1097280"/>
            <a:ext cx="3121548" cy="3566160"/>
          </a:xfrm>
          <a:prstGeom prst="rect">
            <a:avLst/>
          </a:prstGeom>
        </p:spPr>
      </p:pic>
      <p:pic>
        <p:nvPicPr>
          <p:cNvPr id="6" name="@1 addImage" descr="an apple, shaded from the clu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226" y="1097280"/>
            <a:ext cx="3121548" cy="3566160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#3: the clues</a:t>
            </a:r>
            <a:endParaRPr lang="en-US" sz="3000" dirty="0"/>
          </a:p>
        </p:txBody>
      </p:sp>
      <p:sp>
        <p:nvSpPr>
          <p:cNvPr id="3" name="Clue card"/>
          <p:cNvSpPr/>
          <p:nvPr/>
        </p:nvSpPr>
        <p:spPr>
          <a:xfrm>
            <a:off x="45720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154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5, 4, 5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507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4, 6, 4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3, 3, 2, 3, 3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2128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3, 2, 4, 2, 3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9565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3, 2, 4, 2, 3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2918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3, 2, 4, 2, 3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271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9624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3" name="Clue card"/>
          <p:cNvSpPr/>
          <p:nvPr/>
        </p:nvSpPr>
        <p:spPr>
          <a:xfrm>
            <a:off x="4754880" y="1143000"/>
            <a:ext cx="393192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5029200" y="12801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16154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9507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2860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2, 4, 2, 4, 2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62128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95656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329184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362712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3962400"/>
            <a:ext cx="347472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2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#3: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 padlock, shaded from the clues not yet shad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245" y="1097280"/>
            <a:ext cx="2775510" cy="3566160"/>
          </a:xfrm>
          <a:prstGeom prst="rect">
            <a:avLst/>
          </a:prstGeom>
        </p:spPr>
      </p:pic>
      <p:pic>
        <p:nvPicPr>
          <p:cNvPr id="6" name="@1 addImage" descr="a padlock, shaded from the clu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4245" y="1097280"/>
            <a:ext cx="2775510" cy="3566160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#4: the clues</a:t>
            </a:r>
            <a:endParaRPr lang="en-US" sz="3000" dirty="0"/>
          </a:p>
        </p:txBody>
      </p:sp>
      <p:sp>
        <p:nvSpPr>
          <p:cNvPr id="3" name="Clue card"/>
          <p:cNvSpPr/>
          <p:nvPr/>
        </p:nvSpPr>
        <p:spPr>
          <a:xfrm>
            <a:off x="457200" y="1143000"/>
            <a:ext cx="3931920" cy="3218688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4, 6, 4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3, 8, 3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2, 10, 2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80390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1, 3, 1, 4, 1, 3, 1</a:t>
            </a:r>
            <a:endParaRPr lang="en-US" sz="1600" dirty="0"/>
          </a:p>
        </p:txBody>
      </p:sp>
      <p:sp>
        <p:nvSpPr>
          <p:cNvPr id="11" name="Clue card"/>
          <p:cNvSpPr/>
          <p:nvPr/>
        </p:nvSpPr>
        <p:spPr>
          <a:xfrm>
            <a:off x="4754880" y="1143000"/>
            <a:ext cx="3931920" cy="3218688"/>
          </a:xfrm>
          <a:prstGeom prst="roundRect">
            <a:avLst>
              <a:gd name="adj" fmla="val 3409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1, 12, 1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1, 5, 2, 5, 1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1, 4, 4, 4, 1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80390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decode it, then check on the next slide</a:t>
            </a:r>
            <a:endParaRPr lang="en-US" sz="1400" dirty="0"/>
          </a:p>
        </p:txBody>
      </p:sp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#4: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blank grid, a ghost, shaded from the clues not yet shad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097280"/>
            <a:ext cx="3566160" cy="3566160"/>
          </a:xfrm>
          <a:prstGeom prst="rect">
            <a:avLst/>
          </a:prstGeom>
        </p:spPr>
      </p:pic>
      <p:pic>
        <p:nvPicPr>
          <p:cNvPr id="6" name="@1 addImage" descr="a ghost, shaded from the clu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097280"/>
            <a:ext cx="3566160" cy="3566160"/>
          </a:xfrm>
          <a:prstGeom prst="rect">
            <a:avLst/>
          </a:prstGeom>
        </p:spPr>
      </p:pic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took a while.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Fun, but slow. And those were the small ones.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Long Did That Take?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mystery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1887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rows</a:t>
            </a:r>
            <a:endParaRPr lang="en-US" sz="1800" dirty="0"/>
          </a:p>
        </p:txBody>
      </p:sp>
      <p:sp>
        <p:nvSpPr>
          <p:cNvPr id="6" name="Card"/>
          <p:cNvSpPr/>
          <p:nvPr/>
        </p:nvSpPr>
        <p:spPr>
          <a:xfrm>
            <a:off x="457200" y="192024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mystery 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92024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rows</a:t>
            </a:r>
            <a:endParaRPr lang="en-US" sz="1800" dirty="0"/>
          </a:p>
        </p:txBody>
      </p:sp>
      <p:sp>
        <p:nvSpPr>
          <p:cNvPr id="9" name="Card"/>
          <p:cNvSpPr/>
          <p:nvPr/>
        </p:nvSpPr>
        <p:spPr>
          <a:xfrm>
            <a:off x="457200" y="2651760"/>
            <a:ext cx="822960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65176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rows x 38 columns</a:t>
            </a:r>
            <a:endParaRPr lang="en-US" sz="1800" dirty="0"/>
          </a:p>
        </p:txBody>
      </p:sp>
      <p:sp>
        <p:nvSpPr>
          <p:cNvPr id="12" name="@1 Bar"/>
          <p:cNvSpPr/>
          <p:nvPr/>
        </p:nvSpPr>
        <p:spPr>
          <a:xfrm>
            <a:off x="457200" y="356616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@1 addText"/>
          <p:cNvSpPr txBox="1"/>
          <p:nvPr/>
        </p:nvSpPr>
        <p:spPr>
          <a:xfrm>
            <a:off x="685800" y="356616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 it were a photo with a million rows?</a:t>
            </a:r>
            <a:endParaRPr lang="en-US" sz="22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Computer Do 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Computers are great at repeating things.</a:t>
            </a:r>
            <a:endParaRPr lang="en-US" sz="1800" dirty="0"/>
          </a:p>
        </p:txBody>
      </p:sp>
      <p:sp>
        <p:nvSpPr>
          <p:cNvPr id="4" name="@1 Callout"/>
          <p:cNvSpPr/>
          <p:nvPr/>
        </p:nvSpPr>
        <p:spPr>
          <a:xfrm>
            <a:off x="457200" y="228600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@1 addText"/>
          <p:cNvSpPr txBox="1"/>
          <p:nvPr/>
        </p:nvSpPr>
        <p:spPr>
          <a:xfrm>
            <a:off x="685800" y="228600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know how: loops and functions.</a:t>
            </a:r>
            <a:endParaRPr lang="en-US" sz="1200" dirty="0"/>
          </a:p>
        </p:txBody>
      </p:sp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 Is Like a Filing Cabinet</a:t>
            </a:r>
            <a:endParaRPr lang="en-US" sz="3000" dirty="0"/>
          </a:p>
        </p:txBody>
      </p:sp>
      <p:sp>
        <p:nvSpPr>
          <p:cNvPr id="3" name="Cabinet body"/>
          <p:cNvSpPr/>
          <p:nvPr/>
        </p:nvSpPr>
        <p:spPr>
          <a:xfrm>
            <a:off x="731520" y="1097280"/>
            <a:ext cx="2377440" cy="3182112"/>
          </a:xfrm>
          <a:prstGeom prst="roundRect">
            <a:avLst>
              <a:gd name="adj" fmla="val 3077"/>
            </a:avLst>
          </a:prstGeom>
          <a:solidFill>
            <a:srgbClr val="001B40"/>
          </a:solidFill>
          <a:ln w="12700">
            <a:solidFill>
              <a:srgbClr val="001B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Drawer 1"/>
          <p:cNvSpPr/>
          <p:nvPr/>
        </p:nvSpPr>
        <p:spPr>
          <a:xfrm>
            <a:off x="841248" y="1207008"/>
            <a:ext cx="2157984" cy="914400"/>
          </a:xfrm>
          <a:prstGeom prst="roundRect">
            <a:avLst>
              <a:gd name="adj" fmla="val 5000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Handle 1"/>
          <p:cNvSpPr/>
          <p:nvPr/>
        </p:nvSpPr>
        <p:spPr>
          <a:xfrm>
            <a:off x="1488643" y="1600200"/>
            <a:ext cx="863194" cy="128016"/>
          </a:xfrm>
          <a:prstGeom prst="roundRect">
            <a:avLst>
              <a:gd name="adj" fmla="val 21429"/>
            </a:avLst>
          </a:prstGeom>
          <a:solidFill>
            <a:srgbClr val="A9C4E8"/>
          </a:solidFill>
          <a:ln w="6350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Drawer 2"/>
          <p:cNvSpPr/>
          <p:nvPr/>
        </p:nvSpPr>
        <p:spPr>
          <a:xfrm>
            <a:off x="841248" y="2231136"/>
            <a:ext cx="2157984" cy="914400"/>
          </a:xfrm>
          <a:prstGeom prst="roundRect">
            <a:avLst>
              <a:gd name="adj" fmla="val 5000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Handle 2"/>
          <p:cNvSpPr/>
          <p:nvPr/>
        </p:nvSpPr>
        <p:spPr>
          <a:xfrm>
            <a:off x="1488643" y="2624328"/>
            <a:ext cx="863194" cy="128016"/>
          </a:xfrm>
          <a:prstGeom prst="roundRect">
            <a:avLst>
              <a:gd name="adj" fmla="val 21429"/>
            </a:avLst>
          </a:prstGeom>
          <a:solidFill>
            <a:srgbClr val="A9C4E8"/>
          </a:solidFill>
          <a:ln w="6350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Drawer 3"/>
          <p:cNvSpPr/>
          <p:nvPr/>
        </p:nvSpPr>
        <p:spPr>
          <a:xfrm>
            <a:off x="841248" y="3255264"/>
            <a:ext cx="2157984" cy="914400"/>
          </a:xfrm>
          <a:prstGeom prst="roundRect">
            <a:avLst>
              <a:gd name="adj" fmla="val 5000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Handle 3"/>
          <p:cNvSpPr/>
          <p:nvPr/>
        </p:nvSpPr>
        <p:spPr>
          <a:xfrm>
            <a:off x="1488643" y="3648456"/>
            <a:ext cx="863194" cy="128016"/>
          </a:xfrm>
          <a:prstGeom prst="roundRect">
            <a:avLst>
              <a:gd name="adj" fmla="val 21429"/>
            </a:avLst>
          </a:prstGeom>
          <a:solidFill>
            <a:srgbClr val="A9C4E8"/>
          </a:solidFill>
          <a:ln w="6350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@1 Open drawer 1"/>
          <p:cNvSpPr/>
          <p:nvPr/>
        </p:nvSpPr>
        <p:spPr>
          <a:xfrm>
            <a:off x="1389888" y="1243584"/>
            <a:ext cx="2157984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905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1 addText"/>
          <p:cNvSpPr txBox="1"/>
          <p:nvPr/>
        </p:nvSpPr>
        <p:spPr>
          <a:xfrm>
            <a:off x="1389888" y="1243584"/>
            <a:ext cx="21579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4000" dirty="0"/>
          </a:p>
        </p:txBody>
      </p:sp>
      <p:sp>
        <p:nvSpPr>
          <p:cNvPr id="12" name="@2 Open drawer 2"/>
          <p:cNvSpPr/>
          <p:nvPr/>
        </p:nvSpPr>
        <p:spPr>
          <a:xfrm>
            <a:off x="1389888" y="2267712"/>
            <a:ext cx="2157984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905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@2 addText"/>
          <p:cNvSpPr txBox="1"/>
          <p:nvPr/>
        </p:nvSpPr>
        <p:spPr>
          <a:xfrm>
            <a:off x="1389888" y="2267712"/>
            <a:ext cx="21579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@3 Open drawer 3"/>
          <p:cNvSpPr/>
          <p:nvPr/>
        </p:nvSpPr>
        <p:spPr>
          <a:xfrm>
            <a:off x="1389888" y="3291840"/>
            <a:ext cx="2157984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905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@3 addText"/>
          <p:cNvSpPr txBox="1"/>
          <p:nvPr/>
        </p:nvSpPr>
        <p:spPr>
          <a:xfrm>
            <a:off x="1389888" y="3291840"/>
            <a:ext cx="21579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Bar"/>
          <p:cNvSpPr/>
          <p:nvPr/>
        </p:nvSpPr>
        <p:spPr>
          <a:xfrm>
            <a:off x="4572000" y="128016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 txBox="1"/>
          <p:nvPr/>
        </p:nvSpPr>
        <p:spPr>
          <a:xfrm>
            <a:off x="4800600" y="12801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drawer holds one thing.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21031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 keeps things in order, one per drawer.</a:t>
            </a:r>
            <a:endParaRPr lang="en-US" sz="1800" dirty="0"/>
          </a:p>
        </p:txBody>
      </p:sp>
      <p:sp>
        <p:nvSpPr>
          <p:cNvPr id="19" name="Code box"/>
          <p:cNvSpPr/>
          <p:nvPr/>
        </p:nvSpPr>
        <p:spPr>
          <a:xfrm>
            <a:off x="4572000" y="3108960"/>
            <a:ext cx="41148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Code bar"/>
          <p:cNvSpPr/>
          <p:nvPr/>
        </p:nvSpPr>
        <p:spPr>
          <a:xfrm>
            <a:off x="4572000" y="310896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 txBox="1"/>
          <p:nvPr/>
        </p:nvSpPr>
        <p:spPr>
          <a:xfrm>
            <a:off x="4754880" y="3246120"/>
            <a:ext cx="38404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 = [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2200" dirty="0"/>
          </a:p>
        </p:txBody>
      </p:sp>
      <p:sp>
        <p:nvSpPr>
          <p:cNvPr id="2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29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 Can Hold Lists</a:t>
            </a:r>
            <a:endParaRPr lang="en-US" sz="3000" dirty="0"/>
          </a:p>
        </p:txBody>
      </p:sp>
      <p:sp>
        <p:nvSpPr>
          <p:cNvPr id="3" name="Cabinet body"/>
          <p:cNvSpPr/>
          <p:nvPr/>
        </p:nvSpPr>
        <p:spPr>
          <a:xfrm>
            <a:off x="457200" y="1097280"/>
            <a:ext cx="2011680" cy="2971800"/>
          </a:xfrm>
          <a:prstGeom prst="roundRect">
            <a:avLst>
              <a:gd name="adj" fmla="val 3636"/>
            </a:avLst>
          </a:prstGeom>
          <a:solidFill>
            <a:srgbClr val="001B40"/>
          </a:solidFill>
          <a:ln w="12700">
            <a:solidFill>
              <a:srgbClr val="001B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Drawer 1"/>
          <p:cNvSpPr/>
          <p:nvPr/>
        </p:nvSpPr>
        <p:spPr>
          <a:xfrm>
            <a:off x="548640" y="1188720"/>
            <a:ext cx="1828800" cy="868680"/>
          </a:xfrm>
          <a:prstGeom prst="roundRect">
            <a:avLst>
              <a:gd name="adj" fmla="val 5263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Handle 1"/>
          <p:cNvSpPr/>
          <p:nvPr/>
        </p:nvSpPr>
        <p:spPr>
          <a:xfrm>
            <a:off x="1097280" y="1562252"/>
            <a:ext cx="731520" cy="121615"/>
          </a:xfrm>
          <a:prstGeom prst="roundRect">
            <a:avLst>
              <a:gd name="adj" fmla="val 22556"/>
            </a:avLst>
          </a:prstGeom>
          <a:solidFill>
            <a:srgbClr val="A9C4E8"/>
          </a:solidFill>
          <a:ln w="6350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Drawer 2"/>
          <p:cNvSpPr/>
          <p:nvPr/>
        </p:nvSpPr>
        <p:spPr>
          <a:xfrm>
            <a:off x="548640" y="2148840"/>
            <a:ext cx="1828800" cy="868680"/>
          </a:xfrm>
          <a:prstGeom prst="roundRect">
            <a:avLst>
              <a:gd name="adj" fmla="val 5263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Handle 2"/>
          <p:cNvSpPr/>
          <p:nvPr/>
        </p:nvSpPr>
        <p:spPr>
          <a:xfrm>
            <a:off x="1097280" y="2522372"/>
            <a:ext cx="731520" cy="121615"/>
          </a:xfrm>
          <a:prstGeom prst="roundRect">
            <a:avLst>
              <a:gd name="adj" fmla="val 22556"/>
            </a:avLst>
          </a:prstGeom>
          <a:solidFill>
            <a:srgbClr val="A9C4E8"/>
          </a:solidFill>
          <a:ln w="6350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Drawer 3"/>
          <p:cNvSpPr/>
          <p:nvPr/>
        </p:nvSpPr>
        <p:spPr>
          <a:xfrm>
            <a:off x="548640" y="3108960"/>
            <a:ext cx="1828800" cy="868680"/>
          </a:xfrm>
          <a:prstGeom prst="roundRect">
            <a:avLst>
              <a:gd name="adj" fmla="val 5263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Handle 3"/>
          <p:cNvSpPr/>
          <p:nvPr/>
        </p:nvSpPr>
        <p:spPr>
          <a:xfrm>
            <a:off x="1097280" y="3482492"/>
            <a:ext cx="731520" cy="121615"/>
          </a:xfrm>
          <a:prstGeom prst="roundRect">
            <a:avLst>
              <a:gd name="adj" fmla="val 22556"/>
            </a:avLst>
          </a:prstGeom>
          <a:solidFill>
            <a:srgbClr val="A9C4E8"/>
          </a:solidFill>
          <a:ln w="6350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@1 Open drawer 1"/>
          <p:cNvSpPr/>
          <p:nvPr/>
        </p:nvSpPr>
        <p:spPr>
          <a:xfrm>
            <a:off x="1097280" y="1225296"/>
            <a:ext cx="1828800" cy="795528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905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1 Arrow 1"/>
          <p:cNvSpPr/>
          <p:nvPr/>
        </p:nvSpPr>
        <p:spPr>
          <a:xfrm>
            <a:off x="2788920" y="1623060"/>
            <a:ext cx="868680" cy="0"/>
          </a:xfrm>
          <a:prstGeom prst="line">
            <a:avLst/>
          </a:prstGeom>
          <a:noFill/>
          <a:ln w="38100">
            <a:solidFill>
              <a:srgbClr val="002D6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12" name="@1 Cabinet body"/>
          <p:cNvSpPr/>
          <p:nvPr/>
        </p:nvSpPr>
        <p:spPr>
          <a:xfrm>
            <a:off x="3840480" y="118872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001B40"/>
          </a:solidFill>
          <a:ln w="12700">
            <a:solidFill>
              <a:srgbClr val="001B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@1 Drawer 1"/>
          <p:cNvSpPr/>
          <p:nvPr/>
        </p:nvSpPr>
        <p:spPr>
          <a:xfrm>
            <a:off x="3872484" y="1220724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@1 Drawer 2"/>
          <p:cNvSpPr/>
          <p:nvPr/>
        </p:nvSpPr>
        <p:spPr>
          <a:xfrm>
            <a:off x="3872484" y="1499616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@1 Drawer 3"/>
          <p:cNvSpPr/>
          <p:nvPr/>
        </p:nvSpPr>
        <p:spPr>
          <a:xfrm>
            <a:off x="3872484" y="1778508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@1 addText"/>
          <p:cNvSpPr txBox="1"/>
          <p:nvPr/>
        </p:nvSpPr>
        <p:spPr>
          <a:xfrm>
            <a:off x="3872484" y="1220724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@1 addText"/>
          <p:cNvSpPr txBox="1"/>
          <p:nvPr/>
        </p:nvSpPr>
        <p:spPr>
          <a:xfrm>
            <a:off x="3872484" y="1499616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@1 addText"/>
          <p:cNvSpPr txBox="1"/>
          <p:nvPr/>
        </p:nvSpPr>
        <p:spPr>
          <a:xfrm>
            <a:off x="3872484" y="1778508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@2 Open drawer 2"/>
          <p:cNvSpPr/>
          <p:nvPr/>
        </p:nvSpPr>
        <p:spPr>
          <a:xfrm>
            <a:off x="1097280" y="2185416"/>
            <a:ext cx="1828800" cy="795528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905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@2 Arrow 2"/>
          <p:cNvSpPr/>
          <p:nvPr/>
        </p:nvSpPr>
        <p:spPr>
          <a:xfrm>
            <a:off x="2788920" y="2583180"/>
            <a:ext cx="868680" cy="0"/>
          </a:xfrm>
          <a:prstGeom prst="line">
            <a:avLst/>
          </a:prstGeom>
          <a:noFill/>
          <a:ln w="38100">
            <a:solidFill>
              <a:srgbClr val="002D6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21" name="@2 Cabinet body"/>
          <p:cNvSpPr/>
          <p:nvPr/>
        </p:nvSpPr>
        <p:spPr>
          <a:xfrm>
            <a:off x="3840480" y="214884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001B40"/>
          </a:solidFill>
          <a:ln w="12700">
            <a:solidFill>
              <a:srgbClr val="001B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@2 Drawer 1"/>
          <p:cNvSpPr/>
          <p:nvPr/>
        </p:nvSpPr>
        <p:spPr>
          <a:xfrm>
            <a:off x="3872484" y="2180844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@2 Drawer 2"/>
          <p:cNvSpPr/>
          <p:nvPr/>
        </p:nvSpPr>
        <p:spPr>
          <a:xfrm>
            <a:off x="3872484" y="2459736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@2 Drawer 3"/>
          <p:cNvSpPr/>
          <p:nvPr/>
        </p:nvSpPr>
        <p:spPr>
          <a:xfrm>
            <a:off x="3872484" y="2738628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@2 addText"/>
          <p:cNvSpPr txBox="1"/>
          <p:nvPr/>
        </p:nvSpPr>
        <p:spPr>
          <a:xfrm>
            <a:off x="3872484" y="2180844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@2 addText"/>
          <p:cNvSpPr txBox="1"/>
          <p:nvPr/>
        </p:nvSpPr>
        <p:spPr>
          <a:xfrm>
            <a:off x="3872484" y="2459736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@2 addText"/>
          <p:cNvSpPr txBox="1"/>
          <p:nvPr/>
        </p:nvSpPr>
        <p:spPr>
          <a:xfrm>
            <a:off x="3872484" y="2738628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@3 Open drawer 3"/>
          <p:cNvSpPr/>
          <p:nvPr/>
        </p:nvSpPr>
        <p:spPr>
          <a:xfrm>
            <a:off x="1097280" y="3145536"/>
            <a:ext cx="1828800" cy="795528"/>
          </a:xfrm>
          <a:prstGeom prst="roundRect">
            <a:avLst>
              <a:gd name="adj" fmla="val 5747"/>
            </a:avLst>
          </a:prstGeom>
          <a:solidFill>
            <a:srgbClr val="FFFFFF"/>
          </a:solidFill>
          <a:ln w="1905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@3 Arrow 3"/>
          <p:cNvSpPr/>
          <p:nvPr/>
        </p:nvSpPr>
        <p:spPr>
          <a:xfrm>
            <a:off x="2788920" y="3543300"/>
            <a:ext cx="868680" cy="0"/>
          </a:xfrm>
          <a:prstGeom prst="line">
            <a:avLst/>
          </a:prstGeom>
          <a:noFill/>
          <a:ln w="38100">
            <a:solidFill>
              <a:srgbClr val="002D6A"/>
            </a:solidFill>
            <a:prstDash val="solid"/>
            <a:tailEnd type="triangle"/>
          </a:ln>
        </p:spPr>
        <p:txBody>
          <a:bodyPr/>
          <a:lstStyle/>
          <a:p>
            <a:endParaRPr lang="en-GB"/>
          </a:p>
        </p:txBody>
      </p:sp>
      <p:sp>
        <p:nvSpPr>
          <p:cNvPr id="30" name="@3 Cabinet body"/>
          <p:cNvSpPr/>
          <p:nvPr/>
        </p:nvSpPr>
        <p:spPr>
          <a:xfrm>
            <a:off x="3840480" y="31089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001B40"/>
          </a:solidFill>
          <a:ln w="12700">
            <a:solidFill>
              <a:srgbClr val="001B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@3 Drawer 1"/>
          <p:cNvSpPr/>
          <p:nvPr/>
        </p:nvSpPr>
        <p:spPr>
          <a:xfrm>
            <a:off x="3872484" y="3140964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@3 Drawer 2"/>
          <p:cNvSpPr/>
          <p:nvPr/>
        </p:nvSpPr>
        <p:spPr>
          <a:xfrm>
            <a:off x="3872484" y="3419856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@3 Drawer 3"/>
          <p:cNvSpPr/>
          <p:nvPr/>
        </p:nvSpPr>
        <p:spPr>
          <a:xfrm>
            <a:off x="3872484" y="3698748"/>
            <a:ext cx="3044952" cy="246888"/>
          </a:xfrm>
          <a:prstGeom prst="roundRect">
            <a:avLst>
              <a:gd name="adj" fmla="val 18519"/>
            </a:avLst>
          </a:prstGeom>
          <a:solidFill>
            <a:srgbClr val="5D79A0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@3 addText"/>
          <p:cNvSpPr txBox="1"/>
          <p:nvPr/>
        </p:nvSpPr>
        <p:spPr>
          <a:xfrm>
            <a:off x="3872484" y="3140964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400" dirty="0"/>
          </a:p>
        </p:txBody>
      </p:sp>
      <p:sp>
        <p:nvSpPr>
          <p:cNvPr id="35" name="@3 addText"/>
          <p:cNvSpPr txBox="1"/>
          <p:nvPr/>
        </p:nvSpPr>
        <p:spPr>
          <a:xfrm>
            <a:off x="3872484" y="3419856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@3 addText"/>
          <p:cNvSpPr txBox="1"/>
          <p:nvPr/>
        </p:nvSpPr>
        <p:spPr>
          <a:xfrm>
            <a:off x="3872484" y="3698748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400" dirty="0"/>
          </a:p>
        </p:txBody>
      </p:sp>
      <p:sp>
        <p:nvSpPr>
          <p:cNvPr id="37" name="@4 addText"/>
          <p:cNvSpPr txBox="1"/>
          <p:nvPr/>
        </p:nvSpPr>
        <p:spPr>
          <a:xfrm>
            <a:off x="7223760" y="21945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 of lists</a:t>
            </a:r>
            <a:endParaRPr lang="en-US" sz="1800" dirty="0"/>
          </a:p>
        </p:txBody>
      </p:sp>
      <p:sp>
        <p:nvSpPr>
          <p:cNvPr id="38" name="@4 addText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grid = [[1, 2, 3], [4, 5, 6], [7, 8, 9]]</a:t>
            </a:r>
            <a:endParaRPr lang="en-US" sz="14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Row Is a List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 = [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= blank,  1 = coloured</a:t>
            </a:r>
            <a:endParaRPr lang="en-US" sz="1800" dirty="0"/>
          </a:p>
        </p:txBody>
      </p:sp>
      <p:sp>
        <p:nvSpPr>
          <p:cNvPr id="7" name="Cell off"/>
          <p:cNvSpPr/>
          <p:nvPr/>
        </p:nvSpPr>
        <p:spPr>
          <a:xfrm>
            <a:off x="2286000" y="2926080"/>
            <a:ext cx="640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Cell off"/>
          <p:cNvSpPr/>
          <p:nvPr/>
        </p:nvSpPr>
        <p:spPr>
          <a:xfrm>
            <a:off x="2926080" y="2926080"/>
            <a:ext cx="640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Cell on"/>
          <p:cNvSpPr/>
          <p:nvPr/>
        </p:nvSpPr>
        <p:spPr>
          <a:xfrm>
            <a:off x="3566160" y="2926080"/>
            <a:ext cx="640080" cy="64008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Cell on"/>
          <p:cNvSpPr/>
          <p:nvPr/>
        </p:nvSpPr>
        <p:spPr>
          <a:xfrm>
            <a:off x="4206240" y="2926080"/>
            <a:ext cx="640080" cy="64008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Cell on"/>
          <p:cNvSpPr/>
          <p:nvPr/>
        </p:nvSpPr>
        <p:spPr>
          <a:xfrm>
            <a:off x="4846320" y="2926080"/>
            <a:ext cx="640080" cy="64008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Cell off"/>
          <p:cNvSpPr/>
          <p:nvPr/>
        </p:nvSpPr>
        <p:spPr>
          <a:xfrm>
            <a:off x="5486400" y="2926080"/>
            <a:ext cx="64008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Picture Is a List of Rows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2249424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2249424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mug = [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5506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8424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1343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4261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list of lists. Each inner list is one row of the grid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Thing, Two Ways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Clue:  [2, 7, 3]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Row:   [0,0,1,1,1,1,1,1,1,0,0,0]</a:t>
            </a:r>
            <a:endParaRPr lang="en-US" sz="2200" dirty="0"/>
          </a:p>
        </p:txBody>
      </p:sp>
      <p:sp>
        <p:nvSpPr>
          <p:cNvPr id="5" name="Cell off"/>
          <p:cNvSpPr/>
          <p:nvPr/>
        </p:nvSpPr>
        <p:spPr>
          <a:xfrm>
            <a:off x="13716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Cell off"/>
          <p:cNvSpPr/>
          <p:nvPr/>
        </p:nvSpPr>
        <p:spPr>
          <a:xfrm>
            <a:off x="18288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Cell on"/>
          <p:cNvSpPr/>
          <p:nvPr/>
        </p:nvSpPr>
        <p:spPr>
          <a:xfrm>
            <a:off x="22860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Cell on"/>
          <p:cNvSpPr/>
          <p:nvPr/>
        </p:nvSpPr>
        <p:spPr>
          <a:xfrm>
            <a:off x="27432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Cell on"/>
          <p:cNvSpPr/>
          <p:nvPr/>
        </p:nvSpPr>
        <p:spPr>
          <a:xfrm>
            <a:off x="32004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Cell on"/>
          <p:cNvSpPr/>
          <p:nvPr/>
        </p:nvSpPr>
        <p:spPr>
          <a:xfrm>
            <a:off x="36576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Cell on"/>
          <p:cNvSpPr/>
          <p:nvPr/>
        </p:nvSpPr>
        <p:spPr>
          <a:xfrm>
            <a:off x="41148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Cell on"/>
          <p:cNvSpPr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Cell on"/>
          <p:cNvSpPr/>
          <p:nvPr/>
        </p:nvSpPr>
        <p:spPr>
          <a:xfrm>
            <a:off x="5029200" y="283464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Cell off"/>
          <p:cNvSpPr/>
          <p:nvPr/>
        </p:nvSpPr>
        <p:spPr>
          <a:xfrm>
            <a:off x="54864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Cell off"/>
          <p:cNvSpPr/>
          <p:nvPr/>
        </p:nvSpPr>
        <p:spPr>
          <a:xfrm>
            <a:off x="59436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Cell off"/>
          <p:cNvSpPr/>
          <p:nvPr/>
        </p:nvSpPr>
        <p:spPr>
          <a:xfrm>
            <a:off x="6400800" y="28346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@1 Callout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@1 addText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job: turn the clue into the row.</a:t>
            </a:r>
            <a:endParaRPr lang="en-US" sz="1200" dirty="0"/>
          </a:p>
        </p:txBody>
      </p:sp>
      <p:sp>
        <p:nvSpPr>
          <p:cNvPr id="1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Function We Give You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1078992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1078992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22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show_picture(picture):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28216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22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draws the picture</a:t>
            </a:r>
            <a:endParaRPr lang="en-US" sz="2200" dirty="0"/>
          </a:p>
        </p:txBody>
      </p:sp>
      <p:sp>
        <p:nvSpPr>
          <p:cNvPr id="7" name="Bar"/>
          <p:cNvSpPr/>
          <p:nvPr/>
        </p:nvSpPr>
        <p:spPr>
          <a:xfrm>
            <a:off x="457200" y="265176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85800" y="265176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read the inside. Just use it.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like print(): you use it without knowing how it works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on a Heart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097280"/>
            <a:ext cx="8229600" cy="2578608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097280"/>
            <a:ext cx="54864" cy="2578608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23444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heart = [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6362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9280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2199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55117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8036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954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show_picture(heart)</a:t>
            </a:r>
            <a:endParaRPr lang="en-US" sz="1800" dirty="0"/>
          </a:p>
        </p:txBody>
      </p:sp>
      <p:sp>
        <p:nvSpPr>
          <p:cNvPr id="12" name="@1 addText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picture appears in the Plots pane, just like your graphs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Heart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heart drawn on a 5 by 4 grid, dark squares for 1 and blank for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1035" y="1188720"/>
            <a:ext cx="3421930" cy="2743200"/>
          </a:xfrm>
          <a:prstGeom prst="rect">
            <a:avLst/>
          </a:prstGeom>
        </p:spPr>
      </p:pic>
      <p:sp>
        <p:nvSpPr>
          <p:cNvPr id="6" name="Callout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 txBox="1"/>
          <p:nvPr/>
        </p:nvSpPr>
        <p:spPr>
          <a:xfrm>
            <a:off x="685800" y="4023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dark square, 0 = blank. Check it matches the list.</a:t>
            </a:r>
            <a:endParaRPr lang="en-US" sz="12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We Need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22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pictures </a:t>
            </a:r>
            <a:r>
              <a:rPr lang="en-US" sz="22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mystery_image_1, mystery_image_5, mystery_image_6</a:t>
            </a:r>
            <a:endParaRPr lang="en-US" sz="2200" dirty="0"/>
          </a:p>
        </p:txBody>
      </p:sp>
      <p:sp>
        <p:nvSpPr>
          <p:cNvPr id="6" name="Bar"/>
          <p:cNvSpPr/>
          <p:nvPr/>
        </p:nvSpPr>
        <p:spPr>
          <a:xfrm>
            <a:off x="457200" y="256032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685800" y="256032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the clues from another file.</a:t>
            </a:r>
            <a:endParaRPr lang="en-US" sz="2200" dirty="0"/>
          </a:p>
        </p:txBody>
      </p:sp>
      <p:sp>
        <p:nvSpPr>
          <p:cNvPr id="8" name="Callout"/>
          <p:cNvSpPr/>
          <p:nvPr/>
        </p:nvSpPr>
        <p:spPr>
          <a:xfrm>
            <a:off x="457200" y="347472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685800" y="347472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pictures.py must be in the same folder as your file.</a:t>
            </a:r>
            <a:endParaRPr lang="en-US" sz="12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One Row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Clue  [2, 7, 3]  becomes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[0,0,1,1,1,1,1,1,1,0,0,0]</a:t>
            </a:r>
            <a:endParaRPr lang="en-US" sz="2400" dirty="0"/>
          </a:p>
        </p:txBody>
      </p:sp>
      <p:sp>
        <p:nvSpPr>
          <p:cNvPr id="5" name="Cell off"/>
          <p:cNvSpPr/>
          <p:nvPr/>
        </p:nvSpPr>
        <p:spPr>
          <a:xfrm>
            <a:off x="18288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Cell off"/>
          <p:cNvSpPr/>
          <p:nvPr/>
        </p:nvSpPr>
        <p:spPr>
          <a:xfrm>
            <a:off x="22860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Cell on"/>
          <p:cNvSpPr/>
          <p:nvPr/>
        </p:nvSpPr>
        <p:spPr>
          <a:xfrm>
            <a:off x="27432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Cell on"/>
          <p:cNvSpPr/>
          <p:nvPr/>
        </p:nvSpPr>
        <p:spPr>
          <a:xfrm>
            <a:off x="32004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Cell on"/>
          <p:cNvSpPr/>
          <p:nvPr/>
        </p:nvSpPr>
        <p:spPr>
          <a:xfrm>
            <a:off x="36576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Cell on"/>
          <p:cNvSpPr/>
          <p:nvPr/>
        </p:nvSpPr>
        <p:spPr>
          <a:xfrm>
            <a:off x="41148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Cell on"/>
          <p:cNvSpPr/>
          <p:nvPr/>
        </p:nvSpPr>
        <p:spPr>
          <a:xfrm>
            <a:off x="45720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Cell on"/>
          <p:cNvSpPr/>
          <p:nvPr/>
        </p:nvSpPr>
        <p:spPr>
          <a:xfrm>
            <a:off x="50292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Cell on"/>
          <p:cNvSpPr/>
          <p:nvPr/>
        </p:nvSpPr>
        <p:spPr>
          <a:xfrm>
            <a:off x="5486400" y="310896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Cell off"/>
          <p:cNvSpPr/>
          <p:nvPr/>
        </p:nvSpPr>
        <p:spPr>
          <a:xfrm>
            <a:off x="59436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Cell off"/>
          <p:cNvSpPr/>
          <p:nvPr/>
        </p:nvSpPr>
        <p:spPr>
          <a:xfrm>
            <a:off x="64008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Cell off"/>
          <p:cNvSpPr/>
          <p:nvPr/>
        </p:nvSpPr>
        <p:spPr>
          <a:xfrm>
            <a:off x="685800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Computer Does</a:t>
            </a:r>
            <a:endParaRPr lang="en-US" sz="3000" dirty="0"/>
          </a:p>
        </p:txBody>
      </p:sp>
      <p:sp>
        <p:nvSpPr>
          <p:cNvPr id="3" name="@1 Card"/>
          <p:cNvSpPr/>
          <p:nvPr/>
        </p:nvSpPr>
        <p:spPr>
          <a:xfrm>
            <a:off x="457200" y="118872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18872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start with an empty row, colour = 0 (blank)</a:t>
            </a:r>
            <a:endParaRPr lang="en-US" sz="2000" dirty="0"/>
          </a:p>
        </p:txBody>
      </p:sp>
      <p:sp>
        <p:nvSpPr>
          <p:cNvPr id="5" name="@2 Card"/>
          <p:cNvSpPr/>
          <p:nvPr/>
        </p:nvSpPr>
        <p:spPr>
          <a:xfrm>
            <a:off x="457200" y="201168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@2 addText"/>
          <p:cNvSpPr txBox="1"/>
          <p:nvPr/>
        </p:nvSpPr>
        <p:spPr>
          <a:xfrm>
            <a:off x="731520" y="201168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take a number: add that many of the colour</a:t>
            </a:r>
            <a:endParaRPr lang="en-US" sz="2000" dirty="0"/>
          </a:p>
        </p:txBody>
      </p:sp>
      <p:sp>
        <p:nvSpPr>
          <p:cNvPr id="7" name="@3 Card"/>
          <p:cNvSpPr/>
          <p:nvPr/>
        </p:nvSpPr>
        <p:spPr>
          <a:xfrm>
            <a:off x="457200" y="283464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@3 addText"/>
          <p:cNvSpPr txBox="1"/>
          <p:nvPr/>
        </p:nvSpPr>
        <p:spPr>
          <a:xfrm>
            <a:off x="731520" y="28346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swap the colour: 0 becomes 1, 1 becomes 0</a:t>
            </a:r>
            <a:endParaRPr lang="en-US" sz="2000" dirty="0"/>
          </a:p>
        </p:txBody>
      </p:sp>
      <p:sp>
        <p:nvSpPr>
          <p:cNvPr id="9" name="@4 Card"/>
          <p:cNvSpPr/>
          <p:nvPr/>
        </p:nvSpPr>
        <p:spPr>
          <a:xfrm>
            <a:off x="457200" y="3657600"/>
            <a:ext cx="8229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@4 addText"/>
          <p:cNvSpPr txBox="1"/>
          <p:nvPr/>
        </p:nvSpPr>
        <p:spPr>
          <a:xfrm>
            <a:off x="731520" y="365760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repeat for the next number</a:t>
            </a:r>
            <a:endParaRPr lang="en-US" sz="200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39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[2, 7, 3]</a:t>
            </a:r>
            <a:endParaRPr lang="en-US" sz="3000" dirty="0"/>
          </a:p>
        </p:txBody>
      </p:sp>
      <p:sp>
        <p:nvSpPr>
          <p:cNvPr id="3" name="@1 Code box"/>
          <p:cNvSpPr/>
          <p:nvPr/>
        </p:nvSpPr>
        <p:spPr>
          <a:xfrm>
            <a:off x="457200" y="1280160"/>
            <a:ext cx="8229600" cy="1261872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Code bar"/>
          <p:cNvSpPr/>
          <p:nvPr/>
        </p:nvSpPr>
        <p:spPr>
          <a:xfrm>
            <a:off x="457200" y="1280160"/>
            <a:ext cx="54864" cy="1261872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@1 addText"/>
          <p:cNvSpPr txBox="1"/>
          <p:nvPr/>
        </p:nvSpPr>
        <p:spPr>
          <a:xfrm>
            <a:off x="640080" y="141732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blanks: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6" name="@2 addText"/>
          <p:cNvSpPr txBox="1"/>
          <p:nvPr/>
        </p:nvSpPr>
        <p:spPr>
          <a:xfrm>
            <a:off x="640080" y="174650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ones: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7" name="@3 addText"/>
          <p:cNvSpPr txBox="1"/>
          <p:nvPr/>
        </p:nvSpPr>
        <p:spPr>
          <a:xfrm>
            <a:off x="640080" y="207568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blanks: [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8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Starter Code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rle_starter.py in Spyder, run it and see the heart. Booklet pages 6 to 8.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c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Stuck? Use the Booklet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8016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2801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Python Ready</a:t>
            </a:r>
            <a:endParaRPr lang="en-US" sz="1600" dirty="0"/>
          </a:p>
        </p:txBody>
      </p:sp>
      <p:sp>
        <p:nvSpPr>
          <p:cNvPr id="6" name="Card"/>
          <p:cNvSpPr/>
          <p:nvPr/>
        </p:nvSpPr>
        <p:spPr>
          <a:xfrm>
            <a:off x="4663440" y="128016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4892040" y="12801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080760" y="12801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The Computer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457200" y="237744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685800" y="2377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p8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You Type</a:t>
            </a:r>
            <a:endParaRPr lang="en-US" sz="1600" dirty="0"/>
          </a:p>
        </p:txBody>
      </p:sp>
      <p:sp>
        <p:nvSpPr>
          <p:cNvPr id="12" name="Card"/>
          <p:cNvSpPr/>
          <p:nvPr/>
        </p:nvSpPr>
        <p:spPr>
          <a:xfrm>
            <a:off x="4663440" y="237744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4892040" y="2377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D79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 and p10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080760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Hints for your code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work it out on paper first, then type it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Trick: .append</a:t>
            </a:r>
            <a:endParaRPr lang="en-US" sz="3000" dirty="0"/>
          </a:p>
        </p:txBody>
      </p:sp>
      <p:sp>
        <p:nvSpPr>
          <p:cNvPr id="3" name="5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5" name="Code box"/>
          <p:cNvSpPr/>
          <p:nvPr/>
        </p:nvSpPr>
        <p:spPr>
          <a:xfrm>
            <a:off x="457200" y="1188720"/>
            <a:ext cx="8229600" cy="210312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Code bar"/>
          <p:cNvSpPr/>
          <p:nvPr/>
        </p:nvSpPr>
        <p:spPr>
          <a:xfrm>
            <a:off x="457200" y="1188720"/>
            <a:ext cx="54864" cy="210312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640080" y="132588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row = []</a:t>
            </a:r>
            <a:endParaRPr lang="en-US" sz="2000" dirty="0"/>
          </a:p>
        </p:txBody>
      </p:sp>
      <p:sp>
        <p:nvSpPr>
          <p:cNvPr id="8" name="@1 addText"/>
          <p:cNvSpPr txBox="1"/>
          <p:nvPr/>
        </p:nvSpPr>
        <p:spPr>
          <a:xfrm>
            <a:off x="640080" y="169164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row.append(</a:t>
            </a: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9" name="@2 addText"/>
          <p:cNvSpPr txBox="1"/>
          <p:nvPr/>
        </p:nvSpPr>
        <p:spPr>
          <a:xfrm>
            <a:off x="640080" y="205740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row.append(</a:t>
            </a: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42316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 row</a:t>
            </a:r>
            <a:endParaRPr lang="en-US" sz="2000" dirty="0"/>
          </a:p>
        </p:txBody>
      </p:sp>
      <p:sp>
        <p:nvSpPr>
          <p:cNvPr id="11" name="@3 addText"/>
          <p:cNvSpPr txBox="1"/>
          <p:nvPr/>
        </p:nvSpPr>
        <p:spPr>
          <a:xfrm>
            <a:off x="640080" y="278892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 0]</a:t>
            </a:r>
            <a:endParaRPr lang="en-US" sz="2000" dirty="0"/>
          </a:p>
        </p:txBody>
      </p:sp>
      <p:sp>
        <p:nvSpPr>
          <p:cNvPr id="12" name="@3 addText"/>
          <p:cNvSpPr txBox="1"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append = stick one more thing on the end of a list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Loop Inside a Loop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137160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137160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number </a:t>
            </a: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[</a:t>
            </a: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0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]: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9164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0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(number):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20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print(number)</a:t>
            </a:r>
            <a:endParaRPr lang="en-US" sz="2000" dirty="0"/>
          </a:p>
        </p:txBody>
      </p:sp>
      <p:sp>
        <p:nvSpPr>
          <p:cNvPr id="8" name="@1 Code box"/>
          <p:cNvSpPr/>
          <p:nvPr/>
        </p:nvSpPr>
        <p:spPr>
          <a:xfrm>
            <a:off x="457200" y="2468880"/>
            <a:ext cx="8229600" cy="155448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@1 Code bar"/>
          <p:cNvSpPr/>
          <p:nvPr/>
        </p:nvSpPr>
        <p:spPr>
          <a:xfrm>
            <a:off x="457200" y="2468880"/>
            <a:ext cx="54864" cy="155448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@1 addText"/>
          <p:cNvSpPr txBox="1"/>
          <p:nvPr/>
        </p:nvSpPr>
        <p:spPr>
          <a:xfrm>
            <a:off x="640080" y="2606040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@1 addText"/>
          <p:cNvSpPr txBox="1"/>
          <p:nvPr/>
        </p:nvSpPr>
        <p:spPr>
          <a:xfrm>
            <a:off x="640080" y="2862072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@1 addText"/>
          <p:cNvSpPr txBox="1"/>
          <p:nvPr/>
        </p:nvSpPr>
        <p:spPr>
          <a:xfrm>
            <a:off x="640080" y="3118104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@1 addText"/>
          <p:cNvSpPr txBox="1"/>
          <p:nvPr/>
        </p:nvSpPr>
        <p:spPr>
          <a:xfrm>
            <a:off x="640080" y="3374136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@1 addText"/>
          <p:cNvSpPr txBox="1"/>
          <p:nvPr/>
        </p:nvSpPr>
        <p:spPr>
          <a:xfrm>
            <a:off x="640080" y="3630168"/>
            <a:ext cx="79552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@1 addText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outer loop picks each number. The inner loop repeats that many times.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decode_row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2578608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2578608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decode_row(clue):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5506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row = []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8424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colour = </a:t>
            </a:r>
            <a:r>
              <a:rPr lang="en-US" sz="18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1343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 each number in the clue: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4261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add that many colour: a loop inside a loop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swap colour: if / else, or colour = 1 - colour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0098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row</a:t>
            </a:r>
            <a:endParaRPr lang="en-US" sz="18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It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28016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28016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41732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print(decode_row([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2200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]))</a:t>
            </a:r>
            <a:endParaRPr lang="en-US" sz="2200" dirty="0"/>
          </a:p>
        </p:txBody>
      </p:sp>
      <p:sp>
        <p:nvSpPr>
          <p:cNvPr id="6" name="@1 Code box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@1 Code bar"/>
          <p:cNvSpPr/>
          <p:nvPr/>
        </p:nvSpPr>
        <p:spPr>
          <a:xfrm>
            <a:off x="457200" y="2377440"/>
            <a:ext cx="54864" cy="640080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@1 addText"/>
          <p:cNvSpPr txBox="1"/>
          <p:nvPr/>
        </p:nvSpPr>
        <p:spPr>
          <a:xfrm>
            <a:off x="640080" y="2514600"/>
            <a:ext cx="795528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2C87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[0, 0, 1, 1, 1, 1, 1, 1, 1, 0, 0, 0]</a:t>
            </a:r>
            <a:endParaRPr lang="en-US" sz="2000" dirty="0"/>
          </a:p>
        </p:txBody>
      </p:sp>
      <p:sp>
        <p:nvSpPr>
          <p:cNvPr id="9" name="@1 addText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if yours matches, it works</a:t>
            </a:r>
            <a:endParaRPr lang="en-US" sz="1400" dirty="0"/>
          </a:p>
        </p:txBody>
      </p:sp>
      <p:sp>
        <p:nvSpPr>
          <p:cNvPr id="1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decode_row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2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decode_row and test it on [2, 7, 3]. Booklet page 9.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c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a Whole Picture</a:t>
            </a:r>
            <a:endParaRPr lang="en-US" sz="3000" dirty="0"/>
          </a:p>
        </p:txBody>
      </p:sp>
      <p:sp>
        <p:nvSpPr>
          <p:cNvPr id="3" name="3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picture is many rows. Decode each row, one by one.</a:t>
            </a:r>
            <a:endParaRPr lang="en-US" sz="1800" dirty="0"/>
          </a:p>
        </p:txBody>
      </p:sp>
      <p:sp>
        <p:nvSpPr>
          <p:cNvPr id="6" name="@1 Callout"/>
          <p:cNvSpPr/>
          <p:nvPr/>
        </p:nvSpPr>
        <p:spPr>
          <a:xfrm>
            <a:off x="457200" y="237744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@1 addText"/>
          <p:cNvSpPr txBox="1"/>
          <p:nvPr/>
        </p:nvSpPr>
        <p:spPr>
          <a:xfrm>
            <a:off x="685800" y="237744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already wrote the row decoder. Reuse it!</a:t>
            </a:r>
            <a:endParaRPr lang="en-US" sz="1200" dirty="0"/>
          </a:p>
        </p:txBody>
      </p:sp>
      <p:sp>
        <p:nvSpPr>
          <p:cNvPr id="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decode_picture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2249424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2249424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decode_picture(clues):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5506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picture = []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8424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 each clue in clues: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13432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row = decode_row(clue)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642616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i="1" dirty="0">
                <a:solidFill>
                  <a:srgbClr val="8EA3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picture.append(row)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800" b="1" dirty="0">
                <a:solidFill>
                  <a:srgbClr val="8FB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picture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write once, reuse: same idea as add(10, 20), add(100, 1)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Moment</a:t>
            </a:r>
            <a:endParaRPr lang="en-US" sz="3000" dirty="0"/>
          </a:p>
        </p:txBody>
      </p:sp>
      <p:sp>
        <p:nvSpPr>
          <p:cNvPr id="3" name="Code box"/>
          <p:cNvSpPr/>
          <p:nvPr/>
        </p:nvSpPr>
        <p:spPr>
          <a:xfrm>
            <a:off x="457200" y="1188720"/>
            <a:ext cx="8229600" cy="676656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Code bar"/>
          <p:cNvSpPr/>
          <p:nvPr/>
        </p:nvSpPr>
        <p:spPr>
          <a:xfrm>
            <a:off x="457200" y="1188720"/>
            <a:ext cx="54864" cy="676656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795528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22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show_picture(decode_picture(mystery_image_1))</a:t>
            </a:r>
            <a:endParaRPr lang="en-US" sz="2200" dirty="0"/>
          </a:p>
        </p:txBody>
      </p:sp>
      <p:sp>
        <p:nvSpPr>
          <p:cNvPr id="6" name="@1 Card"/>
          <p:cNvSpPr/>
          <p:nvPr/>
        </p:nvSpPr>
        <p:spPr>
          <a:xfrm>
            <a:off x="457200" y="2468880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@1 addText"/>
          <p:cNvSpPr txBox="1"/>
          <p:nvPr/>
        </p:nvSpPr>
        <p:spPr>
          <a:xfrm>
            <a:off x="45720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mystery_image_1: clues</a:t>
            </a:r>
            <a:endParaRPr lang="en-US" sz="1400" dirty="0"/>
          </a:p>
        </p:txBody>
      </p:sp>
      <p:sp>
        <p:nvSpPr>
          <p:cNvPr id="8" name="@2 Card"/>
          <p:cNvSpPr/>
          <p:nvPr/>
        </p:nvSpPr>
        <p:spPr>
          <a:xfrm>
            <a:off x="3291840" y="2468880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@2 addText"/>
          <p:cNvSpPr txBox="1"/>
          <p:nvPr/>
        </p:nvSpPr>
        <p:spPr>
          <a:xfrm>
            <a:off x="329184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decode_picture: rows</a:t>
            </a:r>
            <a:endParaRPr lang="en-US" sz="1400" dirty="0"/>
          </a:p>
        </p:txBody>
      </p:sp>
      <p:sp>
        <p:nvSpPr>
          <p:cNvPr id="10" name="@3 Card"/>
          <p:cNvSpPr/>
          <p:nvPr/>
        </p:nvSpPr>
        <p:spPr>
          <a:xfrm>
            <a:off x="6126480" y="2468880"/>
            <a:ext cx="265176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3 addText"/>
          <p:cNvSpPr txBox="1"/>
          <p:nvPr/>
        </p:nvSpPr>
        <p:spPr>
          <a:xfrm>
            <a:off x="6126480" y="24688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show_picture: draw</a:t>
            </a:r>
            <a:endParaRPr lang="en-US" sz="1400" dirty="0"/>
          </a:p>
        </p:txBody>
      </p:sp>
      <p:sp>
        <p:nvSpPr>
          <p:cNvPr id="12" name="@4 Bar"/>
          <p:cNvSpPr/>
          <p:nvPr/>
        </p:nvSpPr>
        <p:spPr>
          <a:xfrm>
            <a:off x="457200" y="3657600"/>
            <a:ext cx="64008" cy="548640"/>
          </a:xfrm>
          <a:prstGeom prst="rect">
            <a:avLst/>
          </a:prstGeom>
          <a:solidFill>
            <a:srgbClr val="002D6A"/>
          </a:solidFill>
          <a:ln w="12700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@4 addText"/>
          <p:cNvSpPr txBox="1"/>
          <p:nvPr/>
        </p:nvSpPr>
        <p:spPr>
          <a:xfrm>
            <a:off x="685800" y="365760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swap mystery_image_1 for mystery_image_7.</a:t>
            </a:r>
            <a:endParaRPr lang="en-US" sz="22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Decode a Picture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3 AND 4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decode_picture and show the mug. Then try mystery_image_5, mystery_image_6 and mystery_image_7. Booklet pages 10 and 11.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c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Finished Product</a:t>
            </a:r>
            <a:endParaRPr lang="en-US" sz="3000" dirty="0"/>
          </a:p>
        </p:txBody>
      </p:sp>
      <p:sp>
        <p:nvSpPr>
          <p:cNvPr id="3" name="5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code. Much bigger pictures.</a:t>
            </a:r>
            <a:endParaRPr lang="en-US" sz="1800" dirty="0"/>
          </a:p>
        </p:txBody>
      </p:sp>
      <p:sp>
        <p:nvSpPr>
          <p:cNvPr id="6" name="Code box"/>
          <p:cNvSpPr/>
          <p:nvPr/>
        </p:nvSpPr>
        <p:spPr>
          <a:xfrm>
            <a:off x="457200" y="1737360"/>
            <a:ext cx="8229600" cy="1261872"/>
          </a:xfrm>
          <a:prstGeom prst="rect">
            <a:avLst/>
          </a:prstGeom>
          <a:solidFill>
            <a:srgbClr val="0B2A57"/>
          </a:solidFill>
          <a:ln w="12700">
            <a:solidFill>
              <a:srgbClr val="0B2A5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Code bar"/>
          <p:cNvSpPr/>
          <p:nvPr/>
        </p:nvSpPr>
        <p:spPr>
          <a:xfrm>
            <a:off x="457200" y="1737360"/>
            <a:ext cx="54864" cy="1261872"/>
          </a:xfrm>
          <a:prstGeom prst="rect">
            <a:avLst/>
          </a:prstGeom>
          <a:solidFill>
            <a:srgbClr val="5D79A0"/>
          </a:solidFill>
          <a:ln w="12700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40080" y="1874520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show_picture(decode_picture(mystery_image_5))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03704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show_picture(decode_picture(mystery_image_6))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532888"/>
            <a:ext cx="79552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800" dirty="0">
                <a:solidFill>
                  <a:srgbClr val="E6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show_picture(decode_picture(mystery_image_7))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5661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next slides show what your plots should look like</a:t>
            </a:r>
            <a:endParaRPr lang="en-US" sz="1400" dirty="0"/>
          </a:p>
        </p:txBody>
      </p:sp>
      <p:sp>
        <p:nvSpPr>
          <p:cNvPr id="1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(1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27, 17, 3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27, 17, 3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25, 6, 4, 9, 3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25, 6, 1, 2, 1, 9, 3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25, 6, 1, 2, 1, 9, 3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25, 6, 4, 9, 3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 to 12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(2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25, 19, 3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7, 4, 12, 21, 3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7, 4, 12, 21, 3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5, 6, 9, 24, 3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5, 6, 9, 24, 3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3, 8, 6, 24, 6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3, 1, 1, 6, 6, 24, 6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13 to 24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(3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5, 36, 6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5, 32, 10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5, 32, 10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7, 30, 10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7, 28, 12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9, 26, 12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9, 26, 12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11, 24, 12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11, 24, 12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25 to 36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the clues (4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13, 20, 14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15, 8, 2, 6, 16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15, 8, 2, 6, 16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15, 6, 4, 6, 16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15, 6, 4, 6, 16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15, 8, 2, 8, 14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next slide: the decoded picture</a:t>
            </a:r>
            <a:endParaRPr lang="en-US" sz="140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#5: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dinosaur on a 47 by 47 grid, decoded from the clu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51560"/>
            <a:ext cx="3657600" cy="3657600"/>
          </a:xfrm>
          <a:prstGeom prst="rect">
            <a:avLst/>
          </a:prstGeom>
        </p:spPr>
      </p:pic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the clues (1 of 3)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6, 5, 5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4, 7, 5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3, 8, 5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3, 11, 2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3, 9, 4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2, 12, 2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2, 13, 1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1, 13, 2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1, 13, 2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3, 10, 3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4, 7, 5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 to 12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the clues (2 of 3)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4, 8, 4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3, 10, 3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2, 12, 2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0, 16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1, 14, 1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13 to 24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59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the clues (3 of 3)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1956816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2, 12, 2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1, 6, 2, 6, 1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1, 5, 4, 5, 1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1, 5, 4, 5, 1</a:t>
            </a:r>
            <a:endParaRPr lang="en-US" sz="1600" dirty="0"/>
          </a:p>
        </p:txBody>
      </p:sp>
      <p:sp>
        <p:nvSpPr>
          <p:cNvPr id="8" name="@2 Clue card"/>
          <p:cNvSpPr/>
          <p:nvPr/>
        </p:nvSpPr>
        <p:spPr>
          <a:xfrm>
            <a:off x="4754880" y="1143000"/>
            <a:ext cx="3931920" cy="1956816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2, 4, 4, 4, 2</a:t>
            </a:r>
            <a:endParaRPr lang="en-US" sz="1600" dirty="0"/>
          </a:p>
        </p:txBody>
      </p:sp>
      <p:sp>
        <p:nvSpPr>
          <p:cNvPr id="10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2, 4, 4, 4, 2</a:t>
            </a:r>
            <a:endParaRPr lang="en-US" sz="1600" dirty="0"/>
          </a:p>
        </p:txBody>
      </p:sp>
      <p:sp>
        <p:nvSpPr>
          <p:cNvPr id="11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0, 6, 4, 6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0, 6, 4, 6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next slide: the decoded picture</a:t>
            </a:r>
            <a:endParaRPr lang="en-US" sz="1400" dirty="0"/>
          </a:p>
        </p:txBody>
      </p:sp>
      <p:sp>
        <p:nvSpPr>
          <p:cNvPr id="1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Decoding messages #6: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pixel-art character on a 16 by 32 grid, decoded from the clu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411" y="1051560"/>
            <a:ext cx="1831178" cy="3657600"/>
          </a:xfrm>
          <a:prstGeom prst="rect">
            <a:avLst/>
          </a:prstGeom>
        </p:spPr>
      </p:pic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(1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17, 6, 15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16, 6, 16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16, 5, 17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15, 5, 18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15, 5, 1, 5, 12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15, 11, 12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15, 11, 12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15, 11, 12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14, 11, 13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14, 11, 13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 to 12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(2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16, 8, 14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15, 9, 14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15, 9, 14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15, 1, 1, 9, 12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15, 1, 1, 10, 11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15, 1, 2, 9, 11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9, 2, 1, 2, 3, 10, 11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7, 7, 3, 11, 10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7, 8, 2, 11, 10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6, 10, 5, 8, 9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7, 9, 5, 9, 8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2, 13, 7, 9, 7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13 to 24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(3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3, 11, 9, 8, 7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3, 11, 9, 9, 6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3, 11, 9, 9, 6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2, 12, 8, 10, 6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4, 10, 5, 14, 5</a:t>
            </a:r>
            <a:endParaRPr lang="en-US" sz="1600" dirty="0"/>
          </a:p>
        </p:txBody>
      </p:sp>
      <p:sp>
        <p:nvSpPr>
          <p:cNvPr id="9" name="@1 addText"/>
          <p:cNvSpPr txBox="1"/>
          <p:nvPr/>
        </p:nvSpPr>
        <p:spPr>
          <a:xfrm>
            <a:off x="73152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4, 10, 4, 14, 6</a:t>
            </a:r>
            <a:endParaRPr lang="en-US" sz="1600" dirty="0"/>
          </a:p>
        </p:txBody>
      </p:sp>
      <p:sp>
        <p:nvSpPr>
          <p:cNvPr id="10" name="@2 Clue card"/>
          <p:cNvSpPr/>
          <p:nvPr/>
        </p:nvSpPr>
        <p:spPr>
          <a:xfrm>
            <a:off x="4754880" y="1143000"/>
            <a:ext cx="393192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4, 10, 5, 17, 2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3, 11, 6, 17, 1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3, 10, 6, 18, 1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2, 11, 6, 17, 2</a:t>
            </a:r>
            <a:endParaRPr lang="en-US" sz="1600" dirty="0"/>
          </a:p>
        </p:txBody>
      </p:sp>
      <p:sp>
        <p:nvSpPr>
          <p:cNvPr id="15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2, 8, 7, 19, 2</a:t>
            </a:r>
            <a:endParaRPr lang="en-US" sz="1600" dirty="0"/>
          </a:p>
        </p:txBody>
      </p:sp>
      <p:sp>
        <p:nvSpPr>
          <p:cNvPr id="16" name="@2 addText"/>
          <p:cNvSpPr txBox="1"/>
          <p:nvPr/>
        </p:nvSpPr>
        <p:spPr>
          <a:xfrm>
            <a:off x="5029200" y="338328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2, 6, 8, 19, 3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rows 25 to 36</a:t>
            </a:r>
            <a:endParaRPr lang="en-US" sz="14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the clues (4 of 4)</a:t>
            </a:r>
            <a:endParaRPr lang="en-US" sz="3000" dirty="0"/>
          </a:p>
        </p:txBody>
      </p:sp>
      <p:sp>
        <p:nvSpPr>
          <p:cNvPr id="3" name="@1 Clue card"/>
          <p:cNvSpPr/>
          <p:nvPr/>
        </p:nvSpPr>
        <p:spPr>
          <a:xfrm>
            <a:off x="45720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@1 addText"/>
          <p:cNvSpPr txBox="1"/>
          <p:nvPr/>
        </p:nvSpPr>
        <p:spPr>
          <a:xfrm>
            <a:off x="73152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37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3, 3, 13, 15, 4</a:t>
            </a:r>
            <a:endParaRPr lang="en-US" sz="1600" dirty="0"/>
          </a:p>
        </p:txBody>
      </p:sp>
      <p:sp>
        <p:nvSpPr>
          <p:cNvPr id="5" name="@1 addText"/>
          <p:cNvSpPr txBox="1"/>
          <p:nvPr/>
        </p:nvSpPr>
        <p:spPr>
          <a:xfrm>
            <a:off x="73152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21, 14, 3</a:t>
            </a:r>
            <a:endParaRPr lang="en-US" sz="1600" dirty="0"/>
          </a:p>
        </p:txBody>
      </p:sp>
      <p:sp>
        <p:nvSpPr>
          <p:cNvPr id="6" name="@1 addText"/>
          <p:cNvSpPr txBox="1"/>
          <p:nvPr/>
        </p:nvSpPr>
        <p:spPr>
          <a:xfrm>
            <a:off x="73152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19, 17, 2</a:t>
            </a:r>
            <a:endParaRPr lang="en-US" sz="1600" dirty="0"/>
          </a:p>
        </p:txBody>
      </p:sp>
      <p:sp>
        <p:nvSpPr>
          <p:cNvPr id="7" name="@1 addText"/>
          <p:cNvSpPr txBox="1"/>
          <p:nvPr/>
        </p:nvSpPr>
        <p:spPr>
          <a:xfrm>
            <a:off x="73152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18, 17, 3</a:t>
            </a:r>
            <a:endParaRPr lang="en-US" sz="1600" dirty="0"/>
          </a:p>
        </p:txBody>
      </p:sp>
      <p:sp>
        <p:nvSpPr>
          <p:cNvPr id="8" name="@1 addText"/>
          <p:cNvSpPr txBox="1"/>
          <p:nvPr/>
        </p:nvSpPr>
        <p:spPr>
          <a:xfrm>
            <a:off x="73152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18, 10, 1, 4, 5</a:t>
            </a:r>
            <a:endParaRPr lang="en-US" sz="1600" dirty="0"/>
          </a:p>
        </p:txBody>
      </p:sp>
      <p:sp>
        <p:nvSpPr>
          <p:cNvPr id="9" name="@2 Clue card"/>
          <p:cNvSpPr/>
          <p:nvPr/>
        </p:nvSpPr>
        <p:spPr>
          <a:xfrm>
            <a:off x="4754880" y="1143000"/>
            <a:ext cx="39319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C5D1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@2 addText"/>
          <p:cNvSpPr txBox="1"/>
          <p:nvPr/>
        </p:nvSpPr>
        <p:spPr>
          <a:xfrm>
            <a:off x="5029200" y="1280160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17, 5, 2, 1, 13</a:t>
            </a:r>
            <a:endParaRPr lang="en-US" sz="1600" dirty="0"/>
          </a:p>
        </p:txBody>
      </p:sp>
      <p:sp>
        <p:nvSpPr>
          <p:cNvPr id="11" name="@2 addText"/>
          <p:cNvSpPr txBox="1"/>
          <p:nvPr/>
        </p:nvSpPr>
        <p:spPr>
          <a:xfrm>
            <a:off x="5029200" y="1700784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16, 5, 17</a:t>
            </a:r>
            <a:endParaRPr lang="en-US" sz="1600" dirty="0"/>
          </a:p>
        </p:txBody>
      </p:sp>
      <p:sp>
        <p:nvSpPr>
          <p:cNvPr id="12" name="@2 addText"/>
          <p:cNvSpPr txBox="1"/>
          <p:nvPr/>
        </p:nvSpPr>
        <p:spPr>
          <a:xfrm>
            <a:off x="5029200" y="2121408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15, 2, 21</a:t>
            </a:r>
            <a:endParaRPr lang="en-US" sz="1600" dirty="0"/>
          </a:p>
        </p:txBody>
      </p:sp>
      <p:sp>
        <p:nvSpPr>
          <p:cNvPr id="13" name="@2 addText"/>
          <p:cNvSpPr txBox="1"/>
          <p:nvPr/>
        </p:nvSpPr>
        <p:spPr>
          <a:xfrm>
            <a:off x="5029200" y="2542032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14" name="@2 addText"/>
          <p:cNvSpPr txBox="1"/>
          <p:nvPr/>
        </p:nvSpPr>
        <p:spPr>
          <a:xfrm>
            <a:off x="5029200" y="2962656"/>
            <a:ext cx="3474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46  </a:t>
            </a:r>
            <a:r>
              <a:rPr lang="en-US" sz="1600" b="1" dirty="0">
                <a:solidFill>
                  <a:srgbClr val="002D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38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D6B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next slide: the decoded picture</a:t>
            </a:r>
            <a:endParaRPr lang="en-US" sz="14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 One: decoded</a:t>
            </a:r>
            <a:endParaRPr lang="en-US" sz="2800" dirty="0"/>
          </a:p>
        </p:txBody>
      </p:sp>
      <p:sp>
        <p:nvSpPr>
          <p:cNvPr id="3" name="ANSWERS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</a:t>
            </a:r>
            <a:endParaRPr lang="en-US" sz="1200" dirty="0"/>
          </a:p>
        </p:txBody>
      </p:sp>
      <p:pic>
        <p:nvPicPr>
          <p:cNvPr id="5" name="Image 0" descr="A map of the UK and Ireland on a 38 by 46 grid, decoded from the clu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889" y="1051560"/>
            <a:ext cx="3022223" cy="3657600"/>
          </a:xfrm>
          <a:prstGeom prst="rect">
            <a:avLst/>
          </a:prstGeom>
        </p:spPr>
      </p:pic>
      <p:sp>
        <p:nvSpPr>
          <p:cNvPr id="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It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kern="0" spc="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5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each big picture by computer, compare with by hand, and write why. Booklet pages 11 and 12.</a:t>
            </a:r>
            <a:endParaRPr lang="en-US" sz="1800" dirty="0"/>
          </a:p>
        </p:txBody>
      </p:sp>
      <p:sp>
        <p:nvSpPr>
          <p:cNvPr id="5" name="Timer pill"/>
          <p:cNvSpPr/>
          <p:nvPr/>
        </p:nvSpPr>
        <p:spPr>
          <a:xfrm>
            <a:off x="548640" y="3840480"/>
            <a:ext cx="2194560" cy="64008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c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39959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38404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2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Finished Early?</a:t>
            </a:r>
            <a:endParaRPr lang="en-US" sz="3000" dirty="0"/>
          </a:p>
        </p:txBody>
      </p:sp>
      <p:sp>
        <p:nvSpPr>
          <p:cNvPr id="3" name="Callout"/>
          <p:cNvSpPr/>
          <p:nvPr/>
        </p:nvSpPr>
        <p:spPr>
          <a:xfrm>
            <a:off x="457200" y="128016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2D6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2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Stretch: write encode_row(row) and go backwards: row in, clue out.</a:t>
            </a:r>
            <a:endParaRPr lang="en-US" sz="1200" dirty="0"/>
          </a:p>
        </p:txBody>
      </p:sp>
      <p:sp>
        <p:nvSpPr>
          <p:cNvPr id="5" name="Callout"/>
          <p:cNvSpPr/>
          <p:nvPr/>
        </p:nvSpPr>
        <p:spPr>
          <a:xfrm>
            <a:off x="457200" y="24688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5D79A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D79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 </a:t>
            </a:r>
            <a:r>
              <a:rPr lang="en-US" sz="16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the computer: Encode It (booklet p12), or race the computer by hand.</a:t>
            </a:r>
            <a:endParaRPr lang="en-US" sz="1200" dirty="0"/>
          </a:p>
        </p:txBody>
      </p:sp>
      <p:sp>
        <p:nvSpPr>
          <p:cNvPr id="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Learned Today</a:t>
            </a:r>
            <a:endParaRPr lang="en-US" sz="3000" dirty="0"/>
          </a:p>
        </p:txBody>
      </p:sp>
      <p:sp>
        <p:nvSpPr>
          <p:cNvPr id="3" name="2 min pill"/>
          <p:cNvSpPr/>
          <p:nvPr/>
        </p:nvSpPr>
        <p:spPr>
          <a:xfrm>
            <a:off x="7589520" y="41148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9C4E8"/>
          </a:solidFill>
          <a:ln w="12700">
            <a:solidFill>
              <a:srgbClr val="A9C4E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7589520" y="411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min</a:t>
            </a:r>
            <a:endParaRPr lang="en-US" sz="1200" dirty="0"/>
          </a:p>
        </p:txBody>
      </p:sp>
      <p:sp>
        <p:nvSpPr>
          <p:cNvPr id="5" name="@1 addText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encoding = writing information a different way</a:t>
            </a:r>
            <a:endParaRPr lang="en-US" sz="1800" dirty="0"/>
          </a:p>
        </p:txBody>
      </p:sp>
      <p:sp>
        <p:nvSpPr>
          <p:cNvPr id="6" name="@2 addText"/>
          <p:cNvSpPr txBox="1"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compression = encoding to use fewer symbols</a:t>
            </a:r>
            <a:endParaRPr lang="en-US" sz="1800" dirty="0"/>
          </a:p>
        </p:txBody>
      </p:sp>
      <p:sp>
        <p:nvSpPr>
          <p:cNvPr id="7" name="@3 addText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run-length encoding: store what repeats, and how many times</a:t>
            </a:r>
            <a:endParaRPr lang="en-US" sz="1800" dirty="0"/>
          </a:p>
        </p:txBody>
      </p:sp>
      <p:sp>
        <p:nvSpPr>
          <p:cNvPr id="8" name="@4 addText"/>
          <p:cNvSpPr txBox="1"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great on repetitive data, badly on noisy data</a:t>
            </a:r>
            <a:endParaRPr lang="en-US" sz="1800" dirty="0"/>
          </a:p>
        </p:txBody>
      </p:sp>
      <p:sp>
        <p:nvSpPr>
          <p:cNvPr id="9" name="@5 addText"/>
          <p:cNvSpPr txBox="1"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you decoded small pictures by hand</a:t>
            </a:r>
            <a:endParaRPr lang="en-US" sz="1800" dirty="0"/>
          </a:p>
        </p:txBody>
      </p:sp>
      <p:sp>
        <p:nvSpPr>
          <p:cNvPr id="10" name="@6 addText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2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Python decoded a dinosaur, Mario, and the UK and Ireland</a:t>
            </a:r>
            <a:endParaRPr lang="en-US" sz="1800" dirty="0"/>
          </a:p>
        </p:txBody>
      </p:sp>
      <p:sp>
        <p:nvSpPr>
          <p:cNvPr id="1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69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Read Code Now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C5D1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file on your phone or laptop is just numbers, encoded. You just decoded some by hand.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9C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design your own picture on booklet page 12 as an RLE clue for a partner to decode. Stretch: write encode_row.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Heart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4" name="Text"/>
          <p:cNvSpPr txBox="1"/>
          <p:nvPr/>
        </p:nvSpPr>
        <p:spPr>
          <a:xfrm>
            <a:off x="548640" y="10058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the picture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3931920" y="10058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RLE clue for each row</a:t>
            </a:r>
          </a:p>
        </p:txBody>
      </p:sp>
      <p:sp>
        <p:nvSpPr>
          <p:cNvPr id="6" name="Cell off"/>
          <p:cNvSpPr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ell off"/>
          <p:cNvSpPr/>
          <p:nvPr/>
        </p:nvSpPr>
        <p:spPr>
          <a:xfrm>
            <a:off x="1115568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ell off"/>
          <p:cNvSpPr/>
          <p:nvPr/>
        </p:nvSpPr>
        <p:spPr>
          <a:xfrm>
            <a:off x="1682495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ell off"/>
          <p:cNvSpPr/>
          <p:nvPr/>
        </p:nvSpPr>
        <p:spPr>
          <a:xfrm>
            <a:off x="2249424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ell off"/>
          <p:cNvSpPr/>
          <p:nvPr/>
        </p:nvSpPr>
        <p:spPr>
          <a:xfrm>
            <a:off x="2816352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ell off"/>
          <p:cNvSpPr/>
          <p:nvPr/>
        </p:nvSpPr>
        <p:spPr>
          <a:xfrm>
            <a:off x="548640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ell off"/>
          <p:cNvSpPr/>
          <p:nvPr/>
        </p:nvSpPr>
        <p:spPr>
          <a:xfrm>
            <a:off x="1115568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ell off"/>
          <p:cNvSpPr/>
          <p:nvPr/>
        </p:nvSpPr>
        <p:spPr>
          <a:xfrm>
            <a:off x="1682495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ell off"/>
          <p:cNvSpPr/>
          <p:nvPr/>
        </p:nvSpPr>
        <p:spPr>
          <a:xfrm>
            <a:off x="2249424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ell off"/>
          <p:cNvSpPr/>
          <p:nvPr/>
        </p:nvSpPr>
        <p:spPr>
          <a:xfrm>
            <a:off x="2816352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ell off"/>
          <p:cNvSpPr/>
          <p:nvPr/>
        </p:nvSpPr>
        <p:spPr>
          <a:xfrm>
            <a:off x="548640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ell off"/>
          <p:cNvSpPr/>
          <p:nvPr/>
        </p:nvSpPr>
        <p:spPr>
          <a:xfrm>
            <a:off x="1115568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ell off"/>
          <p:cNvSpPr/>
          <p:nvPr/>
        </p:nvSpPr>
        <p:spPr>
          <a:xfrm>
            <a:off x="1682495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ell off"/>
          <p:cNvSpPr/>
          <p:nvPr/>
        </p:nvSpPr>
        <p:spPr>
          <a:xfrm>
            <a:off x="2249424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ell off"/>
          <p:cNvSpPr/>
          <p:nvPr/>
        </p:nvSpPr>
        <p:spPr>
          <a:xfrm>
            <a:off x="2816352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ell off"/>
          <p:cNvSpPr/>
          <p:nvPr/>
        </p:nvSpPr>
        <p:spPr>
          <a:xfrm>
            <a:off x="548640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ell off"/>
          <p:cNvSpPr/>
          <p:nvPr/>
        </p:nvSpPr>
        <p:spPr>
          <a:xfrm>
            <a:off x="1115568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ell off"/>
          <p:cNvSpPr/>
          <p:nvPr/>
        </p:nvSpPr>
        <p:spPr>
          <a:xfrm>
            <a:off x="1682495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ell off"/>
          <p:cNvSpPr/>
          <p:nvPr/>
        </p:nvSpPr>
        <p:spPr>
          <a:xfrm>
            <a:off x="2249424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 off"/>
          <p:cNvSpPr/>
          <p:nvPr/>
        </p:nvSpPr>
        <p:spPr>
          <a:xfrm>
            <a:off x="2816352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ell on"/>
          <p:cNvSpPr/>
          <p:nvPr/>
        </p:nvSpPr>
        <p:spPr>
          <a:xfrm>
            <a:off x="1115568" y="1371600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ell on"/>
          <p:cNvSpPr/>
          <p:nvPr/>
        </p:nvSpPr>
        <p:spPr>
          <a:xfrm>
            <a:off x="2249424" y="1371600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ell on"/>
          <p:cNvSpPr/>
          <p:nvPr/>
        </p:nvSpPr>
        <p:spPr>
          <a:xfrm>
            <a:off x="548640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ell on"/>
          <p:cNvSpPr/>
          <p:nvPr/>
        </p:nvSpPr>
        <p:spPr>
          <a:xfrm>
            <a:off x="1115568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ell on"/>
          <p:cNvSpPr/>
          <p:nvPr/>
        </p:nvSpPr>
        <p:spPr>
          <a:xfrm>
            <a:off x="1682495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ell on"/>
          <p:cNvSpPr/>
          <p:nvPr/>
        </p:nvSpPr>
        <p:spPr>
          <a:xfrm>
            <a:off x="2249424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ell on"/>
          <p:cNvSpPr/>
          <p:nvPr/>
        </p:nvSpPr>
        <p:spPr>
          <a:xfrm>
            <a:off x="2816352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ell on"/>
          <p:cNvSpPr/>
          <p:nvPr/>
        </p:nvSpPr>
        <p:spPr>
          <a:xfrm>
            <a:off x="1115568" y="2505456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ell on"/>
          <p:cNvSpPr/>
          <p:nvPr/>
        </p:nvSpPr>
        <p:spPr>
          <a:xfrm>
            <a:off x="1682495" y="2505456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ell on"/>
          <p:cNvSpPr/>
          <p:nvPr/>
        </p:nvSpPr>
        <p:spPr>
          <a:xfrm>
            <a:off x="2249424" y="2505456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ell on"/>
          <p:cNvSpPr/>
          <p:nvPr/>
        </p:nvSpPr>
        <p:spPr>
          <a:xfrm>
            <a:off x="1682495" y="3072384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@1 Clue"/>
          <p:cNvSpPr txBox="1"/>
          <p:nvPr/>
        </p:nvSpPr>
        <p:spPr>
          <a:xfrm>
            <a:off x="3931920" y="137160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002D6A"/>
                </a:solidFill>
                <a:latin typeface="Courier New"/>
              </a:rPr>
              <a:t>1, 1, 1, 1, 1</a:t>
            </a:r>
          </a:p>
        </p:txBody>
      </p:sp>
      <p:sp>
        <p:nvSpPr>
          <p:cNvPr id="38" name="@2 Clue"/>
          <p:cNvSpPr txBox="1"/>
          <p:nvPr/>
        </p:nvSpPr>
        <p:spPr>
          <a:xfrm>
            <a:off x="3931920" y="19385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002D6A"/>
                </a:solidFill>
                <a:latin typeface="Courier New"/>
              </a:rPr>
              <a:t>0, 5</a:t>
            </a:r>
          </a:p>
        </p:txBody>
      </p:sp>
      <p:sp>
        <p:nvSpPr>
          <p:cNvPr id="39" name="@3 Clue"/>
          <p:cNvSpPr txBox="1"/>
          <p:nvPr/>
        </p:nvSpPr>
        <p:spPr>
          <a:xfrm>
            <a:off x="3931920" y="2505456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002D6A"/>
                </a:solidFill>
                <a:latin typeface="Courier New"/>
              </a:rPr>
              <a:t>1, 3, 1</a:t>
            </a:r>
          </a:p>
        </p:txBody>
      </p:sp>
      <p:sp>
        <p:nvSpPr>
          <p:cNvPr id="40" name="@4 Clue"/>
          <p:cNvSpPr txBox="1"/>
          <p:nvPr/>
        </p:nvSpPr>
        <p:spPr>
          <a:xfrm>
            <a:off x="3931920" y="3072384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002D6A"/>
                </a:solidFill>
                <a:latin typeface="Courier New"/>
              </a:rPr>
              <a:t>2, 1, 2</a:t>
            </a:r>
          </a:p>
        </p:txBody>
      </p:sp>
      <p:sp>
        <p:nvSpPr>
          <p:cNvPr id="41" name="@2 Clue note"/>
          <p:cNvSpPr txBox="1"/>
          <p:nvPr/>
        </p:nvSpPr>
        <p:spPr>
          <a:xfrm>
            <a:off x="6035040" y="193852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1">
                <a:solidFill>
                  <a:srgbClr val="5D6B80"/>
                </a:solidFill>
                <a:latin typeface="Arial"/>
              </a:rPr>
              <a:t>0 blanks first: the row starts coloured</a:t>
            </a:r>
          </a:p>
        </p:txBody>
      </p:sp>
      <p:sp>
        <p:nvSpPr>
          <p:cNvPr id="42" name="@5 Callout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D7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@5 Callout text"/>
          <p:cNvSpPr txBox="1"/>
          <p:nvPr/>
        </p:nvSpPr>
        <p:spPr>
          <a:xfrm>
            <a:off x="685800" y="3931920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5D79A0"/>
                </a:solidFill>
                <a:latin typeface="Arial"/>
              </a:rPr>
              <a:t>NOTE  </a:t>
            </a:r>
            <a:r>
              <a:rPr sz="1600" b="0" i="0">
                <a:solidFill>
                  <a:srgbClr val="22262E"/>
                </a:solidFill>
                <a:latin typeface="Arial"/>
              </a:rPr>
              <a:t>Our job: turn each clue back into a row.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41" grpId="0" animBg="1"/>
      <p:bldP spid="39" grpId="0" animBg="1"/>
      <p:bldP spid="40" grpId="0" animBg="1"/>
      <p:bldP spid="42" grpId="0" animBg="1"/>
      <p:bldP spid="43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It in Pseudocode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4" name="@1 Code box"/>
          <p:cNvSpPr/>
          <p:nvPr/>
        </p:nvSpPr>
        <p:spPr>
          <a:xfrm>
            <a:off x="457200" y="1143000"/>
            <a:ext cx="8229600" cy="3319272"/>
          </a:xfrm>
          <a:prstGeom prst="rect">
            <a:avLst/>
          </a:prstGeom>
          <a:solidFill>
            <a:srgbClr val="0B2A57"/>
          </a:solidFill>
          <a:ln w="9525">
            <a:solidFill>
              <a:srgbClr val="0B2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@1 Code bar"/>
          <p:cNvSpPr/>
          <p:nvPr/>
        </p:nvSpPr>
        <p:spPr>
          <a:xfrm>
            <a:off x="457200" y="1143000"/>
            <a:ext cx="54864" cy="3319272"/>
          </a:xfrm>
          <a:prstGeom prst="rect">
            <a:avLst/>
          </a:prstGeom>
          <a:solidFill>
            <a:srgbClr val="5D79A0"/>
          </a:solidFill>
          <a:ln w="9525">
            <a:solidFill>
              <a:srgbClr val="5D7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@1 Code line"/>
          <p:cNvSpPr txBox="1"/>
          <p:nvPr/>
        </p:nvSpPr>
        <p:spPr>
          <a:xfrm>
            <a:off x="640080" y="1280160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1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picture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=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empty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list</a:t>
            </a:r>
          </a:p>
        </p:txBody>
      </p:sp>
      <p:sp>
        <p:nvSpPr>
          <p:cNvPr id="7" name="@2 Code line"/>
          <p:cNvSpPr txBox="1"/>
          <p:nvPr/>
        </p:nvSpPr>
        <p:spPr>
          <a:xfrm>
            <a:off x="640080" y="1618488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2  </a:t>
            </a:r>
            <a:r>
              <a:rPr sz="1700" b="1" i="0">
                <a:solidFill>
                  <a:srgbClr val="8FB8FF"/>
                </a:solidFill>
                <a:latin typeface="Courier New"/>
              </a:rPr>
              <a:t>FOR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each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clue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in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the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clues:</a:t>
            </a:r>
          </a:p>
        </p:txBody>
      </p:sp>
      <p:sp>
        <p:nvSpPr>
          <p:cNvPr id="8" name="@2 Code line"/>
          <p:cNvSpPr txBox="1"/>
          <p:nvPr/>
        </p:nvSpPr>
        <p:spPr>
          <a:xfrm>
            <a:off x="640080" y="1956815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3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row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=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empty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list</a:t>
            </a:r>
          </a:p>
        </p:txBody>
      </p:sp>
      <p:sp>
        <p:nvSpPr>
          <p:cNvPr id="9" name="@2 Code line"/>
          <p:cNvSpPr txBox="1"/>
          <p:nvPr/>
        </p:nvSpPr>
        <p:spPr>
          <a:xfrm>
            <a:off x="640080" y="2295144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4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colour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=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F2C879"/>
                </a:solidFill>
                <a:latin typeface="Courier New"/>
              </a:rPr>
              <a:t>0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</a:t>
            </a:r>
            <a:r>
              <a:rPr sz="1700" b="0" i="0">
                <a:solidFill>
                  <a:srgbClr val="8EA3C0"/>
                </a:solidFill>
                <a:latin typeface="Courier New"/>
              </a:rPr>
              <a:t>(blank)</a:t>
            </a:r>
          </a:p>
        </p:txBody>
      </p:sp>
      <p:sp>
        <p:nvSpPr>
          <p:cNvPr id="10" name="@3 Code line"/>
          <p:cNvSpPr txBox="1"/>
          <p:nvPr/>
        </p:nvSpPr>
        <p:spPr>
          <a:xfrm>
            <a:off x="640080" y="2633472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5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 </a:t>
            </a:r>
            <a:r>
              <a:rPr sz="1700" b="1" i="0">
                <a:solidFill>
                  <a:srgbClr val="8FB8FF"/>
                </a:solidFill>
                <a:latin typeface="Courier New"/>
              </a:rPr>
              <a:t>FOR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each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number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in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the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clue:</a:t>
            </a:r>
          </a:p>
        </p:txBody>
      </p:sp>
      <p:sp>
        <p:nvSpPr>
          <p:cNvPr id="11" name="@3 Code line"/>
          <p:cNvSpPr txBox="1"/>
          <p:nvPr/>
        </p:nvSpPr>
        <p:spPr>
          <a:xfrm>
            <a:off x="640080" y="2971800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6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   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add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that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many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of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colour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to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the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row</a:t>
            </a:r>
          </a:p>
        </p:txBody>
      </p:sp>
      <p:sp>
        <p:nvSpPr>
          <p:cNvPr id="12" name="@3 Code line"/>
          <p:cNvSpPr txBox="1"/>
          <p:nvPr/>
        </p:nvSpPr>
        <p:spPr>
          <a:xfrm>
            <a:off x="640080" y="3310127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7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   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swap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colour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</a:t>
            </a:r>
            <a:r>
              <a:rPr sz="1700" b="0" i="0">
                <a:solidFill>
                  <a:srgbClr val="8EA3C0"/>
                </a:solidFill>
                <a:latin typeface="Courier New"/>
              </a:rPr>
              <a:t>(0 to 1, 1 to 0)</a:t>
            </a:r>
          </a:p>
        </p:txBody>
      </p:sp>
      <p:sp>
        <p:nvSpPr>
          <p:cNvPr id="13" name="@4 Code line"/>
          <p:cNvSpPr txBox="1"/>
          <p:nvPr/>
        </p:nvSpPr>
        <p:spPr>
          <a:xfrm>
            <a:off x="640080" y="3648456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8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  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add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the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row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to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the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picture</a:t>
            </a:r>
          </a:p>
        </p:txBody>
      </p:sp>
      <p:sp>
        <p:nvSpPr>
          <p:cNvPr id="14" name="@4 Code line"/>
          <p:cNvSpPr txBox="1"/>
          <p:nvPr/>
        </p:nvSpPr>
        <p:spPr>
          <a:xfrm>
            <a:off x="640080" y="3986783"/>
            <a:ext cx="76809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6F86A8"/>
                </a:solidFill>
                <a:latin typeface="Courier New"/>
              </a:rPr>
              <a:t> 9  </a:t>
            </a:r>
            <a:r>
              <a:rPr sz="1700" b="1" i="0">
                <a:solidFill>
                  <a:srgbClr val="8FB8FF"/>
                </a:solidFill>
                <a:latin typeface="Courier New"/>
              </a:rPr>
              <a:t>RETURN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the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 </a:t>
            </a:r>
            <a:r>
              <a:rPr sz="1700" b="0" i="0">
                <a:solidFill>
                  <a:srgbClr val="E6ECF5"/>
                </a:solidFill>
                <a:latin typeface="Courier New"/>
              </a:rPr>
              <a:t>picture</a:t>
            </a:r>
          </a:p>
        </p:txBody>
      </p:sp>
      <p:sp>
        <p:nvSpPr>
          <p:cNvPr id="15" name="@2 Outer label"/>
          <p:cNvSpPr txBox="1"/>
          <p:nvPr/>
        </p:nvSpPr>
        <p:spPr>
          <a:xfrm>
            <a:off x="6720840" y="1618488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879"/>
                </a:solidFill>
                <a:latin typeface="Arial"/>
              </a:rPr>
              <a:t>outer loop: one row at a time</a:t>
            </a:r>
          </a:p>
        </p:txBody>
      </p:sp>
      <p:sp>
        <p:nvSpPr>
          <p:cNvPr id="16" name="@3 Inner label"/>
          <p:cNvSpPr txBox="1"/>
          <p:nvPr/>
        </p:nvSpPr>
        <p:spPr>
          <a:xfrm>
            <a:off x="6720840" y="26334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879"/>
                </a:solidFill>
                <a:latin typeface="Arial"/>
              </a:rPr>
              <a:t>inner loop: one number at a time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5" grpId="0" animBg="1"/>
      <p:bldP spid="10" grpId="0" animBg="1"/>
      <p:bldP spid="11" grpId="0" animBg="1"/>
      <p:bldP spid="12" grpId="0" animBg="1"/>
      <p:bldP spid="16" grpId="0" animBg="1"/>
      <p:bldP spid="13" grpId="0" animBg="1"/>
      <p:bldP spid="14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Through: One Row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4" name="Text"/>
          <p:cNvSpPr txBox="1"/>
          <p:nvPr/>
        </p:nvSpPr>
        <p:spPr>
          <a:xfrm>
            <a:off x="457200" y="102412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5D6B80"/>
                </a:solidFill>
                <a:latin typeface="Courier New"/>
              </a:rPr>
              <a:t>clue = </a:t>
            </a:r>
            <a:r>
              <a:rPr sz="2400" b="1" i="0">
                <a:solidFill>
                  <a:srgbClr val="002D6A"/>
                </a:solidFill>
                <a:latin typeface="Courier New"/>
              </a:rPr>
              <a:t>[1, 3, 1]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594360" y="162763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number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1965960" y="162763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colour</a:t>
            </a:r>
          </a:p>
        </p:txBody>
      </p:sp>
      <p:sp>
        <p:nvSpPr>
          <p:cNvPr id="7" name="Text"/>
          <p:cNvSpPr txBox="1"/>
          <p:nvPr/>
        </p:nvSpPr>
        <p:spPr>
          <a:xfrm>
            <a:off x="3337560" y="1627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add to the row</a:t>
            </a:r>
          </a:p>
        </p:txBody>
      </p:sp>
      <p:sp>
        <p:nvSpPr>
          <p:cNvPr id="8" name="Text"/>
          <p:cNvSpPr txBox="1"/>
          <p:nvPr/>
        </p:nvSpPr>
        <p:spPr>
          <a:xfrm>
            <a:off x="5623560" y="162763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row so far</a:t>
            </a:r>
          </a:p>
        </p:txBody>
      </p:sp>
      <p:sp>
        <p:nvSpPr>
          <p:cNvPr id="9" name="Card"/>
          <p:cNvSpPr/>
          <p:nvPr/>
        </p:nvSpPr>
        <p:spPr>
          <a:xfrm>
            <a:off x="457200" y="1938528"/>
            <a:ext cx="822960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race cell"/>
          <p:cNvSpPr txBox="1"/>
          <p:nvPr/>
        </p:nvSpPr>
        <p:spPr>
          <a:xfrm>
            <a:off x="594360" y="19385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5D6B80"/>
                </a:solidFill>
                <a:latin typeface="Courier New"/>
              </a:rPr>
              <a:t>start</a:t>
            </a:r>
          </a:p>
        </p:txBody>
      </p:sp>
      <p:sp>
        <p:nvSpPr>
          <p:cNvPr id="11" name="Trace cell"/>
          <p:cNvSpPr txBox="1"/>
          <p:nvPr/>
        </p:nvSpPr>
        <p:spPr>
          <a:xfrm>
            <a:off x="1965960" y="19385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5D6B80"/>
                </a:solidFill>
                <a:latin typeface="Courier New"/>
              </a:rPr>
              <a:t>0</a:t>
            </a:r>
          </a:p>
        </p:txBody>
      </p:sp>
      <p:sp>
        <p:nvSpPr>
          <p:cNvPr id="12" name="Trace cell"/>
          <p:cNvSpPr txBox="1"/>
          <p:nvPr/>
        </p:nvSpPr>
        <p:spPr>
          <a:xfrm>
            <a:off x="3337560" y="193852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5D6B80"/>
                </a:solidFill>
                <a:latin typeface="Courier New"/>
              </a:rPr>
              <a:t/>
            </a:r>
          </a:p>
        </p:txBody>
      </p:sp>
      <p:sp>
        <p:nvSpPr>
          <p:cNvPr id="13" name="Trace cell"/>
          <p:cNvSpPr txBox="1"/>
          <p:nvPr/>
        </p:nvSpPr>
        <p:spPr>
          <a:xfrm>
            <a:off x="5623560" y="193852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5D6B80"/>
                </a:solidFill>
                <a:latin typeface="Courier New"/>
              </a:rPr>
              <a:t>[]</a:t>
            </a:r>
          </a:p>
        </p:txBody>
      </p:sp>
      <p:sp>
        <p:nvSpPr>
          <p:cNvPr id="14" name="@1 Card"/>
          <p:cNvSpPr/>
          <p:nvPr/>
        </p:nvSpPr>
        <p:spPr>
          <a:xfrm>
            <a:off x="457200" y="2395728"/>
            <a:ext cx="822960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@1 Trace cell"/>
          <p:cNvSpPr txBox="1"/>
          <p:nvPr/>
        </p:nvSpPr>
        <p:spPr>
          <a:xfrm>
            <a:off x="594360" y="23957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1</a:t>
            </a:r>
          </a:p>
        </p:txBody>
      </p:sp>
      <p:sp>
        <p:nvSpPr>
          <p:cNvPr id="16" name="@1 Trace cell"/>
          <p:cNvSpPr txBox="1"/>
          <p:nvPr/>
        </p:nvSpPr>
        <p:spPr>
          <a:xfrm>
            <a:off x="1965960" y="23957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0</a:t>
            </a:r>
          </a:p>
        </p:txBody>
      </p:sp>
      <p:sp>
        <p:nvSpPr>
          <p:cNvPr id="17" name="@1 Trace cell"/>
          <p:cNvSpPr txBox="1"/>
          <p:nvPr/>
        </p:nvSpPr>
        <p:spPr>
          <a:xfrm>
            <a:off x="3337560" y="239572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[0]</a:t>
            </a:r>
          </a:p>
        </p:txBody>
      </p:sp>
      <p:sp>
        <p:nvSpPr>
          <p:cNvPr id="18" name="@1 Trace cell"/>
          <p:cNvSpPr txBox="1"/>
          <p:nvPr/>
        </p:nvSpPr>
        <p:spPr>
          <a:xfrm>
            <a:off x="5623560" y="239572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[0]</a:t>
            </a:r>
          </a:p>
        </p:txBody>
      </p:sp>
      <p:sp>
        <p:nvSpPr>
          <p:cNvPr id="19" name="@2 Card"/>
          <p:cNvSpPr/>
          <p:nvPr/>
        </p:nvSpPr>
        <p:spPr>
          <a:xfrm>
            <a:off x="457200" y="2852928"/>
            <a:ext cx="822960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@2 Trace cell"/>
          <p:cNvSpPr txBox="1"/>
          <p:nvPr/>
        </p:nvSpPr>
        <p:spPr>
          <a:xfrm>
            <a:off x="594360" y="28529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3</a:t>
            </a:r>
          </a:p>
        </p:txBody>
      </p:sp>
      <p:sp>
        <p:nvSpPr>
          <p:cNvPr id="21" name="@2 Trace cell"/>
          <p:cNvSpPr txBox="1"/>
          <p:nvPr/>
        </p:nvSpPr>
        <p:spPr>
          <a:xfrm>
            <a:off x="1965960" y="28529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1</a:t>
            </a:r>
          </a:p>
        </p:txBody>
      </p:sp>
      <p:sp>
        <p:nvSpPr>
          <p:cNvPr id="22" name="@2 Trace cell"/>
          <p:cNvSpPr txBox="1"/>
          <p:nvPr/>
        </p:nvSpPr>
        <p:spPr>
          <a:xfrm>
            <a:off x="3337560" y="285292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[1, 1, 1]</a:t>
            </a:r>
          </a:p>
        </p:txBody>
      </p:sp>
      <p:sp>
        <p:nvSpPr>
          <p:cNvPr id="23" name="@2 Trace cell"/>
          <p:cNvSpPr txBox="1"/>
          <p:nvPr/>
        </p:nvSpPr>
        <p:spPr>
          <a:xfrm>
            <a:off x="5623560" y="285292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[0, 1, 1, 1]</a:t>
            </a:r>
          </a:p>
        </p:txBody>
      </p:sp>
      <p:sp>
        <p:nvSpPr>
          <p:cNvPr id="24" name="@3 Card"/>
          <p:cNvSpPr/>
          <p:nvPr/>
        </p:nvSpPr>
        <p:spPr>
          <a:xfrm>
            <a:off x="457200" y="3310128"/>
            <a:ext cx="822960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@3 Trace cell"/>
          <p:cNvSpPr txBox="1"/>
          <p:nvPr/>
        </p:nvSpPr>
        <p:spPr>
          <a:xfrm>
            <a:off x="594360" y="33101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1</a:t>
            </a:r>
          </a:p>
        </p:txBody>
      </p:sp>
      <p:sp>
        <p:nvSpPr>
          <p:cNvPr id="26" name="@3 Trace cell"/>
          <p:cNvSpPr txBox="1"/>
          <p:nvPr/>
        </p:nvSpPr>
        <p:spPr>
          <a:xfrm>
            <a:off x="1965960" y="331012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0</a:t>
            </a:r>
          </a:p>
        </p:txBody>
      </p:sp>
      <p:sp>
        <p:nvSpPr>
          <p:cNvPr id="27" name="@3 Trace cell"/>
          <p:cNvSpPr txBox="1"/>
          <p:nvPr/>
        </p:nvSpPr>
        <p:spPr>
          <a:xfrm>
            <a:off x="3337560" y="3310128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[0]</a:t>
            </a:r>
          </a:p>
        </p:txBody>
      </p:sp>
      <p:sp>
        <p:nvSpPr>
          <p:cNvPr id="28" name="@3 Trace cell"/>
          <p:cNvSpPr txBox="1"/>
          <p:nvPr/>
        </p:nvSpPr>
        <p:spPr>
          <a:xfrm>
            <a:off x="5623560" y="3310128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 i="0">
                <a:solidFill>
                  <a:srgbClr val="002D6A"/>
                </a:solidFill>
                <a:latin typeface="Courier New"/>
              </a:rPr>
              <a:t>[0, 1, 1, 1, 0]</a:t>
            </a:r>
          </a:p>
        </p:txBody>
      </p:sp>
      <p:sp>
        <p:nvSpPr>
          <p:cNvPr id="29" name="@4 Cell off"/>
          <p:cNvSpPr/>
          <p:nvPr/>
        </p:nvSpPr>
        <p:spPr>
          <a:xfrm>
            <a:off x="457200" y="393192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@4 Cell on"/>
          <p:cNvSpPr/>
          <p:nvPr/>
        </p:nvSpPr>
        <p:spPr>
          <a:xfrm>
            <a:off x="914400" y="393192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@4 Cell on"/>
          <p:cNvSpPr/>
          <p:nvPr/>
        </p:nvSpPr>
        <p:spPr>
          <a:xfrm>
            <a:off x="1371600" y="393192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@4 Cell on"/>
          <p:cNvSpPr/>
          <p:nvPr/>
        </p:nvSpPr>
        <p:spPr>
          <a:xfrm>
            <a:off x="1828800" y="3931920"/>
            <a:ext cx="457200" cy="457200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@4 Cell off"/>
          <p:cNvSpPr/>
          <p:nvPr/>
        </p:nvSpPr>
        <p:spPr>
          <a:xfrm>
            <a:off x="2286000" y="393192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@4 Row label"/>
          <p:cNvSpPr txBox="1"/>
          <p:nvPr/>
        </p:nvSpPr>
        <p:spPr>
          <a:xfrm>
            <a:off x="3017520" y="3931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002D6A"/>
                </a:solidFill>
                <a:latin typeface="Arial"/>
              </a:rPr>
              <a:t>= row 3 of the heart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01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Through: the Whole Heart</a:t>
            </a:r>
            <a:endParaRPr lang="en-US" sz="30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5D6B80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lang="en-US" b="0"/>
              <a:t>40</a:t>
            </a:fld>
            <a:endParaRPr lang="en-US"/>
          </a:p>
        </p:txBody>
      </p:sp>
      <p:sp>
        <p:nvSpPr>
          <p:cNvPr id="4" name="Text"/>
          <p:cNvSpPr txBox="1"/>
          <p:nvPr/>
        </p:nvSpPr>
        <p:spPr>
          <a:xfrm>
            <a:off x="548640" y="10058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the picture</a:t>
            </a:r>
          </a:p>
        </p:txBody>
      </p:sp>
      <p:sp>
        <p:nvSpPr>
          <p:cNvPr id="5" name="Text"/>
          <p:cNvSpPr txBox="1"/>
          <p:nvPr/>
        </p:nvSpPr>
        <p:spPr>
          <a:xfrm>
            <a:off x="3931920" y="1005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clue</a:t>
            </a:r>
          </a:p>
        </p:txBody>
      </p:sp>
      <p:sp>
        <p:nvSpPr>
          <p:cNvPr id="6" name="Text"/>
          <p:cNvSpPr txBox="1"/>
          <p:nvPr/>
        </p:nvSpPr>
        <p:spPr>
          <a:xfrm>
            <a:off x="6217920" y="10058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D6B80"/>
                </a:solidFill>
                <a:latin typeface="Arial"/>
              </a:rPr>
              <a:t>row</a:t>
            </a:r>
          </a:p>
        </p:txBody>
      </p:sp>
      <p:sp>
        <p:nvSpPr>
          <p:cNvPr id="7" name="Cell off"/>
          <p:cNvSpPr/>
          <p:nvPr/>
        </p:nvSpPr>
        <p:spPr>
          <a:xfrm>
            <a:off x="548640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ell off"/>
          <p:cNvSpPr/>
          <p:nvPr/>
        </p:nvSpPr>
        <p:spPr>
          <a:xfrm>
            <a:off x="1115568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ell off"/>
          <p:cNvSpPr/>
          <p:nvPr/>
        </p:nvSpPr>
        <p:spPr>
          <a:xfrm>
            <a:off x="1682495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ell off"/>
          <p:cNvSpPr/>
          <p:nvPr/>
        </p:nvSpPr>
        <p:spPr>
          <a:xfrm>
            <a:off x="2249424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ell off"/>
          <p:cNvSpPr/>
          <p:nvPr/>
        </p:nvSpPr>
        <p:spPr>
          <a:xfrm>
            <a:off x="2816352" y="137160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ell off"/>
          <p:cNvSpPr/>
          <p:nvPr/>
        </p:nvSpPr>
        <p:spPr>
          <a:xfrm>
            <a:off x="548640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ell off"/>
          <p:cNvSpPr/>
          <p:nvPr/>
        </p:nvSpPr>
        <p:spPr>
          <a:xfrm>
            <a:off x="1115568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ell off"/>
          <p:cNvSpPr/>
          <p:nvPr/>
        </p:nvSpPr>
        <p:spPr>
          <a:xfrm>
            <a:off x="1682495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ell off"/>
          <p:cNvSpPr/>
          <p:nvPr/>
        </p:nvSpPr>
        <p:spPr>
          <a:xfrm>
            <a:off x="2249424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ell off"/>
          <p:cNvSpPr/>
          <p:nvPr/>
        </p:nvSpPr>
        <p:spPr>
          <a:xfrm>
            <a:off x="2816352" y="193852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ell off"/>
          <p:cNvSpPr/>
          <p:nvPr/>
        </p:nvSpPr>
        <p:spPr>
          <a:xfrm>
            <a:off x="548640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ell off"/>
          <p:cNvSpPr/>
          <p:nvPr/>
        </p:nvSpPr>
        <p:spPr>
          <a:xfrm>
            <a:off x="1115568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ell off"/>
          <p:cNvSpPr/>
          <p:nvPr/>
        </p:nvSpPr>
        <p:spPr>
          <a:xfrm>
            <a:off x="1682495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ell off"/>
          <p:cNvSpPr/>
          <p:nvPr/>
        </p:nvSpPr>
        <p:spPr>
          <a:xfrm>
            <a:off x="2249424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ell off"/>
          <p:cNvSpPr/>
          <p:nvPr/>
        </p:nvSpPr>
        <p:spPr>
          <a:xfrm>
            <a:off x="2816352" y="250545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ell off"/>
          <p:cNvSpPr/>
          <p:nvPr/>
        </p:nvSpPr>
        <p:spPr>
          <a:xfrm>
            <a:off x="548640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ell off"/>
          <p:cNvSpPr/>
          <p:nvPr/>
        </p:nvSpPr>
        <p:spPr>
          <a:xfrm>
            <a:off x="1115568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ell off"/>
          <p:cNvSpPr/>
          <p:nvPr/>
        </p:nvSpPr>
        <p:spPr>
          <a:xfrm>
            <a:off x="1682495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ell off"/>
          <p:cNvSpPr/>
          <p:nvPr/>
        </p:nvSpPr>
        <p:spPr>
          <a:xfrm>
            <a:off x="2249424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ell off"/>
          <p:cNvSpPr/>
          <p:nvPr/>
        </p:nvSpPr>
        <p:spPr>
          <a:xfrm>
            <a:off x="2816352" y="307238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@1 Cell on"/>
          <p:cNvSpPr/>
          <p:nvPr/>
        </p:nvSpPr>
        <p:spPr>
          <a:xfrm>
            <a:off x="1115568" y="1371600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@1 Cell on"/>
          <p:cNvSpPr/>
          <p:nvPr/>
        </p:nvSpPr>
        <p:spPr>
          <a:xfrm>
            <a:off x="2249424" y="1371600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@2 Cell on"/>
          <p:cNvSpPr/>
          <p:nvPr/>
        </p:nvSpPr>
        <p:spPr>
          <a:xfrm>
            <a:off x="548640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@2 Cell on"/>
          <p:cNvSpPr/>
          <p:nvPr/>
        </p:nvSpPr>
        <p:spPr>
          <a:xfrm>
            <a:off x="1115568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@2 Cell on"/>
          <p:cNvSpPr/>
          <p:nvPr/>
        </p:nvSpPr>
        <p:spPr>
          <a:xfrm>
            <a:off x="1682495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@2 Cell on"/>
          <p:cNvSpPr/>
          <p:nvPr/>
        </p:nvSpPr>
        <p:spPr>
          <a:xfrm>
            <a:off x="2249424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@2 Cell on"/>
          <p:cNvSpPr/>
          <p:nvPr/>
        </p:nvSpPr>
        <p:spPr>
          <a:xfrm>
            <a:off x="2816352" y="1938528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@3 Cell on"/>
          <p:cNvSpPr/>
          <p:nvPr/>
        </p:nvSpPr>
        <p:spPr>
          <a:xfrm>
            <a:off x="1115568" y="2505456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@3 Cell on"/>
          <p:cNvSpPr/>
          <p:nvPr/>
        </p:nvSpPr>
        <p:spPr>
          <a:xfrm>
            <a:off x="1682495" y="2505456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@3 Cell on"/>
          <p:cNvSpPr/>
          <p:nvPr/>
        </p:nvSpPr>
        <p:spPr>
          <a:xfrm>
            <a:off x="2249424" y="2505456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@4 Cell on"/>
          <p:cNvSpPr/>
          <p:nvPr/>
        </p:nvSpPr>
        <p:spPr>
          <a:xfrm>
            <a:off x="1682495" y="3072384"/>
            <a:ext cx="566928" cy="566928"/>
          </a:xfrm>
          <a:prstGeom prst="rect">
            <a:avLst/>
          </a:prstGeom>
          <a:solidFill>
            <a:srgbClr val="002D6A"/>
          </a:solidFill>
          <a:ln w="9525">
            <a:solidFill>
              <a:srgbClr val="C5D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lue"/>
          <p:cNvSpPr txBox="1"/>
          <p:nvPr/>
        </p:nvSpPr>
        <p:spPr>
          <a:xfrm>
            <a:off x="3931920" y="1371600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5D6B80"/>
                </a:solidFill>
                <a:latin typeface="Courier New"/>
              </a:rPr>
              <a:t>1, 1, 1, 1, 1</a:t>
            </a:r>
          </a:p>
        </p:txBody>
      </p:sp>
      <p:sp>
        <p:nvSpPr>
          <p:cNvPr id="39" name="@1 Row"/>
          <p:cNvSpPr txBox="1"/>
          <p:nvPr/>
        </p:nvSpPr>
        <p:spPr>
          <a:xfrm>
            <a:off x="6217920" y="1371600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2D6A"/>
                </a:solidFill>
                <a:latin typeface="Courier New"/>
              </a:rPr>
              <a:t>[0, 1, 0, 1, 0]</a:t>
            </a:r>
          </a:p>
        </p:txBody>
      </p:sp>
      <p:sp>
        <p:nvSpPr>
          <p:cNvPr id="40" name="Clue"/>
          <p:cNvSpPr txBox="1"/>
          <p:nvPr/>
        </p:nvSpPr>
        <p:spPr>
          <a:xfrm>
            <a:off x="3931920" y="1938528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5D6B80"/>
                </a:solidFill>
                <a:latin typeface="Courier New"/>
              </a:rPr>
              <a:t>0, 5</a:t>
            </a:r>
          </a:p>
        </p:txBody>
      </p:sp>
      <p:sp>
        <p:nvSpPr>
          <p:cNvPr id="41" name="@2 Row"/>
          <p:cNvSpPr txBox="1"/>
          <p:nvPr/>
        </p:nvSpPr>
        <p:spPr>
          <a:xfrm>
            <a:off x="6217920" y="1938528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2D6A"/>
                </a:solidFill>
                <a:latin typeface="Courier New"/>
              </a:rPr>
              <a:t>[1, 1, 1, 1, 1]</a:t>
            </a:r>
          </a:p>
        </p:txBody>
      </p:sp>
      <p:sp>
        <p:nvSpPr>
          <p:cNvPr id="42" name="Clue"/>
          <p:cNvSpPr txBox="1"/>
          <p:nvPr/>
        </p:nvSpPr>
        <p:spPr>
          <a:xfrm>
            <a:off x="3931920" y="2505456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5D6B80"/>
                </a:solidFill>
                <a:latin typeface="Courier New"/>
              </a:rPr>
              <a:t>1, 3, 1</a:t>
            </a:r>
          </a:p>
        </p:txBody>
      </p:sp>
      <p:sp>
        <p:nvSpPr>
          <p:cNvPr id="43" name="@3 Row"/>
          <p:cNvSpPr txBox="1"/>
          <p:nvPr/>
        </p:nvSpPr>
        <p:spPr>
          <a:xfrm>
            <a:off x="6217920" y="2505456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2D6A"/>
                </a:solidFill>
                <a:latin typeface="Courier New"/>
              </a:rPr>
              <a:t>[0, 1, 1, 1, 0]</a:t>
            </a:r>
          </a:p>
        </p:txBody>
      </p:sp>
      <p:sp>
        <p:nvSpPr>
          <p:cNvPr id="44" name="Clue"/>
          <p:cNvSpPr txBox="1"/>
          <p:nvPr/>
        </p:nvSpPr>
        <p:spPr>
          <a:xfrm>
            <a:off x="3931920" y="3072384"/>
            <a:ext cx="21945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5D6B80"/>
                </a:solidFill>
                <a:latin typeface="Courier New"/>
              </a:rPr>
              <a:t>2, 1, 2</a:t>
            </a:r>
          </a:p>
        </p:txBody>
      </p:sp>
      <p:sp>
        <p:nvSpPr>
          <p:cNvPr id="45" name="@4 Row"/>
          <p:cNvSpPr txBox="1"/>
          <p:nvPr/>
        </p:nvSpPr>
        <p:spPr>
          <a:xfrm>
            <a:off x="6217920" y="3072384"/>
            <a:ext cx="2560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002D6A"/>
                </a:solidFill>
                <a:latin typeface="Courier New"/>
              </a:rPr>
              <a:t>[0, 0, 1, 0, 0]</a:t>
            </a:r>
          </a:p>
        </p:txBody>
      </p:sp>
      <p:sp>
        <p:nvSpPr>
          <p:cNvPr id="46" name="@5 Callout"/>
          <p:cNvSpPr/>
          <p:nvPr/>
        </p:nvSpPr>
        <p:spPr>
          <a:xfrm>
            <a:off x="457200" y="3931920"/>
            <a:ext cx="822960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D79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@5 Callout text"/>
          <p:cNvSpPr txBox="1"/>
          <p:nvPr/>
        </p:nvSpPr>
        <p:spPr>
          <a:xfrm>
            <a:off x="685800" y="3931920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5D79A0"/>
                </a:solidFill>
                <a:latin typeface="Arial"/>
              </a:rPr>
              <a:t>NOTE  </a:t>
            </a:r>
            <a:r>
              <a:rPr sz="1600" b="0" i="0">
                <a:solidFill>
                  <a:srgbClr val="22262E"/>
                </a:solidFill>
                <a:latin typeface="Arial"/>
              </a:rPr>
              <a:t>Outer loop: one row at a time. Inner loop: one number at a time.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2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2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2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39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41" grpId="0" animBg="1"/>
      <p:bldP spid="34" grpId="0" animBg="1"/>
      <p:bldP spid="35" grpId="0" animBg="1"/>
      <p:bldP spid="36" grpId="0" animBg="1"/>
      <p:bldP spid="43" grpId="0" animBg="1"/>
      <p:bldP spid="37" grpId="0" animBg="1"/>
      <p:bldP spid="45" grpId="0" animBg="1"/>
      <p:bldP spid="46" grpId="0" animBg="1"/>
      <p:bldP spid="4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5772</Words>
  <Application>Microsoft Macintosh PowerPoint</Application>
  <PresentationFormat>On-screen Show (16:9)</PresentationFormat>
  <Paragraphs>754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Courier New</vt:lpstr>
      <vt:lpstr>Office Theme</vt:lpstr>
      <vt:lpstr>What is this?</vt:lpstr>
      <vt:lpstr>Here's a Hint</vt:lpstr>
      <vt:lpstr>Turing's Work in Biology</vt:lpstr>
      <vt:lpstr>Turing Patterns in Nature</vt:lpstr>
      <vt:lpstr>Cryptography Challenge</vt:lpstr>
      <vt:lpstr>What Does "Encoding" Mean?</vt:lpstr>
      <vt:lpstr>You Already Do It</vt:lpstr>
      <vt:lpstr>Computers Encode Everything</vt:lpstr>
      <vt:lpstr>What About the Internet?</vt:lpstr>
      <vt:lpstr>Why Compress Data?</vt:lpstr>
      <vt:lpstr>What Is Run-Length Encoding?</vt:lpstr>
      <vt:lpstr>A Few Things Worth Knowing</vt:lpstr>
      <vt:lpstr>Compressing a Sentence</vt:lpstr>
      <vt:lpstr>...But Not Every Sentence Compresses</vt:lpstr>
      <vt:lpstr>Compressing a Picture</vt:lpstr>
      <vt:lpstr>Your Turn: Shade the Grids</vt:lpstr>
      <vt:lpstr>Decoding messages #1: the clues</vt:lpstr>
      <vt:lpstr>Decoding messages #1: decoded</vt:lpstr>
      <vt:lpstr>Decoding messages #1: decoded</vt:lpstr>
      <vt:lpstr>Decoding messages #2: the clues</vt:lpstr>
      <vt:lpstr>Decoding messages #2: decoded</vt:lpstr>
      <vt:lpstr>Decoding messages #3: the clues</vt:lpstr>
      <vt:lpstr>Decoding messages #3: decoded</vt:lpstr>
      <vt:lpstr>Decoding messages #4: the clues</vt:lpstr>
      <vt:lpstr>Decoding messages #4: decoded</vt:lpstr>
      <vt:lpstr>That took a while.</vt:lpstr>
      <vt:lpstr>How Long Did That Take?</vt:lpstr>
      <vt:lpstr>Let the Computer Do It</vt:lpstr>
      <vt:lpstr>A List Is Like a Filing Cabinet</vt:lpstr>
      <vt:lpstr>A List Can Hold Lists</vt:lpstr>
      <vt:lpstr>A Row Is a List</vt:lpstr>
      <vt:lpstr>A Picture Is a List of Rows</vt:lpstr>
      <vt:lpstr>Same Thing, Two Ways</vt:lpstr>
      <vt:lpstr>A Function We Give You</vt:lpstr>
      <vt:lpstr>Try It on a Heart</vt:lpstr>
      <vt:lpstr>The Heart</vt:lpstr>
      <vt:lpstr>One Line We Need</vt:lpstr>
      <vt:lpstr>Decode One Row</vt:lpstr>
      <vt:lpstr>What the Computer Does</vt:lpstr>
      <vt:lpstr>Follow [2, 7, 3]</vt:lpstr>
      <vt:lpstr>Run the Starter Code</vt:lpstr>
      <vt:lpstr>Stuck? Use the Booklet</vt:lpstr>
      <vt:lpstr>New Trick: .append</vt:lpstr>
      <vt:lpstr>A Loop Inside a Loop</vt:lpstr>
      <vt:lpstr>Your decode_row</vt:lpstr>
      <vt:lpstr>Test It</vt:lpstr>
      <vt:lpstr>Write decode_row</vt:lpstr>
      <vt:lpstr>Now a Whole Picture</vt:lpstr>
      <vt:lpstr>Your decode_picture</vt:lpstr>
      <vt:lpstr>The Big Moment</vt:lpstr>
      <vt:lpstr>Decode a Picture</vt:lpstr>
      <vt:lpstr>The Finished Product</vt:lpstr>
      <vt:lpstr>Decoding messages #5: the clues (1 of 4)</vt:lpstr>
      <vt:lpstr>Decoding messages #5: the clues (2 of 4)</vt:lpstr>
      <vt:lpstr>Decoding messages #5: the clues (3 of 4)</vt:lpstr>
      <vt:lpstr>Decoding messages #5: the clues (4 of 4)</vt:lpstr>
      <vt:lpstr>Decoding messages #5: decoded</vt:lpstr>
      <vt:lpstr>Decoding messages #6: the clues (1 of 3)</vt:lpstr>
      <vt:lpstr>Decoding messages #6: the clues (2 of 3)</vt:lpstr>
      <vt:lpstr>Decoding messages #6: the clues (3 of 3)</vt:lpstr>
      <vt:lpstr>Decoding messages #6: decoded</vt:lpstr>
      <vt:lpstr>The Big One: the clues (1 of 4)</vt:lpstr>
      <vt:lpstr>The Big One: the clues (2 of 4)</vt:lpstr>
      <vt:lpstr>The Big One: the clues (3 of 4)</vt:lpstr>
      <vt:lpstr>The Big One: the clues (4 of 4)</vt:lpstr>
      <vt:lpstr>The Big One: decoded</vt:lpstr>
      <vt:lpstr>Time It</vt:lpstr>
      <vt:lpstr>Finished Early?</vt:lpstr>
      <vt:lpstr>What You Learned Today</vt:lpstr>
      <vt:lpstr>You Can Read Code Now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Cryptography Challenge</dc:title>
  <dc:subject>PptxGenJS Presentation</dc:subject>
  <dc:creator>Dr. Hughes</dc:creator>
  <cp:lastModifiedBy>AXH</cp:lastModifiedBy>
  <cp:revision>3</cp:revision>
  <dcterms:created xsi:type="dcterms:W3CDTF">2026-10-26T20:10:55Z</dcterms:created>
  <dcterms:modified xsi:type="dcterms:W3CDTF">2026-10-26T20:20:00Z</dcterms:modified>
</cp:coreProperties>
</file>