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er" id="{b1282fa0-a64c-866f-1965-0f3e039fee54}">
          <p14:sldIdLst>
            <p14:sldId id="256"/>
          </p14:sldIdLst>
        </p14:section>
        <p14:section name="Talk" id="{91421134-a5e2-05eb-8d20-29d56898a889}">
          <p14:sldIdLst>
            <p14:sldId id="257"/>
          </p14:sldIdLst>
        </p14:section>
        <p14:section name="Default-1" id="{01bf745e-8f68-207b-c676-bcdcce63927d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Code" id="{aa27bb12-c278-6167-dd9b-51c11bd5cd08}">
          <p14:sldIdLst>
            <p14:sldId id="290"/>
          </p14:sldIdLst>
        </p14:section>
        <p14:section name="Default-2" id="{2d7ac02a-8051-1eb1-490b-f4d863fba9da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Recap" id="{e3ae29a5-d7e0-f526-f2ba-d90c4a338e91}">
          <p14:sldIdLst>
            <p14:sldId id="318"/>
          </p14:sldIdLst>
        </p14:section>
        <p14:section name="Default-3" id="{8073f353-e8c3-75ed-d758-73480e320f5f}">
          <p14:sldIdLst>
            <p14:sldId id="31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1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EE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Cryptography Challenge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NSW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Cryptography Challenge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5-A-DAY: Knowledge Recall</a:t>
            </a:r>
            <a:endParaRPr lang="en-US" sz="3000" dirty="0"/>
          </a:p>
        </p:txBody>
      </p:sp>
      <p:sp>
        <p:nvSpPr>
          <p:cNvPr id="3" name="STARTER pill"/>
          <p:cNvSpPr/>
          <p:nvPr/>
        </p:nvSpPr>
        <p:spPr>
          <a:xfrm>
            <a:off x="7132320" y="4114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0" y="411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9601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57200" y="1325880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EEF2F7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8" name="Number 1"/>
          <p:cNvSpPr/>
          <p:nvPr/>
        </p:nvSpPr>
        <p:spPr>
          <a:xfrm>
            <a:off x="548640" y="1444752"/>
            <a:ext cx="365760" cy="365760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44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32588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binary?</a:t>
            </a:r>
            <a:endParaRPr lang="en-US" sz="1400" dirty="0"/>
          </a:p>
        </p:txBody>
      </p:sp>
      <p:sp>
        <p:nvSpPr>
          <p:cNvPr id="11" name="@1 Answer card"/>
          <p:cNvSpPr/>
          <p:nvPr/>
        </p:nvSpPr>
        <p:spPr>
          <a:xfrm>
            <a:off x="4846320" y="1325880"/>
            <a:ext cx="384048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12" name="@1 addText"/>
          <p:cNvSpPr txBox="1"/>
          <p:nvPr/>
        </p:nvSpPr>
        <p:spPr>
          <a:xfrm>
            <a:off x="4983480" y="1325880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number system that only uses 0 and 1 (base 2)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457200" y="2002536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EEF2F7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4" name="Number 2"/>
          <p:cNvSpPr/>
          <p:nvPr/>
        </p:nvSpPr>
        <p:spPr>
          <a:xfrm>
            <a:off x="548640" y="2121408"/>
            <a:ext cx="365760" cy="365760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200253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binary 0101 to denary.</a:t>
            </a:r>
            <a:endParaRPr lang="en-US" sz="1400" dirty="0"/>
          </a:p>
        </p:txBody>
      </p:sp>
      <p:sp>
        <p:nvSpPr>
          <p:cNvPr id="17" name="@2 Answer card"/>
          <p:cNvSpPr/>
          <p:nvPr/>
        </p:nvSpPr>
        <p:spPr>
          <a:xfrm>
            <a:off x="4846320" y="2002536"/>
            <a:ext cx="384048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18" name="@2 addText"/>
          <p:cNvSpPr txBox="1"/>
          <p:nvPr/>
        </p:nvSpPr>
        <p:spPr>
          <a:xfrm>
            <a:off x="4983480" y="2002536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457200" y="2679192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EEF2F7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20" name="Number 3"/>
          <p:cNvSpPr/>
          <p:nvPr/>
        </p:nvSpPr>
        <p:spPr>
          <a:xfrm>
            <a:off x="548640" y="2798064"/>
            <a:ext cx="365760" cy="365760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798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267919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ASCII do?</a:t>
            </a:r>
            <a:endParaRPr lang="en-US" sz="1400" dirty="0"/>
          </a:p>
        </p:txBody>
      </p:sp>
      <p:sp>
        <p:nvSpPr>
          <p:cNvPr id="23" name="@3 Answer card"/>
          <p:cNvSpPr/>
          <p:nvPr/>
        </p:nvSpPr>
        <p:spPr>
          <a:xfrm>
            <a:off x="4846320" y="2679192"/>
            <a:ext cx="384048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24" name="@3 addText"/>
          <p:cNvSpPr txBox="1"/>
          <p:nvPr/>
        </p:nvSpPr>
        <p:spPr>
          <a:xfrm>
            <a:off x="4983480" y="2679192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Gives each character a number code (A = 65)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457200" y="335584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EEF2F7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26" name="Number 4"/>
          <p:cNvSpPr/>
          <p:nvPr/>
        </p:nvSpPr>
        <p:spPr>
          <a:xfrm>
            <a:off x="548640" y="3474720"/>
            <a:ext cx="365760" cy="365760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005840" y="335584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encryption?</a:t>
            </a:r>
            <a:endParaRPr lang="en-US" sz="1400" dirty="0"/>
          </a:p>
        </p:txBody>
      </p:sp>
      <p:sp>
        <p:nvSpPr>
          <p:cNvPr id="29" name="@4 Answer card"/>
          <p:cNvSpPr/>
          <p:nvPr/>
        </p:nvSpPr>
        <p:spPr>
          <a:xfrm>
            <a:off x="4846320" y="3355848"/>
            <a:ext cx="384048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30" name="@4 addText"/>
          <p:cNvSpPr txBox="1"/>
          <p:nvPr/>
        </p:nvSpPr>
        <p:spPr>
          <a:xfrm>
            <a:off x="4983480" y="3355848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Scrambling data with a key so only the right people can read it</a:t>
            </a:r>
            <a:endParaRPr lang="en-US" sz="1300" dirty="0"/>
          </a:p>
        </p:txBody>
      </p:sp>
      <p:sp>
        <p:nvSpPr>
          <p:cNvPr id="31" name="Card"/>
          <p:cNvSpPr/>
          <p:nvPr/>
        </p:nvSpPr>
        <p:spPr>
          <a:xfrm>
            <a:off x="457200" y="4032504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EEF2F7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32" name="Number 5"/>
          <p:cNvSpPr/>
          <p:nvPr/>
        </p:nvSpPr>
        <p:spPr>
          <a:xfrm>
            <a:off x="548640" y="4151376"/>
            <a:ext cx="365760" cy="365760"/>
          </a:xfrm>
          <a:prstGeom prst="ellipse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4151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1005840" y="403250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Python keyword sends a value back out of a function?</a:t>
            </a:r>
            <a:endParaRPr lang="en-US" sz="1400" dirty="0"/>
          </a:p>
        </p:txBody>
      </p:sp>
      <p:sp>
        <p:nvSpPr>
          <p:cNvPr id="35" name="@5 Answer card"/>
          <p:cNvSpPr/>
          <p:nvPr/>
        </p:nvSpPr>
        <p:spPr>
          <a:xfrm>
            <a:off x="4846320" y="4032504"/>
            <a:ext cx="384048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36" name="@5 addText"/>
          <p:cNvSpPr txBox="1"/>
          <p:nvPr/>
        </p:nvSpPr>
        <p:spPr>
          <a:xfrm>
            <a:off x="4983480" y="4032504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</a:t>
            </a:r>
            <a:endParaRPr lang="en-US" sz="13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7" grpId="0" animBg="1"/>
      <p:bldP spid="18" grpId="0" animBg="1"/>
      <p:bldP spid="23" grpId="0" animBg="1"/>
      <p:bldP spid="24" grpId="0" animBg="1"/>
      <p:bldP spid="29" grpId="0" animBg="1"/>
      <p:bldP spid="30" grpId="0" animBg="1"/>
      <p:bldP spid="35" grpId="0" animBg="1"/>
      <p:bldP spid="3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Cryptography Challenge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9C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cryptography.py _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we can break codes, let's see how data gets encoded in the first place.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Hughes</a:t>
            </a:r>
            <a:endParaRPr lang="en-US" sz="1400" dirty="0"/>
          </a:p>
        </p:txBody>
      </p:sp>
      <p:sp>
        <p:nvSpPr>
          <p:cNvPr id="6" name="Timer pill"/>
          <p:cNvSpPr/>
          <p:nvPr/>
        </p:nvSpPr>
        <p:spPr>
          <a:xfrm>
            <a:off x="548640" y="411480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pic>
        <p:nvPicPr>
          <p:cNvPr id="7" name="Image 0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270248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70432" y="41148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"Encoding" Mean?</a:t>
            </a:r>
            <a:endParaRPr lang="en-US" sz="3000" dirty="0"/>
          </a:p>
        </p:txBody>
      </p:sp>
      <p:sp>
        <p:nvSpPr>
          <p:cNvPr id="3" name="Bar"/>
          <p:cNvSpPr/>
          <p:nvPr/>
        </p:nvSpPr>
        <p:spPr>
          <a:xfrm>
            <a:off x="457200" y="1005840"/>
            <a:ext cx="64008" cy="548640"/>
          </a:xfrm>
          <a:prstGeom prst="rect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005840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 = writing the same information in a different way.</a:t>
            </a:r>
            <a:endParaRPr lang="en-US" sz="2000" dirty="0"/>
          </a:p>
        </p:txBody>
      </p:sp>
      <p:sp>
        <p:nvSpPr>
          <p:cNvPr id="5" name="Card"/>
          <p:cNvSpPr/>
          <p:nvPr/>
        </p:nvSpPr>
        <p:spPr>
          <a:xfrm>
            <a:off x="457200" y="178308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783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plain text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17830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</a:t>
            </a:r>
            <a:endParaRPr lang="en-US" sz="2200" dirty="0"/>
          </a:p>
        </p:txBody>
      </p:sp>
      <p:sp>
        <p:nvSpPr>
          <p:cNvPr id="8" name="@1 Card"/>
          <p:cNvSpPr/>
          <p:nvPr/>
        </p:nvSpPr>
        <p:spPr>
          <a:xfrm>
            <a:off x="457200" y="242316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9" name="@1 addText"/>
          <p:cNvSpPr txBox="1"/>
          <p:nvPr/>
        </p:nvSpPr>
        <p:spPr>
          <a:xfrm>
            <a:off x="685800" y="24231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Morse code</a:t>
            </a:r>
            <a:endParaRPr lang="en-US" sz="1400" dirty="0"/>
          </a:p>
        </p:txBody>
      </p:sp>
      <p:sp>
        <p:nvSpPr>
          <p:cNvPr id="10" name="@1 addText"/>
          <p:cNvSpPr txBox="1"/>
          <p:nvPr/>
        </p:nvSpPr>
        <p:spPr>
          <a:xfrm>
            <a:off x="3383280" y="24231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....  .  .-..  .--.</a:t>
            </a:r>
            <a:endParaRPr lang="en-US" sz="1600" dirty="0"/>
          </a:p>
        </p:txBody>
      </p:sp>
      <p:sp>
        <p:nvSpPr>
          <p:cNvPr id="11" name="@2 Card"/>
          <p:cNvSpPr/>
          <p:nvPr/>
        </p:nvSpPr>
        <p:spPr>
          <a:xfrm>
            <a:off x="457200" y="306324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2" name="@2 addText"/>
          <p:cNvSpPr txBox="1"/>
          <p:nvPr/>
        </p:nvSpPr>
        <p:spPr>
          <a:xfrm>
            <a:off x="685800" y="30632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A=1, B=2, C=3 ...</a:t>
            </a:r>
            <a:endParaRPr lang="en-US" sz="1400" dirty="0"/>
          </a:p>
        </p:txBody>
      </p:sp>
      <p:sp>
        <p:nvSpPr>
          <p:cNvPr id="13" name="@2 addText"/>
          <p:cNvSpPr txBox="1"/>
          <p:nvPr/>
        </p:nvSpPr>
        <p:spPr>
          <a:xfrm>
            <a:off x="3383280" y="30632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8  5  12  16</a:t>
            </a:r>
            <a:endParaRPr lang="en-US" sz="1600" dirty="0"/>
          </a:p>
        </p:txBody>
      </p:sp>
      <p:sp>
        <p:nvSpPr>
          <p:cNvPr id="14" name="@3 Card"/>
          <p:cNvSpPr/>
          <p:nvPr/>
        </p:nvSpPr>
        <p:spPr>
          <a:xfrm>
            <a:off x="457200" y="370332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5" name="@3 addText"/>
          <p:cNvSpPr txBox="1"/>
          <p:nvPr/>
        </p:nvSpPr>
        <p:spPr>
          <a:xfrm>
            <a:off x="685800" y="37033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binary</a:t>
            </a:r>
            <a:endParaRPr lang="en-US" sz="1400" dirty="0"/>
          </a:p>
        </p:txBody>
      </p:sp>
      <p:sp>
        <p:nvSpPr>
          <p:cNvPr id="16" name="@3 addText"/>
          <p:cNvSpPr txBox="1"/>
          <p:nvPr/>
        </p:nvSpPr>
        <p:spPr>
          <a:xfrm>
            <a:off x="3383280" y="37033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01001000 01000101 01001100 01010000</a:t>
            </a:r>
            <a:endParaRPr lang="en-US" sz="1600" dirty="0"/>
          </a:p>
        </p:txBody>
      </p:sp>
      <p:sp>
        <p:nvSpPr>
          <p:cNvPr id="17" name="@3 addText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message, four codes. Nothing was lost.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Already Do It</a:t>
            </a:r>
            <a:endParaRPr lang="en-US" sz="3000" dirty="0"/>
          </a:p>
        </p:txBody>
      </p:sp>
      <p:sp>
        <p:nvSpPr>
          <p:cNvPr id="3" name="@1 Card"/>
          <p:cNvSpPr/>
          <p:nvPr/>
        </p:nvSpPr>
        <p:spPr>
          <a:xfrm>
            <a:off x="457200" y="118872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4" name="@1 addText"/>
          <p:cNvSpPr txBox="1"/>
          <p:nvPr/>
        </p:nvSpPr>
        <p:spPr>
          <a:xfrm>
            <a:off x="73152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laughing out loud</a:t>
            </a:r>
            <a:endParaRPr lang="en-US" sz="1800" dirty="0"/>
          </a:p>
        </p:txBody>
      </p:sp>
      <p:sp>
        <p:nvSpPr>
          <p:cNvPr id="5" name="@1 addText"/>
          <p:cNvSpPr txBox="1"/>
          <p:nvPr/>
        </p:nvSpPr>
        <p:spPr>
          <a:xfrm>
            <a:off x="3657600" y="11887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2000" dirty="0"/>
          </a:p>
        </p:txBody>
      </p:sp>
      <p:sp>
        <p:nvSpPr>
          <p:cNvPr id="6" name="@1 addText"/>
          <p:cNvSpPr txBox="1"/>
          <p:nvPr/>
        </p:nvSpPr>
        <p:spPr>
          <a:xfrm>
            <a:off x="4297680" y="11887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lol</a:t>
            </a:r>
            <a:endParaRPr lang="en-US" sz="2000" dirty="0"/>
          </a:p>
        </p:txBody>
      </p:sp>
      <p:sp>
        <p:nvSpPr>
          <p:cNvPr id="7" name="@1 addText"/>
          <p:cNvSpPr txBox="1"/>
          <p:nvPr/>
        </p:nvSpPr>
        <p:spPr>
          <a:xfrm>
            <a:off x="6126480" y="11887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to 3 characters</a:t>
            </a:r>
            <a:endParaRPr lang="en-US" sz="1400" dirty="0"/>
          </a:p>
        </p:txBody>
      </p:sp>
      <p:sp>
        <p:nvSpPr>
          <p:cNvPr id="8" name="@2 Card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9" name="@2 addText"/>
          <p:cNvSpPr txBox="1"/>
          <p:nvPr/>
        </p:nvSpPr>
        <p:spPr>
          <a:xfrm>
            <a:off x="731520" y="19659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my way</a:t>
            </a:r>
            <a:endParaRPr lang="en-US" sz="1800" dirty="0"/>
          </a:p>
        </p:txBody>
      </p:sp>
      <p:sp>
        <p:nvSpPr>
          <p:cNvPr id="10" name="@2 addText"/>
          <p:cNvSpPr txBox="1"/>
          <p:nvPr/>
        </p:nvSpPr>
        <p:spPr>
          <a:xfrm>
            <a:off x="3657600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2000" dirty="0"/>
          </a:p>
        </p:txBody>
      </p:sp>
      <p:sp>
        <p:nvSpPr>
          <p:cNvPr id="11" name="@2 addText"/>
          <p:cNvSpPr txBox="1"/>
          <p:nvPr/>
        </p:nvSpPr>
        <p:spPr>
          <a:xfrm>
            <a:off x="4297680" y="19659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omw</a:t>
            </a:r>
            <a:endParaRPr lang="en-US" sz="2000" dirty="0"/>
          </a:p>
        </p:txBody>
      </p:sp>
      <p:sp>
        <p:nvSpPr>
          <p:cNvPr id="12" name="@2 addText"/>
          <p:cNvSpPr txBox="1"/>
          <p:nvPr/>
        </p:nvSpPr>
        <p:spPr>
          <a:xfrm>
            <a:off x="6126480" y="19659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to 3 characters</a:t>
            </a:r>
            <a:endParaRPr lang="en-US" sz="1400" dirty="0"/>
          </a:p>
        </p:txBody>
      </p:sp>
      <p:sp>
        <p:nvSpPr>
          <p:cNvPr id="13" name="@3 Card"/>
          <p:cNvSpPr/>
          <p:nvPr/>
        </p:nvSpPr>
        <p:spPr>
          <a:xfrm>
            <a:off x="457200" y="274320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4" name="@3 addText"/>
          <p:cNvSpPr txBox="1"/>
          <p:nvPr/>
        </p:nvSpPr>
        <p:spPr>
          <a:xfrm>
            <a:off x="731520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agree with that</a:t>
            </a:r>
            <a:endParaRPr lang="en-US" sz="1800" dirty="0"/>
          </a:p>
        </p:txBody>
      </p:sp>
      <p:sp>
        <p:nvSpPr>
          <p:cNvPr id="15" name="@3 addText"/>
          <p:cNvSpPr txBox="1"/>
          <p:nvPr/>
        </p:nvSpPr>
        <p:spPr>
          <a:xfrm>
            <a:off x="365760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2000" dirty="0"/>
          </a:p>
        </p:txBody>
      </p:sp>
      <p:sp>
        <p:nvSpPr>
          <p:cNvPr id="16" name="@3 addText"/>
          <p:cNvSpPr txBox="1"/>
          <p:nvPr/>
        </p:nvSpPr>
        <p:spPr>
          <a:xfrm>
            <a:off x="4297680" y="2743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thumbs up</a:t>
            </a:r>
            <a:endParaRPr lang="en-US" sz="2000" dirty="0"/>
          </a:p>
        </p:txBody>
      </p:sp>
      <p:sp>
        <p:nvSpPr>
          <p:cNvPr id="17" name="@3 addText"/>
          <p:cNvSpPr txBox="1"/>
          <p:nvPr/>
        </p:nvSpPr>
        <p:spPr>
          <a:xfrm>
            <a:off x="6126480" y="27432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characters to 1 symbol</a:t>
            </a:r>
            <a:endParaRPr lang="en-US" sz="1400" dirty="0"/>
          </a:p>
        </p:txBody>
      </p:sp>
      <p:sp>
        <p:nvSpPr>
          <p:cNvPr id="18" name="@4 Callout"/>
          <p:cNvSpPr/>
          <p:nvPr/>
        </p:nvSpPr>
        <p:spPr>
          <a:xfrm>
            <a:off x="457200" y="365760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5D79A0"/>
            </a:solidFill>
            <a:prstDash val="solid"/>
          </a:ln>
        </p:spPr>
      </p:sp>
      <p:sp>
        <p:nvSpPr>
          <p:cNvPr id="19" name="@4 addText"/>
          <p:cNvSpPr txBox="1"/>
          <p:nvPr/>
        </p:nvSpPr>
        <p:spPr>
          <a:xfrm>
            <a:off x="685800" y="36576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Compression is encoding with a goal: say the same thing with as few symbols as possible.</a:t>
            </a:r>
            <a:endParaRPr lang="en-US" sz="1200" dirty="0"/>
          </a:p>
        </p:txBody>
      </p:sp>
      <p:sp>
        <p:nvSpPr>
          <p:cNvPr id="2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Computers Encode Everything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Text, pictures, sound, video: a computer stores all of it as numbers.</a:t>
            </a:r>
            <a:endParaRPr lang="en-US" sz="1800" dirty="0"/>
          </a:p>
        </p:txBody>
      </p:sp>
      <p:sp>
        <p:nvSpPr>
          <p:cNvPr id="4" name="@1 Card"/>
          <p:cNvSpPr/>
          <p:nvPr/>
        </p:nvSpPr>
        <p:spPr>
          <a:xfrm>
            <a:off x="457200" y="173736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5" name="@1 addText"/>
          <p:cNvSpPr txBox="1"/>
          <p:nvPr/>
        </p:nvSpPr>
        <p:spPr>
          <a:xfrm>
            <a:off x="45720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400" dirty="0"/>
          </a:p>
        </p:txBody>
      </p:sp>
      <p:sp>
        <p:nvSpPr>
          <p:cNvPr id="6" name="@1 addText"/>
          <p:cNvSpPr txBox="1"/>
          <p:nvPr/>
        </p:nvSpPr>
        <p:spPr>
          <a:xfrm>
            <a:off x="457200" y="23774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457200" y="2743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65</a:t>
            </a:r>
            <a:endParaRPr lang="en-US" sz="2400" dirty="0"/>
          </a:p>
        </p:txBody>
      </p:sp>
      <p:sp>
        <p:nvSpPr>
          <p:cNvPr id="8" name="@1 addText"/>
          <p:cNvSpPr txBox="1"/>
          <p:nvPr/>
        </p:nvSpPr>
        <p:spPr>
          <a:xfrm>
            <a:off x="640080" y="3337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letter</a:t>
            </a:r>
            <a:endParaRPr lang="en-US" sz="1400" dirty="0"/>
          </a:p>
        </p:txBody>
      </p:sp>
      <p:sp>
        <p:nvSpPr>
          <p:cNvPr id="9" name="@2 Card"/>
          <p:cNvSpPr/>
          <p:nvPr/>
        </p:nvSpPr>
        <p:spPr>
          <a:xfrm>
            <a:off x="3291840" y="173736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0" name="@2 addText"/>
          <p:cNvSpPr txBox="1"/>
          <p:nvPr/>
        </p:nvSpPr>
        <p:spPr>
          <a:xfrm>
            <a:off x="32918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</a:t>
            </a:r>
            <a:endParaRPr lang="en-US" sz="2400" dirty="0"/>
          </a:p>
        </p:txBody>
      </p:sp>
      <p:sp>
        <p:nvSpPr>
          <p:cNvPr id="11" name="@2 addText"/>
          <p:cNvSpPr txBox="1"/>
          <p:nvPr/>
        </p:nvSpPr>
        <p:spPr>
          <a:xfrm>
            <a:off x="3291840" y="23774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3291840" y="2743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255, 0, 0</a:t>
            </a:r>
            <a:endParaRPr lang="en-US" sz="2400" dirty="0"/>
          </a:p>
        </p:txBody>
      </p:sp>
      <p:sp>
        <p:nvSpPr>
          <p:cNvPr id="13" name="@2 addText"/>
          <p:cNvSpPr txBox="1"/>
          <p:nvPr/>
        </p:nvSpPr>
        <p:spPr>
          <a:xfrm>
            <a:off x="3474720" y="3337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 pixel (red, green, blue)</a:t>
            </a:r>
            <a:endParaRPr lang="en-US" sz="1400" dirty="0"/>
          </a:p>
        </p:txBody>
      </p:sp>
      <p:sp>
        <p:nvSpPr>
          <p:cNvPr id="14" name="@3 Card"/>
          <p:cNvSpPr/>
          <p:nvPr/>
        </p:nvSpPr>
        <p:spPr>
          <a:xfrm>
            <a:off x="6126480" y="173736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5" name="@3 addText"/>
          <p:cNvSpPr txBox="1"/>
          <p:nvPr/>
        </p:nvSpPr>
        <p:spPr>
          <a:xfrm>
            <a:off x="612648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note</a:t>
            </a:r>
            <a:endParaRPr lang="en-US" sz="2400" dirty="0"/>
          </a:p>
        </p:txBody>
      </p:sp>
      <p:sp>
        <p:nvSpPr>
          <p:cNvPr id="16" name="@3 addText"/>
          <p:cNvSpPr txBox="1"/>
          <p:nvPr/>
        </p:nvSpPr>
        <p:spPr>
          <a:xfrm>
            <a:off x="6126480" y="23774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600" dirty="0"/>
          </a:p>
        </p:txBody>
      </p:sp>
      <p:sp>
        <p:nvSpPr>
          <p:cNvPr id="17" name="@3 addText"/>
          <p:cNvSpPr txBox="1"/>
          <p:nvPr/>
        </p:nvSpPr>
        <p:spPr>
          <a:xfrm>
            <a:off x="6126480" y="2743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440</a:t>
            </a:r>
            <a:endParaRPr lang="en-US" sz="2400" dirty="0"/>
          </a:p>
        </p:txBody>
      </p:sp>
      <p:sp>
        <p:nvSpPr>
          <p:cNvPr id="18" name="@3 addText"/>
          <p:cNvSpPr txBox="1"/>
          <p:nvPr/>
        </p:nvSpPr>
        <p:spPr>
          <a:xfrm>
            <a:off x="6309360" y="3337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wobbles per second</a:t>
            </a:r>
            <a:endParaRPr lang="en-US" sz="1400" dirty="0"/>
          </a:p>
        </p:txBody>
      </p:sp>
      <p:sp>
        <p:nvSpPr>
          <p:cNvPr id="19" name="@3 addText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different jobs use different codes.</a:t>
            </a:r>
            <a:endParaRPr lang="en-US" sz="1400" dirty="0"/>
          </a:p>
        </p:txBody>
      </p:sp>
      <p:sp>
        <p:nvSpPr>
          <p:cNvPr id="2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About the Internet?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travels in packets: small chunks with a number on them.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1645920" y="1645920"/>
            <a:ext cx="2926080" cy="548640"/>
          </a:xfrm>
          <a:prstGeom prst="roundRect">
            <a:avLst>
              <a:gd name="adj" fmla="val 20000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45920" y="1645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 world!</a:t>
            </a:r>
            <a:endParaRPr lang="en-US" sz="1800" dirty="0"/>
          </a:p>
        </p:txBody>
      </p:sp>
      <p:sp>
        <p:nvSpPr>
          <p:cNvPr id="7" name="@1 addText"/>
          <p:cNvSpPr txBox="1"/>
          <p:nvPr/>
        </p:nvSpPr>
        <p:spPr>
          <a:xfrm>
            <a:off x="457200" y="23774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</a:t>
            </a:r>
            <a:endParaRPr lang="en-US" sz="1400" dirty="0"/>
          </a:p>
        </p:txBody>
      </p:sp>
      <p:sp>
        <p:nvSpPr>
          <p:cNvPr id="8" name="@1 Card"/>
          <p:cNvSpPr/>
          <p:nvPr/>
        </p:nvSpPr>
        <p:spPr>
          <a:xfrm>
            <a:off x="1645920" y="2377440"/>
            <a:ext cx="14630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9" name="@1 addText"/>
          <p:cNvSpPr txBox="1"/>
          <p:nvPr/>
        </p:nvSpPr>
        <p:spPr>
          <a:xfrm>
            <a:off x="16459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Hel</a:t>
            </a:r>
            <a:endParaRPr lang="en-US" sz="1800" dirty="0"/>
          </a:p>
        </p:txBody>
      </p:sp>
      <p:sp>
        <p:nvSpPr>
          <p:cNvPr id="10" name="@1 Card"/>
          <p:cNvSpPr/>
          <p:nvPr/>
        </p:nvSpPr>
        <p:spPr>
          <a:xfrm>
            <a:off x="3291840" y="2377440"/>
            <a:ext cx="14630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1" name="@1 addText"/>
          <p:cNvSpPr txBox="1"/>
          <p:nvPr/>
        </p:nvSpPr>
        <p:spPr>
          <a:xfrm>
            <a:off x="329184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lo_</a:t>
            </a:r>
            <a:endParaRPr lang="en-US" sz="1800" dirty="0"/>
          </a:p>
        </p:txBody>
      </p:sp>
      <p:sp>
        <p:nvSpPr>
          <p:cNvPr id="12" name="@1 Card"/>
          <p:cNvSpPr/>
          <p:nvPr/>
        </p:nvSpPr>
        <p:spPr>
          <a:xfrm>
            <a:off x="4937760" y="2377440"/>
            <a:ext cx="14630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3" name="@1 addText"/>
          <p:cNvSpPr txBox="1"/>
          <p:nvPr/>
        </p:nvSpPr>
        <p:spPr>
          <a:xfrm>
            <a:off x="493776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wor</a:t>
            </a:r>
            <a:endParaRPr lang="en-US" sz="1800" dirty="0"/>
          </a:p>
        </p:txBody>
      </p:sp>
      <p:sp>
        <p:nvSpPr>
          <p:cNvPr id="14" name="@1 Card"/>
          <p:cNvSpPr/>
          <p:nvPr/>
        </p:nvSpPr>
        <p:spPr>
          <a:xfrm>
            <a:off x="6583680" y="2377440"/>
            <a:ext cx="14630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5" name="@1 addText"/>
          <p:cNvSpPr txBox="1"/>
          <p:nvPr/>
        </p:nvSpPr>
        <p:spPr>
          <a:xfrm>
            <a:off x="658368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ld!</a:t>
            </a:r>
            <a:endParaRPr lang="en-US" sz="1800" dirty="0"/>
          </a:p>
        </p:txBody>
      </p:sp>
      <p:sp>
        <p:nvSpPr>
          <p:cNvPr id="16" name="@2 addText"/>
          <p:cNvSpPr txBox="1"/>
          <p:nvPr/>
        </p:nvSpPr>
        <p:spPr>
          <a:xfrm>
            <a:off x="457200" y="31089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arrive</a:t>
            </a:r>
            <a:endParaRPr lang="en-US" sz="1400" dirty="0"/>
          </a:p>
        </p:txBody>
      </p:sp>
      <p:sp>
        <p:nvSpPr>
          <p:cNvPr id="17" name="@2 Card"/>
          <p:cNvSpPr/>
          <p:nvPr/>
        </p:nvSpPr>
        <p:spPr>
          <a:xfrm>
            <a:off x="1645920" y="3108960"/>
            <a:ext cx="14630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8" name="@2 addText"/>
          <p:cNvSpPr txBox="1"/>
          <p:nvPr/>
        </p:nvSpPr>
        <p:spPr>
          <a:xfrm>
            <a:off x="1645920" y="31089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wor</a:t>
            </a:r>
            <a:endParaRPr lang="en-US" sz="1800" dirty="0"/>
          </a:p>
        </p:txBody>
      </p:sp>
      <p:sp>
        <p:nvSpPr>
          <p:cNvPr id="19" name="@2 Card"/>
          <p:cNvSpPr/>
          <p:nvPr/>
        </p:nvSpPr>
        <p:spPr>
          <a:xfrm>
            <a:off x="3291840" y="3108960"/>
            <a:ext cx="14630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20" name="@2 addText"/>
          <p:cNvSpPr txBox="1"/>
          <p:nvPr/>
        </p:nvSpPr>
        <p:spPr>
          <a:xfrm>
            <a:off x="3291840" y="31089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Hel</a:t>
            </a:r>
            <a:endParaRPr lang="en-US" sz="1800" dirty="0"/>
          </a:p>
        </p:txBody>
      </p:sp>
      <p:sp>
        <p:nvSpPr>
          <p:cNvPr id="21" name="@2 Card"/>
          <p:cNvSpPr/>
          <p:nvPr/>
        </p:nvSpPr>
        <p:spPr>
          <a:xfrm>
            <a:off x="4937760" y="3108960"/>
            <a:ext cx="14630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22" name="@2 addText"/>
          <p:cNvSpPr txBox="1"/>
          <p:nvPr/>
        </p:nvSpPr>
        <p:spPr>
          <a:xfrm>
            <a:off x="4937760" y="31089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ld!</a:t>
            </a:r>
            <a:endParaRPr lang="en-US" sz="1800" dirty="0"/>
          </a:p>
        </p:txBody>
      </p:sp>
      <p:sp>
        <p:nvSpPr>
          <p:cNvPr id="23" name="@2 Card"/>
          <p:cNvSpPr/>
          <p:nvPr/>
        </p:nvSpPr>
        <p:spPr>
          <a:xfrm>
            <a:off x="6583680" y="3108960"/>
            <a:ext cx="14630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24" name="@2 addText"/>
          <p:cNvSpPr txBox="1"/>
          <p:nvPr/>
        </p:nvSpPr>
        <p:spPr>
          <a:xfrm>
            <a:off x="6583680" y="31089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lo_</a:t>
            </a:r>
            <a:endParaRPr lang="en-US" sz="1800" dirty="0"/>
          </a:p>
        </p:txBody>
      </p:sp>
      <p:sp>
        <p:nvSpPr>
          <p:cNvPr id="25" name="@3 addText"/>
          <p:cNvSpPr txBox="1"/>
          <p:nvPr/>
        </p:nvSpPr>
        <p:spPr>
          <a:xfrm>
            <a:off x="457200" y="38404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rebuild</a:t>
            </a:r>
            <a:endParaRPr lang="en-US" sz="1400" dirty="0"/>
          </a:p>
        </p:txBody>
      </p:sp>
      <p:sp>
        <p:nvSpPr>
          <p:cNvPr id="26" name="@3 Card"/>
          <p:cNvSpPr/>
          <p:nvPr/>
        </p:nvSpPr>
        <p:spPr>
          <a:xfrm>
            <a:off x="1645920" y="3840480"/>
            <a:ext cx="2926080" cy="548640"/>
          </a:xfrm>
          <a:prstGeom prst="roundRect">
            <a:avLst>
              <a:gd name="adj" fmla="val 20000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</p:sp>
      <p:sp>
        <p:nvSpPr>
          <p:cNvPr id="27" name="@3 addText"/>
          <p:cNvSpPr txBox="1"/>
          <p:nvPr/>
        </p:nvSpPr>
        <p:spPr>
          <a:xfrm>
            <a:off x="1645920" y="3840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 world!</a:t>
            </a:r>
            <a:endParaRPr lang="en-US" sz="18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2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Compress Data?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data = less storage, faster sending.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Picture A: 46 x 38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1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 by pixel</a:t>
            </a:r>
            <a:endParaRPr lang="en-US" sz="1400" dirty="0"/>
          </a:p>
        </p:txBody>
      </p:sp>
      <p:sp>
        <p:nvSpPr>
          <p:cNvPr id="6" name="Bar raw"/>
          <p:cNvSpPr/>
          <p:nvPr/>
        </p:nvSpPr>
        <p:spPr>
          <a:xfrm>
            <a:off x="2194560" y="2011680"/>
            <a:ext cx="4486148" cy="36576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1,748 values</a:t>
            </a:r>
            <a:endParaRPr lang="en-US" sz="1400" dirty="0"/>
          </a:p>
        </p:txBody>
      </p:sp>
      <p:sp>
        <p:nvSpPr>
          <p:cNvPr id="8" name="@1 addText"/>
          <p:cNvSpPr txBox="1"/>
          <p:nvPr/>
        </p:nvSpPr>
        <p:spPr>
          <a:xfrm>
            <a:off x="457200" y="24231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run-length encoded</a:t>
            </a:r>
            <a:endParaRPr lang="en-US" sz="1400" dirty="0"/>
          </a:p>
        </p:txBody>
      </p:sp>
      <p:sp>
        <p:nvSpPr>
          <p:cNvPr id="9" name="@1 Bar rle"/>
          <p:cNvSpPr/>
          <p:nvPr/>
        </p:nvSpPr>
        <p:spPr>
          <a:xfrm>
            <a:off x="2194560" y="2423160"/>
            <a:ext cx="467093" cy="365760"/>
          </a:xfrm>
          <a:prstGeom prst="rect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10" name="@1 addText"/>
          <p:cNvSpPr txBox="1"/>
          <p:nvPr/>
        </p:nvSpPr>
        <p:spPr>
          <a:xfrm>
            <a:off x="2753093" y="2423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Picture B: 47 x 47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383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 by pixel</a:t>
            </a:r>
            <a:endParaRPr lang="en-US" sz="1400" dirty="0"/>
          </a:p>
        </p:txBody>
      </p:sp>
      <p:sp>
        <p:nvSpPr>
          <p:cNvPr id="13" name="Bar raw"/>
          <p:cNvSpPr/>
          <p:nvPr/>
        </p:nvSpPr>
        <p:spPr>
          <a:xfrm>
            <a:off x="2194560" y="3383280"/>
            <a:ext cx="5669280" cy="36576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86000" y="3383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2,209 values</a:t>
            </a:r>
            <a:endParaRPr lang="en-US" sz="1400" dirty="0"/>
          </a:p>
        </p:txBody>
      </p:sp>
      <p:sp>
        <p:nvSpPr>
          <p:cNvPr id="15" name="@2 addText"/>
          <p:cNvSpPr txBox="1"/>
          <p:nvPr/>
        </p:nvSpPr>
        <p:spPr>
          <a:xfrm>
            <a:off x="457200" y="37947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run-length encoded</a:t>
            </a:r>
            <a:endParaRPr lang="en-US" sz="1400" dirty="0"/>
          </a:p>
        </p:txBody>
      </p:sp>
      <p:sp>
        <p:nvSpPr>
          <p:cNvPr id="16" name="@2 Bar rle"/>
          <p:cNvSpPr/>
          <p:nvPr/>
        </p:nvSpPr>
        <p:spPr>
          <a:xfrm>
            <a:off x="2194560" y="3794760"/>
            <a:ext cx="469660" cy="365760"/>
          </a:xfrm>
          <a:prstGeom prst="rect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17" name="@2 addText"/>
          <p:cNvSpPr txBox="1"/>
          <p:nvPr/>
        </p:nvSpPr>
        <p:spPr>
          <a:xfrm>
            <a:off x="2755660" y="3794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183</a:t>
            </a:r>
            <a:endParaRPr lang="en-US" sz="1600" dirty="0"/>
          </a:p>
        </p:txBody>
      </p:sp>
      <p:sp>
        <p:nvSpPr>
          <p:cNvPr id="18" name="@3 addText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RLE is lossless. MP3 throws a little away to save more.</a:t>
            </a:r>
            <a:endParaRPr lang="en-US" sz="1400" dirty="0"/>
          </a:p>
        </p:txBody>
      </p:sp>
      <p:sp>
        <p:nvSpPr>
          <p:cNvPr id="1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Run-Length Encoding?</a:t>
            </a:r>
            <a:endParaRPr lang="en-US" sz="3000" dirty="0"/>
          </a:p>
        </p:txBody>
      </p:sp>
      <p:sp>
        <p:nvSpPr>
          <p:cNvPr id="3" name="Callout"/>
          <p:cNvSpPr/>
          <p:nvPr/>
        </p:nvSpPr>
        <p:spPr>
          <a:xfrm>
            <a:off x="457200" y="128016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875">
            <a:solidFill>
              <a:srgbClr val="5D79A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Run-length encoding (RLE) replaces a repeated run of the same value with two things: what is repeated, and how many times.</a:t>
            </a:r>
            <a:endParaRPr lang="en-US" sz="1200" dirty="0"/>
          </a:p>
        </p:txBody>
      </p:sp>
      <p:sp>
        <p:nvSpPr>
          <p:cNvPr id="5" name="@1 addText"/>
          <p:cNvSpPr txBox="1"/>
          <p:nvPr/>
        </p:nvSpPr>
        <p:spPr>
          <a:xfrm>
            <a:off x="685800" y="3108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AAAABBBCCCCD</a:t>
            </a:r>
            <a:endParaRPr lang="en-US" sz="2600" dirty="0"/>
          </a:p>
        </p:txBody>
      </p:sp>
      <p:sp>
        <p:nvSpPr>
          <p:cNvPr id="6" name="@1 addText"/>
          <p:cNvSpPr txBox="1"/>
          <p:nvPr/>
        </p:nvSpPr>
        <p:spPr>
          <a:xfrm>
            <a:off x="4297680" y="3108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2400" dirty="0"/>
          </a:p>
        </p:txBody>
      </p:sp>
      <p:sp>
        <p:nvSpPr>
          <p:cNvPr id="7" name="@1 addText"/>
          <p:cNvSpPr txBox="1"/>
          <p:nvPr/>
        </p:nvSpPr>
        <p:spPr>
          <a:xfrm>
            <a:off x="4937760" y="3108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4A 3B 4C 1D</a:t>
            </a:r>
            <a:endParaRPr lang="en-US" sz="26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Things Worth Knowing</a:t>
            </a:r>
            <a:endParaRPr lang="en-US" sz="3000" dirty="0"/>
          </a:p>
        </p:txBody>
      </p:sp>
      <p:sp>
        <p:nvSpPr>
          <p:cNvPr id="3" name="@1 Card"/>
          <p:cNvSpPr/>
          <p:nvPr/>
        </p:nvSpPr>
        <p:spPr>
          <a:xfrm>
            <a:off x="457200" y="118872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4" name="@1 addText"/>
          <p:cNvSpPr txBox="1"/>
          <p:nvPr/>
        </p:nvSpPr>
        <p:spPr>
          <a:xfrm>
            <a:off x="640080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</a:t>
            </a:r>
            <a:endParaRPr lang="en-US" sz="2000" dirty="0"/>
          </a:p>
        </p:txBody>
      </p:sp>
      <p:sp>
        <p:nvSpPr>
          <p:cNvPr id="5" name="@1 addText"/>
          <p:cNvSpPr txBox="1"/>
          <p:nvPr/>
        </p:nvSpPr>
        <p:spPr>
          <a:xfrm>
            <a:off x="640080" y="18288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AAAABBB &gt; 4A3B &gt; AAAABBB</a:t>
            </a:r>
            <a:endParaRPr lang="en-US" sz="1400" dirty="0"/>
          </a:p>
        </p:txBody>
      </p:sp>
      <p:sp>
        <p:nvSpPr>
          <p:cNvPr id="6" name="@1 addText"/>
          <p:cNvSpPr txBox="1"/>
          <p:nvPr/>
        </p:nvSpPr>
        <p:spPr>
          <a:xfrm>
            <a:off x="640080" y="26517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 it and you get the exact original back.</a:t>
            </a:r>
            <a:endParaRPr lang="en-US" sz="1600" dirty="0"/>
          </a:p>
        </p:txBody>
      </p:sp>
      <p:sp>
        <p:nvSpPr>
          <p:cNvPr id="7" name="@2 Card"/>
          <p:cNvSpPr/>
          <p:nvPr/>
        </p:nvSpPr>
        <p:spPr>
          <a:xfrm>
            <a:off x="3291840" y="118872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8" name="@2 addText"/>
          <p:cNvSpPr txBox="1"/>
          <p:nvPr/>
        </p:nvSpPr>
        <p:spPr>
          <a:xfrm>
            <a:off x="3474720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Loves repeats</a:t>
            </a:r>
            <a:endParaRPr lang="en-US" sz="2000" dirty="0"/>
          </a:p>
        </p:txBody>
      </p:sp>
      <p:sp>
        <p:nvSpPr>
          <p:cNvPr id="9" name="@2 addText"/>
          <p:cNvSpPr txBox="1"/>
          <p:nvPr/>
        </p:nvSpPr>
        <p:spPr>
          <a:xfrm>
            <a:off x="3474720" y="18288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AAAAAAAA &gt; 8A</a:t>
            </a:r>
            <a:endParaRPr lang="en-US" sz="1400" dirty="0"/>
          </a:p>
        </p:txBody>
      </p:sp>
      <p:sp>
        <p:nvSpPr>
          <p:cNvPr id="10" name="@2 addText"/>
          <p:cNvSpPr txBox="1"/>
          <p:nvPr/>
        </p:nvSpPr>
        <p:spPr>
          <a:xfrm>
            <a:off x="3474720" y="26517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characters become 2.</a:t>
            </a:r>
            <a:endParaRPr lang="en-US" sz="1600" dirty="0"/>
          </a:p>
        </p:txBody>
      </p:sp>
      <p:sp>
        <p:nvSpPr>
          <p:cNvPr id="11" name="@3 Card"/>
          <p:cNvSpPr/>
          <p:nvPr/>
        </p:nvSpPr>
        <p:spPr>
          <a:xfrm>
            <a:off x="6126480" y="118872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2" name="@3 addText"/>
          <p:cNvSpPr txBox="1"/>
          <p:nvPr/>
        </p:nvSpPr>
        <p:spPr>
          <a:xfrm>
            <a:off x="6309360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Hates noise</a:t>
            </a:r>
            <a:endParaRPr lang="en-US" sz="2000" dirty="0"/>
          </a:p>
        </p:txBody>
      </p:sp>
      <p:sp>
        <p:nvSpPr>
          <p:cNvPr id="13" name="@3 addText"/>
          <p:cNvSpPr txBox="1"/>
          <p:nvPr/>
        </p:nvSpPr>
        <p:spPr>
          <a:xfrm>
            <a:off x="6309360" y="18288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ABABAB &gt; 1A1B1A1B1A1B</a:t>
            </a:r>
            <a:endParaRPr lang="en-US" sz="1400" dirty="0"/>
          </a:p>
        </p:txBody>
      </p:sp>
      <p:sp>
        <p:nvSpPr>
          <p:cNvPr id="14" name="@3 addText"/>
          <p:cNvSpPr txBox="1"/>
          <p:nvPr/>
        </p:nvSpPr>
        <p:spPr>
          <a:xfrm>
            <a:off x="6309360" y="26517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become 12. Bigger!</a:t>
            </a:r>
            <a:endParaRPr lang="en-US" sz="1600" dirty="0"/>
          </a:p>
        </p:txBody>
      </p:sp>
      <p:sp>
        <p:nvSpPr>
          <p:cNvPr id="15" name="@4 addText"/>
          <p:cNvSpPr txBox="1"/>
          <p:nvPr/>
        </p:nvSpPr>
        <p:spPr>
          <a:xfrm>
            <a:off x="45720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used in:</a:t>
            </a:r>
            <a:endParaRPr lang="en-US" sz="1400" dirty="0"/>
          </a:p>
        </p:txBody>
      </p:sp>
      <p:sp>
        <p:nvSpPr>
          <p:cNvPr id="16" name="@4 Card"/>
          <p:cNvSpPr/>
          <p:nvPr/>
        </p:nvSpPr>
        <p:spPr>
          <a:xfrm>
            <a:off x="2103120" y="3931920"/>
            <a:ext cx="1645920" cy="457200"/>
          </a:xfrm>
          <a:prstGeom prst="roundRect">
            <a:avLst>
              <a:gd name="adj" fmla="val 24000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</p:sp>
      <p:sp>
        <p:nvSpPr>
          <p:cNvPr id="17" name="@4 addText"/>
          <p:cNvSpPr txBox="1"/>
          <p:nvPr/>
        </p:nvSpPr>
        <p:spPr>
          <a:xfrm>
            <a:off x="210312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fax machines</a:t>
            </a:r>
            <a:endParaRPr lang="en-US" sz="1400" dirty="0"/>
          </a:p>
        </p:txBody>
      </p:sp>
      <p:sp>
        <p:nvSpPr>
          <p:cNvPr id="18" name="@4 Card"/>
          <p:cNvSpPr/>
          <p:nvPr/>
        </p:nvSpPr>
        <p:spPr>
          <a:xfrm>
            <a:off x="3931920" y="3931920"/>
            <a:ext cx="914400" cy="457200"/>
          </a:xfrm>
          <a:prstGeom prst="roundRect">
            <a:avLst>
              <a:gd name="adj" fmla="val 24000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</p:sp>
      <p:sp>
        <p:nvSpPr>
          <p:cNvPr id="19" name="@4 addText"/>
          <p:cNvSpPr txBox="1"/>
          <p:nvPr/>
        </p:nvSpPr>
        <p:spPr>
          <a:xfrm>
            <a:off x="3931920" y="3931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BMP</a:t>
            </a:r>
            <a:endParaRPr lang="en-US" sz="1400" dirty="0"/>
          </a:p>
        </p:txBody>
      </p:sp>
      <p:sp>
        <p:nvSpPr>
          <p:cNvPr id="20" name="@4 Card"/>
          <p:cNvSpPr/>
          <p:nvPr/>
        </p:nvSpPr>
        <p:spPr>
          <a:xfrm>
            <a:off x="5029200" y="3931920"/>
            <a:ext cx="914400" cy="457200"/>
          </a:xfrm>
          <a:prstGeom prst="roundRect">
            <a:avLst>
              <a:gd name="adj" fmla="val 24000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</p:sp>
      <p:sp>
        <p:nvSpPr>
          <p:cNvPr id="21" name="@4 addText"/>
          <p:cNvSpPr txBox="1"/>
          <p:nvPr/>
        </p:nvSpPr>
        <p:spPr>
          <a:xfrm>
            <a:off x="5029200" y="3931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TIFF</a:t>
            </a:r>
            <a:endParaRPr lang="en-US" sz="1400" dirty="0"/>
          </a:p>
        </p:txBody>
      </p:sp>
      <p:sp>
        <p:nvSpPr>
          <p:cNvPr id="22" name="@4 Card"/>
          <p:cNvSpPr/>
          <p:nvPr/>
        </p:nvSpPr>
        <p:spPr>
          <a:xfrm>
            <a:off x="6126480" y="3931920"/>
            <a:ext cx="914400" cy="457200"/>
          </a:xfrm>
          <a:prstGeom prst="roundRect">
            <a:avLst>
              <a:gd name="adj" fmla="val 24000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</p:sp>
      <p:sp>
        <p:nvSpPr>
          <p:cNvPr id="23" name="@4 addText"/>
          <p:cNvSpPr txBox="1"/>
          <p:nvPr/>
        </p:nvSpPr>
        <p:spPr>
          <a:xfrm>
            <a:off x="6126480" y="3931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PCX</a:t>
            </a:r>
            <a:endParaRPr lang="en-US" sz="1400" dirty="0"/>
          </a:p>
        </p:txBody>
      </p:sp>
      <p:sp>
        <p:nvSpPr>
          <p:cNvPr id="2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Compressing a Sentence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RLE works on any run of repeated symbols, including text.</a:t>
            </a:r>
            <a:endParaRPr lang="en-US" sz="1800" dirty="0"/>
          </a:p>
        </p:txBody>
      </p:sp>
      <p:sp>
        <p:nvSpPr>
          <p:cNvPr id="4" name="Card"/>
          <p:cNvSpPr/>
          <p:nvPr/>
        </p:nvSpPr>
        <p:spPr>
          <a:xfrm>
            <a:off x="1874520" y="1737360"/>
            <a:ext cx="1280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74520" y="17373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endParaRPr lang="en-US" sz="2000" dirty="0"/>
          </a:p>
        </p:txBody>
      </p:sp>
      <p:sp>
        <p:nvSpPr>
          <p:cNvPr id="6" name="Card"/>
          <p:cNvSpPr/>
          <p:nvPr/>
        </p:nvSpPr>
        <p:spPr>
          <a:xfrm>
            <a:off x="3246120" y="1737360"/>
            <a:ext cx="1280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46120" y="17373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2000" dirty="0"/>
          </a:p>
        </p:txBody>
      </p:sp>
      <p:sp>
        <p:nvSpPr>
          <p:cNvPr id="8" name="Card"/>
          <p:cNvSpPr/>
          <p:nvPr/>
        </p:nvSpPr>
        <p:spPr>
          <a:xfrm>
            <a:off x="4617720" y="1737360"/>
            <a:ext cx="1280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7720" y="17373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SSSSS</a:t>
            </a:r>
            <a:endParaRPr lang="en-US" sz="2000" dirty="0"/>
          </a:p>
        </p:txBody>
      </p:sp>
      <p:sp>
        <p:nvSpPr>
          <p:cNvPr id="10" name="Card"/>
          <p:cNvSpPr/>
          <p:nvPr/>
        </p:nvSpPr>
        <p:spPr>
          <a:xfrm>
            <a:off x="5989320" y="1737360"/>
            <a:ext cx="1280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89320" y="17373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!!!!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514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run-length encode</a:t>
            </a:r>
            <a:endParaRPr lang="en-US" sz="1400" dirty="0"/>
          </a:p>
        </p:txBody>
      </p:sp>
      <p:sp>
        <p:nvSpPr>
          <p:cNvPr id="13" name="@1 Card"/>
          <p:cNvSpPr/>
          <p:nvPr/>
        </p:nvSpPr>
        <p:spPr>
          <a:xfrm>
            <a:off x="1874520" y="2926080"/>
            <a:ext cx="1280160" cy="640080"/>
          </a:xfrm>
          <a:prstGeom prst="roundRect">
            <a:avLst>
              <a:gd name="adj" fmla="val 17143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</p:sp>
      <p:sp>
        <p:nvSpPr>
          <p:cNvPr id="14" name="@1 addText"/>
          <p:cNvSpPr txBox="1"/>
          <p:nvPr/>
        </p:nvSpPr>
        <p:spPr>
          <a:xfrm>
            <a:off x="1874520" y="2926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1Y</a:t>
            </a:r>
            <a:endParaRPr lang="en-US" sz="2000" dirty="0"/>
          </a:p>
        </p:txBody>
      </p:sp>
      <p:sp>
        <p:nvSpPr>
          <p:cNvPr id="15" name="@1 Card"/>
          <p:cNvSpPr/>
          <p:nvPr/>
        </p:nvSpPr>
        <p:spPr>
          <a:xfrm>
            <a:off x="3246120" y="2926080"/>
            <a:ext cx="1280160" cy="640080"/>
          </a:xfrm>
          <a:prstGeom prst="roundRect">
            <a:avLst>
              <a:gd name="adj" fmla="val 17143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</p:sp>
      <p:sp>
        <p:nvSpPr>
          <p:cNvPr id="16" name="@1 addText"/>
          <p:cNvSpPr txBox="1"/>
          <p:nvPr/>
        </p:nvSpPr>
        <p:spPr>
          <a:xfrm>
            <a:off x="3246120" y="2926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1E</a:t>
            </a:r>
            <a:endParaRPr lang="en-US" sz="2000" dirty="0"/>
          </a:p>
        </p:txBody>
      </p:sp>
      <p:sp>
        <p:nvSpPr>
          <p:cNvPr id="17" name="@1 Card"/>
          <p:cNvSpPr/>
          <p:nvPr/>
        </p:nvSpPr>
        <p:spPr>
          <a:xfrm>
            <a:off x="4617720" y="2926080"/>
            <a:ext cx="1280160" cy="640080"/>
          </a:xfrm>
          <a:prstGeom prst="roundRect">
            <a:avLst>
              <a:gd name="adj" fmla="val 17143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</p:sp>
      <p:sp>
        <p:nvSpPr>
          <p:cNvPr id="18" name="@1 addText"/>
          <p:cNvSpPr txBox="1"/>
          <p:nvPr/>
        </p:nvSpPr>
        <p:spPr>
          <a:xfrm>
            <a:off x="4617720" y="2926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5S</a:t>
            </a:r>
            <a:endParaRPr lang="en-US" sz="2000" dirty="0"/>
          </a:p>
        </p:txBody>
      </p:sp>
      <p:sp>
        <p:nvSpPr>
          <p:cNvPr id="19" name="@1 Card"/>
          <p:cNvSpPr/>
          <p:nvPr/>
        </p:nvSpPr>
        <p:spPr>
          <a:xfrm>
            <a:off x="5989320" y="2926080"/>
            <a:ext cx="1280160" cy="640080"/>
          </a:xfrm>
          <a:prstGeom prst="roundRect">
            <a:avLst>
              <a:gd name="adj" fmla="val 17143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</p:sp>
      <p:sp>
        <p:nvSpPr>
          <p:cNvPr id="20" name="@1 addText"/>
          <p:cNvSpPr txBox="1"/>
          <p:nvPr/>
        </p:nvSpPr>
        <p:spPr>
          <a:xfrm>
            <a:off x="5989320" y="2926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4!</a:t>
            </a:r>
            <a:endParaRPr lang="en-US" sz="2000" dirty="0"/>
          </a:p>
        </p:txBody>
      </p:sp>
      <p:sp>
        <p:nvSpPr>
          <p:cNvPr id="21" name="@2 addText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characters become 8. Long runs compress well.</a:t>
            </a:r>
            <a:endParaRPr lang="en-US" sz="1800" dirty="0"/>
          </a:p>
        </p:txBody>
      </p:sp>
      <p:sp>
        <p:nvSpPr>
          <p:cNvPr id="2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...But Not Every Sentence Compresses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on a different sentence.</a:t>
            </a:r>
            <a:endParaRPr lang="en-US" sz="1800" dirty="0"/>
          </a:p>
        </p:txBody>
      </p:sp>
      <p:sp>
        <p:nvSpPr>
          <p:cNvPr id="4" name="Card"/>
          <p:cNvSpPr/>
          <p:nvPr/>
        </p:nvSpPr>
        <p:spPr>
          <a:xfrm>
            <a:off x="777240" y="173736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2000" dirty="0"/>
          </a:p>
        </p:txBody>
      </p:sp>
      <p:sp>
        <p:nvSpPr>
          <p:cNvPr id="6" name="Card"/>
          <p:cNvSpPr/>
          <p:nvPr/>
        </p:nvSpPr>
        <p:spPr>
          <a:xfrm>
            <a:off x="2057400" y="173736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057400" y="17373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Card"/>
          <p:cNvSpPr/>
          <p:nvPr/>
        </p:nvSpPr>
        <p:spPr>
          <a:xfrm>
            <a:off x="3337560" y="173736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37560" y="17373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2000" dirty="0"/>
          </a:p>
        </p:txBody>
      </p:sp>
      <p:sp>
        <p:nvSpPr>
          <p:cNvPr id="10" name="Card"/>
          <p:cNvSpPr/>
          <p:nvPr/>
        </p:nvSpPr>
        <p:spPr>
          <a:xfrm>
            <a:off x="4617720" y="173736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17373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12" name="Card"/>
          <p:cNvSpPr/>
          <p:nvPr/>
        </p:nvSpPr>
        <p:spPr>
          <a:xfrm>
            <a:off x="5897880" y="173736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897880" y="17373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2000" dirty="0"/>
          </a:p>
        </p:txBody>
      </p:sp>
      <p:sp>
        <p:nvSpPr>
          <p:cNvPr id="14" name="Card"/>
          <p:cNvSpPr/>
          <p:nvPr/>
        </p:nvSpPr>
        <p:spPr>
          <a:xfrm>
            <a:off x="7178040" y="173736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78040" y="17373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514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run-length encode</a:t>
            </a:r>
            <a:endParaRPr lang="en-US" sz="1400" dirty="0"/>
          </a:p>
        </p:txBody>
      </p:sp>
      <p:sp>
        <p:nvSpPr>
          <p:cNvPr id="17" name="@1 Card"/>
          <p:cNvSpPr/>
          <p:nvPr/>
        </p:nvSpPr>
        <p:spPr>
          <a:xfrm>
            <a:off x="777240" y="292608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</p:sp>
      <p:sp>
        <p:nvSpPr>
          <p:cNvPr id="18" name="@1 addText"/>
          <p:cNvSpPr txBox="1"/>
          <p:nvPr/>
        </p:nvSpPr>
        <p:spPr>
          <a:xfrm>
            <a:off x="777240" y="29260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1H</a:t>
            </a:r>
            <a:endParaRPr lang="en-US" sz="2000" dirty="0"/>
          </a:p>
        </p:txBody>
      </p:sp>
      <p:sp>
        <p:nvSpPr>
          <p:cNvPr id="19" name="@1 Card"/>
          <p:cNvSpPr/>
          <p:nvPr/>
        </p:nvSpPr>
        <p:spPr>
          <a:xfrm>
            <a:off x="2057400" y="292608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</p:sp>
      <p:sp>
        <p:nvSpPr>
          <p:cNvPr id="20" name="@1 addText"/>
          <p:cNvSpPr txBox="1"/>
          <p:nvPr/>
        </p:nvSpPr>
        <p:spPr>
          <a:xfrm>
            <a:off x="2057400" y="29260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</a:t>
            </a:r>
            <a:endParaRPr lang="en-US" sz="2000" dirty="0"/>
          </a:p>
        </p:txBody>
      </p:sp>
      <p:sp>
        <p:nvSpPr>
          <p:cNvPr id="21" name="@1 Card"/>
          <p:cNvSpPr/>
          <p:nvPr/>
        </p:nvSpPr>
        <p:spPr>
          <a:xfrm>
            <a:off x="3337560" y="292608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</p:sp>
      <p:sp>
        <p:nvSpPr>
          <p:cNvPr id="22" name="@1 addText"/>
          <p:cNvSpPr txBox="1"/>
          <p:nvPr/>
        </p:nvSpPr>
        <p:spPr>
          <a:xfrm>
            <a:off x="3337560" y="29260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1H</a:t>
            </a:r>
            <a:endParaRPr lang="en-US" sz="2000" dirty="0"/>
          </a:p>
        </p:txBody>
      </p:sp>
      <p:sp>
        <p:nvSpPr>
          <p:cNvPr id="23" name="@1 Card"/>
          <p:cNvSpPr/>
          <p:nvPr/>
        </p:nvSpPr>
        <p:spPr>
          <a:xfrm>
            <a:off x="4617720" y="292608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</p:sp>
      <p:sp>
        <p:nvSpPr>
          <p:cNvPr id="24" name="@1 addText"/>
          <p:cNvSpPr txBox="1"/>
          <p:nvPr/>
        </p:nvSpPr>
        <p:spPr>
          <a:xfrm>
            <a:off x="4617720" y="29260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</a:t>
            </a:r>
            <a:endParaRPr lang="en-US" sz="2000" dirty="0"/>
          </a:p>
        </p:txBody>
      </p:sp>
      <p:sp>
        <p:nvSpPr>
          <p:cNvPr id="25" name="@1 Card"/>
          <p:cNvSpPr/>
          <p:nvPr/>
        </p:nvSpPr>
        <p:spPr>
          <a:xfrm>
            <a:off x="5897880" y="292608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</p:sp>
      <p:sp>
        <p:nvSpPr>
          <p:cNvPr id="26" name="@1 addText"/>
          <p:cNvSpPr txBox="1"/>
          <p:nvPr/>
        </p:nvSpPr>
        <p:spPr>
          <a:xfrm>
            <a:off x="5897880" y="29260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1H</a:t>
            </a:r>
            <a:endParaRPr lang="en-US" sz="2000" dirty="0"/>
          </a:p>
        </p:txBody>
      </p:sp>
      <p:sp>
        <p:nvSpPr>
          <p:cNvPr id="27" name="@1 Card"/>
          <p:cNvSpPr/>
          <p:nvPr/>
        </p:nvSpPr>
        <p:spPr>
          <a:xfrm>
            <a:off x="7178040" y="292608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</p:sp>
      <p:sp>
        <p:nvSpPr>
          <p:cNvPr id="28" name="@1 addText"/>
          <p:cNvSpPr txBox="1"/>
          <p:nvPr/>
        </p:nvSpPr>
        <p:spPr>
          <a:xfrm>
            <a:off x="7178040" y="29260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</a:t>
            </a:r>
            <a:endParaRPr lang="en-US" sz="2000" dirty="0"/>
          </a:p>
        </p:txBody>
      </p:sp>
      <p:sp>
        <p:nvSpPr>
          <p:cNvPr id="29" name="@2 addText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characters become 12. No repeats: RLE makes it bigger.</a:t>
            </a:r>
            <a:endParaRPr lang="en-US" sz="18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Compressing a Picture</a:t>
            </a:r>
            <a:endParaRPr lang="en-US" sz="3000" dirty="0"/>
          </a:p>
        </p:txBody>
      </p:sp>
      <p:sp>
        <p:nvSpPr>
          <p:cNvPr id="3" name="Callout"/>
          <p:cNvSpPr/>
          <p:nvPr/>
        </p:nvSpPr>
        <p:spPr>
          <a:xfrm>
            <a:off x="457200" y="1188720"/>
            <a:ext cx="82296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5D79A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storing every pixel, store how many blanks, then how many coloured pixels, one row at a time.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6517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6, 4</a:t>
            </a:r>
            <a:endParaRPr lang="en-US" sz="2400" dirty="0"/>
          </a:p>
        </p:txBody>
      </p:sp>
      <p:sp>
        <p:nvSpPr>
          <p:cNvPr id="6" name="Cell off"/>
          <p:cNvSpPr/>
          <p:nvPr/>
        </p:nvSpPr>
        <p:spPr>
          <a:xfrm>
            <a:off x="2377440" y="269748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7" name="Cell off"/>
          <p:cNvSpPr/>
          <p:nvPr/>
        </p:nvSpPr>
        <p:spPr>
          <a:xfrm>
            <a:off x="2834640" y="269748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8" name="Cell off"/>
          <p:cNvSpPr/>
          <p:nvPr/>
        </p:nvSpPr>
        <p:spPr>
          <a:xfrm>
            <a:off x="3291840" y="269748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9" name="Cell off"/>
          <p:cNvSpPr/>
          <p:nvPr/>
        </p:nvSpPr>
        <p:spPr>
          <a:xfrm>
            <a:off x="3749040" y="269748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0" name="Cell off"/>
          <p:cNvSpPr/>
          <p:nvPr/>
        </p:nvSpPr>
        <p:spPr>
          <a:xfrm>
            <a:off x="4206240" y="269748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1" name="Cell off"/>
          <p:cNvSpPr/>
          <p:nvPr/>
        </p:nvSpPr>
        <p:spPr>
          <a:xfrm>
            <a:off x="4663440" y="269748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2" name="Cell on"/>
          <p:cNvSpPr/>
          <p:nvPr/>
        </p:nvSpPr>
        <p:spPr>
          <a:xfrm>
            <a:off x="5120640" y="269748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3" name="Cell on"/>
          <p:cNvSpPr/>
          <p:nvPr/>
        </p:nvSpPr>
        <p:spPr>
          <a:xfrm>
            <a:off x="5577840" y="269748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4" name="Cell on"/>
          <p:cNvSpPr/>
          <p:nvPr/>
        </p:nvSpPr>
        <p:spPr>
          <a:xfrm>
            <a:off x="6035040" y="269748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5" name="Cell on"/>
          <p:cNvSpPr/>
          <p:nvPr/>
        </p:nvSpPr>
        <p:spPr>
          <a:xfrm>
            <a:off x="6492240" y="269748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6" name="@1 addText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 4 = 6 blanks, then 4 coloured pixels.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clue that starts with 0 means the row starts with a coloured pixel.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#1: the clues</a:t>
            </a:r>
            <a:endParaRPr lang="en-US" sz="3000" dirty="0"/>
          </a:p>
        </p:txBody>
      </p:sp>
      <p:sp>
        <p:nvSpPr>
          <p:cNvPr id="3" name="2 min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</a:t>
            </a:r>
            <a:endParaRPr lang="en-US" sz="1200" dirty="0"/>
          </a:p>
        </p:txBody>
      </p:sp>
      <p:sp>
        <p:nvSpPr>
          <p:cNvPr id="5" name="Clue card"/>
          <p:cNvSpPr/>
          <p:nvPr/>
        </p:nvSpPr>
        <p:spPr>
          <a:xfrm>
            <a:off x="457200" y="1143000"/>
            <a:ext cx="39319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2, 7, 3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1, 10, 1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1, 8, 2, 1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1, 8, 2, 1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1, 10, 1</a:t>
            </a:r>
            <a:endParaRPr lang="en-US" sz="2000" dirty="0"/>
          </a:p>
        </p:txBody>
      </p:sp>
      <p:sp>
        <p:nvSpPr>
          <p:cNvPr id="11" name="Clue card"/>
          <p:cNvSpPr/>
          <p:nvPr/>
        </p:nvSpPr>
        <p:spPr>
          <a:xfrm>
            <a:off x="4754880" y="1143000"/>
            <a:ext cx="39319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2, 6, 4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3, 4, 5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4, 3, 5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0, 12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decode it, then check on the next slide</a:t>
            </a:r>
            <a:endParaRPr lang="en-US" sz="14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#1: decoded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pic>
        <p:nvPicPr>
          <p:cNvPr id="5" name="Image 0" descr="blank grid, a mug, shaded from the clues not yet shad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0" y="1163882"/>
            <a:ext cx="4572000" cy="3432955"/>
          </a:xfrm>
          <a:prstGeom prst="rect">
            <a:avLst/>
          </a:prstGeom>
        </p:spPr>
      </p:pic>
      <p:pic>
        <p:nvPicPr>
          <p:cNvPr id="6" name="@1 addImage" descr="a mug, shaded from the clu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63882"/>
            <a:ext cx="4572000" cy="3432955"/>
          </a:xfrm>
          <a:prstGeom prst="rect">
            <a:avLst/>
          </a:prstGeom>
        </p:spPr>
      </p:pic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Turn: Shade the Grids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HAND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Pencil at the ready. Booklet pages 2 to 4. Page 5 is for fast finishers.</a:t>
            </a:r>
            <a:endParaRPr lang="en-US" sz="1800" dirty="0"/>
          </a:p>
        </p:txBody>
      </p:sp>
      <p:sp>
        <p:nvSpPr>
          <p:cNvPr id="5" name="Timer pill"/>
          <p:cNvSpPr/>
          <p:nvPr/>
        </p:nvSpPr>
        <p:spPr>
          <a:xfrm>
            <a:off x="548640" y="38404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pic>
        <p:nvPicPr>
          <p:cNvPr id="6" name="Image 0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3995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#2: the clues</a:t>
            </a:r>
            <a:endParaRPr lang="en-US" sz="3000" dirty="0"/>
          </a:p>
        </p:txBody>
      </p:sp>
      <p:sp>
        <p:nvSpPr>
          <p:cNvPr id="3" name="10 min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200" dirty="0"/>
          </a:p>
        </p:txBody>
      </p:sp>
      <p:sp>
        <p:nvSpPr>
          <p:cNvPr id="5" name="Clue card"/>
          <p:cNvSpPr/>
          <p:nvPr/>
        </p:nvSpPr>
        <p:spPr>
          <a:xfrm>
            <a:off x="457200" y="1143000"/>
            <a:ext cx="39319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28016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65735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7, 3, 4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3454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6, 4, 4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41173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6, 2, 6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78892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3, 3, 2, 3, 3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16611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2, 4, 2, 4, 2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54330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1, 12, 1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92049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1, 10, 3</a:t>
            </a:r>
            <a:endParaRPr lang="en-US" sz="1600" dirty="0"/>
          </a:p>
        </p:txBody>
      </p:sp>
      <p:sp>
        <p:nvSpPr>
          <p:cNvPr id="14" name="Clue card"/>
          <p:cNvSpPr/>
          <p:nvPr/>
        </p:nvSpPr>
        <p:spPr>
          <a:xfrm>
            <a:off x="4754880" y="1143000"/>
            <a:ext cx="39319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29200" y="128016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1, 9, 4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65735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1, 9, 4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203454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1, 9, 4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241173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1, 9, 4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278892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1, 11, 2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0" y="316611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1, 12, 1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354330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2, 10, 2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392049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4, 6, 4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decode it, then check on the next slide</a:t>
            </a:r>
            <a:endParaRPr lang="en-US" sz="1400" dirty="0"/>
          </a:p>
        </p:txBody>
      </p:sp>
      <p:sp>
        <p:nvSpPr>
          <p:cNvPr id="2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#2: decoded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pic>
        <p:nvPicPr>
          <p:cNvPr id="5" name="Image 0" descr="blank grid, an apple, shaded from the clues not yet shad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1226" y="1097280"/>
            <a:ext cx="3121548" cy="3566160"/>
          </a:xfrm>
          <a:prstGeom prst="rect">
            <a:avLst/>
          </a:prstGeom>
        </p:spPr>
      </p:pic>
      <p:pic>
        <p:nvPicPr>
          <p:cNvPr id="6" name="@1 addImage" descr="an apple, shaded from the clu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1226" y="1097280"/>
            <a:ext cx="3121548" cy="3566160"/>
          </a:xfrm>
          <a:prstGeom prst="rect">
            <a:avLst/>
          </a:prstGeom>
        </p:spPr>
      </p:pic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#3: the clues</a:t>
            </a:r>
            <a:endParaRPr lang="en-US" sz="3000" dirty="0"/>
          </a:p>
        </p:txBody>
      </p:sp>
      <p:sp>
        <p:nvSpPr>
          <p:cNvPr id="3" name="Clue card"/>
          <p:cNvSpPr/>
          <p:nvPr/>
        </p:nvSpPr>
        <p:spPr>
          <a:xfrm>
            <a:off x="457200" y="1143000"/>
            <a:ext cx="39319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1544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5, 4, 5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5072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4, 6, 4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8600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3, 3, 2, 3, 3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2128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3, 2, 4, 2, 3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95656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3, 2, 4, 2, 3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29184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3, 2, 4, 2, 3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62712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2, 10, 2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96240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2, 10, 2</a:t>
            </a:r>
            <a:endParaRPr lang="en-US" sz="1600" dirty="0"/>
          </a:p>
        </p:txBody>
      </p:sp>
      <p:sp>
        <p:nvSpPr>
          <p:cNvPr id="13" name="Clue card"/>
          <p:cNvSpPr/>
          <p:nvPr/>
        </p:nvSpPr>
        <p:spPr>
          <a:xfrm>
            <a:off x="4754880" y="1143000"/>
            <a:ext cx="39319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0" y="128016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2, 10, 2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161544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2, 4, 2, 4, 2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95072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2, 4, 2, 4, 2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228600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2, 4, 2, 4, 2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262128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2, 10, 2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295656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2, 10, 2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0" y="329184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2, 10, 2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362712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2, 10, 2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396240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decode it, then check on the next slide</a:t>
            </a:r>
            <a:endParaRPr lang="en-US" sz="1400" dirty="0"/>
          </a:p>
        </p:txBody>
      </p:sp>
      <p:sp>
        <p:nvSpPr>
          <p:cNvPr id="2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#3: decoded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pic>
        <p:nvPicPr>
          <p:cNvPr id="5" name="Image 0" descr="blank grid, a padlock, shaded from the clues not yet shad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4245" y="1097280"/>
            <a:ext cx="2775510" cy="3566160"/>
          </a:xfrm>
          <a:prstGeom prst="rect">
            <a:avLst/>
          </a:prstGeom>
        </p:spPr>
      </p:pic>
      <p:pic>
        <p:nvPicPr>
          <p:cNvPr id="6" name="@1 addImage" descr="a padlock, shaded from the clu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4245" y="1097280"/>
            <a:ext cx="2775510" cy="3566160"/>
          </a:xfrm>
          <a:prstGeom prst="rect">
            <a:avLst/>
          </a:prstGeom>
        </p:spPr>
      </p:pic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#4: the clues</a:t>
            </a:r>
            <a:endParaRPr lang="en-US" sz="3000" dirty="0"/>
          </a:p>
        </p:txBody>
      </p:sp>
      <p:sp>
        <p:nvSpPr>
          <p:cNvPr id="3" name="Clue card"/>
          <p:cNvSpPr/>
          <p:nvPr/>
        </p:nvSpPr>
        <p:spPr>
          <a:xfrm>
            <a:off x="457200" y="1143000"/>
            <a:ext cx="3931920" cy="3218688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4, 6, 4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3, 8, 3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2, 10, 2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1, 12, 1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1, 12, 1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80390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1, 3, 1, 4, 1, 3, 1</a:t>
            </a:r>
            <a:endParaRPr lang="en-US" sz="1600" dirty="0"/>
          </a:p>
        </p:txBody>
      </p:sp>
      <p:sp>
        <p:nvSpPr>
          <p:cNvPr id="11" name="Clue card"/>
          <p:cNvSpPr/>
          <p:nvPr/>
        </p:nvSpPr>
        <p:spPr>
          <a:xfrm>
            <a:off x="4754880" y="1143000"/>
            <a:ext cx="3931920" cy="3218688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1, 12, 1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1, 12, 1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1, 12, 1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1, 5, 2, 5, 1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1, 4, 4, 4, 1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380390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decode it, then check on the next slide</a:t>
            </a:r>
            <a:endParaRPr lang="en-US" sz="1400" dirty="0"/>
          </a:p>
        </p:txBody>
      </p:sp>
      <p:sp>
        <p:nvSpPr>
          <p:cNvPr id="2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#4: decoded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pic>
        <p:nvPicPr>
          <p:cNvPr id="5" name="Image 0" descr="blank grid, a ghost, shaded from the clues not yet shad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1097280"/>
            <a:ext cx="3566160" cy="3566160"/>
          </a:xfrm>
          <a:prstGeom prst="rect">
            <a:avLst/>
          </a:prstGeom>
        </p:spPr>
      </p:pic>
      <p:pic>
        <p:nvPicPr>
          <p:cNvPr id="6" name="@1 addImage" descr="a ghost, shaded from the clu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097280"/>
            <a:ext cx="3566160" cy="3566160"/>
          </a:xfrm>
          <a:prstGeom prst="rect">
            <a:avLst/>
          </a:prstGeom>
        </p:spPr>
      </p:pic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took a while.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Fun, but slow. And those were the small ones.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Long Did That Take?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822960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1887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mystery 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118872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rows</a:t>
            </a:r>
            <a:endParaRPr lang="en-US" sz="1800" dirty="0"/>
          </a:p>
        </p:txBody>
      </p:sp>
      <p:sp>
        <p:nvSpPr>
          <p:cNvPr id="6" name="Card"/>
          <p:cNvSpPr/>
          <p:nvPr/>
        </p:nvSpPr>
        <p:spPr>
          <a:xfrm>
            <a:off x="457200" y="1920240"/>
            <a:ext cx="822960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9202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mystery 3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192024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rows</a:t>
            </a:r>
            <a:endParaRPr lang="en-US" sz="1800" dirty="0"/>
          </a:p>
        </p:txBody>
      </p:sp>
      <p:sp>
        <p:nvSpPr>
          <p:cNvPr id="9" name="Card"/>
          <p:cNvSpPr/>
          <p:nvPr/>
        </p:nvSpPr>
        <p:spPr>
          <a:xfrm>
            <a:off x="457200" y="2651760"/>
            <a:ext cx="822960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65176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one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65176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rows x 38 columns</a:t>
            </a:r>
            <a:endParaRPr lang="en-US" sz="1800" dirty="0"/>
          </a:p>
        </p:txBody>
      </p:sp>
      <p:sp>
        <p:nvSpPr>
          <p:cNvPr id="12" name="@1 Bar"/>
          <p:cNvSpPr/>
          <p:nvPr/>
        </p:nvSpPr>
        <p:spPr>
          <a:xfrm>
            <a:off x="457200" y="3566160"/>
            <a:ext cx="64008" cy="548640"/>
          </a:xfrm>
          <a:prstGeom prst="rect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13" name="@1 addText"/>
          <p:cNvSpPr txBox="1"/>
          <p:nvPr/>
        </p:nvSpPr>
        <p:spPr>
          <a:xfrm>
            <a:off x="685800" y="3566160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it were a photo with a million rows?</a:t>
            </a:r>
            <a:endParaRPr lang="en-US" sz="2200" dirty="0"/>
          </a:p>
        </p:txBody>
      </p:sp>
      <p:sp>
        <p:nvSpPr>
          <p:cNvPr id="1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the Computer Do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Computers are great at repeating things.</a:t>
            </a:r>
            <a:endParaRPr lang="en-US" sz="1800" dirty="0"/>
          </a:p>
        </p:txBody>
      </p:sp>
      <p:sp>
        <p:nvSpPr>
          <p:cNvPr id="4" name="@1 Callout"/>
          <p:cNvSpPr/>
          <p:nvPr/>
        </p:nvSpPr>
        <p:spPr>
          <a:xfrm>
            <a:off x="457200" y="228600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5" name="@1 addText"/>
          <p:cNvSpPr txBox="1"/>
          <p:nvPr/>
        </p:nvSpPr>
        <p:spPr>
          <a:xfrm>
            <a:off x="685800" y="22860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already know how: loops and functions.</a:t>
            </a:r>
            <a:endParaRPr lang="en-US" sz="1200" dirty="0"/>
          </a:p>
        </p:txBody>
      </p:sp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Row Is a List</a:t>
            </a:r>
            <a:endParaRPr lang="en-US" sz="3000" dirty="0"/>
          </a:p>
        </p:txBody>
      </p:sp>
      <p:sp>
        <p:nvSpPr>
          <p:cNvPr id="3" name="Code box"/>
          <p:cNvSpPr/>
          <p:nvPr/>
        </p:nvSpPr>
        <p:spPr>
          <a:xfrm>
            <a:off x="457200" y="1188720"/>
            <a:ext cx="8229600" cy="676656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4" name="Code bar"/>
          <p:cNvSpPr/>
          <p:nvPr/>
        </p:nvSpPr>
        <p:spPr>
          <a:xfrm>
            <a:off x="457200" y="1188720"/>
            <a:ext cx="54864" cy="676656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795528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2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= blank,  1 = coloured</a:t>
            </a:r>
            <a:endParaRPr lang="en-US" sz="1800" dirty="0"/>
          </a:p>
        </p:txBody>
      </p:sp>
      <p:sp>
        <p:nvSpPr>
          <p:cNvPr id="7" name="Cell off"/>
          <p:cNvSpPr/>
          <p:nvPr/>
        </p:nvSpPr>
        <p:spPr>
          <a:xfrm>
            <a:off x="2286000" y="2926080"/>
            <a:ext cx="6400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8" name="Cell off"/>
          <p:cNvSpPr/>
          <p:nvPr/>
        </p:nvSpPr>
        <p:spPr>
          <a:xfrm>
            <a:off x="2926080" y="2926080"/>
            <a:ext cx="6400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9" name="Cell on"/>
          <p:cNvSpPr/>
          <p:nvPr/>
        </p:nvSpPr>
        <p:spPr>
          <a:xfrm>
            <a:off x="3566160" y="2926080"/>
            <a:ext cx="640080" cy="64008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0" name="Cell on"/>
          <p:cNvSpPr/>
          <p:nvPr/>
        </p:nvSpPr>
        <p:spPr>
          <a:xfrm>
            <a:off x="4206240" y="2926080"/>
            <a:ext cx="640080" cy="64008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1" name="Cell on"/>
          <p:cNvSpPr/>
          <p:nvPr/>
        </p:nvSpPr>
        <p:spPr>
          <a:xfrm>
            <a:off x="4846320" y="2926080"/>
            <a:ext cx="640080" cy="64008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2" name="Cell off"/>
          <p:cNvSpPr/>
          <p:nvPr/>
        </p:nvSpPr>
        <p:spPr>
          <a:xfrm>
            <a:off x="5486400" y="2926080"/>
            <a:ext cx="6400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Picture Is a List of Rows</a:t>
            </a:r>
            <a:endParaRPr lang="en-US" sz="3000" dirty="0"/>
          </a:p>
        </p:txBody>
      </p:sp>
      <p:sp>
        <p:nvSpPr>
          <p:cNvPr id="3" name="Code box"/>
          <p:cNvSpPr/>
          <p:nvPr/>
        </p:nvSpPr>
        <p:spPr>
          <a:xfrm>
            <a:off x="457200" y="1188720"/>
            <a:ext cx="8229600" cy="2249424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4" name="Code bar"/>
          <p:cNvSpPr/>
          <p:nvPr/>
        </p:nvSpPr>
        <p:spPr>
          <a:xfrm>
            <a:off x="457200" y="1188720"/>
            <a:ext cx="54864" cy="2249424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mug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55064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84248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13432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42616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71800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list of lists. Each inner list is one row of the grid</a:t>
            </a:r>
            <a:endParaRPr lang="en-US" sz="1400" dirty="0"/>
          </a:p>
        </p:txBody>
      </p:sp>
      <p:sp>
        <p:nvSpPr>
          <p:cNvPr id="1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Thing, Two Ways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Clue:  [2, 7, 3]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Row:   [0,0,1,1,1,1,1,1,1,0,0,0]</a:t>
            </a:r>
            <a:endParaRPr lang="en-US" sz="2200" dirty="0"/>
          </a:p>
        </p:txBody>
      </p:sp>
      <p:sp>
        <p:nvSpPr>
          <p:cNvPr id="5" name="Cell off"/>
          <p:cNvSpPr/>
          <p:nvPr/>
        </p:nvSpPr>
        <p:spPr>
          <a:xfrm>
            <a:off x="1371600" y="283464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6" name="Cell off"/>
          <p:cNvSpPr/>
          <p:nvPr/>
        </p:nvSpPr>
        <p:spPr>
          <a:xfrm>
            <a:off x="1828800" y="283464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7" name="Cell on"/>
          <p:cNvSpPr/>
          <p:nvPr/>
        </p:nvSpPr>
        <p:spPr>
          <a:xfrm>
            <a:off x="2286000" y="283464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8" name="Cell on"/>
          <p:cNvSpPr/>
          <p:nvPr/>
        </p:nvSpPr>
        <p:spPr>
          <a:xfrm>
            <a:off x="2743200" y="283464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9" name="Cell on"/>
          <p:cNvSpPr/>
          <p:nvPr/>
        </p:nvSpPr>
        <p:spPr>
          <a:xfrm>
            <a:off x="3200400" y="283464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0" name="Cell on"/>
          <p:cNvSpPr/>
          <p:nvPr/>
        </p:nvSpPr>
        <p:spPr>
          <a:xfrm>
            <a:off x="3657600" y="283464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1" name="Cell on"/>
          <p:cNvSpPr/>
          <p:nvPr/>
        </p:nvSpPr>
        <p:spPr>
          <a:xfrm>
            <a:off x="4114800" y="283464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2" name="Cell on"/>
          <p:cNvSpPr/>
          <p:nvPr/>
        </p:nvSpPr>
        <p:spPr>
          <a:xfrm>
            <a:off x="4572000" y="283464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3" name="Cell on"/>
          <p:cNvSpPr/>
          <p:nvPr/>
        </p:nvSpPr>
        <p:spPr>
          <a:xfrm>
            <a:off x="5029200" y="283464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4" name="Cell off"/>
          <p:cNvSpPr/>
          <p:nvPr/>
        </p:nvSpPr>
        <p:spPr>
          <a:xfrm>
            <a:off x="5486400" y="283464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5" name="Cell off"/>
          <p:cNvSpPr/>
          <p:nvPr/>
        </p:nvSpPr>
        <p:spPr>
          <a:xfrm>
            <a:off x="5943600" y="283464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6" name="Cell off"/>
          <p:cNvSpPr/>
          <p:nvPr/>
        </p:nvSpPr>
        <p:spPr>
          <a:xfrm>
            <a:off x="6400800" y="283464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7" name="@1 Callout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18" name="@1 addText"/>
          <p:cNvSpPr txBox="1"/>
          <p:nvPr/>
        </p:nvSpPr>
        <p:spPr>
          <a:xfrm>
            <a:off x="685800" y="3657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job: turn the clue into the row.</a:t>
            </a:r>
            <a:endParaRPr lang="en-US" sz="1200" dirty="0"/>
          </a:p>
        </p:txBody>
      </p:sp>
      <p:sp>
        <p:nvSpPr>
          <p:cNvPr id="1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Function We Give You</a:t>
            </a:r>
            <a:endParaRPr lang="en-US" sz="3000" dirty="0"/>
          </a:p>
        </p:txBody>
      </p:sp>
      <p:sp>
        <p:nvSpPr>
          <p:cNvPr id="3" name="Code box"/>
          <p:cNvSpPr/>
          <p:nvPr/>
        </p:nvSpPr>
        <p:spPr>
          <a:xfrm>
            <a:off x="457200" y="1188720"/>
            <a:ext cx="8229600" cy="1078992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4" name="Code bar"/>
          <p:cNvSpPr/>
          <p:nvPr/>
        </p:nvSpPr>
        <p:spPr>
          <a:xfrm>
            <a:off x="457200" y="1188720"/>
            <a:ext cx="54864" cy="1078992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795528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buNone/>
            </a:pPr>
            <a:r>
              <a:rPr lang="en-US" sz="22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show_picture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picture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28216"/>
            <a:ext cx="795528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2200" i="1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draws the picture</a:t>
            </a:r>
            <a:endParaRPr lang="en-US" sz="2200" dirty="0"/>
          </a:p>
        </p:txBody>
      </p:sp>
      <p:sp>
        <p:nvSpPr>
          <p:cNvPr id="7" name="Bar"/>
          <p:cNvSpPr/>
          <p:nvPr/>
        </p:nvSpPr>
        <p:spPr>
          <a:xfrm>
            <a:off x="457200" y="2651760"/>
            <a:ext cx="64008" cy="548640"/>
          </a:xfrm>
          <a:prstGeom prst="rect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651760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read the inside. Just use it.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like print(): you use it without knowing how it works</a:t>
            </a:r>
            <a:endParaRPr lang="en-US" sz="14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on a Heart</a:t>
            </a:r>
            <a:endParaRPr lang="en-US" sz="3000" dirty="0"/>
          </a:p>
        </p:txBody>
      </p:sp>
      <p:sp>
        <p:nvSpPr>
          <p:cNvPr id="3" name="Code box"/>
          <p:cNvSpPr/>
          <p:nvPr/>
        </p:nvSpPr>
        <p:spPr>
          <a:xfrm>
            <a:off x="457200" y="1097280"/>
            <a:ext cx="8229600" cy="2578608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4" name="Code bar"/>
          <p:cNvSpPr/>
          <p:nvPr/>
        </p:nvSpPr>
        <p:spPr>
          <a:xfrm>
            <a:off x="457200" y="1097280"/>
            <a:ext cx="54864" cy="2578608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34440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heart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563624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92808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21992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551176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880360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9544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show_picture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heart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</p:txBody>
      </p:sp>
      <p:sp>
        <p:nvSpPr>
          <p:cNvPr id="12" name="@1 addText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picture appears in the Plots pane, just like your graphs</a:t>
            </a:r>
            <a:endParaRPr lang="en-US" sz="14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Heart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pic>
        <p:nvPicPr>
          <p:cNvPr id="5" name="Image 0" descr="A heart drawn on a 5 by 4 grid, dark squares for 1 and blank for 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1035" y="1188720"/>
            <a:ext cx="3421930" cy="2743200"/>
          </a:xfrm>
          <a:prstGeom prst="rect">
            <a:avLst/>
          </a:prstGeom>
        </p:spPr>
      </p:pic>
      <p:sp>
        <p:nvSpPr>
          <p:cNvPr id="6" name="Callout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5D79A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40233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= dark square, 0 = blank. Check it matches the list.</a:t>
            </a:r>
            <a:endParaRPr lang="en-US" sz="12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We Need</a:t>
            </a:r>
            <a:endParaRPr lang="en-US" sz="3000" dirty="0"/>
          </a:p>
        </p:txBody>
      </p:sp>
      <p:sp>
        <p:nvSpPr>
          <p:cNvPr id="3" name="Code box"/>
          <p:cNvSpPr/>
          <p:nvPr/>
        </p:nvSpPr>
        <p:spPr>
          <a:xfrm>
            <a:off x="457200" y="1188720"/>
            <a:ext cx="8229600" cy="676656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4" name="Code bar"/>
          <p:cNvSpPr/>
          <p:nvPr/>
        </p:nvSpPr>
        <p:spPr>
          <a:xfrm>
            <a:off x="457200" y="1188720"/>
            <a:ext cx="54864" cy="676656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795528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buNone/>
            </a:pPr>
            <a:r>
              <a:rPr lang="en-US" sz="22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pictures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MUG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DINOSAUR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MARIO</a:t>
            </a:r>
            <a:endParaRPr lang="en-US" sz="2200" dirty="0"/>
          </a:p>
        </p:txBody>
      </p:sp>
      <p:sp>
        <p:nvSpPr>
          <p:cNvPr id="6" name="Bar"/>
          <p:cNvSpPr/>
          <p:nvPr/>
        </p:nvSpPr>
        <p:spPr>
          <a:xfrm>
            <a:off x="457200" y="2560320"/>
            <a:ext cx="64008" cy="548640"/>
          </a:xfrm>
          <a:prstGeom prst="rect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560320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the clues from another file.</a:t>
            </a:r>
            <a:endParaRPr lang="en-US" sz="2200" dirty="0"/>
          </a:p>
        </p:txBody>
      </p:sp>
      <p:sp>
        <p:nvSpPr>
          <p:cNvPr id="8" name="Callout"/>
          <p:cNvSpPr/>
          <p:nvPr/>
        </p:nvSpPr>
        <p:spPr>
          <a:xfrm>
            <a:off x="457200" y="347472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47472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pictures.py must be in the same folder as your file.</a:t>
            </a:r>
            <a:endParaRPr lang="en-US" sz="12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 One Row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Clue  [2, 7, 3]  becomes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194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[0,0,1,1,1,1,1,1,1,0,0,0]</a:t>
            </a:r>
            <a:endParaRPr lang="en-US" sz="2400" dirty="0"/>
          </a:p>
        </p:txBody>
      </p:sp>
      <p:sp>
        <p:nvSpPr>
          <p:cNvPr id="5" name="Cell off"/>
          <p:cNvSpPr/>
          <p:nvPr/>
        </p:nvSpPr>
        <p:spPr>
          <a:xfrm>
            <a:off x="1828800" y="31089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6" name="Cell off"/>
          <p:cNvSpPr/>
          <p:nvPr/>
        </p:nvSpPr>
        <p:spPr>
          <a:xfrm>
            <a:off x="2286000" y="31089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7" name="Cell on"/>
          <p:cNvSpPr/>
          <p:nvPr/>
        </p:nvSpPr>
        <p:spPr>
          <a:xfrm>
            <a:off x="2743200" y="310896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8" name="Cell on"/>
          <p:cNvSpPr/>
          <p:nvPr/>
        </p:nvSpPr>
        <p:spPr>
          <a:xfrm>
            <a:off x="3200400" y="310896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9" name="Cell on"/>
          <p:cNvSpPr/>
          <p:nvPr/>
        </p:nvSpPr>
        <p:spPr>
          <a:xfrm>
            <a:off x="3657600" y="310896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0" name="Cell on"/>
          <p:cNvSpPr/>
          <p:nvPr/>
        </p:nvSpPr>
        <p:spPr>
          <a:xfrm>
            <a:off x="4114800" y="310896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1" name="Cell on"/>
          <p:cNvSpPr/>
          <p:nvPr/>
        </p:nvSpPr>
        <p:spPr>
          <a:xfrm>
            <a:off x="4572000" y="310896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2" name="Cell on"/>
          <p:cNvSpPr/>
          <p:nvPr/>
        </p:nvSpPr>
        <p:spPr>
          <a:xfrm>
            <a:off x="5029200" y="310896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3" name="Cell on"/>
          <p:cNvSpPr/>
          <p:nvPr/>
        </p:nvSpPr>
        <p:spPr>
          <a:xfrm>
            <a:off x="5486400" y="310896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4" name="Cell off"/>
          <p:cNvSpPr/>
          <p:nvPr/>
        </p:nvSpPr>
        <p:spPr>
          <a:xfrm>
            <a:off x="5943600" y="31089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5" name="Cell off"/>
          <p:cNvSpPr/>
          <p:nvPr/>
        </p:nvSpPr>
        <p:spPr>
          <a:xfrm>
            <a:off x="6400800" y="31089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6" name="Cell off"/>
          <p:cNvSpPr/>
          <p:nvPr/>
        </p:nvSpPr>
        <p:spPr>
          <a:xfrm>
            <a:off x="6858000" y="31089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Computer Does</a:t>
            </a:r>
            <a:endParaRPr lang="en-US" sz="3000" dirty="0"/>
          </a:p>
        </p:txBody>
      </p:sp>
      <p:sp>
        <p:nvSpPr>
          <p:cNvPr id="3" name="@1 Card"/>
          <p:cNvSpPr/>
          <p:nvPr/>
        </p:nvSpPr>
        <p:spPr>
          <a:xfrm>
            <a:off x="457200" y="1188720"/>
            <a:ext cx="8229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4" name="@1 addText"/>
          <p:cNvSpPr txBox="1"/>
          <p:nvPr/>
        </p:nvSpPr>
        <p:spPr>
          <a:xfrm>
            <a:off x="731520" y="118872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start with an empty row, colour = 0 (blank)</a:t>
            </a:r>
            <a:endParaRPr lang="en-US" sz="2000" dirty="0"/>
          </a:p>
        </p:txBody>
      </p:sp>
      <p:sp>
        <p:nvSpPr>
          <p:cNvPr id="5" name="@2 Card"/>
          <p:cNvSpPr/>
          <p:nvPr/>
        </p:nvSpPr>
        <p:spPr>
          <a:xfrm>
            <a:off x="457200" y="2011680"/>
            <a:ext cx="8229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6" name="@2 addText"/>
          <p:cNvSpPr txBox="1"/>
          <p:nvPr/>
        </p:nvSpPr>
        <p:spPr>
          <a:xfrm>
            <a:off x="731520" y="201168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take a number: add that many of the colour</a:t>
            </a:r>
            <a:endParaRPr lang="en-US" sz="2000" dirty="0"/>
          </a:p>
        </p:txBody>
      </p:sp>
      <p:sp>
        <p:nvSpPr>
          <p:cNvPr id="7" name="@3 Card"/>
          <p:cNvSpPr/>
          <p:nvPr/>
        </p:nvSpPr>
        <p:spPr>
          <a:xfrm>
            <a:off x="457200" y="2834640"/>
            <a:ext cx="8229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8" name="@3 addText"/>
          <p:cNvSpPr txBox="1"/>
          <p:nvPr/>
        </p:nvSpPr>
        <p:spPr>
          <a:xfrm>
            <a:off x="731520" y="283464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swap the colour: 0 becomes 1, 1 becomes 0</a:t>
            </a:r>
            <a:endParaRPr lang="en-US" sz="2000" dirty="0"/>
          </a:p>
        </p:txBody>
      </p:sp>
      <p:sp>
        <p:nvSpPr>
          <p:cNvPr id="9" name="@4 Card"/>
          <p:cNvSpPr/>
          <p:nvPr/>
        </p:nvSpPr>
        <p:spPr>
          <a:xfrm>
            <a:off x="457200" y="3657600"/>
            <a:ext cx="8229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0" name="@4 addText"/>
          <p:cNvSpPr txBox="1"/>
          <p:nvPr/>
        </p:nvSpPr>
        <p:spPr>
          <a:xfrm>
            <a:off x="731520" y="365760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repeat for the next number</a:t>
            </a:r>
            <a:endParaRPr lang="en-US" sz="2000" dirty="0"/>
          </a:p>
        </p:txBody>
      </p:sp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[2, 7, 3]</a:t>
            </a:r>
            <a:endParaRPr lang="en-US" sz="3000" dirty="0"/>
          </a:p>
        </p:txBody>
      </p:sp>
      <p:sp>
        <p:nvSpPr>
          <p:cNvPr id="3" name="@1 Code box"/>
          <p:cNvSpPr/>
          <p:nvPr/>
        </p:nvSpPr>
        <p:spPr>
          <a:xfrm>
            <a:off x="457200" y="1280160"/>
            <a:ext cx="8229600" cy="1261872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4" name="@1 Code bar"/>
          <p:cNvSpPr/>
          <p:nvPr/>
        </p:nvSpPr>
        <p:spPr>
          <a:xfrm>
            <a:off x="457200" y="1280160"/>
            <a:ext cx="54864" cy="1261872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5" name="@1 addText"/>
          <p:cNvSpPr txBox="1"/>
          <p:nvPr/>
        </p:nvSpPr>
        <p:spPr>
          <a:xfrm>
            <a:off x="640080" y="1417320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blanks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800" dirty="0"/>
          </a:p>
        </p:txBody>
      </p:sp>
      <p:sp>
        <p:nvSpPr>
          <p:cNvPr id="6" name="@2 addText"/>
          <p:cNvSpPr txBox="1"/>
          <p:nvPr/>
        </p:nvSpPr>
        <p:spPr>
          <a:xfrm>
            <a:off x="640080" y="1746504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ones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800" dirty="0"/>
          </a:p>
        </p:txBody>
      </p:sp>
      <p:sp>
        <p:nvSpPr>
          <p:cNvPr id="7" name="@3 addText"/>
          <p:cNvSpPr txBox="1"/>
          <p:nvPr/>
        </p:nvSpPr>
        <p:spPr>
          <a:xfrm>
            <a:off x="640080" y="2075688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blanks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8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Starter Code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rle_starter.py in Spyder, run it and see the heart. Booklet pages 6 to 8.</a:t>
            </a:r>
            <a:endParaRPr lang="en-US" sz="1800" dirty="0"/>
          </a:p>
        </p:txBody>
      </p:sp>
      <p:sp>
        <p:nvSpPr>
          <p:cNvPr id="5" name="Timer pill"/>
          <p:cNvSpPr/>
          <p:nvPr/>
        </p:nvSpPr>
        <p:spPr>
          <a:xfrm>
            <a:off x="548640" y="38404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pic>
        <p:nvPicPr>
          <p:cNvPr id="6" name="Image 0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3995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2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Stuck? Use the Booklet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40233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D79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874520" y="12801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Python Ready</a:t>
            </a:r>
            <a:endParaRPr lang="en-US" sz="1600" dirty="0"/>
          </a:p>
        </p:txBody>
      </p:sp>
      <p:sp>
        <p:nvSpPr>
          <p:cNvPr id="6" name="Card"/>
          <p:cNvSpPr/>
          <p:nvPr/>
        </p:nvSpPr>
        <p:spPr>
          <a:xfrm>
            <a:off x="4663440" y="1280160"/>
            <a:ext cx="40233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28016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D79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p7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080760" y="12801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The Computer</a:t>
            </a:r>
            <a:endParaRPr lang="en-US" sz="1600" dirty="0"/>
          </a:p>
        </p:txBody>
      </p:sp>
      <p:sp>
        <p:nvSpPr>
          <p:cNvPr id="9" name="Card"/>
          <p:cNvSpPr/>
          <p:nvPr/>
        </p:nvSpPr>
        <p:spPr>
          <a:xfrm>
            <a:off x="457200" y="2377440"/>
            <a:ext cx="40233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377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D79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p8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874520" y="2377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Before You Type</a:t>
            </a:r>
            <a:endParaRPr lang="en-US" sz="1600" dirty="0"/>
          </a:p>
        </p:txBody>
      </p:sp>
      <p:sp>
        <p:nvSpPr>
          <p:cNvPr id="12" name="Card"/>
          <p:cNvSpPr/>
          <p:nvPr/>
        </p:nvSpPr>
        <p:spPr>
          <a:xfrm>
            <a:off x="4663440" y="2377440"/>
            <a:ext cx="40233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2377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D79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 and p10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080760" y="2377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Hints for your code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work it out on paper first, then type it</a:t>
            </a:r>
            <a:endParaRPr lang="en-US" sz="140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Trick: .append</a:t>
            </a:r>
            <a:endParaRPr lang="en-US" sz="3000" dirty="0"/>
          </a:p>
        </p:txBody>
      </p:sp>
      <p:sp>
        <p:nvSpPr>
          <p:cNvPr id="3" name="5 min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200" dirty="0"/>
          </a:p>
        </p:txBody>
      </p:sp>
      <p:sp>
        <p:nvSpPr>
          <p:cNvPr id="5" name="Code box"/>
          <p:cNvSpPr/>
          <p:nvPr/>
        </p:nvSpPr>
        <p:spPr>
          <a:xfrm>
            <a:off x="457200" y="1188720"/>
            <a:ext cx="8229600" cy="210312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6" name="Code bar"/>
          <p:cNvSpPr/>
          <p:nvPr/>
        </p:nvSpPr>
        <p:spPr>
          <a:xfrm>
            <a:off x="457200" y="1188720"/>
            <a:ext cx="54864" cy="2103120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325880"/>
            <a:ext cx="79552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2000" dirty="0"/>
          </a:p>
        </p:txBody>
      </p:sp>
      <p:sp>
        <p:nvSpPr>
          <p:cNvPr id="8" name="@1 addText"/>
          <p:cNvSpPr txBox="1"/>
          <p:nvPr/>
        </p:nvSpPr>
        <p:spPr>
          <a:xfrm>
            <a:off x="640080" y="1691640"/>
            <a:ext cx="79552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000" dirty="0"/>
          </a:p>
        </p:txBody>
      </p:sp>
      <p:sp>
        <p:nvSpPr>
          <p:cNvPr id="9" name="@2 addText"/>
          <p:cNvSpPr txBox="1"/>
          <p:nvPr/>
        </p:nvSpPr>
        <p:spPr>
          <a:xfrm>
            <a:off x="640080" y="2057400"/>
            <a:ext cx="79552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423160"/>
            <a:ext cx="79552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</a:t>
            </a:r>
            <a:endParaRPr lang="en-US" sz="2000" dirty="0"/>
          </a:p>
        </p:txBody>
      </p:sp>
      <p:sp>
        <p:nvSpPr>
          <p:cNvPr id="11" name="@3 addText"/>
          <p:cNvSpPr txBox="1"/>
          <p:nvPr/>
        </p:nvSpPr>
        <p:spPr>
          <a:xfrm>
            <a:off x="640080" y="2788920"/>
            <a:ext cx="79552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2000" dirty="0"/>
          </a:p>
        </p:txBody>
      </p:sp>
      <p:sp>
        <p:nvSpPr>
          <p:cNvPr id="12" name="@3 addText"/>
          <p:cNvSpPr txBox="1"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append = stick one more thing on the end of a list</a:t>
            </a:r>
            <a:endParaRPr lang="en-US" sz="14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Loop Inside a Loop</a:t>
            </a:r>
            <a:endParaRPr lang="en-US" sz="3000" dirty="0"/>
          </a:p>
        </p:txBody>
      </p:sp>
      <p:sp>
        <p:nvSpPr>
          <p:cNvPr id="3" name="Code box"/>
          <p:cNvSpPr/>
          <p:nvPr/>
        </p:nvSpPr>
        <p:spPr>
          <a:xfrm>
            <a:off x="457200" y="1188720"/>
            <a:ext cx="8229600" cy="137160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4" name="Code bar"/>
          <p:cNvSpPr/>
          <p:nvPr/>
        </p:nvSpPr>
        <p:spPr>
          <a:xfrm>
            <a:off x="457200" y="1188720"/>
            <a:ext cx="54864" cy="1371600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79552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buNone/>
            </a:pPr>
            <a:r>
              <a:rPr lang="en-US" sz="20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20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91640"/>
            <a:ext cx="79552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20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79552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000" dirty="0"/>
          </a:p>
        </p:txBody>
      </p:sp>
      <p:sp>
        <p:nvSpPr>
          <p:cNvPr id="8" name="@1 Code box"/>
          <p:cNvSpPr/>
          <p:nvPr/>
        </p:nvSpPr>
        <p:spPr>
          <a:xfrm>
            <a:off x="457200" y="2468880"/>
            <a:ext cx="8229600" cy="155448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9" name="@1 Code bar"/>
          <p:cNvSpPr/>
          <p:nvPr/>
        </p:nvSpPr>
        <p:spPr>
          <a:xfrm>
            <a:off x="457200" y="2468880"/>
            <a:ext cx="54864" cy="1554480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10" name="@1 addText"/>
          <p:cNvSpPr txBox="1"/>
          <p:nvPr/>
        </p:nvSpPr>
        <p:spPr>
          <a:xfrm>
            <a:off x="640080" y="2606040"/>
            <a:ext cx="795528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@1 addText"/>
          <p:cNvSpPr txBox="1"/>
          <p:nvPr/>
        </p:nvSpPr>
        <p:spPr>
          <a:xfrm>
            <a:off x="640080" y="2862072"/>
            <a:ext cx="795528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@1 addText"/>
          <p:cNvSpPr txBox="1"/>
          <p:nvPr/>
        </p:nvSpPr>
        <p:spPr>
          <a:xfrm>
            <a:off x="640080" y="3118104"/>
            <a:ext cx="795528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@1 addText"/>
          <p:cNvSpPr txBox="1"/>
          <p:nvPr/>
        </p:nvSpPr>
        <p:spPr>
          <a:xfrm>
            <a:off x="640080" y="3374136"/>
            <a:ext cx="795528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@1 addText"/>
          <p:cNvSpPr txBox="1"/>
          <p:nvPr/>
        </p:nvSpPr>
        <p:spPr>
          <a:xfrm>
            <a:off x="640080" y="3630168"/>
            <a:ext cx="795528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@1 addText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outer loop picks each number. The inner loop repeats that many times.</a:t>
            </a:r>
            <a:endParaRPr lang="en-US" sz="140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decode_row</a:t>
            </a:r>
            <a:endParaRPr lang="en-US" sz="3000" dirty="0"/>
          </a:p>
        </p:txBody>
      </p:sp>
      <p:sp>
        <p:nvSpPr>
          <p:cNvPr id="3" name="Code box"/>
          <p:cNvSpPr/>
          <p:nvPr/>
        </p:nvSpPr>
        <p:spPr>
          <a:xfrm>
            <a:off x="457200" y="1188720"/>
            <a:ext cx="8229600" cy="2578608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4" name="Code bar"/>
          <p:cNvSpPr/>
          <p:nvPr/>
        </p:nvSpPr>
        <p:spPr>
          <a:xfrm>
            <a:off x="457200" y="1188720"/>
            <a:ext cx="54864" cy="2578608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buNone/>
            </a:pPr>
            <a:r>
              <a:rPr lang="en-US" sz="18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decode_row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clue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55064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84248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colour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13432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i="1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for each number in the clue: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42616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i="1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add that many colour: a loop inside a loop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71800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i="1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swap colour: if / else, or colour = 1 - colour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300984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</a:t>
            </a:r>
            <a:endParaRPr lang="en-US" sz="1800" dirty="0"/>
          </a:p>
        </p:txBody>
      </p:sp>
      <p:sp>
        <p:nvSpPr>
          <p:cNvPr id="1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It</a:t>
            </a:r>
            <a:endParaRPr lang="en-US" sz="3000" dirty="0"/>
          </a:p>
        </p:txBody>
      </p:sp>
      <p:sp>
        <p:nvSpPr>
          <p:cNvPr id="3" name="Code box"/>
          <p:cNvSpPr/>
          <p:nvPr/>
        </p:nvSpPr>
        <p:spPr>
          <a:xfrm>
            <a:off x="457200" y="1280160"/>
            <a:ext cx="8229600" cy="676656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4" name="Code bar"/>
          <p:cNvSpPr/>
          <p:nvPr/>
        </p:nvSpPr>
        <p:spPr>
          <a:xfrm>
            <a:off x="457200" y="1280160"/>
            <a:ext cx="54864" cy="676656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795528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decode_row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2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200" dirty="0"/>
          </a:p>
        </p:txBody>
      </p:sp>
      <p:sp>
        <p:nvSpPr>
          <p:cNvPr id="6" name="@1 Code box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7" name="@1 Code bar"/>
          <p:cNvSpPr/>
          <p:nvPr/>
        </p:nvSpPr>
        <p:spPr>
          <a:xfrm>
            <a:off x="457200" y="2377440"/>
            <a:ext cx="54864" cy="640080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8" name="@1 addText"/>
          <p:cNvSpPr txBox="1"/>
          <p:nvPr/>
        </p:nvSpPr>
        <p:spPr>
          <a:xfrm>
            <a:off x="640080" y="2514600"/>
            <a:ext cx="79552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2000" dirty="0"/>
          </a:p>
        </p:txBody>
      </p:sp>
      <p:sp>
        <p:nvSpPr>
          <p:cNvPr id="9" name="@1 addText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if yours matches, it works</a:t>
            </a:r>
            <a:endParaRPr lang="en-US" sz="14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decode_row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2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decode_row and test it on [2, 7, 3]. Booklet page 9.</a:t>
            </a:r>
            <a:endParaRPr lang="en-US" sz="1800" dirty="0"/>
          </a:p>
        </p:txBody>
      </p:sp>
      <p:sp>
        <p:nvSpPr>
          <p:cNvPr id="5" name="Timer pill"/>
          <p:cNvSpPr/>
          <p:nvPr/>
        </p:nvSpPr>
        <p:spPr>
          <a:xfrm>
            <a:off x="548640" y="38404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pic>
        <p:nvPicPr>
          <p:cNvPr id="6" name="Image 0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3995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2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a Whole Picture</a:t>
            </a:r>
            <a:endParaRPr lang="en-US" sz="3000" dirty="0"/>
          </a:p>
        </p:txBody>
      </p:sp>
      <p:sp>
        <p:nvSpPr>
          <p:cNvPr id="3" name="3 min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picture is many rows. Decode each row, one by one.</a:t>
            </a:r>
            <a:endParaRPr lang="en-US" sz="1800" dirty="0"/>
          </a:p>
        </p:txBody>
      </p:sp>
      <p:sp>
        <p:nvSpPr>
          <p:cNvPr id="6" name="@1 Callout"/>
          <p:cNvSpPr/>
          <p:nvPr/>
        </p:nvSpPr>
        <p:spPr>
          <a:xfrm>
            <a:off x="457200" y="237744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7" name="@1 addText"/>
          <p:cNvSpPr txBox="1"/>
          <p:nvPr/>
        </p:nvSpPr>
        <p:spPr>
          <a:xfrm>
            <a:off x="685800" y="23774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already wrote the row decoder. Reuse it!</a:t>
            </a:r>
            <a:endParaRPr lang="en-US" sz="12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decode_picture</a:t>
            </a:r>
            <a:endParaRPr lang="en-US" sz="3000" dirty="0"/>
          </a:p>
        </p:txBody>
      </p:sp>
      <p:sp>
        <p:nvSpPr>
          <p:cNvPr id="3" name="Code box"/>
          <p:cNvSpPr/>
          <p:nvPr/>
        </p:nvSpPr>
        <p:spPr>
          <a:xfrm>
            <a:off x="457200" y="1188720"/>
            <a:ext cx="8229600" cy="2249424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4" name="Code bar"/>
          <p:cNvSpPr/>
          <p:nvPr/>
        </p:nvSpPr>
        <p:spPr>
          <a:xfrm>
            <a:off x="457200" y="1188720"/>
            <a:ext cx="54864" cy="2249424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buNone/>
            </a:pPr>
            <a:r>
              <a:rPr lang="en-US" sz="18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decode_picture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clues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55064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picture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84248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i="1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for each clue in clues: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13432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i="1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row = decode_row(clue)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42616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i="1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picture.append(row)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71800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picture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write once, reuse: same idea as add(10, 20), add(100, 1)</a:t>
            </a:r>
            <a:endParaRPr lang="en-US" sz="1400" dirty="0"/>
          </a:p>
        </p:txBody>
      </p:sp>
      <p:sp>
        <p:nvSpPr>
          <p:cNvPr id="1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Moment</a:t>
            </a:r>
            <a:endParaRPr lang="en-US" sz="3000" dirty="0"/>
          </a:p>
        </p:txBody>
      </p:sp>
      <p:sp>
        <p:nvSpPr>
          <p:cNvPr id="3" name="Code box"/>
          <p:cNvSpPr/>
          <p:nvPr/>
        </p:nvSpPr>
        <p:spPr>
          <a:xfrm>
            <a:off x="457200" y="1188720"/>
            <a:ext cx="8229600" cy="676656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4" name="Code bar"/>
          <p:cNvSpPr/>
          <p:nvPr/>
        </p:nvSpPr>
        <p:spPr>
          <a:xfrm>
            <a:off x="457200" y="1188720"/>
            <a:ext cx="54864" cy="676656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795528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show_picture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decode_picture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MUG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200" dirty="0"/>
          </a:p>
        </p:txBody>
      </p:sp>
      <p:sp>
        <p:nvSpPr>
          <p:cNvPr id="6" name="@1 Card"/>
          <p:cNvSpPr/>
          <p:nvPr/>
        </p:nvSpPr>
        <p:spPr>
          <a:xfrm>
            <a:off x="457200" y="2468880"/>
            <a:ext cx="26517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7" name="@1 addText"/>
          <p:cNvSpPr txBox="1"/>
          <p:nvPr/>
        </p:nvSpPr>
        <p:spPr>
          <a:xfrm>
            <a:off x="457200" y="24688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MUG: clues</a:t>
            </a:r>
            <a:endParaRPr lang="en-US" sz="1400" dirty="0"/>
          </a:p>
        </p:txBody>
      </p:sp>
      <p:sp>
        <p:nvSpPr>
          <p:cNvPr id="8" name="@2 Card"/>
          <p:cNvSpPr/>
          <p:nvPr/>
        </p:nvSpPr>
        <p:spPr>
          <a:xfrm>
            <a:off x="3291840" y="2468880"/>
            <a:ext cx="26517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9" name="@2 addText"/>
          <p:cNvSpPr txBox="1"/>
          <p:nvPr/>
        </p:nvSpPr>
        <p:spPr>
          <a:xfrm>
            <a:off x="3291840" y="24688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decode_picture: rows</a:t>
            </a:r>
            <a:endParaRPr lang="en-US" sz="1400" dirty="0"/>
          </a:p>
        </p:txBody>
      </p:sp>
      <p:sp>
        <p:nvSpPr>
          <p:cNvPr id="10" name="@3 Card"/>
          <p:cNvSpPr/>
          <p:nvPr/>
        </p:nvSpPr>
        <p:spPr>
          <a:xfrm>
            <a:off x="6126480" y="2468880"/>
            <a:ext cx="26517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1" name="@3 addText"/>
          <p:cNvSpPr txBox="1"/>
          <p:nvPr/>
        </p:nvSpPr>
        <p:spPr>
          <a:xfrm>
            <a:off x="6126480" y="24688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show_picture: draw</a:t>
            </a:r>
            <a:endParaRPr lang="en-US" sz="1400" dirty="0"/>
          </a:p>
        </p:txBody>
      </p:sp>
      <p:sp>
        <p:nvSpPr>
          <p:cNvPr id="12" name="@4 Bar"/>
          <p:cNvSpPr/>
          <p:nvPr/>
        </p:nvSpPr>
        <p:spPr>
          <a:xfrm>
            <a:off x="457200" y="3657600"/>
            <a:ext cx="64008" cy="548640"/>
          </a:xfrm>
          <a:prstGeom prst="rect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</p:sp>
      <p:sp>
        <p:nvSpPr>
          <p:cNvPr id="13" name="@4 addText"/>
          <p:cNvSpPr txBox="1"/>
          <p:nvPr/>
        </p:nvSpPr>
        <p:spPr>
          <a:xfrm>
            <a:off x="685800" y="3657600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swap MUG for UK_IRELAND.</a:t>
            </a:r>
            <a:endParaRPr lang="en-US" sz="2200" dirty="0"/>
          </a:p>
        </p:txBody>
      </p:sp>
      <p:sp>
        <p:nvSpPr>
          <p:cNvPr id="1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 a Picture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3 AND 4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decode_picture and show the mug. Then try DINOSAUR, MARIO and UK_IRELAND. Booklet pages 10 and 11.</a:t>
            </a:r>
            <a:endParaRPr lang="en-US" sz="1800" dirty="0"/>
          </a:p>
        </p:txBody>
      </p:sp>
      <p:sp>
        <p:nvSpPr>
          <p:cNvPr id="5" name="Timer pill"/>
          <p:cNvSpPr/>
          <p:nvPr/>
        </p:nvSpPr>
        <p:spPr>
          <a:xfrm>
            <a:off x="548640" y="38404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pic>
        <p:nvPicPr>
          <p:cNvPr id="6" name="Image 0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3995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Finished Product</a:t>
            </a:r>
            <a:endParaRPr lang="en-US" sz="3000" dirty="0"/>
          </a:p>
        </p:txBody>
      </p:sp>
      <p:sp>
        <p:nvSpPr>
          <p:cNvPr id="3" name="5 min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code. Much bigger pictures.</a:t>
            </a:r>
            <a:endParaRPr lang="en-US" sz="1800" dirty="0"/>
          </a:p>
        </p:txBody>
      </p:sp>
      <p:sp>
        <p:nvSpPr>
          <p:cNvPr id="6" name="Code box"/>
          <p:cNvSpPr/>
          <p:nvPr/>
        </p:nvSpPr>
        <p:spPr>
          <a:xfrm>
            <a:off x="457200" y="1737360"/>
            <a:ext cx="8229600" cy="1261872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</p:sp>
      <p:sp>
        <p:nvSpPr>
          <p:cNvPr id="7" name="Code bar"/>
          <p:cNvSpPr/>
          <p:nvPr/>
        </p:nvSpPr>
        <p:spPr>
          <a:xfrm>
            <a:off x="457200" y="1737360"/>
            <a:ext cx="54864" cy="1261872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show_picture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decode_picture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DINOSAUR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03704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show_picture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decode_picture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MARIO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532888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show_picture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decode_picture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UK_IRELAND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next slides show what your plots should look like</a:t>
            </a:r>
            <a:endParaRPr lang="en-US" sz="1400" dirty="0"/>
          </a:p>
        </p:txBody>
      </p:sp>
      <p:sp>
        <p:nvSpPr>
          <p:cNvPr id="1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#5: the clues (1 of 4)</a:t>
            </a:r>
            <a:endParaRPr lang="en-US" sz="3000" dirty="0"/>
          </a:p>
        </p:txBody>
      </p:sp>
      <p:sp>
        <p:nvSpPr>
          <p:cNvPr id="3" name="@1 Clue card"/>
          <p:cNvSpPr/>
          <p:nvPr/>
        </p:nvSpPr>
        <p:spPr>
          <a:xfrm>
            <a:off x="45720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4" name="@1 addText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27, 17, 3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27, 17, 3</a:t>
            </a:r>
            <a:endParaRPr lang="en-US" sz="1600" dirty="0"/>
          </a:p>
        </p:txBody>
      </p:sp>
      <p:sp>
        <p:nvSpPr>
          <p:cNvPr id="6" name="@1 addText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25, 19, 3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25, 19, 3</a:t>
            </a:r>
            <a:endParaRPr lang="en-US" sz="1600" dirty="0"/>
          </a:p>
        </p:txBody>
      </p:sp>
      <p:sp>
        <p:nvSpPr>
          <p:cNvPr id="8" name="@1 addText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25, 19, 3</a:t>
            </a:r>
            <a:endParaRPr lang="en-US" sz="1600" dirty="0"/>
          </a:p>
        </p:txBody>
      </p:sp>
      <p:sp>
        <p:nvSpPr>
          <p:cNvPr id="9" name="@1 addText"/>
          <p:cNvSpPr txBox="1"/>
          <p:nvPr/>
        </p:nvSpPr>
        <p:spPr>
          <a:xfrm>
            <a:off x="73152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25, 6, 4, 9, 3</a:t>
            </a:r>
            <a:endParaRPr lang="en-US" sz="1600" dirty="0"/>
          </a:p>
        </p:txBody>
      </p:sp>
      <p:sp>
        <p:nvSpPr>
          <p:cNvPr id="10" name="@2 Clue card"/>
          <p:cNvSpPr/>
          <p:nvPr/>
        </p:nvSpPr>
        <p:spPr>
          <a:xfrm>
            <a:off x="475488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1" name="@2 addText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25, 6, 1, 2, 1, 9, 3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25, 6, 1, 2, 1, 9, 3</a:t>
            </a:r>
            <a:endParaRPr lang="en-US" sz="1600" dirty="0"/>
          </a:p>
        </p:txBody>
      </p:sp>
      <p:sp>
        <p:nvSpPr>
          <p:cNvPr id="13" name="@2 addText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25, 6, 4, 9, 3</a:t>
            </a:r>
            <a:endParaRPr lang="en-US" sz="1600" dirty="0"/>
          </a:p>
        </p:txBody>
      </p:sp>
      <p:sp>
        <p:nvSpPr>
          <p:cNvPr id="14" name="@2 addText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25, 19, 3</a:t>
            </a:r>
            <a:endParaRPr lang="en-US" sz="1600" dirty="0"/>
          </a:p>
        </p:txBody>
      </p:sp>
      <p:sp>
        <p:nvSpPr>
          <p:cNvPr id="15" name="@2 addText"/>
          <p:cNvSpPr txBox="1"/>
          <p:nvPr/>
        </p:nvSpPr>
        <p:spPr>
          <a:xfrm>
            <a:off x="502920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25, 19, 3</a:t>
            </a:r>
            <a:endParaRPr lang="en-US" sz="1600" dirty="0"/>
          </a:p>
        </p:txBody>
      </p:sp>
      <p:sp>
        <p:nvSpPr>
          <p:cNvPr id="16" name="@2 addText"/>
          <p:cNvSpPr txBox="1"/>
          <p:nvPr/>
        </p:nvSpPr>
        <p:spPr>
          <a:xfrm>
            <a:off x="502920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25, 19, 3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rows 1 to 12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#5: the clues (2 of 4)</a:t>
            </a:r>
            <a:endParaRPr lang="en-US" sz="3000" dirty="0"/>
          </a:p>
        </p:txBody>
      </p:sp>
      <p:sp>
        <p:nvSpPr>
          <p:cNvPr id="3" name="@1 Clue card"/>
          <p:cNvSpPr/>
          <p:nvPr/>
        </p:nvSpPr>
        <p:spPr>
          <a:xfrm>
            <a:off x="45720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4" name="@1 addText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25, 19, 3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25, 19, 3</a:t>
            </a:r>
            <a:endParaRPr lang="en-US" sz="1600" dirty="0"/>
          </a:p>
        </p:txBody>
      </p:sp>
      <p:sp>
        <p:nvSpPr>
          <p:cNvPr id="6" name="@1 addText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25, 19, 3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7, 4, 12, 21, 3</a:t>
            </a:r>
            <a:endParaRPr lang="en-US" sz="1600" dirty="0"/>
          </a:p>
        </p:txBody>
      </p:sp>
      <p:sp>
        <p:nvSpPr>
          <p:cNvPr id="8" name="@1 addText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7, 4, 12, 21, 3</a:t>
            </a:r>
            <a:endParaRPr lang="en-US" sz="1600" dirty="0"/>
          </a:p>
        </p:txBody>
      </p:sp>
      <p:sp>
        <p:nvSpPr>
          <p:cNvPr id="9" name="@1 addText"/>
          <p:cNvSpPr txBox="1"/>
          <p:nvPr/>
        </p:nvSpPr>
        <p:spPr>
          <a:xfrm>
            <a:off x="73152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5, 6, 9, 24, 3</a:t>
            </a:r>
            <a:endParaRPr lang="en-US" sz="1600" dirty="0"/>
          </a:p>
        </p:txBody>
      </p:sp>
      <p:sp>
        <p:nvSpPr>
          <p:cNvPr id="10" name="@2 Clue card"/>
          <p:cNvSpPr/>
          <p:nvPr/>
        </p:nvSpPr>
        <p:spPr>
          <a:xfrm>
            <a:off x="475488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1" name="@2 addText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5, 6, 9, 24, 3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3, 8, 6, 24, 6</a:t>
            </a:r>
            <a:endParaRPr lang="en-US" sz="1600" dirty="0"/>
          </a:p>
        </p:txBody>
      </p:sp>
      <p:sp>
        <p:nvSpPr>
          <p:cNvPr id="13" name="@2 addText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3, 1, 1, 6, 6, 24, 6</a:t>
            </a:r>
            <a:endParaRPr lang="en-US" sz="1600" dirty="0"/>
          </a:p>
        </p:txBody>
      </p:sp>
      <p:sp>
        <p:nvSpPr>
          <p:cNvPr id="14" name="@2 addText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5, 36, 6</a:t>
            </a:r>
            <a:endParaRPr lang="en-US" sz="1600" dirty="0"/>
          </a:p>
        </p:txBody>
      </p:sp>
      <p:sp>
        <p:nvSpPr>
          <p:cNvPr id="15" name="@2 addText"/>
          <p:cNvSpPr txBox="1"/>
          <p:nvPr/>
        </p:nvSpPr>
        <p:spPr>
          <a:xfrm>
            <a:off x="502920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5, 36, 6</a:t>
            </a:r>
            <a:endParaRPr lang="en-US" sz="1600" dirty="0"/>
          </a:p>
        </p:txBody>
      </p:sp>
      <p:sp>
        <p:nvSpPr>
          <p:cNvPr id="16" name="@2 addText"/>
          <p:cNvSpPr txBox="1"/>
          <p:nvPr/>
        </p:nvSpPr>
        <p:spPr>
          <a:xfrm>
            <a:off x="502920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5, 36, 6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rows 13 to 24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#5: the clues (3 of 4)</a:t>
            </a:r>
            <a:endParaRPr lang="en-US" sz="3000" dirty="0"/>
          </a:p>
        </p:txBody>
      </p:sp>
      <p:sp>
        <p:nvSpPr>
          <p:cNvPr id="3" name="@1 Clue card"/>
          <p:cNvSpPr/>
          <p:nvPr/>
        </p:nvSpPr>
        <p:spPr>
          <a:xfrm>
            <a:off x="45720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4" name="@1 addText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5, 36, 6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5, 36, 6</a:t>
            </a:r>
            <a:endParaRPr lang="en-US" sz="1600" dirty="0"/>
          </a:p>
        </p:txBody>
      </p:sp>
      <p:sp>
        <p:nvSpPr>
          <p:cNvPr id="6" name="@1 addText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5, 36, 6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5, 32, 10</a:t>
            </a:r>
            <a:endParaRPr lang="en-US" sz="1600" dirty="0"/>
          </a:p>
        </p:txBody>
      </p:sp>
      <p:sp>
        <p:nvSpPr>
          <p:cNvPr id="8" name="@1 addText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5, 32, 10</a:t>
            </a:r>
            <a:endParaRPr lang="en-US" sz="1600" dirty="0"/>
          </a:p>
        </p:txBody>
      </p:sp>
      <p:sp>
        <p:nvSpPr>
          <p:cNvPr id="9" name="@1 addText"/>
          <p:cNvSpPr txBox="1"/>
          <p:nvPr/>
        </p:nvSpPr>
        <p:spPr>
          <a:xfrm>
            <a:off x="73152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7, 30, 10</a:t>
            </a:r>
            <a:endParaRPr lang="en-US" sz="1600" dirty="0"/>
          </a:p>
        </p:txBody>
      </p:sp>
      <p:sp>
        <p:nvSpPr>
          <p:cNvPr id="10" name="@2 Clue card"/>
          <p:cNvSpPr/>
          <p:nvPr/>
        </p:nvSpPr>
        <p:spPr>
          <a:xfrm>
            <a:off x="475488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1" name="@2 addText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7, 28, 12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9, 26, 12</a:t>
            </a:r>
            <a:endParaRPr lang="en-US" sz="1600" dirty="0"/>
          </a:p>
        </p:txBody>
      </p:sp>
      <p:sp>
        <p:nvSpPr>
          <p:cNvPr id="13" name="@2 addText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9, 26, 12</a:t>
            </a:r>
            <a:endParaRPr lang="en-US" sz="1600" dirty="0"/>
          </a:p>
        </p:txBody>
      </p:sp>
      <p:sp>
        <p:nvSpPr>
          <p:cNvPr id="14" name="@2 addText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11, 24, 12</a:t>
            </a:r>
            <a:endParaRPr lang="en-US" sz="1600" dirty="0"/>
          </a:p>
        </p:txBody>
      </p:sp>
      <p:sp>
        <p:nvSpPr>
          <p:cNvPr id="15" name="@2 addText"/>
          <p:cNvSpPr txBox="1"/>
          <p:nvPr/>
        </p:nvSpPr>
        <p:spPr>
          <a:xfrm>
            <a:off x="502920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11, 24, 12</a:t>
            </a:r>
            <a:endParaRPr lang="en-US" sz="1600" dirty="0"/>
          </a:p>
        </p:txBody>
      </p:sp>
      <p:sp>
        <p:nvSpPr>
          <p:cNvPr id="16" name="@2 addText"/>
          <p:cNvSpPr txBox="1"/>
          <p:nvPr/>
        </p:nvSpPr>
        <p:spPr>
          <a:xfrm>
            <a:off x="502920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13, 20, 14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rows 25 to 36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#5: the clues (4 of 4)</a:t>
            </a:r>
            <a:endParaRPr lang="en-US" sz="3000" dirty="0"/>
          </a:p>
        </p:txBody>
      </p:sp>
      <p:sp>
        <p:nvSpPr>
          <p:cNvPr id="3" name="@1 Clue card"/>
          <p:cNvSpPr/>
          <p:nvPr/>
        </p:nvSpPr>
        <p:spPr>
          <a:xfrm>
            <a:off x="45720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4" name="@1 addText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13, 20, 14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13, 20, 14</a:t>
            </a:r>
            <a:endParaRPr lang="en-US" sz="1600" dirty="0"/>
          </a:p>
        </p:txBody>
      </p:sp>
      <p:sp>
        <p:nvSpPr>
          <p:cNvPr id="6" name="@1 addText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13, 20, 14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15, 8, 2, 6, 16</a:t>
            </a:r>
            <a:endParaRPr lang="en-US" sz="1600" dirty="0"/>
          </a:p>
        </p:txBody>
      </p:sp>
      <p:sp>
        <p:nvSpPr>
          <p:cNvPr id="8" name="@1 addText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15, 8, 2, 6, 16</a:t>
            </a:r>
            <a:endParaRPr lang="en-US" sz="1600" dirty="0"/>
          </a:p>
        </p:txBody>
      </p:sp>
      <p:sp>
        <p:nvSpPr>
          <p:cNvPr id="9" name="@1 addText"/>
          <p:cNvSpPr txBox="1"/>
          <p:nvPr/>
        </p:nvSpPr>
        <p:spPr>
          <a:xfrm>
            <a:off x="73152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15, 6, 4, 6, 16</a:t>
            </a:r>
            <a:endParaRPr lang="en-US" sz="1600" dirty="0"/>
          </a:p>
        </p:txBody>
      </p:sp>
      <p:sp>
        <p:nvSpPr>
          <p:cNvPr id="10" name="@2 Clue card"/>
          <p:cNvSpPr/>
          <p:nvPr/>
        </p:nvSpPr>
        <p:spPr>
          <a:xfrm>
            <a:off x="475488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1" name="@2 addText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15, 6, 4, 6, 16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15, 8, 2, 8, 14</a:t>
            </a:r>
            <a:endParaRPr lang="en-US" sz="1600" dirty="0"/>
          </a:p>
        </p:txBody>
      </p:sp>
      <p:sp>
        <p:nvSpPr>
          <p:cNvPr id="13" name="@2 addText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15, 8, 2, 8, 14</a:t>
            </a:r>
            <a:endParaRPr lang="en-US" sz="1600" dirty="0"/>
          </a:p>
        </p:txBody>
      </p:sp>
      <p:sp>
        <p:nvSpPr>
          <p:cNvPr id="14" name="@2 addText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46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15, 8, 2, 8, 14</a:t>
            </a:r>
            <a:endParaRPr lang="en-US" sz="1600" dirty="0"/>
          </a:p>
        </p:txBody>
      </p:sp>
      <p:sp>
        <p:nvSpPr>
          <p:cNvPr id="15" name="@2 addText"/>
          <p:cNvSpPr txBox="1"/>
          <p:nvPr/>
        </p:nvSpPr>
        <p:spPr>
          <a:xfrm>
            <a:off x="502920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15, 8, 2, 8, 14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next slide: the decoded picture</a:t>
            </a:r>
            <a:endParaRPr lang="en-US" sz="14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#5: decoded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pic>
        <p:nvPicPr>
          <p:cNvPr id="5" name="Image 0" descr="A dinosaur on a 47 by 47 grid, decoded from the cl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1051560"/>
            <a:ext cx="3657600" cy="3657600"/>
          </a:xfrm>
          <a:prstGeom prst="rect">
            <a:avLst/>
          </a:prstGeom>
        </p:spPr>
      </p:pic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#6: the clues (1 of 3)</a:t>
            </a:r>
            <a:endParaRPr lang="en-US" sz="3000" dirty="0"/>
          </a:p>
        </p:txBody>
      </p:sp>
      <p:sp>
        <p:nvSpPr>
          <p:cNvPr id="3" name="@1 Clue card"/>
          <p:cNvSpPr/>
          <p:nvPr/>
        </p:nvSpPr>
        <p:spPr>
          <a:xfrm>
            <a:off x="45720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4" name="@1 addText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6, 5, 5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4, 7, 5</a:t>
            </a:r>
            <a:endParaRPr lang="en-US" sz="1600" dirty="0"/>
          </a:p>
        </p:txBody>
      </p:sp>
      <p:sp>
        <p:nvSpPr>
          <p:cNvPr id="6" name="@1 addText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3, 8, 5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3, 11, 2</a:t>
            </a:r>
            <a:endParaRPr lang="en-US" sz="1600" dirty="0"/>
          </a:p>
        </p:txBody>
      </p:sp>
      <p:sp>
        <p:nvSpPr>
          <p:cNvPr id="8" name="@1 addText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3, 9, 4</a:t>
            </a:r>
            <a:endParaRPr lang="en-US" sz="1600" dirty="0"/>
          </a:p>
        </p:txBody>
      </p:sp>
      <p:sp>
        <p:nvSpPr>
          <p:cNvPr id="9" name="@1 addText"/>
          <p:cNvSpPr txBox="1"/>
          <p:nvPr/>
        </p:nvSpPr>
        <p:spPr>
          <a:xfrm>
            <a:off x="73152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2, 12, 2</a:t>
            </a:r>
            <a:endParaRPr lang="en-US" sz="1600" dirty="0"/>
          </a:p>
        </p:txBody>
      </p:sp>
      <p:sp>
        <p:nvSpPr>
          <p:cNvPr id="10" name="@2 Clue card"/>
          <p:cNvSpPr/>
          <p:nvPr/>
        </p:nvSpPr>
        <p:spPr>
          <a:xfrm>
            <a:off x="475488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1" name="@2 addText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2, 13, 1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1, 14, 1</a:t>
            </a:r>
            <a:endParaRPr lang="en-US" sz="1600" dirty="0"/>
          </a:p>
        </p:txBody>
      </p:sp>
      <p:sp>
        <p:nvSpPr>
          <p:cNvPr id="13" name="@2 addText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1, 13, 2</a:t>
            </a:r>
            <a:endParaRPr lang="en-US" sz="1600" dirty="0"/>
          </a:p>
        </p:txBody>
      </p:sp>
      <p:sp>
        <p:nvSpPr>
          <p:cNvPr id="14" name="@2 addText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1, 13, 2</a:t>
            </a:r>
            <a:endParaRPr lang="en-US" sz="1600" dirty="0"/>
          </a:p>
        </p:txBody>
      </p:sp>
      <p:sp>
        <p:nvSpPr>
          <p:cNvPr id="15" name="@2 addText"/>
          <p:cNvSpPr txBox="1"/>
          <p:nvPr/>
        </p:nvSpPr>
        <p:spPr>
          <a:xfrm>
            <a:off x="502920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3, 10, 3</a:t>
            </a:r>
            <a:endParaRPr lang="en-US" sz="1600" dirty="0"/>
          </a:p>
        </p:txBody>
      </p:sp>
      <p:sp>
        <p:nvSpPr>
          <p:cNvPr id="16" name="@2 addText"/>
          <p:cNvSpPr txBox="1"/>
          <p:nvPr/>
        </p:nvSpPr>
        <p:spPr>
          <a:xfrm>
            <a:off x="502920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4, 7, 5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rows 1 to 12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#6: the clues (2 of 3)</a:t>
            </a:r>
            <a:endParaRPr lang="en-US" sz="3000" dirty="0"/>
          </a:p>
        </p:txBody>
      </p:sp>
      <p:sp>
        <p:nvSpPr>
          <p:cNvPr id="3" name="@1 Clue card"/>
          <p:cNvSpPr/>
          <p:nvPr/>
        </p:nvSpPr>
        <p:spPr>
          <a:xfrm>
            <a:off x="45720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4" name="@1 addText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4, 8, 4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3, 10, 3</a:t>
            </a:r>
            <a:endParaRPr lang="en-US" sz="1600" dirty="0"/>
          </a:p>
        </p:txBody>
      </p:sp>
      <p:sp>
        <p:nvSpPr>
          <p:cNvPr id="6" name="@1 addText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2, 12, 2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1, 14, 1</a:t>
            </a:r>
            <a:endParaRPr lang="en-US" sz="1600" dirty="0"/>
          </a:p>
        </p:txBody>
      </p:sp>
      <p:sp>
        <p:nvSpPr>
          <p:cNvPr id="8" name="@1 addText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1, 14, 1</a:t>
            </a:r>
            <a:endParaRPr lang="en-US" sz="1600" dirty="0"/>
          </a:p>
        </p:txBody>
      </p:sp>
      <p:sp>
        <p:nvSpPr>
          <p:cNvPr id="9" name="@1 addText"/>
          <p:cNvSpPr txBox="1"/>
          <p:nvPr/>
        </p:nvSpPr>
        <p:spPr>
          <a:xfrm>
            <a:off x="73152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0, 16</a:t>
            </a:r>
            <a:endParaRPr lang="en-US" sz="1600" dirty="0"/>
          </a:p>
        </p:txBody>
      </p:sp>
      <p:sp>
        <p:nvSpPr>
          <p:cNvPr id="10" name="@2 Clue card"/>
          <p:cNvSpPr/>
          <p:nvPr/>
        </p:nvSpPr>
        <p:spPr>
          <a:xfrm>
            <a:off x="475488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1" name="@2 addText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0, 16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0, 16</a:t>
            </a:r>
            <a:endParaRPr lang="en-US" sz="1600" dirty="0"/>
          </a:p>
        </p:txBody>
      </p:sp>
      <p:sp>
        <p:nvSpPr>
          <p:cNvPr id="13" name="@2 addText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0, 16</a:t>
            </a:r>
            <a:endParaRPr lang="en-US" sz="1600" dirty="0"/>
          </a:p>
        </p:txBody>
      </p:sp>
      <p:sp>
        <p:nvSpPr>
          <p:cNvPr id="14" name="@2 addText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0, 16</a:t>
            </a:r>
            <a:endParaRPr lang="en-US" sz="1600" dirty="0"/>
          </a:p>
        </p:txBody>
      </p:sp>
      <p:sp>
        <p:nvSpPr>
          <p:cNvPr id="15" name="@2 addText"/>
          <p:cNvSpPr txBox="1"/>
          <p:nvPr/>
        </p:nvSpPr>
        <p:spPr>
          <a:xfrm>
            <a:off x="502920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1, 14, 1</a:t>
            </a:r>
            <a:endParaRPr lang="en-US" sz="1600" dirty="0"/>
          </a:p>
        </p:txBody>
      </p:sp>
      <p:sp>
        <p:nvSpPr>
          <p:cNvPr id="16" name="@2 addText"/>
          <p:cNvSpPr txBox="1"/>
          <p:nvPr/>
        </p:nvSpPr>
        <p:spPr>
          <a:xfrm>
            <a:off x="502920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1, 14, 1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rows 13 to 24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#6: the clues (3 of 3)</a:t>
            </a:r>
            <a:endParaRPr lang="en-US" sz="3000" dirty="0"/>
          </a:p>
        </p:txBody>
      </p:sp>
      <p:sp>
        <p:nvSpPr>
          <p:cNvPr id="3" name="@1 Clue card"/>
          <p:cNvSpPr/>
          <p:nvPr/>
        </p:nvSpPr>
        <p:spPr>
          <a:xfrm>
            <a:off x="457200" y="1143000"/>
            <a:ext cx="3931920" cy="1956816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4" name="@1 addText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2, 12, 2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1, 6, 2, 6, 1</a:t>
            </a:r>
            <a:endParaRPr lang="en-US" sz="1600" dirty="0"/>
          </a:p>
        </p:txBody>
      </p:sp>
      <p:sp>
        <p:nvSpPr>
          <p:cNvPr id="6" name="@1 addText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1, 5, 4, 5, 1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1, 5, 4, 5, 1</a:t>
            </a:r>
            <a:endParaRPr lang="en-US" sz="1600" dirty="0"/>
          </a:p>
        </p:txBody>
      </p:sp>
      <p:sp>
        <p:nvSpPr>
          <p:cNvPr id="8" name="@2 Clue card"/>
          <p:cNvSpPr/>
          <p:nvPr/>
        </p:nvSpPr>
        <p:spPr>
          <a:xfrm>
            <a:off x="4754880" y="1143000"/>
            <a:ext cx="3931920" cy="1956816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9" name="@2 addText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2, 4, 4, 4, 2</a:t>
            </a:r>
            <a:endParaRPr lang="en-US" sz="1600" dirty="0"/>
          </a:p>
        </p:txBody>
      </p:sp>
      <p:sp>
        <p:nvSpPr>
          <p:cNvPr id="10" name="@2 addText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2, 4, 4, 4, 2</a:t>
            </a:r>
            <a:endParaRPr lang="en-US" sz="1600" dirty="0"/>
          </a:p>
        </p:txBody>
      </p:sp>
      <p:sp>
        <p:nvSpPr>
          <p:cNvPr id="11" name="@2 addText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0, 6, 4, 6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0, 6, 4, 6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next slide: the decoded picture</a:t>
            </a:r>
            <a:endParaRPr lang="en-US" sz="1400" dirty="0"/>
          </a:p>
        </p:txBody>
      </p:sp>
      <p:sp>
        <p:nvSpPr>
          <p:cNvPr id="1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#6: decoded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pic>
        <p:nvPicPr>
          <p:cNvPr id="5" name="Image 0" descr="A pixel-art character on a 16 by 32 grid, decoded from the cl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6411" y="1051560"/>
            <a:ext cx="1831178" cy="3657600"/>
          </a:xfrm>
          <a:prstGeom prst="rect">
            <a:avLst/>
          </a:prstGeom>
        </p:spPr>
      </p:pic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One: the clues (1 of 4)</a:t>
            </a:r>
            <a:endParaRPr lang="en-US" sz="3000" dirty="0"/>
          </a:p>
        </p:txBody>
      </p:sp>
      <p:sp>
        <p:nvSpPr>
          <p:cNvPr id="3" name="@1 Clue card"/>
          <p:cNvSpPr/>
          <p:nvPr/>
        </p:nvSpPr>
        <p:spPr>
          <a:xfrm>
            <a:off x="45720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4" name="@1 addText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</a:t>
            </a:r>
            <a:endParaRPr lang="en-US" sz="1600" dirty="0"/>
          </a:p>
        </p:txBody>
      </p:sp>
      <p:sp>
        <p:nvSpPr>
          <p:cNvPr id="6" name="@1 addText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17, 6, 15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16, 6, 16</a:t>
            </a:r>
            <a:endParaRPr lang="en-US" sz="1600" dirty="0"/>
          </a:p>
        </p:txBody>
      </p:sp>
      <p:sp>
        <p:nvSpPr>
          <p:cNvPr id="8" name="@1 addText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16, 5, 17</a:t>
            </a:r>
            <a:endParaRPr lang="en-US" sz="1600" dirty="0"/>
          </a:p>
        </p:txBody>
      </p:sp>
      <p:sp>
        <p:nvSpPr>
          <p:cNvPr id="9" name="@1 addText"/>
          <p:cNvSpPr txBox="1"/>
          <p:nvPr/>
        </p:nvSpPr>
        <p:spPr>
          <a:xfrm>
            <a:off x="73152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15, 5, 18</a:t>
            </a:r>
            <a:endParaRPr lang="en-US" sz="1600" dirty="0"/>
          </a:p>
        </p:txBody>
      </p:sp>
      <p:sp>
        <p:nvSpPr>
          <p:cNvPr id="10" name="@2 Clue card"/>
          <p:cNvSpPr/>
          <p:nvPr/>
        </p:nvSpPr>
        <p:spPr>
          <a:xfrm>
            <a:off x="475488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1" name="@2 addText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15, 5, 1, 5, 12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15, 11, 12</a:t>
            </a:r>
            <a:endParaRPr lang="en-US" sz="1600" dirty="0"/>
          </a:p>
        </p:txBody>
      </p:sp>
      <p:sp>
        <p:nvSpPr>
          <p:cNvPr id="13" name="@2 addText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15, 11, 12</a:t>
            </a:r>
            <a:endParaRPr lang="en-US" sz="1600" dirty="0"/>
          </a:p>
        </p:txBody>
      </p:sp>
      <p:sp>
        <p:nvSpPr>
          <p:cNvPr id="14" name="@2 addText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15, 11, 12</a:t>
            </a:r>
            <a:endParaRPr lang="en-US" sz="1600" dirty="0"/>
          </a:p>
        </p:txBody>
      </p:sp>
      <p:sp>
        <p:nvSpPr>
          <p:cNvPr id="15" name="@2 addText"/>
          <p:cNvSpPr txBox="1"/>
          <p:nvPr/>
        </p:nvSpPr>
        <p:spPr>
          <a:xfrm>
            <a:off x="502920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14, 11, 13</a:t>
            </a:r>
            <a:endParaRPr lang="en-US" sz="1600" dirty="0"/>
          </a:p>
        </p:txBody>
      </p:sp>
      <p:sp>
        <p:nvSpPr>
          <p:cNvPr id="16" name="@2 addText"/>
          <p:cNvSpPr txBox="1"/>
          <p:nvPr/>
        </p:nvSpPr>
        <p:spPr>
          <a:xfrm>
            <a:off x="502920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14, 11, 13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rows 1 to 12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One: the clues (2 of 4)</a:t>
            </a:r>
            <a:endParaRPr lang="en-US" sz="3000" dirty="0"/>
          </a:p>
        </p:txBody>
      </p:sp>
      <p:sp>
        <p:nvSpPr>
          <p:cNvPr id="3" name="@1 Clue card"/>
          <p:cNvSpPr/>
          <p:nvPr/>
        </p:nvSpPr>
        <p:spPr>
          <a:xfrm>
            <a:off x="45720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4" name="@1 addText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16, 8, 14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15, 9, 14</a:t>
            </a:r>
            <a:endParaRPr lang="en-US" sz="1600" dirty="0"/>
          </a:p>
        </p:txBody>
      </p:sp>
      <p:sp>
        <p:nvSpPr>
          <p:cNvPr id="6" name="@1 addText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15, 9, 14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15, 1, 1, 9, 12</a:t>
            </a:r>
            <a:endParaRPr lang="en-US" sz="1600" dirty="0"/>
          </a:p>
        </p:txBody>
      </p:sp>
      <p:sp>
        <p:nvSpPr>
          <p:cNvPr id="8" name="@1 addText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15, 1, 1, 10, 11</a:t>
            </a:r>
            <a:endParaRPr lang="en-US" sz="1600" dirty="0"/>
          </a:p>
        </p:txBody>
      </p:sp>
      <p:sp>
        <p:nvSpPr>
          <p:cNvPr id="9" name="@1 addText"/>
          <p:cNvSpPr txBox="1"/>
          <p:nvPr/>
        </p:nvSpPr>
        <p:spPr>
          <a:xfrm>
            <a:off x="73152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15, 1, 2, 9, 11</a:t>
            </a:r>
            <a:endParaRPr lang="en-US" sz="1600" dirty="0"/>
          </a:p>
        </p:txBody>
      </p:sp>
      <p:sp>
        <p:nvSpPr>
          <p:cNvPr id="10" name="@2 Clue card"/>
          <p:cNvSpPr/>
          <p:nvPr/>
        </p:nvSpPr>
        <p:spPr>
          <a:xfrm>
            <a:off x="475488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1" name="@2 addText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9, 2, 1, 2, 3, 10, 11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7, 7, 3, 11, 10</a:t>
            </a:r>
            <a:endParaRPr lang="en-US" sz="1600" dirty="0"/>
          </a:p>
        </p:txBody>
      </p:sp>
      <p:sp>
        <p:nvSpPr>
          <p:cNvPr id="13" name="@2 addText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7, 8, 2, 11, 10</a:t>
            </a:r>
            <a:endParaRPr lang="en-US" sz="1600" dirty="0"/>
          </a:p>
        </p:txBody>
      </p:sp>
      <p:sp>
        <p:nvSpPr>
          <p:cNvPr id="14" name="@2 addText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6, 10, 5, 8, 9</a:t>
            </a:r>
            <a:endParaRPr lang="en-US" sz="1600" dirty="0"/>
          </a:p>
        </p:txBody>
      </p:sp>
      <p:sp>
        <p:nvSpPr>
          <p:cNvPr id="15" name="@2 addText"/>
          <p:cNvSpPr txBox="1"/>
          <p:nvPr/>
        </p:nvSpPr>
        <p:spPr>
          <a:xfrm>
            <a:off x="502920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7, 9, 5, 9, 8</a:t>
            </a:r>
            <a:endParaRPr lang="en-US" sz="1600" dirty="0"/>
          </a:p>
        </p:txBody>
      </p:sp>
      <p:sp>
        <p:nvSpPr>
          <p:cNvPr id="16" name="@2 addText"/>
          <p:cNvSpPr txBox="1"/>
          <p:nvPr/>
        </p:nvSpPr>
        <p:spPr>
          <a:xfrm>
            <a:off x="502920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2, 13, 7, 9, 7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rows 13 to 24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One: the clues (3 of 4)</a:t>
            </a:r>
            <a:endParaRPr lang="en-US" sz="3000" dirty="0"/>
          </a:p>
        </p:txBody>
      </p:sp>
      <p:sp>
        <p:nvSpPr>
          <p:cNvPr id="3" name="@1 Clue card"/>
          <p:cNvSpPr/>
          <p:nvPr/>
        </p:nvSpPr>
        <p:spPr>
          <a:xfrm>
            <a:off x="45720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4" name="@1 addText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3, 11, 9, 8, 7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3, 11, 9, 9, 6</a:t>
            </a:r>
            <a:endParaRPr lang="en-US" sz="1600" dirty="0"/>
          </a:p>
        </p:txBody>
      </p:sp>
      <p:sp>
        <p:nvSpPr>
          <p:cNvPr id="6" name="@1 addText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3, 11, 9, 9, 6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2, 12, 8, 10, 6</a:t>
            </a:r>
            <a:endParaRPr lang="en-US" sz="1600" dirty="0"/>
          </a:p>
        </p:txBody>
      </p:sp>
      <p:sp>
        <p:nvSpPr>
          <p:cNvPr id="8" name="@1 addText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4, 10, 5, 14, 5</a:t>
            </a:r>
            <a:endParaRPr lang="en-US" sz="1600" dirty="0"/>
          </a:p>
        </p:txBody>
      </p:sp>
      <p:sp>
        <p:nvSpPr>
          <p:cNvPr id="9" name="@1 addText"/>
          <p:cNvSpPr txBox="1"/>
          <p:nvPr/>
        </p:nvSpPr>
        <p:spPr>
          <a:xfrm>
            <a:off x="73152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4, 10, 4, 14, 6</a:t>
            </a:r>
            <a:endParaRPr lang="en-US" sz="1600" dirty="0"/>
          </a:p>
        </p:txBody>
      </p:sp>
      <p:sp>
        <p:nvSpPr>
          <p:cNvPr id="10" name="@2 Clue card"/>
          <p:cNvSpPr/>
          <p:nvPr/>
        </p:nvSpPr>
        <p:spPr>
          <a:xfrm>
            <a:off x="475488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1" name="@2 addText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4, 10, 5, 17, 2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3, 11, 6, 17, 1</a:t>
            </a:r>
            <a:endParaRPr lang="en-US" sz="1600" dirty="0"/>
          </a:p>
        </p:txBody>
      </p:sp>
      <p:sp>
        <p:nvSpPr>
          <p:cNvPr id="13" name="@2 addText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3, 10, 6, 18, 1</a:t>
            </a:r>
            <a:endParaRPr lang="en-US" sz="1600" dirty="0"/>
          </a:p>
        </p:txBody>
      </p:sp>
      <p:sp>
        <p:nvSpPr>
          <p:cNvPr id="14" name="@2 addText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2, 11, 6, 17, 2</a:t>
            </a:r>
            <a:endParaRPr lang="en-US" sz="1600" dirty="0"/>
          </a:p>
        </p:txBody>
      </p:sp>
      <p:sp>
        <p:nvSpPr>
          <p:cNvPr id="15" name="@2 addText"/>
          <p:cNvSpPr txBox="1"/>
          <p:nvPr/>
        </p:nvSpPr>
        <p:spPr>
          <a:xfrm>
            <a:off x="502920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2, 8, 7, 19, 2</a:t>
            </a:r>
            <a:endParaRPr lang="en-US" sz="1600" dirty="0"/>
          </a:p>
        </p:txBody>
      </p:sp>
      <p:sp>
        <p:nvSpPr>
          <p:cNvPr id="16" name="@2 addText"/>
          <p:cNvSpPr txBox="1"/>
          <p:nvPr/>
        </p:nvSpPr>
        <p:spPr>
          <a:xfrm>
            <a:off x="502920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2, 6, 8, 19, 3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rows 25 to 36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One: the clues (4 of 4)</a:t>
            </a:r>
            <a:endParaRPr lang="en-US" sz="3000" dirty="0"/>
          </a:p>
        </p:txBody>
      </p:sp>
      <p:sp>
        <p:nvSpPr>
          <p:cNvPr id="3" name="@1 Clue card"/>
          <p:cNvSpPr/>
          <p:nvPr/>
        </p:nvSpPr>
        <p:spPr>
          <a:xfrm>
            <a:off x="457200" y="1143000"/>
            <a:ext cx="39319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4" name="@1 addText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3, 3, 13, 15, 4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21, 14, 3</a:t>
            </a:r>
            <a:endParaRPr lang="en-US" sz="1600" dirty="0"/>
          </a:p>
        </p:txBody>
      </p:sp>
      <p:sp>
        <p:nvSpPr>
          <p:cNvPr id="6" name="@1 addText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19, 17, 2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18, 17, 3</a:t>
            </a:r>
            <a:endParaRPr lang="en-US" sz="1600" dirty="0"/>
          </a:p>
        </p:txBody>
      </p:sp>
      <p:sp>
        <p:nvSpPr>
          <p:cNvPr id="8" name="@1 addText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18, 10, 1, 4, 5</a:t>
            </a:r>
            <a:endParaRPr lang="en-US" sz="1600" dirty="0"/>
          </a:p>
        </p:txBody>
      </p:sp>
      <p:sp>
        <p:nvSpPr>
          <p:cNvPr id="9" name="@2 Clue card"/>
          <p:cNvSpPr/>
          <p:nvPr/>
        </p:nvSpPr>
        <p:spPr>
          <a:xfrm>
            <a:off x="4754880" y="1143000"/>
            <a:ext cx="39319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</p:sp>
      <p:sp>
        <p:nvSpPr>
          <p:cNvPr id="10" name="@2 addText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17, 5, 2, 1, 13</a:t>
            </a:r>
            <a:endParaRPr lang="en-US" sz="1600" dirty="0"/>
          </a:p>
        </p:txBody>
      </p:sp>
      <p:sp>
        <p:nvSpPr>
          <p:cNvPr id="11" name="@2 addText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16, 5, 17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15, 2, 21</a:t>
            </a:r>
            <a:endParaRPr lang="en-US" sz="1600" dirty="0"/>
          </a:p>
        </p:txBody>
      </p:sp>
      <p:sp>
        <p:nvSpPr>
          <p:cNvPr id="13" name="@2 addText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</a:t>
            </a:r>
            <a:endParaRPr lang="en-US" sz="1600" dirty="0"/>
          </a:p>
        </p:txBody>
      </p:sp>
      <p:sp>
        <p:nvSpPr>
          <p:cNvPr id="14" name="@2 addText"/>
          <p:cNvSpPr txBox="1"/>
          <p:nvPr/>
        </p:nvSpPr>
        <p:spPr>
          <a:xfrm>
            <a:off x="502920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46  </a:t>
            </a:r>
            <a:pPr indent="0" marL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next slide: the decoded picture</a:t>
            </a:r>
            <a:endParaRPr lang="en-US" sz="140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One: decoded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pic>
        <p:nvPicPr>
          <p:cNvPr id="5" name="Image 0" descr="A map of the UK and Ireland on a 38 by 46 grid, decoded from the cl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0889" y="1051560"/>
            <a:ext cx="3022223" cy="3657600"/>
          </a:xfrm>
          <a:prstGeom prst="rect">
            <a:avLst/>
          </a:prstGeom>
        </p:spPr>
      </p:pic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It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5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each big picture by computer, compare with by hand, and write why. Booklet pages 11 and 12.</a:t>
            </a:r>
            <a:endParaRPr lang="en-US" sz="1800" dirty="0"/>
          </a:p>
        </p:txBody>
      </p:sp>
      <p:sp>
        <p:nvSpPr>
          <p:cNvPr id="5" name="Timer pill"/>
          <p:cNvSpPr/>
          <p:nvPr/>
        </p:nvSpPr>
        <p:spPr>
          <a:xfrm>
            <a:off x="548640" y="38404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pic>
        <p:nvPicPr>
          <p:cNvPr id="6" name="Image 0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3995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2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Early?</a:t>
            </a:r>
            <a:endParaRPr lang="en-US" sz="3000" dirty="0"/>
          </a:p>
        </p:txBody>
      </p:sp>
      <p:sp>
        <p:nvSpPr>
          <p:cNvPr id="3" name="Callout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Stretch: write encode_row(row) and go backwards: row in, clue out.</a:t>
            </a:r>
            <a:endParaRPr lang="en-US" sz="1200" dirty="0"/>
          </a:p>
        </p:txBody>
      </p:sp>
      <p:sp>
        <p:nvSpPr>
          <p:cNvPr id="5" name="Callout"/>
          <p:cNvSpPr/>
          <p:nvPr/>
        </p:nvSpPr>
        <p:spPr>
          <a:xfrm>
            <a:off x="457200" y="24688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5D79A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4688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 </a:t>
            </a:r>
            <a:pPr indent="0" marL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the computer: Encode It (booklet p12), or race the computer by hand.</a:t>
            </a:r>
            <a:endParaRPr lang="en-US" sz="12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Learned Today</a:t>
            </a:r>
            <a:endParaRPr lang="en-US" sz="3000" dirty="0"/>
          </a:p>
        </p:txBody>
      </p:sp>
      <p:sp>
        <p:nvSpPr>
          <p:cNvPr id="3" name="2 min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</a:t>
            </a:r>
            <a:endParaRPr lang="en-US" sz="1200" dirty="0"/>
          </a:p>
        </p:txBody>
      </p:sp>
      <p:sp>
        <p:nvSpPr>
          <p:cNvPr id="5" name="@1 addText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encoding = writing information a different way</a:t>
            </a:r>
            <a:endParaRPr lang="en-US" sz="1800" dirty="0"/>
          </a:p>
        </p:txBody>
      </p:sp>
      <p:sp>
        <p:nvSpPr>
          <p:cNvPr id="6" name="@2 addText"/>
          <p:cNvSpPr txBox="1"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compression = encoding to use fewer symbols</a:t>
            </a:r>
            <a:endParaRPr lang="en-US" sz="1800" dirty="0"/>
          </a:p>
        </p:txBody>
      </p:sp>
      <p:sp>
        <p:nvSpPr>
          <p:cNvPr id="7" name="@3 addText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run-length encoding: store what repeats, and how many times</a:t>
            </a:r>
            <a:endParaRPr lang="en-US" sz="1800" dirty="0"/>
          </a:p>
        </p:txBody>
      </p:sp>
      <p:sp>
        <p:nvSpPr>
          <p:cNvPr id="8" name="@4 addText"/>
          <p:cNvSpPr txBox="1"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great on repetitive data, badly on noisy data</a:t>
            </a:r>
            <a:endParaRPr lang="en-US" sz="1800" dirty="0"/>
          </a:p>
        </p:txBody>
      </p:sp>
      <p:sp>
        <p:nvSpPr>
          <p:cNvPr id="9" name="@5 addText"/>
          <p:cNvSpPr txBox="1"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you decoded small pictures by hand</a:t>
            </a:r>
            <a:endParaRPr lang="en-US" sz="1800" dirty="0"/>
          </a:p>
        </p:txBody>
      </p:sp>
      <p:sp>
        <p:nvSpPr>
          <p:cNvPr id="10" name="@6 addText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Python decoded a dinosaur, Mario, and the UK and Ireland</a:t>
            </a:r>
            <a:endParaRPr lang="en-US" sz="1800" dirty="0"/>
          </a:p>
        </p:txBody>
      </p:sp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Read Code Now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file on your phone or laptop is just numbers, encoded. You just decoded some by hand.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design your own picture on booklet page 12 as an RLE clue for a partner to decode. Stretch: write encode_row.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Cryptography Challenge</dc:title>
  <dc:subject>PptxGenJS Presentation</dc:subject>
  <dc:creator/>
  <cp:lastModifiedBy/>
  <cp:revision>1</cp:revision>
  <dcterms:created xsi:type="dcterms:W3CDTF">2026-10-15T16:29:04Z</dcterms:created>
  <dcterms:modified xsi:type="dcterms:W3CDTF">2026-10-15T16:29:04Z</dcterms:modified>
</cp:coreProperties>
</file>