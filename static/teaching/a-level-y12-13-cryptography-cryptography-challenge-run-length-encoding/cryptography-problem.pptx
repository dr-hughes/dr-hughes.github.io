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1" r:id="rId18"/>
    <p:sldId id="272" r:id="rId19"/>
    <p:sldId id="325"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330" r:id="rId81"/>
    <p:sldId id="331" r:id="rId82"/>
    <p:sldId id="287" r:id="rId34"/>
    <p:sldId id="288" r:id="rId35"/>
    <p:sldId id="289" r:id="rId36"/>
    <p:sldId id="290" r:id="rId37"/>
    <p:sldId id="291" r:id="rId38"/>
    <p:sldId id="292" r:id="rId39"/>
    <p:sldId id="293" r:id="rId40"/>
    <p:sldId id="294" r:id="rId41"/>
    <p:sldId id="326" r:id="rId42"/>
    <p:sldId id="327" r:id="rId43"/>
    <p:sldId id="328" r:id="rId44"/>
    <p:sldId id="329" r:id="rId45"/>
    <p:sldId id="295" r:id="rId46"/>
    <p:sldId id="332" r:id="rId83"/>
    <p:sldId id="296" r:id="rId47"/>
    <p:sldId id="297" r:id="rId48"/>
    <p:sldId id="298" r:id="rId49"/>
    <p:sldId id="299" r:id="rId50"/>
    <p:sldId id="300" r:id="rId51"/>
    <p:sldId id="301" r:id="rId52"/>
    <p:sldId id="333" r:id="rId84"/>
    <p:sldId id="302" r:id="rId53"/>
    <p:sldId id="303" r:id="rId54"/>
    <p:sldId id="304" r:id="rId55"/>
    <p:sldId id="305" r:id="rId56"/>
    <p:sldId id="334" r:id="rId85"/>
    <p:sldId id="335" r:id="rId8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36" r:id="rId87"/>
    <p:sldId id="322" r:id="rId73"/>
    <p:sldId id="337" r:id="rId88"/>
    <p:sldId id="323" r:id="rId74"/>
    <p:sldId id="324" r:id="rId7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er" id="{509CECAE-E259-ACB9-BEBA-45AEB049A861}">
          <p14:sldIdLst>
            <p14:sldId id="256"/>
            <p14:sldId id="257"/>
            <p14:sldId id="258"/>
            <p14:sldId id="259"/>
          </p14:sldIdLst>
        </p14:section>
        <p14:section name="Talk" id="{8BF6855D-9F83-3DFC-5A36-9CBD9EBAFB5F}">
          <p14:sldIdLst>
            <p14:sldId id="260"/>
          </p14:sldIdLst>
        </p14:section>
        <p14:section name="Default-1" id="{4271A547-6AEA-C796-F6A6-6752DFA1BAB4}">
          <p14:sldIdLst>
            <p14:sldId id="261"/>
            <p14:sldId id="262"/>
            <p14:sldId id="263"/>
            <p14:sldId id="264"/>
            <p14:sldId id="265"/>
            <p14:sldId id="266"/>
            <p14:sldId id="267"/>
            <p14:sldId id="268"/>
            <p14:sldId id="269"/>
            <p14:sldId id="270"/>
            <p14:sldId id="273"/>
            <p14:sldId id="271"/>
            <p14:sldId id="272"/>
            <p14:sldId id="325"/>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326"/>
            <p14:sldId id="327"/>
            <p14:sldId id="328"/>
            <p14:sldId id="329"/>
          </p14:sldIdLst>
        </p14:section>
        <p14:section name="Code" id="{8C98A65C-B7C4-7C64-5DB5-8575552778F9}">
          <p14:sldIdLst>
            <p14:sldId id="295"/>
          </p14:sldIdLst>
        </p14:section>
        <p14:section name="Default-2" id="{B4AA1D81-B6A1-A8F7-EDD0-CDEA3C11B802}">
          <p14:sldIdLst>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Lst>
        </p14:section>
        <p14:section name="Recap" id="{B11F9674-014C-A24E-E4A3-338619C5205E}">
          <p14:sldIdLst>
            <p14:sldId id="323"/>
          </p14:sldIdLst>
        </p14:section>
        <p14:section name="Default-3" id="{C24209AE-846F-AFEC-DD86-CA667C567F0C}">
          <p14:sldIdLst>
            <p14:sldId id="3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46"/>
    <p:restoredTop sz="94610"/>
  </p:normalViewPr>
  <p:slideViewPr>
    <p:cSldViewPr snapToGrid="0" snapToObjects="1">
      <p:cViewPr varScale="1">
        <p:scale>
          <a:sx n="165" d="100"/>
          <a:sy n="165" d="100"/>
        </p:scale>
        <p:origin x="200" y="10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slide" Target="slides/slide40.xml"/><Relationship Id="rId40" Type="http://schemas.openxmlformats.org/officeDocument/2006/relationships/slide" Target="slides/slide41.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6.xml"/><Relationship Id="rId46" Type="http://schemas.openxmlformats.org/officeDocument/2006/relationships/slide" Target="slides/slide47.xml"/><Relationship Id="rId47" Type="http://schemas.openxmlformats.org/officeDocument/2006/relationships/slide" Target="slides/slide49.xml"/><Relationship Id="rId48" Type="http://schemas.openxmlformats.org/officeDocument/2006/relationships/slide" Target="slides/slide50.xml"/><Relationship Id="rId49" Type="http://schemas.openxmlformats.org/officeDocument/2006/relationships/slide" Target="slides/slide51.xml"/><Relationship Id="rId50" Type="http://schemas.openxmlformats.org/officeDocument/2006/relationships/slide" Target="slides/slide52.xml"/><Relationship Id="rId51" Type="http://schemas.openxmlformats.org/officeDocument/2006/relationships/slide" Target="slides/slide53.xml"/><Relationship Id="rId52" Type="http://schemas.openxmlformats.org/officeDocument/2006/relationships/slide" Target="slides/slide54.xml"/><Relationship Id="rId53" Type="http://schemas.openxmlformats.org/officeDocument/2006/relationships/slide" Target="slides/slide56.xml"/><Relationship Id="rId54" Type="http://schemas.openxmlformats.org/officeDocument/2006/relationships/slide" Target="slides/slide57.xml"/><Relationship Id="rId55" Type="http://schemas.openxmlformats.org/officeDocument/2006/relationships/slide" Target="slides/slide58.xml"/><Relationship Id="rId56" Type="http://schemas.openxmlformats.org/officeDocument/2006/relationships/slide" Target="slides/slide59.xml"/><Relationship Id="rId57" Type="http://schemas.openxmlformats.org/officeDocument/2006/relationships/slide" Target="slides/slide62.xml"/><Relationship Id="rId58" Type="http://schemas.openxmlformats.org/officeDocument/2006/relationships/slide" Target="slides/slide63.xml"/><Relationship Id="rId59" Type="http://schemas.openxmlformats.org/officeDocument/2006/relationships/slide" Target="slides/slide64.xml"/><Relationship Id="rId60" Type="http://schemas.openxmlformats.org/officeDocument/2006/relationships/slide" Target="slides/slide65.xml"/><Relationship Id="rId61" Type="http://schemas.openxmlformats.org/officeDocument/2006/relationships/slide" Target="slides/slide66.xml"/><Relationship Id="rId62" Type="http://schemas.openxmlformats.org/officeDocument/2006/relationships/slide" Target="slides/slide67.xml"/><Relationship Id="rId63" Type="http://schemas.openxmlformats.org/officeDocument/2006/relationships/slide" Target="slides/slide68.xml"/><Relationship Id="rId64" Type="http://schemas.openxmlformats.org/officeDocument/2006/relationships/slide" Target="slides/slide69.xml"/><Relationship Id="rId65" Type="http://schemas.openxmlformats.org/officeDocument/2006/relationships/slide" Target="slides/slide70.xml"/><Relationship Id="rId66" Type="http://schemas.openxmlformats.org/officeDocument/2006/relationships/slide" Target="slides/slide71.xml"/><Relationship Id="rId67" Type="http://schemas.openxmlformats.org/officeDocument/2006/relationships/slide" Target="slides/slide72.xml"/><Relationship Id="rId68" Type="http://schemas.openxmlformats.org/officeDocument/2006/relationships/slide" Target="slides/slide73.xml"/><Relationship Id="rId69" Type="http://schemas.openxmlformats.org/officeDocument/2006/relationships/slide" Target="slides/slide74.xml"/><Relationship Id="rId70" Type="http://schemas.openxmlformats.org/officeDocument/2006/relationships/slide" Target="slides/slide75.xml"/><Relationship Id="rId71" Type="http://schemas.openxmlformats.org/officeDocument/2006/relationships/slide" Target="slides/slide76.xml"/><Relationship Id="rId72" Type="http://schemas.openxmlformats.org/officeDocument/2006/relationships/slide" Target="slides/slide77.xml"/><Relationship Id="rId73" Type="http://schemas.openxmlformats.org/officeDocument/2006/relationships/slide" Target="slides/slide79.xml"/><Relationship Id="rId74" Type="http://schemas.openxmlformats.org/officeDocument/2006/relationships/slide" Target="slides/slide81.xml"/><Relationship Id="rId75" Type="http://schemas.openxmlformats.org/officeDocument/2006/relationships/slide" Target="slides/slide82.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openxmlformats.org/officeDocument/2006/relationships/slide" Target="slides/slide33.xml"/><Relationship Id="rId82" Type="http://schemas.openxmlformats.org/officeDocument/2006/relationships/slide" Target="slides/slide34.xml"/><Relationship Id="rId83" Type="http://schemas.openxmlformats.org/officeDocument/2006/relationships/slide" Target="slides/slide48.xml"/><Relationship Id="rId84" Type="http://schemas.openxmlformats.org/officeDocument/2006/relationships/slide" Target="slides/slide55.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78.xml"/><Relationship Id="rId88"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624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 Hook, about 3 minutes. Show the picture and ask: what is this? Take two or three guesses (a fingerprint, coral, a maze). Do not say yet. Click for the hint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 The hint. Where in nature have you seen patterns like this? The picture is an animation: it grows from a few random specks. Click for each clue. Take guesses before the second click. Then move to the next slide: it is a Turing pattern.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 It is a Turing pattern. Alan Turing did more than codebreaking and computers: he also wrote about how living things get their patterns. One bullet per click. Keep it quick: this is the hook, and the lesson is about encoding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T+4: Same maths, different settings. These three are computer simulations: change how fast the chemicals are made and used up, and the pattern changes from spots to blotches to stripes. Click for each, then the last line. Quick: move on to the lesson.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T+0: Hook. Ask: what do you think encoding means? Intro block is 10 minutes: be on the 'Compressing a Picture' slide by T+10.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 One message, four codes. Nothing is lost: you can get HELP back from any of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 Everyday encoding (texting). Quick. Compression is encoding with a goal: fewer symbols.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 Computers encode everything. Skim.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T+4: Packets on the internet. Skim, or skip if behind. Packets organise data for the journey; compression shrinks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T+5: Why compress: less storage, faster sending. Picture A is 46 by 38 (1,748 values), run-length encoded 182. Picture B is 47 by 47 (2,209 values), 183. RLE is lossless; MP3 throws a little away.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T+6: Introduce RLE: store what repeats, and how many times.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 A few things worth knowing. Skip if behind. Still used in fax machines, BMP, TIFF and PCX.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T+8: Compress a sentence: count the runs together. YESSSSS!!!! is 11 characters, 1Y 1E 5S 4! is 8.</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T+9: Not every sentence compresses. Skip if behind. HAHAHA is 6 characters; RLE makes it 12.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T+9: Compressing a picture: clue = blanks, coloured, blanks. Move on by T+10.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T+12: Pupils open the booklet at page 2. 10 minutes: pages 2 to 4 (warm-up rows, mystery 1, mysteries 2 and 3). Page 5, mystery 4, is the stretch. Circulate. Pens down at T+22. Block: 10 min.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T+10: Worked example, 2 minutes. Pupils decode the first rows with you. Block: 2 min.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T+11: Click to reveal the picture. Be done by T+12.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T+11: Click to reveal the picture. Be done by T+12.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491061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T+22: Pens down. Talk block 10 minutes (T+22 to T+32). Check one answer on the next slide. Block: 10 min.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T+23: Decoded. Keep it quick.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T+23: Optional: only if pupils did page 4 mystery 3. Skip if behind.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T+23: Optional answer check. Skip if behind.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T+23: Optional: only for fast finishers who did page 5. Skip if behind.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T+23: Optional answer check. Skip if behind.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T+24: That took a while. Now let the computer do 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T+25: How long did that take? Now imagine 46 rows, or a million.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T+26: Computers are great at repeating things. You already know loops and functions.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T+26: A list is like a filing cabinet. Each drawer holds one thing. Click to open the drawers one at a time: 7, then 3, then 9. The last click shows the same thing as a Python list. Next slide: a row of 0s and 1s is exactly this.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T+27: A list can hold other lists: a filing cabinet whose drawers each hold a smaller filing cabinet. Click to open each drawer in turn. The last click shows it as Python. A picture will be a list of rows, and each row is a list.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T+26: A row is a list of 0s and 1s.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T+27: A picture is a list of rows. A list of lists: each inner list is one row of the grid.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T+28: Same thing, two ways: the clue and the row. Our job is clue to row.</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T+28: show_picture is given. Use it without reading inside.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T+29: Live in Spyder: run the heart.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T+29: The heart. Check it matches the list.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T+30: The import line. pictures.py must be in the same folder.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T+30: Decode one row: [2, 7, 3] becomes the row.</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T+31: What the computer does: four steps.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T+31: Follow [2, 7, 3]. Be here by T+32, then pupils start Task 1.</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Worked example, about 4 minutes in four slides. Slide 1: the heart as a picture and the run-length clue for each row. Click once per row. Point out row 2: the clue starts with 0 because the row starts with a coloured square. Last click: our job is the other way round, clue back to row. Next slides: plan it in pseudocode, then step through it.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Pseudocode: say what we want in plain English before writing any Python. Click through the groups. The outer loop picks one clue (one row) at a time. The inner loop picks one number at a time and adds that many blanks or coloured squares. Ask pupils where the colour swap goes and why it is inside the inner loop.</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inner loop on row 3 of the heart, the clue [1, 3, 1]. One click per pass of the loop. Start: row is empty, colour is 0. Each pass: add that many of the colour, then swap it. The last click shows the finished row as squares: it is the middle row of the heart. Pupils can predict the next row before each click.</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outer loop: one clue, one row, four times. Click once per row. Each click runs the whole inner loop from the last slide and adds a row to the picture. Last click: say it out loud, outer loop picks each row, inner loop picks each number. This is exactly what decode_picture and decode_row will do.</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T+32: Task 1 (T+32 to T+37, 5 minutes). Pupils open rle_starter.py, run it and see the heart, then trace a row on paper (booklet page 7) and plan in English (page 8). Leave the next slide up if they are stuck. Block: 5 min.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T+32: Stuck? Booklet pages: 6 get ready, 7 trace, 8 plan, 9 and 10 hints. Leave up while pupils work.</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T+37: Talk block 5 minutes (T+37 to T+42). New trick: .append. Block: 5 min.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T+38: A loop inside a loop: the outer loop picks each number, the inner loop repeats.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T+40: Your decode_row: point to booklet page 9 and the three hints.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T+41: Test it. Run print(decode_row([2, 7, 3])). If yours matches, it works.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T+42: Task 2 (T+42 to T+57, 15 minutes). Pupils write decode_row for 15 minutes. Hints in layers on page 9. Circulate. Watch for swapping the colour inside the inner loop (stripes), a missing return, append indented in the wrong loop. Block: 15 min.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T+57: Now a whole picture: reuse the row decoder. Talk block 3 minutes. Block: 3 min.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T+58: Your decode_picture: loop, decode, append. Booklet page 10.</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T+59: The big moment. Then swap mystery_image_1 for mystery_image_7. Pupils do Tasks 3 and 4 for 15 minutes (T+60 to T+75).</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T+60: Tasks 3 and 4 share one 15 minute block (T+60 to T+75). Task 3: decode_picture shows the mug. Task 4: the big pictures. Circulate. Block: 15 min.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T+75: Finished product, 5 minutes (T+75 to T+80). Same code, much bigger pictures. The next slides show what the plots should look like.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T+76: Clues for the first big picture, rows in groups of 12. Click for each column. Pupils do not decode these by hand.</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T+76: Clues for the first big picture, rows in groups of 12. Click for each column. Pupils do not decode these by hand.</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T+76: Clues for the first big picture, rows in groups of 12. Click for each column. Pupils do not decode these by hand.</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T+76: Clues for the first big picture, rows in groups of 12. Click for each column. Pupils do not decode these by hand.</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T+77: What your plot should look like. Do not linger.</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T+77: Clues for the second big picture, rows in groups of 12. Click for each column.</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T+77: Clues for the second big picture, rows in groups of 12. Click for each column.</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T+77: Clues for the second big picture, rows in groups of 12. Click for each column.</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T+78: What your plot should look like.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T+78: Clues for the biggest picture, rows in groups of 12. This one took ages by hand.</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T+78: Clues for the biggest picture, rows in groups of 12. This one took ages by hand.</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T+78: Clues for the biggest picture, rows in groups of 12. This one took ages by hand.</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T+78: Clues for the biggest picture, rows in groups of 12. This one took ages by hand.</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T+79: What your plot should look like. Then Task 5 for the last pupil block (8 minutes).</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T+80: Task 5 (T+80 to T+88, 8 minutes). Pupils time the big pictures, compare with the by-hand time and write the reasons on booklet page 11. Stretch: encode_row and Encode It (page 12). Block: 8 min.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T+80: Finished early? Stretch: encode_row goes backwards, row in and clue out. Off the computer: Encode It (booklet page 12), or race the computer by hand with a big grid.</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T+88: Recap, 2 minutes. Ask: what did you learn today? Block: 2 min.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T+89: Close. Pens and keyboards down.</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loop explainer, about 2 minutes. Same filing cabinet. A for loop opens each drawer in turn and does the indented lines once for each one. Click: the drawers open one by one and the Console shows each value. Ask what would print if the list had five numbers.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loop explainer, part two, about 2 minutes. range(3) gives 0, 1, 2, so the loop runs three times. We do not use i, we only want the count. Each pass adds one more 0 with .append. This is the inner loop of decode_row: range(number) runs number times.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Hold this up for anyone who cannot get the heart to appear. Run rle_starter.py (F5): a heart in the Plots pane. No heart? pictures.py must be in the same folder, and the Plots pane must be open (View, Panes, Plots).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Solution to hold up for anyone who is stuck. Task 2. The outer loop picks each number. The inner loop adds that many copies of the colour. Then swap the colour. An if / else instead of colour = 1 - colour is just as good. Test: print(decode_row([2, 7, 3])).</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Solution to hold up for anyone who is stuck. Task 3. Loop over the clues, decode each one with the function you already wrote, and append the row to the picture. Return the picture at the very end, level with the for.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Task 4 needs no new code: swap the picture name. Take the # off the lines in the starter file one at a time.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Task 5 answers. Each big picture takes the computer about a second. By hand, mystery_image_7 has about five times as many rows as mystery 1 and longer rows, so at least five times as long.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Stretch solution. Count the run of the current colour. When the pixel changes, add the count to the clue, switch colour, restart the count at 1. The easy-to-forget line is the final clue.append(count) after the loop.</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B4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rtlCol="0"/>
          <a:lstStyle>
            <a:lvl1pPr marL="0" indent="0" algn="l">
              <a:buNone/>
              <a:defRPr lang="en-US" sz="3400" b="1" dirty="0">
                <a:solidFill>
                  <a:srgbClr val="FFFFFF"/>
                </a:solidFill>
                <a:latin typeface="Arial" pitchFamily="34" charset="0"/>
                <a:ea typeface="Arial" pitchFamily="34" charset="-122"/>
                <a:cs typeface="Arial" pitchFamily="34" charset="-120"/>
              </a:defRPr>
            </a:lvl1pPr>
          </a:lstStyle>
          <a:p>
            <a:pPr marL="0" indent="0" algn="l">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EEF2F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rgbClr val="001B40"/>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marL="0" indent="0">
              <a:buNone/>
            </a:pPr>
            <a:r>
              <a:rPr lang="en-US" sz="1000" dirty="0">
                <a:solidFill>
                  <a:srgbClr val="5D6B80"/>
                </a:solidFill>
                <a:latin typeface="Arial" pitchFamily="34" charset="0"/>
                <a:ea typeface="Arial" pitchFamily="34" charset="-122"/>
                <a:cs typeface="Arial" pitchFamily="34" charset="-120"/>
              </a:rPr>
              <a:t>Cryptography Challenge</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rtlCol="0"/>
          <a:lstStyle>
            <a:lvl1pPr marL="0" indent="0" algn="l">
              <a:buNone/>
              <a:defRPr lang="en-US" sz="2800" b="1" dirty="0">
                <a:solidFill>
                  <a:srgbClr val="001B40"/>
                </a:solidFill>
                <a:latin typeface="Arial" pitchFamily="34" charset="0"/>
                <a:ea typeface="Arial" pitchFamily="34" charset="-122"/>
                <a:cs typeface="Arial" pitchFamily="34" charset="-120"/>
              </a:defRPr>
            </a:lvl1pPr>
          </a:lstStyle>
          <a:p>
            <a:pPr marL="0" indent="0" algn="l">
              <a:buNone/>
            </a:pPr>
            <a:endParaRPr lang="en-US" sz="2800" dirty="0"/>
          </a:p>
        </p:txBody>
      </p:sp>
      <p:sp>
        <p:nvSpPr>
          <p:cNvPr id="3" name="Text 0"/>
          <p:cNvSpPr/>
          <p:nvPr/>
        </p:nvSpPr>
        <p:spPr>
          <a:xfrm>
            <a:off x="457200" y="4828032"/>
            <a:ext cx="5486400" cy="228600"/>
          </a:xfrm>
          <a:prstGeom prst="rect">
            <a:avLst/>
          </a:prstGeom>
          <a:noFill/>
          <a:ln/>
        </p:spPr>
        <p:txBody>
          <a:bodyPr wrap="square" lIns="0" tIns="0" rIns="0" bIns="0" rtlCol="0" anchor="ctr"/>
          <a:lstStyle/>
          <a:p>
            <a:pPr marL="0" indent="0">
              <a:buNone/>
            </a:pPr>
            <a:r>
              <a:rPr lang="en-US" sz="1000" dirty="0">
                <a:solidFill>
                  <a:srgbClr val="5D6B80"/>
                </a:solidFill>
                <a:latin typeface="Arial" pitchFamily="34" charset="0"/>
                <a:ea typeface="Arial" pitchFamily="34" charset="-122"/>
                <a:cs typeface="Arial" pitchFamily="34" charset="-120"/>
              </a:rPr>
              <a:t>Cryptography Challenge</a:t>
            </a:r>
            <a:endParaRPr lang="en-US" sz="10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tinyurl.com/4xd36zuv" TargetMode="Externa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image" Target="../media/image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1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 Id="rId3" Type="http://schemas.openxmlformats.org/officeDocument/2006/relationships/image" Target="../media/image1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 Id="rId3" Type="http://schemas.openxmlformats.org/officeDocument/2006/relationships/image" Target="../media/image1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What is this?</a:t>
            </a:r>
            <a:endParaRPr lang="en-US" sz="3400" dirty="0"/>
          </a:p>
        </p:txBody>
      </p:sp>
      <p:pic>
        <p:nvPicPr>
          <p:cNvPr id="3" name="Image 0" descr="A pattern of wavy pale blue stripes and spots on a dark blue background, made by a computer simulation of two chemicals"/>
          <p:cNvPicPr>
            <a:picLocks noChangeAspect="1"/>
          </p:cNvPicPr>
          <p:nvPr/>
        </p:nvPicPr>
        <p:blipFill>
          <a:blip r:embed="rId3"/>
          <a:stretch>
            <a:fillRect/>
          </a:stretch>
        </p:blipFill>
        <p:spPr>
          <a:xfrm>
            <a:off x="5029200" y="548640"/>
            <a:ext cx="3657600" cy="3657600"/>
          </a:xfrm>
          <a:prstGeom prst="rect">
            <a:avLst/>
          </a:prstGeom>
          <a:effectLst>
            <a:outerShdw blurRad="101600" dist="38100" dir="5400000" algn="bl" rotWithShape="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Here's a Hint</a:t>
            </a:r>
            <a:endParaRPr lang="en-US" sz="3000" dirty="0"/>
          </a:p>
        </p:txBody>
      </p:sp>
      <p:pic>
        <p:nvPicPr>
          <p:cNvPr id="3" name="Image 0" descr="Animation: a pattern of pale blue stripes and spots grows out of a few random specks on a dark blue background"/>
          <p:cNvPicPr>
            <a:picLocks noChangeAspect="1"/>
          </p:cNvPicPr>
          <p:nvPr/>
        </p:nvPicPr>
        <p:blipFill>
          <a:blip r:embed="rId3"/>
          <a:stretch>
            <a:fillRect/>
          </a:stretch>
        </p:blipFill>
        <p:spPr>
          <a:xfrm>
            <a:off x="457200" y="1188720"/>
            <a:ext cx="3291840" cy="3291840"/>
          </a:xfrm>
          <a:prstGeom prst="rect">
            <a:avLst/>
          </a:prstGeom>
        </p:spPr>
      </p:pic>
      <p:sp>
        <p:nvSpPr>
          <p:cNvPr id="4" name="@1 Card"/>
          <p:cNvSpPr/>
          <p:nvPr/>
        </p:nvSpPr>
        <p:spPr>
          <a:xfrm>
            <a:off x="4114800" y="1371600"/>
            <a:ext cx="4572000" cy="1005840"/>
          </a:xfrm>
          <a:prstGeom prst="roundRect">
            <a:avLst>
              <a:gd name="adj" fmla="val 10909"/>
            </a:avLst>
          </a:prstGeom>
          <a:solidFill>
            <a:srgbClr val="FFFFFF"/>
          </a:solidFill>
          <a:ln w="9525">
            <a:solidFill>
              <a:srgbClr val="C5D1E3"/>
            </a:solidFill>
            <a:prstDash val="solid"/>
          </a:ln>
        </p:spPr>
        <p:txBody>
          <a:bodyPr/>
          <a:lstStyle/>
          <a:p>
            <a:endParaRPr lang="en-GB"/>
          </a:p>
        </p:txBody>
      </p:sp>
      <p:sp>
        <p:nvSpPr>
          <p:cNvPr id="5" name="@1 addText"/>
          <p:cNvSpPr txBox="1"/>
          <p:nvPr/>
        </p:nvSpPr>
        <p:spPr>
          <a:xfrm>
            <a:off x="4343400" y="1371600"/>
            <a:ext cx="4114800" cy="100584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Look at the animal kingdom: zebra stripes, leopard spots, the markings on fish.</a:t>
            </a:r>
            <a:endParaRPr lang="en-US" sz="1800" dirty="0"/>
          </a:p>
        </p:txBody>
      </p:sp>
      <p:sp>
        <p:nvSpPr>
          <p:cNvPr id="6" name="@2 Card"/>
          <p:cNvSpPr/>
          <p:nvPr/>
        </p:nvSpPr>
        <p:spPr>
          <a:xfrm>
            <a:off x="4114800" y="2743200"/>
            <a:ext cx="4572000" cy="1005840"/>
          </a:xfrm>
          <a:prstGeom prst="roundRect">
            <a:avLst>
              <a:gd name="adj" fmla="val 10909"/>
            </a:avLst>
          </a:prstGeom>
          <a:solidFill>
            <a:srgbClr val="FFFFFF"/>
          </a:solidFill>
          <a:ln w="9525">
            <a:solidFill>
              <a:srgbClr val="C5D1E3"/>
            </a:solidFill>
            <a:prstDash val="solid"/>
          </a:ln>
        </p:spPr>
        <p:txBody>
          <a:bodyPr/>
          <a:lstStyle/>
          <a:p>
            <a:endParaRPr lang="en-GB"/>
          </a:p>
        </p:txBody>
      </p:sp>
      <p:sp>
        <p:nvSpPr>
          <p:cNvPr id="7" name="@2 addText"/>
          <p:cNvSpPr txBox="1"/>
          <p:nvPr/>
        </p:nvSpPr>
        <p:spPr>
          <a:xfrm>
            <a:off x="4343400" y="2743200"/>
            <a:ext cx="4114800" cy="100584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Now think about who is famous for cracking the Enigma code.</a:t>
            </a:r>
            <a:endParaRPr lang="en-US" sz="1800" dirty="0"/>
          </a:p>
        </p:txBody>
      </p:sp>
      <p:sp>
        <p:nvSpPr>
          <p:cNvPr id="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Turing's Work in Biology</a:t>
            </a:r>
            <a:endParaRPr lang="en-US" sz="3000" dirty="0"/>
          </a:p>
        </p:txBody>
      </p:sp>
      <p:pic>
        <p:nvPicPr>
          <p:cNvPr id="3" name="Image 0" descr="A Turing pattern: wavy pale blue stripes on dark blue, made by a computer simulation"/>
          <p:cNvPicPr>
            <a:picLocks noChangeAspect="1"/>
          </p:cNvPicPr>
          <p:nvPr/>
        </p:nvPicPr>
        <p:blipFill>
          <a:blip r:embed="rId3"/>
          <a:srcRect/>
          <a:stretch/>
        </p:blipFill>
        <p:spPr>
          <a:xfrm>
            <a:off x="457200" y="1188720"/>
            <a:ext cx="3108960" cy="3291840"/>
          </a:xfrm>
          <a:prstGeom prst="rect">
            <a:avLst/>
          </a:prstGeom>
        </p:spPr>
      </p:pic>
      <p:sp>
        <p:nvSpPr>
          <p:cNvPr id="4" name="@1 addText"/>
          <p:cNvSpPr txBox="1"/>
          <p:nvPr/>
        </p:nvSpPr>
        <p:spPr>
          <a:xfrm>
            <a:off x="3931920" y="1188720"/>
            <a:ext cx="4754880" cy="566928"/>
          </a:xfrm>
          <a:prstGeom prst="rect">
            <a:avLst/>
          </a:prstGeom>
          <a:noFill/>
          <a:ln/>
        </p:spPr>
        <p:txBody>
          <a:bodyPr wrap="square" lIns="0" tIns="0" rIns="0" bIns="0" rtlCol="0" anchor="t"/>
          <a:lstStyle/>
          <a:p>
            <a:pPr marL="228600" indent="-228600">
              <a:buSzPct val="100000"/>
              <a:buChar char="•"/>
            </a:pPr>
            <a:r>
              <a:rPr lang="en-US" sz="1500" dirty="0">
                <a:solidFill>
                  <a:srgbClr val="22262E"/>
                </a:solidFill>
                <a:latin typeface="Arial" pitchFamily="34" charset="0"/>
                <a:ea typeface="Arial" pitchFamily="34" charset="-122"/>
                <a:cs typeface="Arial" pitchFamily="34" charset="-120"/>
              </a:rPr>
              <a:t>Alan Turing is famous for Enigma and for the ideas behind computers. He also studied biology.</a:t>
            </a:r>
            <a:endParaRPr lang="en-US" sz="1500" dirty="0"/>
          </a:p>
        </p:txBody>
      </p:sp>
      <p:sp>
        <p:nvSpPr>
          <p:cNvPr id="5" name="@2 addText"/>
          <p:cNvSpPr txBox="1"/>
          <p:nvPr/>
        </p:nvSpPr>
        <p:spPr>
          <a:xfrm>
            <a:off x="3931920" y="1828800"/>
            <a:ext cx="4754880" cy="566928"/>
          </a:xfrm>
          <a:prstGeom prst="rect">
            <a:avLst/>
          </a:prstGeom>
          <a:noFill/>
          <a:ln/>
        </p:spPr>
        <p:txBody>
          <a:bodyPr wrap="square" lIns="0" tIns="0" rIns="0" bIns="0" rtlCol="0" anchor="t"/>
          <a:lstStyle/>
          <a:p>
            <a:pPr marL="228600" indent="-228600">
              <a:buSzPct val="100000"/>
              <a:buChar char="•"/>
            </a:pPr>
            <a:r>
              <a:rPr lang="en-US" sz="1500" dirty="0">
                <a:solidFill>
                  <a:srgbClr val="22262E"/>
                </a:solidFill>
                <a:latin typeface="Arial" pitchFamily="34" charset="0"/>
                <a:ea typeface="Arial" pitchFamily="34" charset="-122"/>
                <a:cs typeface="Arial" pitchFamily="34" charset="-120"/>
              </a:rPr>
              <a:t>In 1952 he asked: how does a ball of identical cells grow into stripes and spots?</a:t>
            </a:r>
            <a:endParaRPr lang="en-US" sz="1500" dirty="0"/>
          </a:p>
        </p:txBody>
      </p:sp>
      <p:sp>
        <p:nvSpPr>
          <p:cNvPr id="6" name="@3 addText"/>
          <p:cNvSpPr txBox="1"/>
          <p:nvPr/>
        </p:nvSpPr>
        <p:spPr>
          <a:xfrm>
            <a:off x="3931920" y="2468880"/>
            <a:ext cx="4754880" cy="804672"/>
          </a:xfrm>
          <a:prstGeom prst="rect">
            <a:avLst/>
          </a:prstGeom>
          <a:noFill/>
          <a:ln/>
        </p:spPr>
        <p:txBody>
          <a:bodyPr wrap="square" lIns="0" tIns="0" rIns="0" bIns="0" rtlCol="0" anchor="t"/>
          <a:lstStyle/>
          <a:p>
            <a:pPr marL="228600" indent="-228600">
              <a:buSzPct val="100000"/>
              <a:buChar char="•"/>
            </a:pPr>
            <a:r>
              <a:rPr lang="en-US" sz="1500" dirty="0">
                <a:solidFill>
                  <a:srgbClr val="22262E"/>
                </a:solidFill>
                <a:latin typeface="Arial" pitchFamily="34" charset="0"/>
                <a:ea typeface="Arial" pitchFamily="34" charset="-122"/>
                <a:cs typeface="Arial" pitchFamily="34" charset="-120"/>
              </a:rPr>
              <a:t>His idea: two chemicals spread through the body and react with each other. Where they meet, a pattern appears by itself.</a:t>
            </a:r>
            <a:endParaRPr lang="en-US" sz="1500" dirty="0"/>
          </a:p>
        </p:txBody>
      </p:sp>
      <p:sp>
        <p:nvSpPr>
          <p:cNvPr id="7" name="@4 addText"/>
          <p:cNvSpPr txBox="1"/>
          <p:nvPr/>
        </p:nvSpPr>
        <p:spPr>
          <a:xfrm>
            <a:off x="3931920" y="3346704"/>
            <a:ext cx="4754880" cy="566928"/>
          </a:xfrm>
          <a:prstGeom prst="rect">
            <a:avLst/>
          </a:prstGeom>
          <a:noFill/>
          <a:ln/>
        </p:spPr>
        <p:txBody>
          <a:bodyPr wrap="square" lIns="0" tIns="0" rIns="0" bIns="0" rtlCol="0" anchor="t"/>
          <a:lstStyle/>
          <a:p>
            <a:pPr marL="228600" indent="-228600">
              <a:buSzPct val="100000"/>
              <a:buChar char="•"/>
            </a:pPr>
            <a:r>
              <a:rPr lang="en-US" sz="1500" dirty="0">
                <a:solidFill>
                  <a:srgbClr val="22262E"/>
                </a:solidFill>
                <a:latin typeface="Arial" pitchFamily="34" charset="0"/>
                <a:ea typeface="Arial" pitchFamily="34" charset="-122"/>
                <a:cs typeface="Arial" pitchFamily="34" charset="-120"/>
              </a:rPr>
              <a:t>He used maths and an early computer to test it. This picture is a computer simulation of that idea.</a:t>
            </a:r>
            <a:endParaRPr lang="en-US" sz="1500" dirty="0"/>
          </a:p>
        </p:txBody>
      </p:sp>
      <p:sp>
        <p:nvSpPr>
          <p:cNvPr id="8" name="@5 addText"/>
          <p:cNvSpPr txBox="1"/>
          <p:nvPr/>
        </p:nvSpPr>
        <p:spPr>
          <a:xfrm>
            <a:off x="3931920" y="3986784"/>
            <a:ext cx="4754880" cy="566928"/>
          </a:xfrm>
          <a:prstGeom prst="rect">
            <a:avLst/>
          </a:prstGeom>
          <a:noFill/>
          <a:ln/>
        </p:spPr>
        <p:txBody>
          <a:bodyPr wrap="square" lIns="0" tIns="0" rIns="0" bIns="0" rtlCol="0" anchor="t"/>
          <a:lstStyle/>
          <a:p>
            <a:pPr marL="228600" indent="-228600">
              <a:buSzPct val="100000"/>
              <a:buChar char="•"/>
            </a:pPr>
            <a:r>
              <a:rPr lang="en-US" sz="1500" dirty="0">
                <a:solidFill>
                  <a:srgbClr val="22262E"/>
                </a:solidFill>
                <a:latin typeface="Arial" pitchFamily="34" charset="0"/>
                <a:ea typeface="Arial" pitchFamily="34" charset="-122"/>
                <a:cs typeface="Arial" pitchFamily="34" charset="-120"/>
              </a:rPr>
              <a:t>Scientists have since found Turing patterns in zebrafish stripes and in the spacing of mouse toes.</a:t>
            </a:r>
            <a:endParaRPr lang="en-US" sz="1500" dirty="0"/>
          </a:p>
        </p:txBody>
      </p:sp>
      <p:sp>
        <p:nvSpPr>
          <p:cNvPr id="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Turing Patterns in Nature</a:t>
            </a:r>
            <a:endParaRPr lang="en-US" sz="3000" dirty="0"/>
          </a:p>
        </p:txBody>
      </p:sp>
      <p:pic>
        <p:nvPicPr>
          <p:cNvPr id="3" name="@1 addImage" descr="Simulated spots, pale blue dots on dark blue"/>
          <p:cNvPicPr>
            <a:picLocks noChangeAspect="1"/>
          </p:cNvPicPr>
          <p:nvPr/>
        </p:nvPicPr>
        <p:blipFill>
          <a:blip r:embed="rId3"/>
          <a:stretch>
            <a:fillRect/>
          </a:stretch>
        </p:blipFill>
        <p:spPr>
          <a:xfrm>
            <a:off x="457200" y="1143000"/>
            <a:ext cx="2560320" cy="2560320"/>
          </a:xfrm>
          <a:prstGeom prst="rect">
            <a:avLst/>
          </a:prstGeom>
        </p:spPr>
      </p:pic>
      <p:sp>
        <p:nvSpPr>
          <p:cNvPr id="4" name="@1 addText"/>
          <p:cNvSpPr txBox="1"/>
          <p:nvPr/>
        </p:nvSpPr>
        <p:spPr>
          <a:xfrm>
            <a:off x="457200" y="3749040"/>
            <a:ext cx="2560320" cy="292608"/>
          </a:xfrm>
          <a:prstGeom prst="rect">
            <a:avLst/>
          </a:prstGeom>
          <a:noFill/>
          <a:ln/>
        </p:spPr>
        <p:txBody>
          <a:bodyPr wrap="square" lIns="0" tIns="0" rIns="0" bIns="0" rtlCol="0" anchor="ctr"/>
          <a:lstStyle/>
          <a:p>
            <a:pPr marL="0" indent="0">
              <a:buNone/>
            </a:pPr>
            <a:r>
              <a:rPr lang="en-US" sz="1600" b="1" dirty="0">
                <a:solidFill>
                  <a:srgbClr val="002D6A"/>
                </a:solidFill>
                <a:latin typeface="Arial" pitchFamily="34" charset="0"/>
                <a:ea typeface="Arial" pitchFamily="34" charset="-122"/>
                <a:cs typeface="Arial" pitchFamily="34" charset="-120"/>
              </a:rPr>
              <a:t>Spots</a:t>
            </a:r>
            <a:endParaRPr lang="en-US" sz="1600" dirty="0"/>
          </a:p>
        </p:txBody>
      </p:sp>
      <p:sp>
        <p:nvSpPr>
          <p:cNvPr id="5" name="@1 addText"/>
          <p:cNvSpPr txBox="1"/>
          <p:nvPr/>
        </p:nvSpPr>
        <p:spPr>
          <a:xfrm>
            <a:off x="457200" y="4023360"/>
            <a:ext cx="2560320" cy="274320"/>
          </a:xfrm>
          <a:prstGeom prst="rect">
            <a:avLst/>
          </a:prstGeom>
          <a:noFill/>
          <a:ln/>
        </p:spPr>
        <p:txBody>
          <a:bodyPr wrap="square" lIns="0" tIns="0" rIns="0" bIns="0" rtlCol="0" anchor="ctr"/>
          <a:lstStyle/>
          <a:p>
            <a:pPr marL="0" indent="0">
              <a:buNone/>
            </a:pPr>
            <a:r>
              <a:rPr lang="en-US" sz="1300" dirty="0">
                <a:solidFill>
                  <a:srgbClr val="5D6B80"/>
                </a:solidFill>
                <a:latin typeface="Arial" pitchFamily="34" charset="0"/>
                <a:ea typeface="Arial" pitchFamily="34" charset="-122"/>
                <a:cs typeface="Arial" pitchFamily="34" charset="-120"/>
              </a:rPr>
              <a:t>leopards and cheetahs</a:t>
            </a:r>
            <a:endParaRPr lang="en-US" sz="1300" dirty="0"/>
          </a:p>
        </p:txBody>
      </p:sp>
      <p:pic>
        <p:nvPicPr>
          <p:cNvPr id="6" name="@2 addImage" descr="Simulated blotches, pale blue patches on dark blue"/>
          <p:cNvPicPr>
            <a:picLocks noChangeAspect="1"/>
          </p:cNvPicPr>
          <p:nvPr/>
        </p:nvPicPr>
        <p:blipFill>
          <a:blip r:embed="rId4"/>
          <a:stretch>
            <a:fillRect/>
          </a:stretch>
        </p:blipFill>
        <p:spPr>
          <a:xfrm>
            <a:off x="3337560" y="1143000"/>
            <a:ext cx="2560320" cy="2560320"/>
          </a:xfrm>
          <a:prstGeom prst="rect">
            <a:avLst/>
          </a:prstGeom>
        </p:spPr>
      </p:pic>
      <p:sp>
        <p:nvSpPr>
          <p:cNvPr id="7" name="@2 addText"/>
          <p:cNvSpPr txBox="1"/>
          <p:nvPr/>
        </p:nvSpPr>
        <p:spPr>
          <a:xfrm>
            <a:off x="3337560" y="3749040"/>
            <a:ext cx="2560320" cy="292608"/>
          </a:xfrm>
          <a:prstGeom prst="rect">
            <a:avLst/>
          </a:prstGeom>
          <a:noFill/>
          <a:ln/>
        </p:spPr>
        <p:txBody>
          <a:bodyPr wrap="square" lIns="0" tIns="0" rIns="0" bIns="0" rtlCol="0" anchor="ctr"/>
          <a:lstStyle/>
          <a:p>
            <a:pPr marL="0" indent="0">
              <a:buNone/>
            </a:pPr>
            <a:r>
              <a:rPr lang="en-US" sz="1600" b="1" dirty="0">
                <a:solidFill>
                  <a:srgbClr val="002D6A"/>
                </a:solidFill>
                <a:latin typeface="Arial" pitchFamily="34" charset="0"/>
                <a:ea typeface="Arial" pitchFamily="34" charset="-122"/>
                <a:cs typeface="Arial" pitchFamily="34" charset="-120"/>
              </a:rPr>
              <a:t>Blotches</a:t>
            </a:r>
            <a:endParaRPr lang="en-US" sz="1600" dirty="0"/>
          </a:p>
        </p:txBody>
      </p:sp>
      <p:sp>
        <p:nvSpPr>
          <p:cNvPr id="8" name="@2 addText"/>
          <p:cNvSpPr txBox="1"/>
          <p:nvPr/>
        </p:nvSpPr>
        <p:spPr>
          <a:xfrm>
            <a:off x="3337560" y="4023360"/>
            <a:ext cx="2560320" cy="274320"/>
          </a:xfrm>
          <a:prstGeom prst="rect">
            <a:avLst/>
          </a:prstGeom>
          <a:noFill/>
          <a:ln/>
        </p:spPr>
        <p:txBody>
          <a:bodyPr wrap="square" lIns="0" tIns="0" rIns="0" bIns="0" rtlCol="0" anchor="ctr"/>
          <a:lstStyle/>
          <a:p>
            <a:pPr marL="0" indent="0">
              <a:buNone/>
            </a:pPr>
            <a:r>
              <a:rPr lang="en-US" sz="1300" dirty="0">
                <a:solidFill>
                  <a:srgbClr val="5D6B80"/>
                </a:solidFill>
                <a:latin typeface="Arial" pitchFamily="34" charset="0"/>
                <a:ea typeface="Arial" pitchFamily="34" charset="-122"/>
                <a:cs typeface="Arial" pitchFamily="34" charset="-120"/>
              </a:rPr>
              <a:t>giraffe-style patches</a:t>
            </a:r>
            <a:endParaRPr lang="en-US" sz="1300" dirty="0"/>
          </a:p>
        </p:txBody>
      </p:sp>
      <p:pic>
        <p:nvPicPr>
          <p:cNvPr id="9" name="@3 addImage" descr="Simulated stripes and mazes, wavy pale blue lines on dark blue"/>
          <p:cNvPicPr>
            <a:picLocks noChangeAspect="1"/>
          </p:cNvPicPr>
          <p:nvPr/>
        </p:nvPicPr>
        <p:blipFill>
          <a:blip r:embed="rId5"/>
          <a:stretch>
            <a:fillRect/>
          </a:stretch>
        </p:blipFill>
        <p:spPr>
          <a:xfrm>
            <a:off x="6217920" y="1143000"/>
            <a:ext cx="2560320" cy="2560320"/>
          </a:xfrm>
          <a:prstGeom prst="rect">
            <a:avLst/>
          </a:prstGeom>
        </p:spPr>
      </p:pic>
      <p:sp>
        <p:nvSpPr>
          <p:cNvPr id="10" name="@3 addText"/>
          <p:cNvSpPr txBox="1"/>
          <p:nvPr/>
        </p:nvSpPr>
        <p:spPr>
          <a:xfrm>
            <a:off x="6217920" y="3749040"/>
            <a:ext cx="2560320" cy="292608"/>
          </a:xfrm>
          <a:prstGeom prst="rect">
            <a:avLst/>
          </a:prstGeom>
          <a:noFill/>
          <a:ln/>
        </p:spPr>
        <p:txBody>
          <a:bodyPr wrap="square" lIns="0" tIns="0" rIns="0" bIns="0" rtlCol="0" anchor="ctr"/>
          <a:lstStyle/>
          <a:p>
            <a:pPr marL="0" indent="0">
              <a:buNone/>
            </a:pPr>
            <a:r>
              <a:rPr lang="en-US" sz="1600" b="1" dirty="0">
                <a:solidFill>
                  <a:srgbClr val="002D6A"/>
                </a:solidFill>
                <a:latin typeface="Arial" pitchFamily="34" charset="0"/>
                <a:ea typeface="Arial" pitchFamily="34" charset="-122"/>
                <a:cs typeface="Arial" pitchFamily="34" charset="-120"/>
              </a:rPr>
              <a:t>Stripes and mazes</a:t>
            </a:r>
            <a:endParaRPr lang="en-US" sz="1600" dirty="0"/>
          </a:p>
        </p:txBody>
      </p:sp>
      <p:sp>
        <p:nvSpPr>
          <p:cNvPr id="11" name="@3 addText"/>
          <p:cNvSpPr txBox="1"/>
          <p:nvPr/>
        </p:nvSpPr>
        <p:spPr>
          <a:xfrm>
            <a:off x="6217920" y="4023360"/>
            <a:ext cx="2560320" cy="274320"/>
          </a:xfrm>
          <a:prstGeom prst="rect">
            <a:avLst/>
          </a:prstGeom>
          <a:noFill/>
          <a:ln/>
        </p:spPr>
        <p:txBody>
          <a:bodyPr wrap="square" lIns="0" tIns="0" rIns="0" bIns="0" rtlCol="0" anchor="ctr"/>
          <a:lstStyle/>
          <a:p>
            <a:pPr marL="0" indent="0">
              <a:buNone/>
            </a:pPr>
            <a:r>
              <a:rPr lang="en-US" sz="1300" dirty="0">
                <a:solidFill>
                  <a:srgbClr val="5D6B80"/>
                </a:solidFill>
                <a:latin typeface="Arial" pitchFamily="34" charset="0"/>
                <a:ea typeface="Arial" pitchFamily="34" charset="-122"/>
                <a:cs typeface="Arial" pitchFamily="34" charset="-120"/>
              </a:rPr>
              <a:t>zebrafish, angelfish, fingerprints</a:t>
            </a:r>
            <a:endParaRPr lang="en-US" sz="1300" dirty="0"/>
          </a:p>
        </p:txBody>
      </p:sp>
      <p:sp>
        <p:nvSpPr>
          <p:cNvPr id="12" name="@4 addText"/>
          <p:cNvSpPr txBox="1"/>
          <p:nvPr/>
        </p:nvSpPr>
        <p:spPr>
          <a:xfrm>
            <a:off x="457200" y="4370832"/>
            <a:ext cx="8229600" cy="320040"/>
          </a:xfrm>
          <a:prstGeom prst="rect">
            <a:avLst/>
          </a:prstGeom>
          <a:noFill/>
          <a:ln/>
        </p:spPr>
        <p:txBody>
          <a:bodyPr wrap="square" lIns="0" tIns="0" rIns="0" bIns="0" rtlCol="0" anchor="ctr"/>
          <a:lstStyle/>
          <a:p>
            <a:pPr marL="0" indent="0">
              <a:buNone/>
            </a:pPr>
            <a:r>
              <a:rPr lang="en-US" sz="1300" i="1" dirty="0">
                <a:solidFill>
                  <a:srgbClr val="22262E"/>
                </a:solidFill>
                <a:latin typeface="Arial" pitchFamily="34" charset="0"/>
                <a:ea typeface="Arial" pitchFamily="34" charset="-122"/>
                <a:cs typeface="Arial" pitchFamily="34" charset="-120"/>
              </a:rPr>
              <a:t>Also: seashell patterns, the spacing of hairs and feathers, and the ridges in a mouse's mouth.</a:t>
            </a:r>
            <a:endParaRPr lang="en-US" sz="1300" dirty="0"/>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2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Cryptography Challenge</a:t>
            </a:r>
            <a:endParaRPr lang="en-US" sz="3400" dirty="0"/>
          </a:p>
        </p:txBody>
      </p:sp>
      <p:sp>
        <p:nvSpPr>
          <p:cNvPr id="3" name="Text 1"/>
          <p:cNvSpPr txBox="1"/>
          <p:nvPr/>
        </p:nvSpPr>
        <p:spPr>
          <a:xfrm>
            <a:off x="548640" y="640080"/>
            <a:ext cx="4572000" cy="365760"/>
          </a:xfrm>
          <a:prstGeom prst="rect">
            <a:avLst/>
          </a:prstGeom>
          <a:noFill/>
          <a:ln/>
        </p:spPr>
        <p:txBody>
          <a:bodyPr wrap="square" lIns="0" tIns="0" rIns="0" bIns="0" rtlCol="0" anchor="ctr"/>
          <a:lstStyle/>
          <a:p>
            <a:pPr marL="0" indent="0">
              <a:buNone/>
            </a:pPr>
            <a:r>
              <a:rPr lang="en-US" sz="1600" b="1" dirty="0">
                <a:solidFill>
                  <a:srgbClr val="A9C4E8"/>
                </a:solidFill>
                <a:latin typeface="Courier New" pitchFamily="34" charset="0"/>
                <a:ea typeface="Courier New" pitchFamily="34" charset="-122"/>
                <a:cs typeface="Courier New" pitchFamily="34" charset="-120"/>
              </a:rPr>
              <a:t>cryptography.py _</a:t>
            </a:r>
            <a:endParaRPr lang="en-US" sz="16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Before we can break codes, let's see how data gets encoded in the first place.</a:t>
            </a:r>
            <a:endParaRPr lang="en-US" sz="1800" dirty="0"/>
          </a:p>
        </p:txBody>
      </p:sp>
      <p:sp>
        <p:nvSpPr>
          <p:cNvPr id="5" name="Text 3"/>
          <p:cNvSpPr txBox="1"/>
          <p:nvPr/>
        </p:nvSpPr>
        <p:spPr>
          <a:xfrm>
            <a:off x="548640" y="3657600"/>
            <a:ext cx="3657600" cy="365760"/>
          </a:xfrm>
          <a:prstGeom prst="rect">
            <a:avLst/>
          </a:prstGeom>
          <a:noFill/>
          <a:ln/>
        </p:spPr>
        <p:txBody>
          <a:bodyPr wrap="square" lIns="0" tIns="0" rIns="0" bIns="0" rtlCol="0" anchor="ctr"/>
          <a:lstStyle/>
          <a:p>
            <a:pPr marL="0" indent="0">
              <a:buNone/>
            </a:pPr>
            <a:r>
              <a:rPr lang="en-US" sz="1400" dirty="0">
                <a:solidFill>
                  <a:srgbClr val="A9C4E8"/>
                </a:solidFill>
                <a:latin typeface="Arial" pitchFamily="34" charset="0"/>
                <a:ea typeface="Arial" pitchFamily="34" charset="-122"/>
                <a:cs typeface="Arial" pitchFamily="34" charset="-120"/>
              </a:rPr>
              <a:t>Dr. Hughes</a:t>
            </a:r>
            <a:endParaRPr lang="en-US" sz="1400" dirty="0"/>
          </a:p>
        </p:txBody>
      </p:sp>
      <p:sp>
        <p:nvSpPr>
          <p:cNvPr id="6" name="Timer pill"/>
          <p:cNvSpPr/>
          <p:nvPr/>
        </p:nvSpPr>
        <p:spPr>
          <a:xfrm>
            <a:off x="548640" y="411480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7" name="Image 0" descr="clock"/>
          <p:cNvPicPr>
            <a:picLocks noChangeAspect="1"/>
          </p:cNvPicPr>
          <p:nvPr/>
        </p:nvPicPr>
        <p:blipFill>
          <a:blip r:embed="rId3"/>
          <a:stretch>
            <a:fillRect/>
          </a:stretch>
        </p:blipFill>
        <p:spPr>
          <a:xfrm>
            <a:off x="749808" y="4270248"/>
            <a:ext cx="329184" cy="329184"/>
          </a:xfrm>
          <a:prstGeom prst="rect">
            <a:avLst/>
          </a:prstGeom>
        </p:spPr>
      </p:pic>
      <p:sp>
        <p:nvSpPr>
          <p:cNvPr id="8" name="Text 5"/>
          <p:cNvSpPr txBox="1"/>
          <p:nvPr/>
        </p:nvSpPr>
        <p:spPr>
          <a:xfrm>
            <a:off x="1170432" y="411480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10 min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What Does "Encoding" Mean?</a:t>
            </a:r>
            <a:endParaRPr lang="en-US" sz="3000" dirty="0"/>
          </a:p>
        </p:txBody>
      </p:sp>
      <p:sp>
        <p:nvSpPr>
          <p:cNvPr id="3" name="Bar"/>
          <p:cNvSpPr/>
          <p:nvPr/>
        </p:nvSpPr>
        <p:spPr>
          <a:xfrm>
            <a:off x="457200" y="1005840"/>
            <a:ext cx="64008" cy="548640"/>
          </a:xfrm>
          <a:prstGeom prst="rect">
            <a:avLst/>
          </a:prstGeom>
          <a:solidFill>
            <a:srgbClr val="002D6A"/>
          </a:solidFill>
          <a:ln w="12700">
            <a:solidFill>
              <a:srgbClr val="002D6A"/>
            </a:solidFill>
            <a:prstDash val="solid"/>
          </a:ln>
        </p:spPr>
        <p:txBody>
          <a:bodyPr/>
          <a:lstStyle/>
          <a:p>
            <a:endParaRPr lang="en-GB"/>
          </a:p>
        </p:txBody>
      </p:sp>
      <p:sp>
        <p:nvSpPr>
          <p:cNvPr id="4" name="Text 2"/>
          <p:cNvSpPr txBox="1"/>
          <p:nvPr/>
        </p:nvSpPr>
        <p:spPr>
          <a:xfrm>
            <a:off x="685800" y="1005840"/>
            <a:ext cx="8001000" cy="548640"/>
          </a:xfrm>
          <a:prstGeom prst="rect">
            <a:avLst/>
          </a:prstGeom>
          <a:noFill/>
          <a:ln/>
        </p:spPr>
        <p:txBody>
          <a:bodyPr wrap="square" lIns="0" tIns="0" rIns="0" bIns="0" rtlCol="0" anchor="ctr"/>
          <a:lstStyle/>
          <a:p>
            <a:pPr marL="0" indent="0">
              <a:buNone/>
            </a:pPr>
            <a:r>
              <a:rPr lang="en-US" sz="2000" b="1" dirty="0">
                <a:solidFill>
                  <a:srgbClr val="002D6A"/>
                </a:solidFill>
                <a:latin typeface="Arial" pitchFamily="34" charset="0"/>
                <a:ea typeface="Arial" pitchFamily="34" charset="-122"/>
                <a:cs typeface="Arial" pitchFamily="34" charset="-120"/>
              </a:rPr>
              <a:t>Encoding = writing the same information in a different way.</a:t>
            </a:r>
            <a:endParaRPr lang="en-US" sz="2000" dirty="0"/>
          </a:p>
        </p:txBody>
      </p:sp>
      <p:sp>
        <p:nvSpPr>
          <p:cNvPr id="5" name="Card"/>
          <p:cNvSpPr/>
          <p:nvPr/>
        </p:nvSpPr>
        <p:spPr>
          <a:xfrm>
            <a:off x="457200" y="1783080"/>
            <a:ext cx="822960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6" name="Text 4"/>
          <p:cNvSpPr txBox="1"/>
          <p:nvPr/>
        </p:nvSpPr>
        <p:spPr>
          <a:xfrm>
            <a:off x="685800" y="1783080"/>
            <a:ext cx="2743200" cy="548640"/>
          </a:xfrm>
          <a:prstGeom prst="rect">
            <a:avLst/>
          </a:prstGeom>
          <a:noFill/>
          <a:ln/>
        </p:spPr>
        <p:txBody>
          <a:bodyPr wrap="square" lIns="0" tIns="0" rIns="0" bIns="0" rtlCol="0" anchor="ctr"/>
          <a:lstStyle/>
          <a:p>
            <a:pPr marL="0" indent="0">
              <a:buNone/>
            </a:pPr>
            <a:r>
              <a:rPr lang="en-US" sz="1400" dirty="0">
                <a:solidFill>
                  <a:srgbClr val="5D6B80"/>
                </a:solidFill>
                <a:latin typeface="Courier New" pitchFamily="34" charset="0"/>
                <a:ea typeface="Courier New" pitchFamily="34" charset="-122"/>
                <a:cs typeface="Courier New" pitchFamily="34" charset="-120"/>
              </a:rPr>
              <a:t>plain text</a:t>
            </a:r>
            <a:endParaRPr lang="en-US" sz="1400" dirty="0"/>
          </a:p>
        </p:txBody>
      </p:sp>
      <p:sp>
        <p:nvSpPr>
          <p:cNvPr id="7" name="Text 5"/>
          <p:cNvSpPr txBox="1"/>
          <p:nvPr/>
        </p:nvSpPr>
        <p:spPr>
          <a:xfrm>
            <a:off x="3383280" y="1783080"/>
            <a:ext cx="5120640" cy="548640"/>
          </a:xfrm>
          <a:prstGeom prst="rect">
            <a:avLst/>
          </a:prstGeom>
          <a:noFill/>
          <a:ln/>
        </p:spPr>
        <p:txBody>
          <a:bodyPr wrap="square" lIns="0" tIns="0" rIns="0" bIns="0" rtlCol="0" anchor="ctr"/>
          <a:lstStyle/>
          <a:p>
            <a:pPr marL="0" indent="0">
              <a:buNone/>
            </a:pPr>
            <a:r>
              <a:rPr lang="en-US" sz="2200" b="1" dirty="0">
                <a:solidFill>
                  <a:srgbClr val="002D6A"/>
                </a:solidFill>
                <a:latin typeface="Courier New" pitchFamily="34" charset="0"/>
                <a:ea typeface="Courier New" pitchFamily="34" charset="-122"/>
                <a:cs typeface="Courier New" pitchFamily="34" charset="-120"/>
              </a:rPr>
              <a:t>HELP</a:t>
            </a:r>
            <a:endParaRPr lang="en-US" sz="2200" dirty="0"/>
          </a:p>
        </p:txBody>
      </p:sp>
      <p:sp>
        <p:nvSpPr>
          <p:cNvPr id="8" name="@1 Card"/>
          <p:cNvSpPr/>
          <p:nvPr/>
        </p:nvSpPr>
        <p:spPr>
          <a:xfrm>
            <a:off x="457200" y="2423160"/>
            <a:ext cx="822960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9" name="@1 addText"/>
          <p:cNvSpPr txBox="1"/>
          <p:nvPr/>
        </p:nvSpPr>
        <p:spPr>
          <a:xfrm>
            <a:off x="685800" y="2423160"/>
            <a:ext cx="2743200" cy="548640"/>
          </a:xfrm>
          <a:prstGeom prst="rect">
            <a:avLst/>
          </a:prstGeom>
          <a:noFill/>
          <a:ln/>
        </p:spPr>
        <p:txBody>
          <a:bodyPr wrap="square" lIns="0" tIns="0" rIns="0" bIns="0" rtlCol="0" anchor="ctr"/>
          <a:lstStyle/>
          <a:p>
            <a:pPr marL="0" indent="0">
              <a:buNone/>
            </a:pPr>
            <a:r>
              <a:rPr lang="en-US" sz="1400" dirty="0">
                <a:solidFill>
                  <a:srgbClr val="5D6B80"/>
                </a:solidFill>
                <a:latin typeface="Courier New" pitchFamily="34" charset="0"/>
                <a:ea typeface="Courier New" pitchFamily="34" charset="-122"/>
                <a:cs typeface="Courier New" pitchFamily="34" charset="-120"/>
              </a:rPr>
              <a:t>Morse code</a:t>
            </a:r>
            <a:endParaRPr lang="en-US" sz="1400" dirty="0"/>
          </a:p>
        </p:txBody>
      </p:sp>
      <p:sp>
        <p:nvSpPr>
          <p:cNvPr id="10" name="@1 addText"/>
          <p:cNvSpPr txBox="1"/>
          <p:nvPr/>
        </p:nvSpPr>
        <p:spPr>
          <a:xfrm>
            <a:off x="3383280" y="2423160"/>
            <a:ext cx="5120640" cy="548640"/>
          </a:xfrm>
          <a:prstGeom prst="rect">
            <a:avLst/>
          </a:prstGeom>
          <a:noFill/>
          <a:ln/>
        </p:spPr>
        <p:txBody>
          <a:bodyPr wrap="squar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  .  .-..  .--.</a:t>
            </a:r>
            <a:endParaRPr lang="en-US" sz="1600" dirty="0"/>
          </a:p>
        </p:txBody>
      </p:sp>
      <p:sp>
        <p:nvSpPr>
          <p:cNvPr id="11" name="@2 Card"/>
          <p:cNvSpPr/>
          <p:nvPr/>
        </p:nvSpPr>
        <p:spPr>
          <a:xfrm>
            <a:off x="457200" y="3063240"/>
            <a:ext cx="822960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2" name="@2 addText"/>
          <p:cNvSpPr txBox="1"/>
          <p:nvPr/>
        </p:nvSpPr>
        <p:spPr>
          <a:xfrm>
            <a:off x="685800" y="3063240"/>
            <a:ext cx="2743200" cy="548640"/>
          </a:xfrm>
          <a:prstGeom prst="rect">
            <a:avLst/>
          </a:prstGeom>
          <a:noFill/>
          <a:ln/>
        </p:spPr>
        <p:txBody>
          <a:bodyPr wrap="square" lIns="0" tIns="0" rIns="0" bIns="0" rtlCol="0" anchor="ctr"/>
          <a:lstStyle/>
          <a:p>
            <a:pPr marL="0" indent="0">
              <a:buNone/>
            </a:pPr>
            <a:r>
              <a:rPr lang="en-US" sz="1400" dirty="0">
                <a:solidFill>
                  <a:srgbClr val="5D6B80"/>
                </a:solidFill>
                <a:latin typeface="Courier New" pitchFamily="34" charset="0"/>
                <a:ea typeface="Courier New" pitchFamily="34" charset="-122"/>
                <a:cs typeface="Courier New" pitchFamily="34" charset="-120"/>
              </a:rPr>
              <a:t>A=1, B=2, C=3 ...</a:t>
            </a:r>
            <a:endParaRPr lang="en-US" sz="1400" dirty="0"/>
          </a:p>
        </p:txBody>
      </p:sp>
      <p:sp>
        <p:nvSpPr>
          <p:cNvPr id="13" name="@2 addText"/>
          <p:cNvSpPr txBox="1"/>
          <p:nvPr/>
        </p:nvSpPr>
        <p:spPr>
          <a:xfrm>
            <a:off x="3383280" y="3063240"/>
            <a:ext cx="5120640" cy="548640"/>
          </a:xfrm>
          <a:prstGeom prst="rect">
            <a:avLst/>
          </a:prstGeom>
          <a:noFill/>
          <a:ln/>
        </p:spPr>
        <p:txBody>
          <a:bodyPr wrap="squar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8  5  12  16</a:t>
            </a:r>
            <a:endParaRPr lang="en-US" sz="1600" dirty="0"/>
          </a:p>
        </p:txBody>
      </p:sp>
      <p:sp>
        <p:nvSpPr>
          <p:cNvPr id="14" name="@3 Card"/>
          <p:cNvSpPr/>
          <p:nvPr/>
        </p:nvSpPr>
        <p:spPr>
          <a:xfrm>
            <a:off x="457200" y="3703320"/>
            <a:ext cx="822960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5" name="@3 addText"/>
          <p:cNvSpPr txBox="1"/>
          <p:nvPr/>
        </p:nvSpPr>
        <p:spPr>
          <a:xfrm>
            <a:off x="685800" y="3703320"/>
            <a:ext cx="2743200" cy="548640"/>
          </a:xfrm>
          <a:prstGeom prst="rect">
            <a:avLst/>
          </a:prstGeom>
          <a:noFill/>
          <a:ln/>
        </p:spPr>
        <p:txBody>
          <a:bodyPr wrap="square" lIns="0" tIns="0" rIns="0" bIns="0" rtlCol="0" anchor="ctr"/>
          <a:lstStyle/>
          <a:p>
            <a:pPr marL="0" indent="0">
              <a:buNone/>
            </a:pPr>
            <a:r>
              <a:rPr lang="en-US" sz="1400" dirty="0">
                <a:solidFill>
                  <a:srgbClr val="5D6B80"/>
                </a:solidFill>
                <a:latin typeface="Courier New" pitchFamily="34" charset="0"/>
                <a:ea typeface="Courier New" pitchFamily="34" charset="-122"/>
                <a:cs typeface="Courier New" pitchFamily="34" charset="-120"/>
              </a:rPr>
              <a:t>binary</a:t>
            </a:r>
            <a:endParaRPr lang="en-US" sz="1400" dirty="0"/>
          </a:p>
        </p:txBody>
      </p:sp>
      <p:sp>
        <p:nvSpPr>
          <p:cNvPr id="16" name="@3 addText"/>
          <p:cNvSpPr txBox="1"/>
          <p:nvPr/>
        </p:nvSpPr>
        <p:spPr>
          <a:xfrm>
            <a:off x="3383280" y="3703320"/>
            <a:ext cx="5120640" cy="548640"/>
          </a:xfrm>
          <a:prstGeom prst="rect">
            <a:avLst/>
          </a:prstGeom>
          <a:noFill/>
          <a:ln/>
        </p:spPr>
        <p:txBody>
          <a:bodyPr wrap="squar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01001000 01000101 01001100 01010000</a:t>
            </a:r>
            <a:endParaRPr lang="en-US" sz="1600" dirty="0"/>
          </a:p>
        </p:txBody>
      </p:sp>
      <p:sp>
        <p:nvSpPr>
          <p:cNvPr id="17" name="@3 addText"/>
          <p:cNvSpPr txBox="1"/>
          <p:nvPr/>
        </p:nvSpPr>
        <p:spPr>
          <a:xfrm>
            <a:off x="457200" y="443484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one message, four codes. Nothing was lost.</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2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2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2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2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You Already Do It</a:t>
            </a:r>
            <a:endParaRPr lang="en-US" sz="3000" dirty="0"/>
          </a:p>
        </p:txBody>
      </p:sp>
      <p:sp>
        <p:nvSpPr>
          <p:cNvPr id="3" name="@1 Card"/>
          <p:cNvSpPr/>
          <p:nvPr/>
        </p:nvSpPr>
        <p:spPr>
          <a:xfrm>
            <a:off x="457200" y="1188720"/>
            <a:ext cx="822960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188720"/>
            <a:ext cx="2926080" cy="64008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laughing out loud</a:t>
            </a:r>
            <a:endParaRPr lang="en-US" sz="1800" dirty="0"/>
          </a:p>
        </p:txBody>
      </p:sp>
      <p:sp>
        <p:nvSpPr>
          <p:cNvPr id="5" name="@1 addText"/>
          <p:cNvSpPr txBox="1"/>
          <p:nvPr/>
        </p:nvSpPr>
        <p:spPr>
          <a:xfrm>
            <a:off x="3657600" y="1188720"/>
            <a:ext cx="548640" cy="640080"/>
          </a:xfrm>
          <a:prstGeom prst="rect">
            <a:avLst/>
          </a:prstGeom>
          <a:noFill/>
          <a:ln/>
        </p:spPr>
        <p:txBody>
          <a:bodyPr wrap="square" lIns="0" tIns="0" rIns="0" bIns="0" rtlCol="0" anchor="ctr"/>
          <a:lstStyle/>
          <a:p>
            <a:pPr marL="0" indent="0" algn="ctr">
              <a:buNone/>
            </a:pPr>
            <a:r>
              <a:rPr lang="en-US" sz="2000" b="1" dirty="0">
                <a:solidFill>
                  <a:srgbClr val="5D79A0"/>
                </a:solidFill>
                <a:latin typeface="Arial" pitchFamily="34" charset="0"/>
                <a:ea typeface="Arial" pitchFamily="34" charset="-122"/>
                <a:cs typeface="Arial" pitchFamily="34" charset="-120"/>
              </a:rPr>
              <a:t>-&gt;</a:t>
            </a:r>
            <a:endParaRPr lang="en-US" sz="2000" dirty="0"/>
          </a:p>
        </p:txBody>
      </p:sp>
      <p:sp>
        <p:nvSpPr>
          <p:cNvPr id="6" name="@1 addText"/>
          <p:cNvSpPr txBox="1"/>
          <p:nvPr/>
        </p:nvSpPr>
        <p:spPr>
          <a:xfrm>
            <a:off x="4297680" y="1188720"/>
            <a:ext cx="1828800" cy="640080"/>
          </a:xfrm>
          <a:prstGeom prst="rect">
            <a:avLst/>
          </a:prstGeom>
          <a:noFill/>
          <a:ln/>
        </p:spPr>
        <p:txBody>
          <a:bodyPr wrap="squar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lol</a:t>
            </a:r>
            <a:endParaRPr lang="en-US" sz="2000" dirty="0"/>
          </a:p>
        </p:txBody>
      </p:sp>
      <p:sp>
        <p:nvSpPr>
          <p:cNvPr id="7" name="@1 addText"/>
          <p:cNvSpPr txBox="1"/>
          <p:nvPr/>
        </p:nvSpPr>
        <p:spPr>
          <a:xfrm>
            <a:off x="6126480" y="1188720"/>
            <a:ext cx="2377440" cy="640080"/>
          </a:xfrm>
          <a:prstGeom prst="rect">
            <a:avLst/>
          </a:prstGeom>
          <a:noFill/>
          <a:ln/>
        </p:spPr>
        <p:txBody>
          <a:bodyPr wrap="square" lIns="0" tIns="0" rIns="0" bIns="0" rtlCol="0" anchor="ctr"/>
          <a:lstStyle/>
          <a:p>
            <a:pPr marL="0" indent="0">
              <a:buNone/>
            </a:pPr>
            <a:r>
              <a:rPr lang="en-US" sz="1400" dirty="0">
                <a:solidFill>
                  <a:srgbClr val="5D6B80"/>
                </a:solidFill>
                <a:latin typeface="Arial" pitchFamily="34" charset="0"/>
                <a:ea typeface="Arial" pitchFamily="34" charset="-122"/>
                <a:cs typeface="Arial" pitchFamily="34" charset="-120"/>
              </a:rPr>
              <a:t>17 to 3 characters</a:t>
            </a:r>
            <a:endParaRPr lang="en-US" sz="1400" dirty="0"/>
          </a:p>
        </p:txBody>
      </p:sp>
      <p:sp>
        <p:nvSpPr>
          <p:cNvPr id="8" name="@2 Card"/>
          <p:cNvSpPr/>
          <p:nvPr/>
        </p:nvSpPr>
        <p:spPr>
          <a:xfrm>
            <a:off x="457200" y="1965960"/>
            <a:ext cx="822960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9" name="@2 addText"/>
          <p:cNvSpPr txBox="1"/>
          <p:nvPr/>
        </p:nvSpPr>
        <p:spPr>
          <a:xfrm>
            <a:off x="731520" y="1965960"/>
            <a:ext cx="2926080" cy="64008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on my way</a:t>
            </a:r>
            <a:endParaRPr lang="en-US" sz="1800" dirty="0"/>
          </a:p>
        </p:txBody>
      </p:sp>
      <p:sp>
        <p:nvSpPr>
          <p:cNvPr id="10" name="@2 addText"/>
          <p:cNvSpPr txBox="1"/>
          <p:nvPr/>
        </p:nvSpPr>
        <p:spPr>
          <a:xfrm>
            <a:off x="3657600" y="1965960"/>
            <a:ext cx="548640" cy="640080"/>
          </a:xfrm>
          <a:prstGeom prst="rect">
            <a:avLst/>
          </a:prstGeom>
          <a:noFill/>
          <a:ln/>
        </p:spPr>
        <p:txBody>
          <a:bodyPr wrap="square" lIns="0" tIns="0" rIns="0" bIns="0" rtlCol="0" anchor="ctr"/>
          <a:lstStyle/>
          <a:p>
            <a:pPr marL="0" indent="0" algn="ctr">
              <a:buNone/>
            </a:pPr>
            <a:r>
              <a:rPr lang="en-US" sz="2000" b="1" dirty="0">
                <a:solidFill>
                  <a:srgbClr val="5D79A0"/>
                </a:solidFill>
                <a:latin typeface="Arial" pitchFamily="34" charset="0"/>
                <a:ea typeface="Arial" pitchFamily="34" charset="-122"/>
                <a:cs typeface="Arial" pitchFamily="34" charset="-120"/>
              </a:rPr>
              <a:t>-&gt;</a:t>
            </a:r>
            <a:endParaRPr lang="en-US" sz="2000" dirty="0"/>
          </a:p>
        </p:txBody>
      </p:sp>
      <p:sp>
        <p:nvSpPr>
          <p:cNvPr id="11" name="@2 addText"/>
          <p:cNvSpPr txBox="1"/>
          <p:nvPr/>
        </p:nvSpPr>
        <p:spPr>
          <a:xfrm>
            <a:off x="4297680" y="1965960"/>
            <a:ext cx="1828800" cy="640080"/>
          </a:xfrm>
          <a:prstGeom prst="rect">
            <a:avLst/>
          </a:prstGeom>
          <a:noFill/>
          <a:ln/>
        </p:spPr>
        <p:txBody>
          <a:bodyPr wrap="squar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omw</a:t>
            </a:r>
            <a:endParaRPr lang="en-US" sz="2000" dirty="0"/>
          </a:p>
        </p:txBody>
      </p:sp>
      <p:sp>
        <p:nvSpPr>
          <p:cNvPr id="12" name="@2 addText"/>
          <p:cNvSpPr txBox="1"/>
          <p:nvPr/>
        </p:nvSpPr>
        <p:spPr>
          <a:xfrm>
            <a:off x="6126480" y="1965960"/>
            <a:ext cx="2377440" cy="640080"/>
          </a:xfrm>
          <a:prstGeom prst="rect">
            <a:avLst/>
          </a:prstGeom>
          <a:noFill/>
          <a:ln/>
        </p:spPr>
        <p:txBody>
          <a:bodyPr wrap="square" lIns="0" tIns="0" rIns="0" bIns="0" rtlCol="0" anchor="ctr"/>
          <a:lstStyle/>
          <a:p>
            <a:pPr marL="0" indent="0">
              <a:buNone/>
            </a:pPr>
            <a:r>
              <a:rPr lang="en-US" sz="1400" dirty="0">
                <a:solidFill>
                  <a:srgbClr val="5D6B80"/>
                </a:solidFill>
                <a:latin typeface="Arial" pitchFamily="34" charset="0"/>
                <a:ea typeface="Arial" pitchFamily="34" charset="-122"/>
                <a:cs typeface="Arial" pitchFamily="34" charset="-120"/>
              </a:rPr>
              <a:t>9 to 3 characters</a:t>
            </a:r>
            <a:endParaRPr lang="en-US" sz="1400" dirty="0"/>
          </a:p>
        </p:txBody>
      </p:sp>
      <p:sp>
        <p:nvSpPr>
          <p:cNvPr id="13" name="@3 Card"/>
          <p:cNvSpPr/>
          <p:nvPr/>
        </p:nvSpPr>
        <p:spPr>
          <a:xfrm>
            <a:off x="457200" y="2743200"/>
            <a:ext cx="822960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14" name="@3 addText"/>
          <p:cNvSpPr txBox="1"/>
          <p:nvPr/>
        </p:nvSpPr>
        <p:spPr>
          <a:xfrm>
            <a:off x="731520" y="2743200"/>
            <a:ext cx="2926080" cy="64008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I agree with that</a:t>
            </a:r>
            <a:endParaRPr lang="en-US" sz="1800" dirty="0"/>
          </a:p>
        </p:txBody>
      </p:sp>
      <p:sp>
        <p:nvSpPr>
          <p:cNvPr id="15" name="@3 addText"/>
          <p:cNvSpPr txBox="1"/>
          <p:nvPr/>
        </p:nvSpPr>
        <p:spPr>
          <a:xfrm>
            <a:off x="3657600" y="2743200"/>
            <a:ext cx="548640" cy="640080"/>
          </a:xfrm>
          <a:prstGeom prst="rect">
            <a:avLst/>
          </a:prstGeom>
          <a:noFill/>
          <a:ln/>
        </p:spPr>
        <p:txBody>
          <a:bodyPr wrap="square" lIns="0" tIns="0" rIns="0" bIns="0" rtlCol="0" anchor="ctr"/>
          <a:lstStyle/>
          <a:p>
            <a:pPr marL="0" indent="0" algn="ctr">
              <a:buNone/>
            </a:pPr>
            <a:r>
              <a:rPr lang="en-US" sz="2000" b="1" dirty="0">
                <a:solidFill>
                  <a:srgbClr val="5D79A0"/>
                </a:solidFill>
                <a:latin typeface="Arial" pitchFamily="34" charset="0"/>
                <a:ea typeface="Arial" pitchFamily="34" charset="-122"/>
                <a:cs typeface="Arial" pitchFamily="34" charset="-120"/>
              </a:rPr>
              <a:t>-&gt;</a:t>
            </a:r>
            <a:endParaRPr lang="en-US" sz="2000" dirty="0"/>
          </a:p>
        </p:txBody>
      </p:sp>
      <p:sp>
        <p:nvSpPr>
          <p:cNvPr id="16" name="@3 addText"/>
          <p:cNvSpPr txBox="1"/>
          <p:nvPr/>
        </p:nvSpPr>
        <p:spPr>
          <a:xfrm>
            <a:off x="4297680" y="2743200"/>
            <a:ext cx="1828800" cy="640080"/>
          </a:xfrm>
          <a:prstGeom prst="rect">
            <a:avLst/>
          </a:prstGeom>
          <a:noFill/>
          <a:ln/>
        </p:spPr>
        <p:txBody>
          <a:bodyPr wrap="squar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thumbs up</a:t>
            </a:r>
            <a:endParaRPr lang="en-US" sz="2000" dirty="0"/>
          </a:p>
        </p:txBody>
      </p:sp>
      <p:sp>
        <p:nvSpPr>
          <p:cNvPr id="17" name="@3 addText"/>
          <p:cNvSpPr txBox="1"/>
          <p:nvPr/>
        </p:nvSpPr>
        <p:spPr>
          <a:xfrm>
            <a:off x="6126480" y="2743200"/>
            <a:ext cx="2377440" cy="640080"/>
          </a:xfrm>
          <a:prstGeom prst="rect">
            <a:avLst/>
          </a:prstGeom>
          <a:noFill/>
          <a:ln/>
        </p:spPr>
        <p:txBody>
          <a:bodyPr wrap="square" lIns="0" tIns="0" rIns="0" bIns="0" rtlCol="0" anchor="ctr"/>
          <a:lstStyle/>
          <a:p>
            <a:pPr marL="0" indent="0">
              <a:buNone/>
            </a:pPr>
            <a:r>
              <a:rPr lang="en-US" sz="1400" dirty="0">
                <a:solidFill>
                  <a:srgbClr val="5D6B80"/>
                </a:solidFill>
                <a:latin typeface="Arial" pitchFamily="34" charset="0"/>
                <a:ea typeface="Arial" pitchFamily="34" charset="-122"/>
                <a:cs typeface="Arial" pitchFamily="34" charset="-120"/>
              </a:rPr>
              <a:t>17 characters to 1 symbol</a:t>
            </a:r>
            <a:endParaRPr lang="en-US" sz="1400" dirty="0"/>
          </a:p>
        </p:txBody>
      </p:sp>
      <p:sp>
        <p:nvSpPr>
          <p:cNvPr id="18" name="@4 Callout"/>
          <p:cNvSpPr/>
          <p:nvPr/>
        </p:nvSpPr>
        <p:spPr>
          <a:xfrm>
            <a:off x="457200" y="3657600"/>
            <a:ext cx="8229600" cy="822960"/>
          </a:xfrm>
          <a:prstGeom prst="roundRect">
            <a:avLst>
              <a:gd name="adj" fmla="val 11111"/>
            </a:avLst>
          </a:prstGeom>
          <a:solidFill>
            <a:srgbClr val="FFFFFF"/>
          </a:solidFill>
          <a:ln w="15875">
            <a:solidFill>
              <a:srgbClr val="5D79A0"/>
            </a:solidFill>
            <a:prstDash val="solid"/>
          </a:ln>
        </p:spPr>
        <p:txBody>
          <a:bodyPr/>
          <a:lstStyle/>
          <a:p>
            <a:endParaRPr lang="en-GB"/>
          </a:p>
        </p:txBody>
      </p:sp>
      <p:sp>
        <p:nvSpPr>
          <p:cNvPr id="19" name="@4 addText"/>
          <p:cNvSpPr txBox="1"/>
          <p:nvPr/>
        </p:nvSpPr>
        <p:spPr>
          <a:xfrm>
            <a:off x="685800" y="3657600"/>
            <a:ext cx="7772400" cy="82296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Compression is encoding with a goal: say the same thing with as few symbols as possible.</a:t>
            </a:r>
            <a:endParaRPr lang="en-US" sz="1200" dirty="0"/>
          </a:p>
        </p:txBody>
      </p:sp>
      <p:sp>
        <p:nvSpPr>
          <p:cNvPr id="2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2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2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2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2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2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20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2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Computers Encode Everything</a:t>
            </a:r>
            <a:endParaRPr lang="en-US" sz="3000" dirty="0"/>
          </a:p>
        </p:txBody>
      </p:sp>
      <p:sp>
        <p:nvSpPr>
          <p:cNvPr id="3" name="Text 1"/>
          <p:cNvSpPr txBox="1"/>
          <p:nvPr/>
        </p:nvSpPr>
        <p:spPr>
          <a:xfrm>
            <a:off x="457200" y="100584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Text, pictures, sound, video: a computer stores all of it as numbers.</a:t>
            </a:r>
            <a:endParaRPr lang="en-US" sz="1800" dirty="0"/>
          </a:p>
        </p:txBody>
      </p:sp>
      <p:sp>
        <p:nvSpPr>
          <p:cNvPr id="4" name="@1 Card"/>
          <p:cNvSpPr/>
          <p:nvPr/>
        </p:nvSpPr>
        <p:spPr>
          <a:xfrm>
            <a:off x="457200" y="1737360"/>
            <a:ext cx="2651760" cy="2194560"/>
          </a:xfrm>
          <a:prstGeom prst="roundRect">
            <a:avLst>
              <a:gd name="adj" fmla="val 5000"/>
            </a:avLst>
          </a:prstGeom>
          <a:solidFill>
            <a:srgbClr val="FFFFFF"/>
          </a:solidFill>
          <a:ln w="9525">
            <a:solidFill>
              <a:srgbClr val="C5D1E3"/>
            </a:solidFill>
            <a:prstDash val="solid"/>
          </a:ln>
        </p:spPr>
        <p:txBody>
          <a:bodyPr/>
          <a:lstStyle/>
          <a:p>
            <a:endParaRPr lang="en-GB"/>
          </a:p>
        </p:txBody>
      </p:sp>
      <p:sp>
        <p:nvSpPr>
          <p:cNvPr id="5" name="@1 addText"/>
          <p:cNvSpPr txBox="1"/>
          <p:nvPr/>
        </p:nvSpPr>
        <p:spPr>
          <a:xfrm>
            <a:off x="457200" y="1828800"/>
            <a:ext cx="2651760" cy="548640"/>
          </a:xfrm>
          <a:prstGeom prst="rect">
            <a:avLst/>
          </a:prstGeom>
          <a:noFill/>
          <a:ln/>
        </p:spPr>
        <p:txBody>
          <a:bodyPr wrap="square" lIns="0" tIns="0" rIns="0" bIns="0" rtlCol="0" anchor="ctr"/>
          <a:lstStyle/>
          <a:p>
            <a:pPr marL="0" indent="0" algn="ctr">
              <a:buNone/>
            </a:pPr>
            <a:r>
              <a:rPr lang="en-US" sz="2400" b="1" dirty="0">
                <a:solidFill>
                  <a:srgbClr val="22262E"/>
                </a:solidFill>
                <a:latin typeface="Arial" pitchFamily="34" charset="0"/>
                <a:ea typeface="Arial" pitchFamily="34" charset="-122"/>
                <a:cs typeface="Arial" pitchFamily="34" charset="-120"/>
              </a:rPr>
              <a:t>A</a:t>
            </a:r>
            <a:endParaRPr lang="en-US" sz="2400" dirty="0"/>
          </a:p>
        </p:txBody>
      </p:sp>
      <p:sp>
        <p:nvSpPr>
          <p:cNvPr id="6" name="@1 addText"/>
          <p:cNvSpPr txBox="1"/>
          <p:nvPr/>
        </p:nvSpPr>
        <p:spPr>
          <a:xfrm>
            <a:off x="457200" y="2377440"/>
            <a:ext cx="2651760" cy="320040"/>
          </a:xfrm>
          <a:prstGeom prst="rect">
            <a:avLst/>
          </a:prstGeom>
          <a:noFill/>
          <a:ln/>
        </p:spPr>
        <p:txBody>
          <a:bodyPr wrap="square" lIns="0" tIns="0" rIns="0" bIns="0" rtlCol="0" anchor="ctr"/>
          <a:lstStyle/>
          <a:p>
            <a:pPr marL="0" indent="0" algn="ctr">
              <a:buNone/>
            </a:pPr>
            <a:r>
              <a:rPr lang="en-US" sz="1600" dirty="0">
                <a:solidFill>
                  <a:srgbClr val="5D79A0"/>
                </a:solidFill>
                <a:latin typeface="Arial" pitchFamily="34" charset="0"/>
                <a:ea typeface="Arial" pitchFamily="34" charset="-122"/>
                <a:cs typeface="Arial" pitchFamily="34" charset="-120"/>
              </a:rPr>
              <a:t>v</a:t>
            </a:r>
            <a:endParaRPr lang="en-US" sz="1600" dirty="0"/>
          </a:p>
        </p:txBody>
      </p:sp>
      <p:sp>
        <p:nvSpPr>
          <p:cNvPr id="7" name="@1 addText"/>
          <p:cNvSpPr txBox="1"/>
          <p:nvPr/>
        </p:nvSpPr>
        <p:spPr>
          <a:xfrm>
            <a:off x="457200" y="2743200"/>
            <a:ext cx="2651760" cy="548640"/>
          </a:xfrm>
          <a:prstGeom prst="rect">
            <a:avLst/>
          </a:prstGeom>
          <a:noFill/>
          <a:ln/>
        </p:spPr>
        <p:txBody>
          <a:bodyPr wrap="square" lIns="0" tIns="0" rIns="0" bIns="0" rtlCol="0" anchor="ctr"/>
          <a:lstStyle/>
          <a:p>
            <a:pPr marL="0" indent="0" algn="ctr">
              <a:buNone/>
            </a:pPr>
            <a:r>
              <a:rPr lang="en-US" sz="2400" b="1" dirty="0">
                <a:solidFill>
                  <a:srgbClr val="002D6A"/>
                </a:solidFill>
                <a:latin typeface="Courier New" pitchFamily="34" charset="0"/>
                <a:ea typeface="Courier New" pitchFamily="34" charset="-122"/>
                <a:cs typeface="Courier New" pitchFamily="34" charset="-120"/>
              </a:rPr>
              <a:t>65</a:t>
            </a:r>
            <a:endParaRPr lang="en-US" sz="2400" dirty="0"/>
          </a:p>
        </p:txBody>
      </p:sp>
      <p:sp>
        <p:nvSpPr>
          <p:cNvPr id="8" name="@1 addText"/>
          <p:cNvSpPr txBox="1"/>
          <p:nvPr/>
        </p:nvSpPr>
        <p:spPr>
          <a:xfrm>
            <a:off x="640080" y="3337560"/>
            <a:ext cx="2286000" cy="45720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a letter</a:t>
            </a:r>
            <a:endParaRPr lang="en-US" sz="1400" dirty="0"/>
          </a:p>
        </p:txBody>
      </p:sp>
      <p:sp>
        <p:nvSpPr>
          <p:cNvPr id="9" name="@2 Card"/>
          <p:cNvSpPr/>
          <p:nvPr/>
        </p:nvSpPr>
        <p:spPr>
          <a:xfrm>
            <a:off x="3291840" y="1737360"/>
            <a:ext cx="2651760" cy="2194560"/>
          </a:xfrm>
          <a:prstGeom prst="roundRect">
            <a:avLst>
              <a:gd name="adj" fmla="val 5000"/>
            </a:avLst>
          </a:prstGeom>
          <a:solidFill>
            <a:srgbClr val="FFFFFF"/>
          </a:solidFill>
          <a:ln w="9525">
            <a:solidFill>
              <a:srgbClr val="C5D1E3"/>
            </a:solidFill>
            <a:prstDash val="solid"/>
          </a:ln>
        </p:spPr>
        <p:txBody>
          <a:bodyPr/>
          <a:lstStyle/>
          <a:p>
            <a:endParaRPr lang="en-GB"/>
          </a:p>
        </p:txBody>
      </p:sp>
      <p:sp>
        <p:nvSpPr>
          <p:cNvPr id="10" name="@2 addText"/>
          <p:cNvSpPr txBox="1"/>
          <p:nvPr/>
        </p:nvSpPr>
        <p:spPr>
          <a:xfrm>
            <a:off x="3291840" y="1828800"/>
            <a:ext cx="2651760" cy="548640"/>
          </a:xfrm>
          <a:prstGeom prst="rect">
            <a:avLst/>
          </a:prstGeom>
          <a:noFill/>
          <a:ln/>
        </p:spPr>
        <p:txBody>
          <a:bodyPr wrap="square" lIns="0" tIns="0" rIns="0" bIns="0" rtlCol="0" anchor="ctr"/>
          <a:lstStyle/>
          <a:p>
            <a:pPr marL="0" indent="0" algn="ctr">
              <a:buNone/>
            </a:pPr>
            <a:r>
              <a:rPr lang="en-US" sz="2400" b="1" dirty="0">
                <a:solidFill>
                  <a:srgbClr val="22262E"/>
                </a:solidFill>
                <a:latin typeface="Arial" pitchFamily="34" charset="0"/>
                <a:ea typeface="Arial" pitchFamily="34" charset="-122"/>
                <a:cs typeface="Arial" pitchFamily="34" charset="-120"/>
              </a:rPr>
              <a:t>red</a:t>
            </a:r>
            <a:endParaRPr lang="en-US" sz="2400" dirty="0"/>
          </a:p>
        </p:txBody>
      </p:sp>
      <p:sp>
        <p:nvSpPr>
          <p:cNvPr id="11" name="@2 addText"/>
          <p:cNvSpPr txBox="1"/>
          <p:nvPr/>
        </p:nvSpPr>
        <p:spPr>
          <a:xfrm>
            <a:off x="3291840" y="2377440"/>
            <a:ext cx="2651760" cy="320040"/>
          </a:xfrm>
          <a:prstGeom prst="rect">
            <a:avLst/>
          </a:prstGeom>
          <a:noFill/>
          <a:ln/>
        </p:spPr>
        <p:txBody>
          <a:bodyPr wrap="square" lIns="0" tIns="0" rIns="0" bIns="0" rtlCol="0" anchor="ctr"/>
          <a:lstStyle/>
          <a:p>
            <a:pPr marL="0" indent="0" algn="ctr">
              <a:buNone/>
            </a:pPr>
            <a:r>
              <a:rPr lang="en-US" sz="1600" dirty="0">
                <a:solidFill>
                  <a:srgbClr val="5D79A0"/>
                </a:solidFill>
                <a:latin typeface="Arial" pitchFamily="34" charset="0"/>
                <a:ea typeface="Arial" pitchFamily="34" charset="-122"/>
                <a:cs typeface="Arial" pitchFamily="34" charset="-120"/>
              </a:rPr>
              <a:t>v</a:t>
            </a:r>
            <a:endParaRPr lang="en-US" sz="1600" dirty="0"/>
          </a:p>
        </p:txBody>
      </p:sp>
      <p:sp>
        <p:nvSpPr>
          <p:cNvPr id="12" name="@2 addText"/>
          <p:cNvSpPr txBox="1"/>
          <p:nvPr/>
        </p:nvSpPr>
        <p:spPr>
          <a:xfrm>
            <a:off x="3291840" y="2743200"/>
            <a:ext cx="2651760" cy="548640"/>
          </a:xfrm>
          <a:prstGeom prst="rect">
            <a:avLst/>
          </a:prstGeom>
          <a:noFill/>
          <a:ln/>
        </p:spPr>
        <p:txBody>
          <a:bodyPr wrap="square" lIns="0" tIns="0" rIns="0" bIns="0" rtlCol="0" anchor="ctr"/>
          <a:lstStyle/>
          <a:p>
            <a:pPr marL="0" indent="0" algn="ctr">
              <a:buNone/>
            </a:pPr>
            <a:r>
              <a:rPr lang="en-US" sz="2400" b="1" dirty="0">
                <a:solidFill>
                  <a:srgbClr val="002D6A"/>
                </a:solidFill>
                <a:latin typeface="Courier New" pitchFamily="34" charset="0"/>
                <a:ea typeface="Courier New" pitchFamily="34" charset="-122"/>
                <a:cs typeface="Courier New" pitchFamily="34" charset="-120"/>
              </a:rPr>
              <a:t>255, 0, 0</a:t>
            </a:r>
            <a:endParaRPr lang="en-US" sz="2400" dirty="0"/>
          </a:p>
        </p:txBody>
      </p:sp>
      <p:sp>
        <p:nvSpPr>
          <p:cNvPr id="13" name="@2 addText"/>
          <p:cNvSpPr txBox="1"/>
          <p:nvPr/>
        </p:nvSpPr>
        <p:spPr>
          <a:xfrm>
            <a:off x="3474720" y="3337560"/>
            <a:ext cx="2286000" cy="45720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a red pixel (red, green, blue)</a:t>
            </a:r>
            <a:endParaRPr lang="en-US" sz="1400" dirty="0"/>
          </a:p>
        </p:txBody>
      </p:sp>
      <p:sp>
        <p:nvSpPr>
          <p:cNvPr id="14" name="@3 Card"/>
          <p:cNvSpPr/>
          <p:nvPr/>
        </p:nvSpPr>
        <p:spPr>
          <a:xfrm>
            <a:off x="6126480" y="1737360"/>
            <a:ext cx="2651760" cy="2194560"/>
          </a:xfrm>
          <a:prstGeom prst="roundRect">
            <a:avLst>
              <a:gd name="adj" fmla="val 5000"/>
            </a:avLst>
          </a:prstGeom>
          <a:solidFill>
            <a:srgbClr val="FFFFFF"/>
          </a:solidFill>
          <a:ln w="9525">
            <a:solidFill>
              <a:srgbClr val="C5D1E3"/>
            </a:solidFill>
            <a:prstDash val="solid"/>
          </a:ln>
        </p:spPr>
        <p:txBody>
          <a:bodyPr/>
          <a:lstStyle/>
          <a:p>
            <a:endParaRPr lang="en-GB"/>
          </a:p>
        </p:txBody>
      </p:sp>
      <p:sp>
        <p:nvSpPr>
          <p:cNvPr id="15" name="@3 addText"/>
          <p:cNvSpPr txBox="1"/>
          <p:nvPr/>
        </p:nvSpPr>
        <p:spPr>
          <a:xfrm>
            <a:off x="6126480" y="1828800"/>
            <a:ext cx="2651760" cy="548640"/>
          </a:xfrm>
          <a:prstGeom prst="rect">
            <a:avLst/>
          </a:prstGeom>
          <a:noFill/>
          <a:ln/>
        </p:spPr>
        <p:txBody>
          <a:bodyPr wrap="square" lIns="0" tIns="0" rIns="0" bIns="0" rtlCol="0" anchor="ctr"/>
          <a:lstStyle/>
          <a:p>
            <a:pPr marL="0" indent="0" algn="ctr">
              <a:buNone/>
            </a:pPr>
            <a:r>
              <a:rPr lang="en-US" sz="2400" b="1" dirty="0">
                <a:solidFill>
                  <a:srgbClr val="22262E"/>
                </a:solidFill>
                <a:latin typeface="Arial" pitchFamily="34" charset="0"/>
                <a:ea typeface="Arial" pitchFamily="34" charset="-122"/>
                <a:cs typeface="Arial" pitchFamily="34" charset="-120"/>
              </a:rPr>
              <a:t>a note</a:t>
            </a:r>
            <a:endParaRPr lang="en-US" sz="2400" dirty="0"/>
          </a:p>
        </p:txBody>
      </p:sp>
      <p:sp>
        <p:nvSpPr>
          <p:cNvPr id="16" name="@3 addText"/>
          <p:cNvSpPr txBox="1"/>
          <p:nvPr/>
        </p:nvSpPr>
        <p:spPr>
          <a:xfrm>
            <a:off x="6126480" y="2377440"/>
            <a:ext cx="2651760" cy="320040"/>
          </a:xfrm>
          <a:prstGeom prst="rect">
            <a:avLst/>
          </a:prstGeom>
          <a:noFill/>
          <a:ln/>
        </p:spPr>
        <p:txBody>
          <a:bodyPr wrap="square" lIns="0" tIns="0" rIns="0" bIns="0" rtlCol="0" anchor="ctr"/>
          <a:lstStyle/>
          <a:p>
            <a:pPr marL="0" indent="0" algn="ctr">
              <a:buNone/>
            </a:pPr>
            <a:r>
              <a:rPr lang="en-US" sz="1600" dirty="0">
                <a:solidFill>
                  <a:srgbClr val="5D79A0"/>
                </a:solidFill>
                <a:latin typeface="Arial" pitchFamily="34" charset="0"/>
                <a:ea typeface="Arial" pitchFamily="34" charset="-122"/>
                <a:cs typeface="Arial" pitchFamily="34" charset="-120"/>
              </a:rPr>
              <a:t>v</a:t>
            </a:r>
            <a:endParaRPr lang="en-US" sz="1600" dirty="0"/>
          </a:p>
        </p:txBody>
      </p:sp>
      <p:sp>
        <p:nvSpPr>
          <p:cNvPr id="17" name="@3 addText"/>
          <p:cNvSpPr txBox="1"/>
          <p:nvPr/>
        </p:nvSpPr>
        <p:spPr>
          <a:xfrm>
            <a:off x="6126480" y="2743200"/>
            <a:ext cx="2651760" cy="548640"/>
          </a:xfrm>
          <a:prstGeom prst="rect">
            <a:avLst/>
          </a:prstGeom>
          <a:noFill/>
          <a:ln/>
        </p:spPr>
        <p:txBody>
          <a:bodyPr wrap="square" lIns="0" tIns="0" rIns="0" bIns="0" rtlCol="0" anchor="ctr"/>
          <a:lstStyle/>
          <a:p>
            <a:pPr marL="0" indent="0" algn="ctr">
              <a:buNone/>
            </a:pPr>
            <a:r>
              <a:rPr lang="en-US" sz="2400" b="1" dirty="0">
                <a:solidFill>
                  <a:srgbClr val="002D6A"/>
                </a:solidFill>
                <a:latin typeface="Courier New" pitchFamily="34" charset="0"/>
                <a:ea typeface="Courier New" pitchFamily="34" charset="-122"/>
                <a:cs typeface="Courier New" pitchFamily="34" charset="-120"/>
              </a:rPr>
              <a:t>440</a:t>
            </a:r>
            <a:endParaRPr lang="en-US" sz="2400" dirty="0"/>
          </a:p>
        </p:txBody>
      </p:sp>
      <p:sp>
        <p:nvSpPr>
          <p:cNvPr id="18" name="@3 addText"/>
          <p:cNvSpPr txBox="1"/>
          <p:nvPr/>
        </p:nvSpPr>
        <p:spPr>
          <a:xfrm>
            <a:off x="6309360" y="3337560"/>
            <a:ext cx="2286000" cy="45720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wobbles per second</a:t>
            </a:r>
            <a:endParaRPr lang="en-US" sz="1400" dirty="0"/>
          </a:p>
        </p:txBody>
      </p:sp>
      <p:sp>
        <p:nvSpPr>
          <p:cNvPr id="19" name="@3 addText"/>
          <p:cNvSpPr txBox="1"/>
          <p:nvPr/>
        </p:nvSpPr>
        <p:spPr>
          <a:xfrm>
            <a:off x="457200" y="429768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different jobs use different codes.</a:t>
            </a:r>
            <a:endParaRPr lang="en-US" sz="1400" dirty="0"/>
          </a:p>
        </p:txBody>
      </p:sp>
      <p:sp>
        <p:nvSpPr>
          <p:cNvPr id="2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2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2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2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2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2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2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2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2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2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What About the Internet?</a:t>
            </a:r>
            <a:endParaRPr lang="en-US" sz="3000" dirty="0"/>
          </a:p>
        </p:txBody>
      </p:sp>
      <p:sp>
        <p:nvSpPr>
          <p:cNvPr id="3" name="Text 1"/>
          <p:cNvSpPr txBox="1"/>
          <p:nvPr/>
        </p:nvSpPr>
        <p:spPr>
          <a:xfrm>
            <a:off x="457200" y="100584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Data travels in packets: small chunks with a number on them.</a:t>
            </a:r>
            <a:endParaRPr lang="en-US" sz="1800" dirty="0"/>
          </a:p>
        </p:txBody>
      </p:sp>
      <p:sp>
        <p:nvSpPr>
          <p:cNvPr id="4" name="Text 2"/>
          <p:cNvSpPr txBox="1"/>
          <p:nvPr/>
        </p:nvSpPr>
        <p:spPr>
          <a:xfrm>
            <a:off x="457200" y="1645920"/>
            <a:ext cx="1097280" cy="548640"/>
          </a:xfrm>
          <a:prstGeom prst="rect">
            <a:avLst/>
          </a:prstGeom>
          <a:noFill/>
          <a:ln/>
        </p:spPr>
        <p:txBody>
          <a:bodyPr wrap="square" lIns="0" tIns="0" rIns="0" bIns="0" rtlCol="0" anchor="ctr"/>
          <a:lstStyle/>
          <a:p>
            <a:pPr marL="0" indent="0">
              <a:buNone/>
            </a:pPr>
            <a:r>
              <a:rPr lang="en-US" sz="1400" b="1" dirty="0">
                <a:solidFill>
                  <a:srgbClr val="5D6B80"/>
                </a:solidFill>
                <a:latin typeface="Arial" pitchFamily="34" charset="0"/>
                <a:ea typeface="Arial" pitchFamily="34" charset="-122"/>
                <a:cs typeface="Arial" pitchFamily="34" charset="-120"/>
              </a:rPr>
              <a:t>send</a:t>
            </a:r>
            <a:endParaRPr lang="en-US" sz="1400" dirty="0"/>
          </a:p>
        </p:txBody>
      </p:sp>
      <p:sp>
        <p:nvSpPr>
          <p:cNvPr id="5" name="Card"/>
          <p:cNvSpPr/>
          <p:nvPr/>
        </p:nvSpPr>
        <p:spPr>
          <a:xfrm>
            <a:off x="1645920" y="1645920"/>
            <a:ext cx="2926080" cy="548640"/>
          </a:xfrm>
          <a:prstGeom prst="roundRect">
            <a:avLst>
              <a:gd name="adj" fmla="val 20000"/>
            </a:avLst>
          </a:prstGeom>
          <a:solidFill>
            <a:srgbClr val="A9C4E8"/>
          </a:solidFill>
          <a:ln w="9525">
            <a:solidFill>
              <a:srgbClr val="A9C4E8"/>
            </a:solidFill>
            <a:prstDash val="solid"/>
          </a:ln>
        </p:spPr>
        <p:txBody>
          <a:bodyPr/>
          <a:lstStyle/>
          <a:p>
            <a:endParaRPr lang="en-GB"/>
          </a:p>
        </p:txBody>
      </p:sp>
      <p:sp>
        <p:nvSpPr>
          <p:cNvPr id="6" name="Text 4"/>
          <p:cNvSpPr txBox="1"/>
          <p:nvPr/>
        </p:nvSpPr>
        <p:spPr>
          <a:xfrm>
            <a:off x="1645920" y="1645920"/>
            <a:ext cx="2926080" cy="548640"/>
          </a:xfrm>
          <a:prstGeom prst="rect">
            <a:avLst/>
          </a:prstGeom>
          <a:noFill/>
          <a:ln/>
        </p:spPr>
        <p:txBody>
          <a:bodyPr wrap="square" lIns="0" tIns="0" rIns="0" bIns="0" rtlCol="0" anchor="ctr"/>
          <a:lstStyle/>
          <a:p>
            <a:pPr marL="0" indent="0" algn="ctr">
              <a:buNone/>
            </a:pPr>
            <a:r>
              <a:rPr lang="en-US" sz="1800" b="1" dirty="0">
                <a:solidFill>
                  <a:srgbClr val="001B40"/>
                </a:solidFill>
                <a:latin typeface="Courier New" pitchFamily="34" charset="0"/>
                <a:ea typeface="Courier New" pitchFamily="34" charset="-122"/>
                <a:cs typeface="Courier New" pitchFamily="34" charset="-120"/>
              </a:rPr>
              <a:t>Hello world!</a:t>
            </a:r>
            <a:endParaRPr lang="en-US" sz="1800" dirty="0"/>
          </a:p>
        </p:txBody>
      </p:sp>
      <p:sp>
        <p:nvSpPr>
          <p:cNvPr id="7" name="@1 addText"/>
          <p:cNvSpPr txBox="1"/>
          <p:nvPr/>
        </p:nvSpPr>
        <p:spPr>
          <a:xfrm>
            <a:off x="457200" y="2377440"/>
            <a:ext cx="1097280" cy="548640"/>
          </a:xfrm>
          <a:prstGeom prst="rect">
            <a:avLst/>
          </a:prstGeom>
          <a:noFill/>
          <a:ln/>
        </p:spPr>
        <p:txBody>
          <a:bodyPr wrap="square" lIns="0" tIns="0" rIns="0" bIns="0" rtlCol="0" anchor="ctr"/>
          <a:lstStyle/>
          <a:p>
            <a:pPr marL="0" indent="0">
              <a:buNone/>
            </a:pPr>
            <a:r>
              <a:rPr lang="en-US" sz="1400" b="1" dirty="0">
                <a:solidFill>
                  <a:srgbClr val="5D6B80"/>
                </a:solidFill>
                <a:latin typeface="Arial" pitchFamily="34" charset="0"/>
                <a:ea typeface="Arial" pitchFamily="34" charset="-122"/>
                <a:cs typeface="Arial" pitchFamily="34" charset="-120"/>
              </a:rPr>
              <a:t>split</a:t>
            </a:r>
            <a:endParaRPr lang="en-US" sz="1400" dirty="0"/>
          </a:p>
        </p:txBody>
      </p:sp>
      <p:sp>
        <p:nvSpPr>
          <p:cNvPr id="8" name="@1 Card"/>
          <p:cNvSpPr/>
          <p:nvPr/>
        </p:nvSpPr>
        <p:spPr>
          <a:xfrm>
            <a:off x="1645920" y="2377440"/>
            <a:ext cx="146304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9" name="@1 addText"/>
          <p:cNvSpPr txBox="1"/>
          <p:nvPr/>
        </p:nvSpPr>
        <p:spPr>
          <a:xfrm>
            <a:off x="1645920" y="2377440"/>
            <a:ext cx="146304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Courier New" pitchFamily="34" charset="0"/>
                <a:ea typeface="Courier New" pitchFamily="34" charset="-122"/>
                <a:cs typeface="Courier New" pitchFamily="34" charset="-120"/>
              </a:rPr>
              <a:t>1 Hel</a:t>
            </a:r>
            <a:endParaRPr lang="en-US" sz="1800" dirty="0"/>
          </a:p>
        </p:txBody>
      </p:sp>
      <p:sp>
        <p:nvSpPr>
          <p:cNvPr id="10" name="@1 Card"/>
          <p:cNvSpPr/>
          <p:nvPr/>
        </p:nvSpPr>
        <p:spPr>
          <a:xfrm>
            <a:off x="3291840" y="2377440"/>
            <a:ext cx="146304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1" name="@1 addText"/>
          <p:cNvSpPr txBox="1"/>
          <p:nvPr/>
        </p:nvSpPr>
        <p:spPr>
          <a:xfrm>
            <a:off x="3291840" y="2377440"/>
            <a:ext cx="146304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Courier New" pitchFamily="34" charset="0"/>
                <a:ea typeface="Courier New" pitchFamily="34" charset="-122"/>
                <a:cs typeface="Courier New" pitchFamily="34" charset="-120"/>
              </a:rPr>
              <a:t>2 lo_</a:t>
            </a:r>
            <a:endParaRPr lang="en-US" sz="1800" dirty="0"/>
          </a:p>
        </p:txBody>
      </p:sp>
      <p:sp>
        <p:nvSpPr>
          <p:cNvPr id="12" name="@1 Card"/>
          <p:cNvSpPr/>
          <p:nvPr/>
        </p:nvSpPr>
        <p:spPr>
          <a:xfrm>
            <a:off x="4937760" y="2377440"/>
            <a:ext cx="146304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3" name="@1 addText"/>
          <p:cNvSpPr txBox="1"/>
          <p:nvPr/>
        </p:nvSpPr>
        <p:spPr>
          <a:xfrm>
            <a:off x="4937760" y="2377440"/>
            <a:ext cx="146304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Courier New" pitchFamily="34" charset="0"/>
                <a:ea typeface="Courier New" pitchFamily="34" charset="-122"/>
                <a:cs typeface="Courier New" pitchFamily="34" charset="-120"/>
              </a:rPr>
              <a:t>3 wor</a:t>
            </a:r>
            <a:endParaRPr lang="en-US" sz="1800" dirty="0"/>
          </a:p>
        </p:txBody>
      </p:sp>
      <p:sp>
        <p:nvSpPr>
          <p:cNvPr id="14" name="@1 Card"/>
          <p:cNvSpPr/>
          <p:nvPr/>
        </p:nvSpPr>
        <p:spPr>
          <a:xfrm>
            <a:off x="6583680" y="2377440"/>
            <a:ext cx="146304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5" name="@1 addText"/>
          <p:cNvSpPr txBox="1"/>
          <p:nvPr/>
        </p:nvSpPr>
        <p:spPr>
          <a:xfrm>
            <a:off x="6583680" y="2377440"/>
            <a:ext cx="146304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Courier New" pitchFamily="34" charset="0"/>
                <a:ea typeface="Courier New" pitchFamily="34" charset="-122"/>
                <a:cs typeface="Courier New" pitchFamily="34" charset="-120"/>
              </a:rPr>
              <a:t>4 ld!</a:t>
            </a:r>
            <a:endParaRPr lang="en-US" sz="1800" dirty="0"/>
          </a:p>
        </p:txBody>
      </p:sp>
      <p:sp>
        <p:nvSpPr>
          <p:cNvPr id="16" name="@2 addText"/>
          <p:cNvSpPr txBox="1"/>
          <p:nvPr/>
        </p:nvSpPr>
        <p:spPr>
          <a:xfrm>
            <a:off x="457200" y="3108960"/>
            <a:ext cx="1097280" cy="548640"/>
          </a:xfrm>
          <a:prstGeom prst="rect">
            <a:avLst/>
          </a:prstGeom>
          <a:noFill/>
          <a:ln/>
        </p:spPr>
        <p:txBody>
          <a:bodyPr wrap="square" lIns="0" tIns="0" rIns="0" bIns="0" rtlCol="0" anchor="ctr"/>
          <a:lstStyle/>
          <a:p>
            <a:pPr marL="0" indent="0">
              <a:buNone/>
            </a:pPr>
            <a:r>
              <a:rPr lang="en-US" sz="1400" b="1" dirty="0">
                <a:solidFill>
                  <a:srgbClr val="5D6B80"/>
                </a:solidFill>
                <a:latin typeface="Arial" pitchFamily="34" charset="0"/>
                <a:ea typeface="Arial" pitchFamily="34" charset="-122"/>
                <a:cs typeface="Arial" pitchFamily="34" charset="-120"/>
              </a:rPr>
              <a:t>arrive</a:t>
            </a:r>
            <a:endParaRPr lang="en-US" sz="1400" dirty="0"/>
          </a:p>
        </p:txBody>
      </p:sp>
      <p:sp>
        <p:nvSpPr>
          <p:cNvPr id="17" name="@2 Card"/>
          <p:cNvSpPr/>
          <p:nvPr/>
        </p:nvSpPr>
        <p:spPr>
          <a:xfrm>
            <a:off x="1645920" y="3108960"/>
            <a:ext cx="146304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18" name="@2 addText"/>
          <p:cNvSpPr txBox="1"/>
          <p:nvPr/>
        </p:nvSpPr>
        <p:spPr>
          <a:xfrm>
            <a:off x="1645920" y="3108960"/>
            <a:ext cx="146304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Courier New" pitchFamily="34" charset="0"/>
                <a:ea typeface="Courier New" pitchFamily="34" charset="-122"/>
                <a:cs typeface="Courier New" pitchFamily="34" charset="-120"/>
              </a:rPr>
              <a:t>3 wor</a:t>
            </a:r>
            <a:endParaRPr lang="en-US" sz="1800" dirty="0"/>
          </a:p>
        </p:txBody>
      </p:sp>
      <p:sp>
        <p:nvSpPr>
          <p:cNvPr id="19" name="@2 Card"/>
          <p:cNvSpPr/>
          <p:nvPr/>
        </p:nvSpPr>
        <p:spPr>
          <a:xfrm>
            <a:off x="3291840" y="3108960"/>
            <a:ext cx="146304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20" name="@2 addText"/>
          <p:cNvSpPr txBox="1"/>
          <p:nvPr/>
        </p:nvSpPr>
        <p:spPr>
          <a:xfrm>
            <a:off x="3291840" y="3108960"/>
            <a:ext cx="146304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Courier New" pitchFamily="34" charset="0"/>
                <a:ea typeface="Courier New" pitchFamily="34" charset="-122"/>
                <a:cs typeface="Courier New" pitchFamily="34" charset="-120"/>
              </a:rPr>
              <a:t>1 Hel</a:t>
            </a:r>
            <a:endParaRPr lang="en-US" sz="1800" dirty="0"/>
          </a:p>
        </p:txBody>
      </p:sp>
      <p:sp>
        <p:nvSpPr>
          <p:cNvPr id="21" name="@2 Card"/>
          <p:cNvSpPr/>
          <p:nvPr/>
        </p:nvSpPr>
        <p:spPr>
          <a:xfrm>
            <a:off x="4937760" y="3108960"/>
            <a:ext cx="146304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22" name="@2 addText"/>
          <p:cNvSpPr txBox="1"/>
          <p:nvPr/>
        </p:nvSpPr>
        <p:spPr>
          <a:xfrm>
            <a:off x="4937760" y="3108960"/>
            <a:ext cx="146304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Courier New" pitchFamily="34" charset="0"/>
                <a:ea typeface="Courier New" pitchFamily="34" charset="-122"/>
                <a:cs typeface="Courier New" pitchFamily="34" charset="-120"/>
              </a:rPr>
              <a:t>4 ld!</a:t>
            </a:r>
            <a:endParaRPr lang="en-US" sz="1800" dirty="0"/>
          </a:p>
        </p:txBody>
      </p:sp>
      <p:sp>
        <p:nvSpPr>
          <p:cNvPr id="23" name="@2 Card"/>
          <p:cNvSpPr/>
          <p:nvPr/>
        </p:nvSpPr>
        <p:spPr>
          <a:xfrm>
            <a:off x="6583680" y="3108960"/>
            <a:ext cx="1463040" cy="548640"/>
          </a:xfrm>
          <a:prstGeom prst="roundRect">
            <a:avLst>
              <a:gd name="adj" fmla="val 20000"/>
            </a:avLst>
          </a:prstGeom>
          <a:solidFill>
            <a:srgbClr val="FFFFFF"/>
          </a:solidFill>
          <a:ln w="9525">
            <a:solidFill>
              <a:srgbClr val="C5D1E3"/>
            </a:solidFill>
            <a:prstDash val="solid"/>
          </a:ln>
        </p:spPr>
        <p:txBody>
          <a:bodyPr/>
          <a:lstStyle/>
          <a:p>
            <a:endParaRPr lang="en-GB"/>
          </a:p>
        </p:txBody>
      </p:sp>
      <p:sp>
        <p:nvSpPr>
          <p:cNvPr id="24" name="@2 addText"/>
          <p:cNvSpPr txBox="1"/>
          <p:nvPr/>
        </p:nvSpPr>
        <p:spPr>
          <a:xfrm>
            <a:off x="6583680" y="3108960"/>
            <a:ext cx="146304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Courier New" pitchFamily="34" charset="0"/>
                <a:ea typeface="Courier New" pitchFamily="34" charset="-122"/>
                <a:cs typeface="Courier New" pitchFamily="34" charset="-120"/>
              </a:rPr>
              <a:t>2 lo_</a:t>
            </a:r>
            <a:endParaRPr lang="en-US" sz="1800" dirty="0"/>
          </a:p>
        </p:txBody>
      </p:sp>
      <p:sp>
        <p:nvSpPr>
          <p:cNvPr id="25" name="@3 addText"/>
          <p:cNvSpPr txBox="1"/>
          <p:nvPr/>
        </p:nvSpPr>
        <p:spPr>
          <a:xfrm>
            <a:off x="457200" y="3840480"/>
            <a:ext cx="1097280" cy="548640"/>
          </a:xfrm>
          <a:prstGeom prst="rect">
            <a:avLst/>
          </a:prstGeom>
          <a:noFill/>
          <a:ln/>
        </p:spPr>
        <p:txBody>
          <a:bodyPr wrap="square" lIns="0" tIns="0" rIns="0" bIns="0" rtlCol="0" anchor="ctr"/>
          <a:lstStyle/>
          <a:p>
            <a:pPr marL="0" indent="0">
              <a:buNone/>
            </a:pPr>
            <a:r>
              <a:rPr lang="en-US" sz="1400" b="1" dirty="0">
                <a:solidFill>
                  <a:srgbClr val="5D6B80"/>
                </a:solidFill>
                <a:latin typeface="Arial" pitchFamily="34" charset="0"/>
                <a:ea typeface="Arial" pitchFamily="34" charset="-122"/>
                <a:cs typeface="Arial" pitchFamily="34" charset="-120"/>
              </a:rPr>
              <a:t>rebuild</a:t>
            </a:r>
            <a:endParaRPr lang="en-US" sz="1400" dirty="0"/>
          </a:p>
        </p:txBody>
      </p:sp>
      <p:sp>
        <p:nvSpPr>
          <p:cNvPr id="26" name="@3 Card"/>
          <p:cNvSpPr/>
          <p:nvPr/>
        </p:nvSpPr>
        <p:spPr>
          <a:xfrm>
            <a:off x="1645920" y="3840480"/>
            <a:ext cx="2926080" cy="548640"/>
          </a:xfrm>
          <a:prstGeom prst="roundRect">
            <a:avLst>
              <a:gd name="adj" fmla="val 20000"/>
            </a:avLst>
          </a:prstGeom>
          <a:solidFill>
            <a:srgbClr val="A9C4E8"/>
          </a:solidFill>
          <a:ln w="9525">
            <a:solidFill>
              <a:srgbClr val="A9C4E8"/>
            </a:solidFill>
            <a:prstDash val="solid"/>
          </a:ln>
        </p:spPr>
        <p:txBody>
          <a:bodyPr/>
          <a:lstStyle/>
          <a:p>
            <a:endParaRPr lang="en-GB"/>
          </a:p>
        </p:txBody>
      </p:sp>
      <p:sp>
        <p:nvSpPr>
          <p:cNvPr id="27" name="@3 addText"/>
          <p:cNvSpPr txBox="1"/>
          <p:nvPr/>
        </p:nvSpPr>
        <p:spPr>
          <a:xfrm>
            <a:off x="1645920" y="3840480"/>
            <a:ext cx="2926080" cy="548640"/>
          </a:xfrm>
          <a:prstGeom prst="rect">
            <a:avLst/>
          </a:prstGeom>
          <a:noFill/>
          <a:ln/>
        </p:spPr>
        <p:txBody>
          <a:bodyPr wrap="square" lIns="0" tIns="0" rIns="0" bIns="0" rtlCol="0" anchor="ctr"/>
          <a:lstStyle/>
          <a:p>
            <a:pPr marL="0" indent="0" algn="ctr">
              <a:buNone/>
            </a:pPr>
            <a:r>
              <a:rPr lang="en-US" sz="1800" b="1" dirty="0">
                <a:solidFill>
                  <a:srgbClr val="001B40"/>
                </a:solidFill>
                <a:latin typeface="Courier New" pitchFamily="34" charset="0"/>
                <a:ea typeface="Courier New" pitchFamily="34" charset="-122"/>
                <a:cs typeface="Courier New" pitchFamily="34" charset="-120"/>
              </a:rPr>
              <a:t>Hello world!</a:t>
            </a:r>
            <a:endParaRPr lang="en-US" sz="1800" dirty="0"/>
          </a:p>
        </p:txBody>
      </p:sp>
      <p:sp>
        <p:nvSpPr>
          <p:cNvPr id="2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2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2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2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2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2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2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2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2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2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200"/>
                                        <p:tgtEl>
                                          <p:spTgt spid="2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20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20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2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Why Compress Data?</a:t>
            </a:r>
            <a:endParaRPr lang="en-US" sz="3000" dirty="0"/>
          </a:p>
        </p:txBody>
      </p:sp>
      <p:sp>
        <p:nvSpPr>
          <p:cNvPr id="3" name="Text 1"/>
          <p:cNvSpPr txBox="1"/>
          <p:nvPr/>
        </p:nvSpPr>
        <p:spPr>
          <a:xfrm>
            <a:off x="457200" y="100584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Less data = less storage, faster sending.</a:t>
            </a:r>
            <a:endParaRPr lang="en-US" sz="1800" dirty="0"/>
          </a:p>
        </p:txBody>
      </p:sp>
      <p:sp>
        <p:nvSpPr>
          <p:cNvPr id="4" name="Text 2"/>
          <p:cNvSpPr txBox="1"/>
          <p:nvPr/>
        </p:nvSpPr>
        <p:spPr>
          <a:xfrm>
            <a:off x="457200" y="1645920"/>
            <a:ext cx="3657600" cy="320040"/>
          </a:xfrm>
          <a:prstGeom prst="rect">
            <a:avLst/>
          </a:prstGeom>
          <a:noFill/>
          <a:ln/>
        </p:spPr>
        <p:txBody>
          <a:bodyPr wrap="square" lIns="0" tIns="0" rIns="0" bIns="0" rtlCol="0" anchor="ctr"/>
          <a:lstStyle/>
          <a:p>
            <a:pPr marL="0" indent="0">
              <a:buNone/>
            </a:pPr>
            <a:r>
              <a:rPr lang="en-US" sz="1600" b="1" dirty="0">
                <a:solidFill>
                  <a:srgbClr val="22262E"/>
                </a:solidFill>
                <a:latin typeface="Arial" pitchFamily="34" charset="0"/>
                <a:ea typeface="Arial" pitchFamily="34" charset="-122"/>
                <a:cs typeface="Arial" pitchFamily="34" charset="-120"/>
              </a:rPr>
              <a:t>Picture A: 46 x 38</a:t>
            </a:r>
            <a:endParaRPr lang="en-US" sz="1600" dirty="0"/>
          </a:p>
        </p:txBody>
      </p:sp>
      <p:sp>
        <p:nvSpPr>
          <p:cNvPr id="5" name="Text 3"/>
          <p:cNvSpPr txBox="1"/>
          <p:nvPr/>
        </p:nvSpPr>
        <p:spPr>
          <a:xfrm>
            <a:off x="457200" y="2011680"/>
            <a:ext cx="1645920" cy="365760"/>
          </a:xfrm>
          <a:prstGeom prst="rect">
            <a:avLst/>
          </a:prstGeom>
          <a:noFill/>
          <a:ln/>
        </p:spPr>
        <p:txBody>
          <a:bodyPr wrap="square" lIns="0" tIns="0" rIns="0" bIns="0" rtlCol="0" anchor="ctr"/>
          <a:lstStyle/>
          <a:p>
            <a:pPr marL="0" indent="0">
              <a:buNone/>
            </a:pPr>
            <a:r>
              <a:rPr lang="en-US" sz="1400" dirty="0">
                <a:solidFill>
                  <a:srgbClr val="5D6B80"/>
                </a:solidFill>
                <a:latin typeface="Arial" pitchFamily="34" charset="0"/>
                <a:ea typeface="Arial" pitchFamily="34" charset="-122"/>
                <a:cs typeface="Arial" pitchFamily="34" charset="-120"/>
              </a:rPr>
              <a:t>pixel by pixel</a:t>
            </a:r>
            <a:endParaRPr lang="en-US" sz="1400" dirty="0"/>
          </a:p>
        </p:txBody>
      </p:sp>
      <p:sp>
        <p:nvSpPr>
          <p:cNvPr id="6" name="Bar raw"/>
          <p:cNvSpPr/>
          <p:nvPr/>
        </p:nvSpPr>
        <p:spPr>
          <a:xfrm>
            <a:off x="2194560" y="2011680"/>
            <a:ext cx="4486148" cy="365760"/>
          </a:xfrm>
          <a:prstGeom prst="rect">
            <a:avLst/>
          </a:prstGeom>
          <a:solidFill>
            <a:srgbClr val="B71C1C"/>
          </a:solidFill>
          <a:ln w="12700">
            <a:solidFill>
              <a:srgbClr val="B71C1C"/>
            </a:solidFill>
            <a:prstDash val="solid"/>
          </a:ln>
        </p:spPr>
        <p:txBody>
          <a:bodyPr/>
          <a:lstStyle/>
          <a:p>
            <a:endParaRPr lang="en-GB"/>
          </a:p>
        </p:txBody>
      </p:sp>
      <p:sp>
        <p:nvSpPr>
          <p:cNvPr id="7" name="Text 5"/>
          <p:cNvSpPr txBox="1"/>
          <p:nvPr/>
        </p:nvSpPr>
        <p:spPr>
          <a:xfrm>
            <a:off x="2286000" y="2011680"/>
            <a:ext cx="2743200" cy="36576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1,748 values</a:t>
            </a:r>
            <a:endParaRPr lang="en-US" sz="1400" dirty="0"/>
          </a:p>
        </p:txBody>
      </p:sp>
      <p:sp>
        <p:nvSpPr>
          <p:cNvPr id="8" name="@1 addText"/>
          <p:cNvSpPr txBox="1"/>
          <p:nvPr/>
        </p:nvSpPr>
        <p:spPr>
          <a:xfrm>
            <a:off x="457200" y="2423160"/>
            <a:ext cx="1737360" cy="365760"/>
          </a:xfrm>
          <a:prstGeom prst="rect">
            <a:avLst/>
          </a:prstGeom>
          <a:noFill/>
          <a:ln/>
        </p:spPr>
        <p:txBody>
          <a:bodyPr wrap="square" lIns="0" tIns="0" rIns="0" bIns="0" rtlCol="0" anchor="ctr"/>
          <a:lstStyle/>
          <a:p>
            <a:pPr marL="0" indent="0">
              <a:buNone/>
            </a:pPr>
            <a:r>
              <a:rPr lang="en-US" sz="1400" dirty="0">
                <a:solidFill>
                  <a:srgbClr val="5D6B80"/>
                </a:solidFill>
                <a:latin typeface="Arial" pitchFamily="34" charset="0"/>
                <a:ea typeface="Arial" pitchFamily="34" charset="-122"/>
                <a:cs typeface="Arial" pitchFamily="34" charset="-120"/>
              </a:rPr>
              <a:t>run-length encoded</a:t>
            </a:r>
            <a:endParaRPr lang="en-US" sz="1400" dirty="0"/>
          </a:p>
        </p:txBody>
      </p:sp>
      <p:sp>
        <p:nvSpPr>
          <p:cNvPr id="9" name="@1 Bar rle"/>
          <p:cNvSpPr/>
          <p:nvPr/>
        </p:nvSpPr>
        <p:spPr>
          <a:xfrm>
            <a:off x="2194560" y="2423160"/>
            <a:ext cx="467093" cy="365760"/>
          </a:xfrm>
          <a:prstGeom prst="rect">
            <a:avLst/>
          </a:prstGeom>
          <a:solidFill>
            <a:srgbClr val="002D6A"/>
          </a:solidFill>
          <a:ln w="12700">
            <a:solidFill>
              <a:srgbClr val="002D6A"/>
            </a:solidFill>
            <a:prstDash val="solid"/>
          </a:ln>
        </p:spPr>
        <p:txBody>
          <a:bodyPr/>
          <a:lstStyle/>
          <a:p>
            <a:endParaRPr lang="en-GB"/>
          </a:p>
        </p:txBody>
      </p:sp>
      <p:sp>
        <p:nvSpPr>
          <p:cNvPr id="10" name="@1 addText"/>
          <p:cNvSpPr txBox="1"/>
          <p:nvPr/>
        </p:nvSpPr>
        <p:spPr>
          <a:xfrm>
            <a:off x="2753093" y="2423160"/>
            <a:ext cx="914400" cy="365760"/>
          </a:xfrm>
          <a:prstGeom prst="rect">
            <a:avLst/>
          </a:prstGeom>
          <a:noFill/>
          <a:ln/>
        </p:spPr>
        <p:txBody>
          <a:bodyPr wrap="square" lIns="0" tIns="0" rIns="0" bIns="0" rtlCol="0" anchor="ctr"/>
          <a:lstStyle/>
          <a:p>
            <a:pPr marL="0" indent="0">
              <a:buNone/>
            </a:pPr>
            <a:r>
              <a:rPr lang="en-US" sz="1600" b="1" dirty="0">
                <a:solidFill>
                  <a:srgbClr val="002D6A"/>
                </a:solidFill>
                <a:latin typeface="Arial" pitchFamily="34" charset="0"/>
                <a:ea typeface="Arial" pitchFamily="34" charset="-122"/>
                <a:cs typeface="Arial" pitchFamily="34" charset="-120"/>
              </a:rPr>
              <a:t>182</a:t>
            </a:r>
            <a:endParaRPr lang="en-US" sz="1600" dirty="0"/>
          </a:p>
        </p:txBody>
      </p:sp>
      <p:sp>
        <p:nvSpPr>
          <p:cNvPr id="11" name="Text 9"/>
          <p:cNvSpPr txBox="1"/>
          <p:nvPr/>
        </p:nvSpPr>
        <p:spPr>
          <a:xfrm>
            <a:off x="457200" y="3017520"/>
            <a:ext cx="3657600" cy="320040"/>
          </a:xfrm>
          <a:prstGeom prst="rect">
            <a:avLst/>
          </a:prstGeom>
          <a:noFill/>
          <a:ln/>
        </p:spPr>
        <p:txBody>
          <a:bodyPr wrap="square" lIns="0" tIns="0" rIns="0" bIns="0" rtlCol="0" anchor="ctr"/>
          <a:lstStyle/>
          <a:p>
            <a:pPr marL="0" indent="0">
              <a:buNone/>
            </a:pPr>
            <a:r>
              <a:rPr lang="en-US" sz="1600" b="1" dirty="0">
                <a:solidFill>
                  <a:srgbClr val="22262E"/>
                </a:solidFill>
                <a:latin typeface="Arial" pitchFamily="34" charset="0"/>
                <a:ea typeface="Arial" pitchFamily="34" charset="-122"/>
                <a:cs typeface="Arial" pitchFamily="34" charset="-120"/>
              </a:rPr>
              <a:t>Picture B: 47 x 47</a:t>
            </a:r>
            <a:endParaRPr lang="en-US" sz="1600" dirty="0"/>
          </a:p>
        </p:txBody>
      </p:sp>
      <p:sp>
        <p:nvSpPr>
          <p:cNvPr id="12" name="Text 10"/>
          <p:cNvSpPr txBox="1"/>
          <p:nvPr/>
        </p:nvSpPr>
        <p:spPr>
          <a:xfrm>
            <a:off x="457200" y="3383280"/>
            <a:ext cx="1645920" cy="365760"/>
          </a:xfrm>
          <a:prstGeom prst="rect">
            <a:avLst/>
          </a:prstGeom>
          <a:noFill/>
          <a:ln/>
        </p:spPr>
        <p:txBody>
          <a:bodyPr wrap="square" lIns="0" tIns="0" rIns="0" bIns="0" rtlCol="0" anchor="ctr"/>
          <a:lstStyle/>
          <a:p>
            <a:pPr marL="0" indent="0">
              <a:buNone/>
            </a:pPr>
            <a:r>
              <a:rPr lang="en-US" sz="1400" dirty="0">
                <a:solidFill>
                  <a:srgbClr val="5D6B80"/>
                </a:solidFill>
                <a:latin typeface="Arial" pitchFamily="34" charset="0"/>
                <a:ea typeface="Arial" pitchFamily="34" charset="-122"/>
                <a:cs typeface="Arial" pitchFamily="34" charset="-120"/>
              </a:rPr>
              <a:t>pixel by pixel</a:t>
            </a:r>
            <a:endParaRPr lang="en-US" sz="1400" dirty="0"/>
          </a:p>
        </p:txBody>
      </p:sp>
      <p:sp>
        <p:nvSpPr>
          <p:cNvPr id="13" name="Bar raw"/>
          <p:cNvSpPr/>
          <p:nvPr/>
        </p:nvSpPr>
        <p:spPr>
          <a:xfrm>
            <a:off x="2194560" y="3383280"/>
            <a:ext cx="5669280" cy="365760"/>
          </a:xfrm>
          <a:prstGeom prst="rect">
            <a:avLst/>
          </a:prstGeom>
          <a:solidFill>
            <a:srgbClr val="B71C1C"/>
          </a:solidFill>
          <a:ln w="12700">
            <a:solidFill>
              <a:srgbClr val="B71C1C"/>
            </a:solidFill>
            <a:prstDash val="solid"/>
          </a:ln>
        </p:spPr>
        <p:txBody>
          <a:bodyPr/>
          <a:lstStyle/>
          <a:p>
            <a:endParaRPr lang="en-GB"/>
          </a:p>
        </p:txBody>
      </p:sp>
      <p:sp>
        <p:nvSpPr>
          <p:cNvPr id="14" name="Text 12"/>
          <p:cNvSpPr txBox="1"/>
          <p:nvPr/>
        </p:nvSpPr>
        <p:spPr>
          <a:xfrm>
            <a:off x="2286000" y="3383280"/>
            <a:ext cx="2743200" cy="36576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2,209 values</a:t>
            </a:r>
            <a:endParaRPr lang="en-US" sz="1400" dirty="0"/>
          </a:p>
        </p:txBody>
      </p:sp>
      <p:sp>
        <p:nvSpPr>
          <p:cNvPr id="15" name="@2 addText"/>
          <p:cNvSpPr txBox="1"/>
          <p:nvPr/>
        </p:nvSpPr>
        <p:spPr>
          <a:xfrm>
            <a:off x="457200" y="3794760"/>
            <a:ext cx="1737360" cy="365760"/>
          </a:xfrm>
          <a:prstGeom prst="rect">
            <a:avLst/>
          </a:prstGeom>
          <a:noFill/>
          <a:ln/>
        </p:spPr>
        <p:txBody>
          <a:bodyPr wrap="square" lIns="0" tIns="0" rIns="0" bIns="0" rtlCol="0" anchor="ctr"/>
          <a:lstStyle/>
          <a:p>
            <a:pPr marL="0" indent="0">
              <a:buNone/>
            </a:pPr>
            <a:r>
              <a:rPr lang="en-US" sz="1400" dirty="0">
                <a:solidFill>
                  <a:srgbClr val="5D6B80"/>
                </a:solidFill>
                <a:latin typeface="Arial" pitchFamily="34" charset="0"/>
                <a:ea typeface="Arial" pitchFamily="34" charset="-122"/>
                <a:cs typeface="Arial" pitchFamily="34" charset="-120"/>
              </a:rPr>
              <a:t>run-length encoded</a:t>
            </a:r>
            <a:endParaRPr lang="en-US" sz="1400" dirty="0"/>
          </a:p>
        </p:txBody>
      </p:sp>
      <p:sp>
        <p:nvSpPr>
          <p:cNvPr id="16" name="@2 Bar rle"/>
          <p:cNvSpPr/>
          <p:nvPr/>
        </p:nvSpPr>
        <p:spPr>
          <a:xfrm>
            <a:off x="2194560" y="3794760"/>
            <a:ext cx="469660" cy="365760"/>
          </a:xfrm>
          <a:prstGeom prst="rect">
            <a:avLst/>
          </a:prstGeom>
          <a:solidFill>
            <a:srgbClr val="002D6A"/>
          </a:solidFill>
          <a:ln w="12700">
            <a:solidFill>
              <a:srgbClr val="002D6A"/>
            </a:solidFill>
            <a:prstDash val="solid"/>
          </a:ln>
        </p:spPr>
        <p:txBody>
          <a:bodyPr/>
          <a:lstStyle/>
          <a:p>
            <a:endParaRPr lang="en-GB"/>
          </a:p>
        </p:txBody>
      </p:sp>
      <p:sp>
        <p:nvSpPr>
          <p:cNvPr id="17" name="@2 addText"/>
          <p:cNvSpPr txBox="1"/>
          <p:nvPr/>
        </p:nvSpPr>
        <p:spPr>
          <a:xfrm>
            <a:off x="2755660" y="3794760"/>
            <a:ext cx="914400" cy="365760"/>
          </a:xfrm>
          <a:prstGeom prst="rect">
            <a:avLst/>
          </a:prstGeom>
          <a:noFill/>
          <a:ln/>
        </p:spPr>
        <p:txBody>
          <a:bodyPr wrap="square" lIns="0" tIns="0" rIns="0" bIns="0" rtlCol="0" anchor="ctr"/>
          <a:lstStyle/>
          <a:p>
            <a:pPr marL="0" indent="0">
              <a:buNone/>
            </a:pPr>
            <a:r>
              <a:rPr lang="en-US" sz="1600" b="1" dirty="0">
                <a:solidFill>
                  <a:srgbClr val="002D6A"/>
                </a:solidFill>
                <a:latin typeface="Arial" pitchFamily="34" charset="0"/>
                <a:ea typeface="Arial" pitchFamily="34" charset="-122"/>
                <a:cs typeface="Arial" pitchFamily="34" charset="-120"/>
              </a:rPr>
              <a:t>183</a:t>
            </a:r>
            <a:endParaRPr lang="en-US" sz="1600" dirty="0"/>
          </a:p>
        </p:txBody>
      </p:sp>
      <p:sp>
        <p:nvSpPr>
          <p:cNvPr id="18" name="@3 addText"/>
          <p:cNvSpPr txBox="1"/>
          <p:nvPr/>
        </p:nvSpPr>
        <p:spPr>
          <a:xfrm>
            <a:off x="457200" y="443484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RLE is lossless. MP3 throws a little away to save more.</a:t>
            </a:r>
            <a:endParaRPr lang="en-US" sz="1400" dirty="0"/>
          </a:p>
        </p:txBody>
      </p:sp>
      <p:sp>
        <p:nvSpPr>
          <p:cNvPr id="1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2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2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2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2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5" grpId="0" animBg="1"/>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What Is Run-Length Encoding?</a:t>
            </a:r>
            <a:endParaRPr lang="en-US" sz="3000" dirty="0"/>
          </a:p>
        </p:txBody>
      </p:sp>
      <p:sp>
        <p:nvSpPr>
          <p:cNvPr id="3" name="Callout"/>
          <p:cNvSpPr/>
          <p:nvPr/>
        </p:nvSpPr>
        <p:spPr>
          <a:xfrm>
            <a:off x="457200" y="1280160"/>
            <a:ext cx="8229600" cy="1280160"/>
          </a:xfrm>
          <a:prstGeom prst="roundRect">
            <a:avLst>
              <a:gd name="adj" fmla="val 7143"/>
            </a:avLst>
          </a:prstGeom>
          <a:solidFill>
            <a:srgbClr val="FFFFFF"/>
          </a:solidFill>
          <a:ln w="15875">
            <a:solidFill>
              <a:srgbClr val="5D79A0"/>
            </a:solidFill>
            <a:prstDash val="solid"/>
          </a:ln>
        </p:spPr>
        <p:txBody>
          <a:bodyPr/>
          <a:lstStyle/>
          <a:p>
            <a:endParaRPr lang="en-GB"/>
          </a:p>
        </p:txBody>
      </p:sp>
      <p:sp>
        <p:nvSpPr>
          <p:cNvPr id="4" name="Text 2"/>
          <p:cNvSpPr txBox="1"/>
          <p:nvPr/>
        </p:nvSpPr>
        <p:spPr>
          <a:xfrm>
            <a:off x="685800" y="1280160"/>
            <a:ext cx="7772400" cy="128016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Run-length encoding (RLE) replaces a repeated run of the same value with two things: what is repeated, and how many times.</a:t>
            </a:r>
            <a:endParaRPr lang="en-US" sz="1200" dirty="0"/>
          </a:p>
        </p:txBody>
      </p:sp>
      <p:sp>
        <p:nvSpPr>
          <p:cNvPr id="5" name="@1 addText"/>
          <p:cNvSpPr txBox="1"/>
          <p:nvPr/>
        </p:nvSpPr>
        <p:spPr>
          <a:xfrm>
            <a:off x="685800" y="3108960"/>
            <a:ext cx="3657600" cy="640080"/>
          </a:xfrm>
          <a:prstGeom prst="rect">
            <a:avLst/>
          </a:prstGeom>
          <a:noFill/>
          <a:ln/>
        </p:spPr>
        <p:txBody>
          <a:bodyPr wrap="square" lIns="0" tIns="0" rIns="0" bIns="0" rtlCol="0" anchor="ctr"/>
          <a:lstStyle/>
          <a:p>
            <a:pPr marL="0" indent="0">
              <a:buNone/>
            </a:pPr>
            <a:r>
              <a:rPr lang="en-US" sz="2600" b="1" dirty="0">
                <a:solidFill>
                  <a:srgbClr val="002D6A"/>
                </a:solidFill>
                <a:latin typeface="Courier New" pitchFamily="34" charset="0"/>
                <a:ea typeface="Courier New" pitchFamily="34" charset="-122"/>
                <a:cs typeface="Courier New" pitchFamily="34" charset="-120"/>
              </a:rPr>
              <a:t>AAAABBBCCCCD</a:t>
            </a:r>
            <a:endParaRPr lang="en-US" sz="2600" dirty="0"/>
          </a:p>
        </p:txBody>
      </p:sp>
      <p:sp>
        <p:nvSpPr>
          <p:cNvPr id="6" name="@1 addText"/>
          <p:cNvSpPr txBox="1"/>
          <p:nvPr/>
        </p:nvSpPr>
        <p:spPr>
          <a:xfrm>
            <a:off x="4297680" y="3108960"/>
            <a:ext cx="548640" cy="640080"/>
          </a:xfrm>
          <a:prstGeom prst="rect">
            <a:avLst/>
          </a:prstGeom>
          <a:noFill/>
          <a:ln/>
        </p:spPr>
        <p:txBody>
          <a:bodyPr wrap="square" lIns="0" tIns="0" rIns="0" bIns="0" rtlCol="0" anchor="ctr"/>
          <a:lstStyle/>
          <a:p>
            <a:pPr marL="0" indent="0">
              <a:buNone/>
            </a:pPr>
            <a:r>
              <a:rPr lang="en-US" sz="2400" b="1" dirty="0">
                <a:solidFill>
                  <a:srgbClr val="5D79A0"/>
                </a:solidFill>
                <a:latin typeface="Arial" pitchFamily="34" charset="0"/>
                <a:ea typeface="Arial" pitchFamily="34" charset="-122"/>
                <a:cs typeface="Arial" pitchFamily="34" charset="-120"/>
              </a:rPr>
              <a:t>-&gt;</a:t>
            </a:r>
            <a:endParaRPr lang="en-US" sz="2400" dirty="0"/>
          </a:p>
        </p:txBody>
      </p:sp>
      <p:sp>
        <p:nvSpPr>
          <p:cNvPr id="7" name="@1 addText"/>
          <p:cNvSpPr txBox="1"/>
          <p:nvPr/>
        </p:nvSpPr>
        <p:spPr>
          <a:xfrm>
            <a:off x="4937760" y="3108960"/>
            <a:ext cx="3657600" cy="640080"/>
          </a:xfrm>
          <a:prstGeom prst="rect">
            <a:avLst/>
          </a:prstGeom>
          <a:noFill/>
          <a:ln/>
        </p:spPr>
        <p:txBody>
          <a:bodyPr wrap="square" lIns="0" tIns="0" rIns="0" bIns="0" rtlCol="0" anchor="ctr"/>
          <a:lstStyle/>
          <a:p>
            <a:pPr marL="0" indent="0">
              <a:buNone/>
            </a:pPr>
            <a:r>
              <a:rPr lang="en-US" sz="2600" b="1" dirty="0">
                <a:solidFill>
                  <a:srgbClr val="002D6A"/>
                </a:solidFill>
                <a:latin typeface="Courier New" pitchFamily="34" charset="0"/>
                <a:ea typeface="Courier New" pitchFamily="34" charset="-122"/>
                <a:cs typeface="Courier New" pitchFamily="34" charset="-120"/>
              </a:rPr>
              <a:t>4A 3B 4C 1D</a:t>
            </a:r>
            <a:endParaRPr lang="en-US" sz="2600" dirty="0"/>
          </a:p>
        </p:txBody>
      </p:sp>
      <p:sp>
        <p:nvSpPr>
          <p:cNvPr id="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Few Things Worth Knowing</a:t>
            </a:r>
            <a:endParaRPr lang="en-US" sz="3000" dirty="0"/>
          </a:p>
        </p:txBody>
      </p:sp>
      <p:sp>
        <p:nvSpPr>
          <p:cNvPr id="3" name="@1 Card"/>
          <p:cNvSpPr/>
          <p:nvPr/>
        </p:nvSpPr>
        <p:spPr>
          <a:xfrm>
            <a:off x="457200" y="1188720"/>
            <a:ext cx="2651760" cy="2377440"/>
          </a:xfrm>
          <a:prstGeom prst="roundRect">
            <a:avLst>
              <a:gd name="adj" fmla="val 4615"/>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640080" y="1280160"/>
            <a:ext cx="2286000" cy="457200"/>
          </a:xfrm>
          <a:prstGeom prst="rect">
            <a:avLst/>
          </a:prstGeom>
          <a:noFill/>
          <a:ln/>
        </p:spPr>
        <p:txBody>
          <a:bodyPr wrap="square" lIns="0" tIns="0" rIns="0" bIns="0" rtlCol="0" anchor="ctr"/>
          <a:lstStyle/>
          <a:p>
            <a:pPr marL="0" indent="0">
              <a:buNone/>
            </a:pPr>
            <a:r>
              <a:rPr lang="en-US" sz="2000" b="1" dirty="0">
                <a:solidFill>
                  <a:srgbClr val="002D6A"/>
                </a:solidFill>
                <a:latin typeface="Arial" pitchFamily="34" charset="0"/>
                <a:ea typeface="Arial" pitchFamily="34" charset="-122"/>
                <a:cs typeface="Arial" pitchFamily="34" charset="-120"/>
              </a:rPr>
              <a:t>Lossless</a:t>
            </a:r>
            <a:endParaRPr lang="en-US" sz="2000" dirty="0"/>
          </a:p>
        </p:txBody>
      </p:sp>
      <p:sp>
        <p:nvSpPr>
          <p:cNvPr id="5" name="@1 addText"/>
          <p:cNvSpPr txBox="1"/>
          <p:nvPr/>
        </p:nvSpPr>
        <p:spPr>
          <a:xfrm>
            <a:off x="640080" y="1828800"/>
            <a:ext cx="2286000" cy="731520"/>
          </a:xfrm>
          <a:prstGeom prst="rect">
            <a:avLst/>
          </a:prstGeom>
          <a:noFill/>
          <a:ln/>
        </p:spPr>
        <p:txBody>
          <a:bodyPr wrap="square" lIns="0" tIns="0" rIns="0" bIns="0" rtlCol="0" anchor="ctr"/>
          <a:lstStyle/>
          <a:p>
            <a:pPr marL="0" indent="0">
              <a:buNone/>
            </a:pPr>
            <a:r>
              <a:rPr lang="en-US" sz="1400" b="1" dirty="0">
                <a:solidFill>
                  <a:srgbClr val="22262E"/>
                </a:solidFill>
                <a:latin typeface="Courier New" pitchFamily="34" charset="0"/>
                <a:ea typeface="Courier New" pitchFamily="34" charset="-122"/>
                <a:cs typeface="Courier New" pitchFamily="34" charset="-120"/>
              </a:rPr>
              <a:t>AAAABBB &gt; 4A3B &gt; AAAABBB</a:t>
            </a:r>
            <a:endParaRPr lang="en-US" sz="1400" dirty="0"/>
          </a:p>
        </p:txBody>
      </p:sp>
      <p:sp>
        <p:nvSpPr>
          <p:cNvPr id="6" name="@1 addText"/>
          <p:cNvSpPr txBox="1"/>
          <p:nvPr/>
        </p:nvSpPr>
        <p:spPr>
          <a:xfrm>
            <a:off x="640080" y="2651760"/>
            <a:ext cx="2286000" cy="731520"/>
          </a:xfrm>
          <a:prstGeom prst="rect">
            <a:avLst/>
          </a:prstGeom>
          <a:noFill/>
          <a:ln/>
        </p:spPr>
        <p:txBody>
          <a:bodyPr wrap="square" lIns="0" tIns="0" rIns="0" bIns="0" rtlCol="0" anchor="t"/>
          <a:lstStyle/>
          <a:p>
            <a:pPr marL="0" indent="0">
              <a:buNone/>
            </a:pPr>
            <a:r>
              <a:rPr lang="en-US" sz="1600" dirty="0">
                <a:solidFill>
                  <a:srgbClr val="22262E"/>
                </a:solidFill>
                <a:latin typeface="Arial" pitchFamily="34" charset="0"/>
                <a:ea typeface="Arial" pitchFamily="34" charset="-122"/>
                <a:cs typeface="Arial" pitchFamily="34" charset="-120"/>
              </a:rPr>
              <a:t>Decode it and you get the exact original back.</a:t>
            </a:r>
            <a:endParaRPr lang="en-US" sz="1600" dirty="0"/>
          </a:p>
        </p:txBody>
      </p:sp>
      <p:sp>
        <p:nvSpPr>
          <p:cNvPr id="7" name="@2 Card"/>
          <p:cNvSpPr/>
          <p:nvPr/>
        </p:nvSpPr>
        <p:spPr>
          <a:xfrm>
            <a:off x="3291840" y="1188720"/>
            <a:ext cx="2651760" cy="2377440"/>
          </a:xfrm>
          <a:prstGeom prst="roundRect">
            <a:avLst>
              <a:gd name="adj" fmla="val 4615"/>
            </a:avLst>
          </a:prstGeom>
          <a:solidFill>
            <a:srgbClr val="FFFFFF"/>
          </a:solidFill>
          <a:ln w="9525">
            <a:solidFill>
              <a:srgbClr val="C5D1E3"/>
            </a:solidFill>
            <a:prstDash val="solid"/>
          </a:ln>
        </p:spPr>
        <p:txBody>
          <a:bodyPr/>
          <a:lstStyle/>
          <a:p>
            <a:endParaRPr lang="en-GB"/>
          </a:p>
        </p:txBody>
      </p:sp>
      <p:sp>
        <p:nvSpPr>
          <p:cNvPr id="8" name="@2 addText"/>
          <p:cNvSpPr txBox="1"/>
          <p:nvPr/>
        </p:nvSpPr>
        <p:spPr>
          <a:xfrm>
            <a:off x="3474720" y="1280160"/>
            <a:ext cx="2286000" cy="457200"/>
          </a:xfrm>
          <a:prstGeom prst="rect">
            <a:avLst/>
          </a:prstGeom>
          <a:noFill/>
          <a:ln/>
        </p:spPr>
        <p:txBody>
          <a:bodyPr wrap="square" lIns="0" tIns="0" rIns="0" bIns="0" rtlCol="0" anchor="ctr"/>
          <a:lstStyle/>
          <a:p>
            <a:pPr marL="0" indent="0">
              <a:buNone/>
            </a:pPr>
            <a:r>
              <a:rPr lang="en-US" sz="2000" b="1" dirty="0">
                <a:solidFill>
                  <a:srgbClr val="002D6A"/>
                </a:solidFill>
                <a:latin typeface="Arial" pitchFamily="34" charset="0"/>
                <a:ea typeface="Arial" pitchFamily="34" charset="-122"/>
                <a:cs typeface="Arial" pitchFamily="34" charset="-120"/>
              </a:rPr>
              <a:t>Loves repeats</a:t>
            </a:r>
            <a:endParaRPr lang="en-US" sz="2000" dirty="0"/>
          </a:p>
        </p:txBody>
      </p:sp>
      <p:sp>
        <p:nvSpPr>
          <p:cNvPr id="9" name="@2 addText"/>
          <p:cNvSpPr txBox="1"/>
          <p:nvPr/>
        </p:nvSpPr>
        <p:spPr>
          <a:xfrm>
            <a:off x="3474720" y="1828800"/>
            <a:ext cx="2286000" cy="731520"/>
          </a:xfrm>
          <a:prstGeom prst="rect">
            <a:avLst/>
          </a:prstGeom>
          <a:noFill/>
          <a:ln/>
        </p:spPr>
        <p:txBody>
          <a:bodyPr wrap="square" lIns="0" tIns="0" rIns="0" bIns="0" rtlCol="0" anchor="ctr"/>
          <a:lstStyle/>
          <a:p>
            <a:pPr marL="0" indent="0">
              <a:buNone/>
            </a:pPr>
            <a:r>
              <a:rPr lang="en-US" sz="1400" b="1" dirty="0">
                <a:solidFill>
                  <a:srgbClr val="22262E"/>
                </a:solidFill>
                <a:latin typeface="Courier New" pitchFamily="34" charset="0"/>
                <a:ea typeface="Courier New" pitchFamily="34" charset="-122"/>
                <a:cs typeface="Courier New" pitchFamily="34" charset="-120"/>
              </a:rPr>
              <a:t>AAAAAAAA &gt; 8A</a:t>
            </a:r>
            <a:endParaRPr lang="en-US" sz="1400" dirty="0"/>
          </a:p>
        </p:txBody>
      </p:sp>
      <p:sp>
        <p:nvSpPr>
          <p:cNvPr id="10" name="@2 addText"/>
          <p:cNvSpPr txBox="1"/>
          <p:nvPr/>
        </p:nvSpPr>
        <p:spPr>
          <a:xfrm>
            <a:off x="3474720" y="2651760"/>
            <a:ext cx="2286000" cy="731520"/>
          </a:xfrm>
          <a:prstGeom prst="rect">
            <a:avLst/>
          </a:prstGeom>
          <a:noFill/>
          <a:ln/>
        </p:spPr>
        <p:txBody>
          <a:bodyPr wrap="square" lIns="0" tIns="0" rIns="0" bIns="0" rtlCol="0" anchor="t"/>
          <a:lstStyle/>
          <a:p>
            <a:pPr marL="0" indent="0">
              <a:buNone/>
            </a:pPr>
            <a:r>
              <a:rPr lang="en-US" sz="1600" dirty="0">
                <a:solidFill>
                  <a:srgbClr val="22262E"/>
                </a:solidFill>
                <a:latin typeface="Arial" pitchFamily="34" charset="0"/>
                <a:ea typeface="Arial" pitchFamily="34" charset="-122"/>
                <a:cs typeface="Arial" pitchFamily="34" charset="-120"/>
              </a:rPr>
              <a:t>8 characters become 2.</a:t>
            </a:r>
            <a:endParaRPr lang="en-US" sz="1600" dirty="0"/>
          </a:p>
        </p:txBody>
      </p:sp>
      <p:sp>
        <p:nvSpPr>
          <p:cNvPr id="11" name="@3 Card"/>
          <p:cNvSpPr/>
          <p:nvPr/>
        </p:nvSpPr>
        <p:spPr>
          <a:xfrm>
            <a:off x="6126480" y="1188720"/>
            <a:ext cx="2651760" cy="2377440"/>
          </a:xfrm>
          <a:prstGeom prst="roundRect">
            <a:avLst>
              <a:gd name="adj" fmla="val 4615"/>
            </a:avLst>
          </a:prstGeom>
          <a:solidFill>
            <a:srgbClr val="FFFFFF"/>
          </a:solidFill>
          <a:ln w="9525">
            <a:solidFill>
              <a:srgbClr val="C5D1E3"/>
            </a:solidFill>
            <a:prstDash val="solid"/>
          </a:ln>
        </p:spPr>
        <p:txBody>
          <a:bodyPr/>
          <a:lstStyle/>
          <a:p>
            <a:endParaRPr lang="en-GB"/>
          </a:p>
        </p:txBody>
      </p:sp>
      <p:sp>
        <p:nvSpPr>
          <p:cNvPr id="12" name="@3 addText"/>
          <p:cNvSpPr txBox="1"/>
          <p:nvPr/>
        </p:nvSpPr>
        <p:spPr>
          <a:xfrm>
            <a:off x="6309360" y="1280160"/>
            <a:ext cx="2286000" cy="457200"/>
          </a:xfrm>
          <a:prstGeom prst="rect">
            <a:avLst/>
          </a:prstGeom>
          <a:noFill/>
          <a:ln/>
        </p:spPr>
        <p:txBody>
          <a:bodyPr wrap="square" lIns="0" tIns="0" rIns="0" bIns="0" rtlCol="0" anchor="ctr"/>
          <a:lstStyle/>
          <a:p>
            <a:pPr marL="0" indent="0">
              <a:buNone/>
            </a:pPr>
            <a:r>
              <a:rPr lang="en-US" sz="2000" b="1" dirty="0">
                <a:solidFill>
                  <a:srgbClr val="002D6A"/>
                </a:solidFill>
                <a:latin typeface="Arial" pitchFamily="34" charset="0"/>
                <a:ea typeface="Arial" pitchFamily="34" charset="-122"/>
                <a:cs typeface="Arial" pitchFamily="34" charset="-120"/>
              </a:rPr>
              <a:t>Hates noise</a:t>
            </a:r>
            <a:endParaRPr lang="en-US" sz="2000" dirty="0"/>
          </a:p>
        </p:txBody>
      </p:sp>
      <p:sp>
        <p:nvSpPr>
          <p:cNvPr id="13" name="@3 addText"/>
          <p:cNvSpPr txBox="1"/>
          <p:nvPr/>
        </p:nvSpPr>
        <p:spPr>
          <a:xfrm>
            <a:off x="6309360" y="1828800"/>
            <a:ext cx="2286000" cy="731520"/>
          </a:xfrm>
          <a:prstGeom prst="rect">
            <a:avLst/>
          </a:prstGeom>
          <a:noFill/>
          <a:ln/>
        </p:spPr>
        <p:txBody>
          <a:bodyPr wrap="square" lIns="0" tIns="0" rIns="0" bIns="0" rtlCol="0" anchor="ctr"/>
          <a:lstStyle/>
          <a:p>
            <a:pPr marL="0" indent="0">
              <a:buNone/>
            </a:pPr>
            <a:r>
              <a:rPr lang="en-US" sz="1400" b="1" dirty="0">
                <a:solidFill>
                  <a:srgbClr val="22262E"/>
                </a:solidFill>
                <a:latin typeface="Courier New" pitchFamily="34" charset="0"/>
                <a:ea typeface="Courier New" pitchFamily="34" charset="-122"/>
                <a:cs typeface="Courier New" pitchFamily="34" charset="-120"/>
              </a:rPr>
              <a:t>ABABAB &gt; 1A1B1A1B1A1B</a:t>
            </a:r>
            <a:endParaRPr lang="en-US" sz="1400" dirty="0"/>
          </a:p>
        </p:txBody>
      </p:sp>
      <p:sp>
        <p:nvSpPr>
          <p:cNvPr id="14" name="@3 addText"/>
          <p:cNvSpPr txBox="1"/>
          <p:nvPr/>
        </p:nvSpPr>
        <p:spPr>
          <a:xfrm>
            <a:off x="6309360" y="2651760"/>
            <a:ext cx="2286000" cy="731520"/>
          </a:xfrm>
          <a:prstGeom prst="rect">
            <a:avLst/>
          </a:prstGeom>
          <a:noFill/>
          <a:ln/>
        </p:spPr>
        <p:txBody>
          <a:bodyPr wrap="square" lIns="0" tIns="0" rIns="0" bIns="0" rtlCol="0" anchor="t"/>
          <a:lstStyle/>
          <a:p>
            <a:pPr marL="0" indent="0">
              <a:buNone/>
            </a:pPr>
            <a:r>
              <a:rPr lang="en-US" sz="1600" dirty="0">
                <a:solidFill>
                  <a:srgbClr val="22262E"/>
                </a:solidFill>
                <a:latin typeface="Arial" pitchFamily="34" charset="0"/>
                <a:ea typeface="Arial" pitchFamily="34" charset="-122"/>
                <a:cs typeface="Arial" pitchFamily="34" charset="-120"/>
              </a:rPr>
              <a:t>6 become 12. Bigger!</a:t>
            </a:r>
            <a:endParaRPr lang="en-US" sz="1600" dirty="0"/>
          </a:p>
        </p:txBody>
      </p:sp>
      <p:sp>
        <p:nvSpPr>
          <p:cNvPr id="15" name="@4 addText"/>
          <p:cNvSpPr txBox="1"/>
          <p:nvPr/>
        </p:nvSpPr>
        <p:spPr>
          <a:xfrm>
            <a:off x="457200" y="3931920"/>
            <a:ext cx="1645920" cy="457200"/>
          </a:xfrm>
          <a:prstGeom prst="rect">
            <a:avLst/>
          </a:prstGeom>
          <a:noFill/>
          <a:ln/>
        </p:spPr>
        <p:txBody>
          <a:bodyPr wrap="square" lIns="0" tIns="0" rIns="0" bIns="0" rtlCol="0" anchor="ctr"/>
          <a:lstStyle/>
          <a:p>
            <a:pPr marL="0" indent="0">
              <a:buNone/>
            </a:pPr>
            <a:r>
              <a:rPr lang="en-US" sz="1400" dirty="0">
                <a:solidFill>
                  <a:srgbClr val="5D6B80"/>
                </a:solidFill>
                <a:latin typeface="Arial" pitchFamily="34" charset="0"/>
                <a:ea typeface="Arial" pitchFamily="34" charset="-122"/>
                <a:cs typeface="Arial" pitchFamily="34" charset="-120"/>
              </a:rPr>
              <a:t>still used in:</a:t>
            </a:r>
            <a:endParaRPr lang="en-US" sz="1400" dirty="0"/>
          </a:p>
        </p:txBody>
      </p:sp>
      <p:sp>
        <p:nvSpPr>
          <p:cNvPr id="16" name="@4 Card"/>
          <p:cNvSpPr/>
          <p:nvPr/>
        </p:nvSpPr>
        <p:spPr>
          <a:xfrm>
            <a:off x="2103120" y="3931920"/>
            <a:ext cx="1645920" cy="457200"/>
          </a:xfrm>
          <a:prstGeom prst="roundRect">
            <a:avLst>
              <a:gd name="adj" fmla="val 24000"/>
            </a:avLst>
          </a:prstGeom>
          <a:solidFill>
            <a:srgbClr val="A9C4E8"/>
          </a:solidFill>
          <a:ln w="9525">
            <a:solidFill>
              <a:srgbClr val="A9C4E8"/>
            </a:solidFill>
            <a:prstDash val="solid"/>
          </a:ln>
        </p:spPr>
        <p:txBody>
          <a:bodyPr/>
          <a:lstStyle/>
          <a:p>
            <a:endParaRPr lang="en-GB"/>
          </a:p>
        </p:txBody>
      </p:sp>
      <p:sp>
        <p:nvSpPr>
          <p:cNvPr id="17" name="@4 addText"/>
          <p:cNvSpPr txBox="1"/>
          <p:nvPr/>
        </p:nvSpPr>
        <p:spPr>
          <a:xfrm>
            <a:off x="2103120" y="3931920"/>
            <a:ext cx="1645920" cy="457200"/>
          </a:xfrm>
          <a:prstGeom prst="rect">
            <a:avLst/>
          </a:prstGeom>
          <a:noFill/>
          <a:ln/>
        </p:spPr>
        <p:txBody>
          <a:bodyPr wrap="square" lIns="0" tIns="0" rIns="0" bIns="0" rtlCol="0" anchor="ctr"/>
          <a:lstStyle/>
          <a:p>
            <a:pPr marL="0" indent="0" algn="ctr">
              <a:buNone/>
            </a:pPr>
            <a:r>
              <a:rPr lang="en-US" sz="1400" b="1" dirty="0">
                <a:solidFill>
                  <a:srgbClr val="001B40"/>
                </a:solidFill>
                <a:latin typeface="Arial" pitchFamily="34" charset="0"/>
                <a:ea typeface="Arial" pitchFamily="34" charset="-122"/>
                <a:cs typeface="Arial" pitchFamily="34" charset="-120"/>
              </a:rPr>
              <a:t>fax machines</a:t>
            </a:r>
            <a:endParaRPr lang="en-US" sz="1400" dirty="0"/>
          </a:p>
        </p:txBody>
      </p:sp>
      <p:sp>
        <p:nvSpPr>
          <p:cNvPr id="18" name="@4 Card"/>
          <p:cNvSpPr/>
          <p:nvPr/>
        </p:nvSpPr>
        <p:spPr>
          <a:xfrm>
            <a:off x="3931920" y="3931920"/>
            <a:ext cx="914400" cy="457200"/>
          </a:xfrm>
          <a:prstGeom prst="roundRect">
            <a:avLst>
              <a:gd name="adj" fmla="val 24000"/>
            </a:avLst>
          </a:prstGeom>
          <a:solidFill>
            <a:srgbClr val="A9C4E8"/>
          </a:solidFill>
          <a:ln w="9525">
            <a:solidFill>
              <a:srgbClr val="A9C4E8"/>
            </a:solidFill>
            <a:prstDash val="solid"/>
          </a:ln>
        </p:spPr>
        <p:txBody>
          <a:bodyPr/>
          <a:lstStyle/>
          <a:p>
            <a:endParaRPr lang="en-GB"/>
          </a:p>
        </p:txBody>
      </p:sp>
      <p:sp>
        <p:nvSpPr>
          <p:cNvPr id="19" name="@4 addText"/>
          <p:cNvSpPr txBox="1"/>
          <p:nvPr/>
        </p:nvSpPr>
        <p:spPr>
          <a:xfrm>
            <a:off x="3931920" y="3931920"/>
            <a:ext cx="914400" cy="457200"/>
          </a:xfrm>
          <a:prstGeom prst="rect">
            <a:avLst/>
          </a:prstGeom>
          <a:noFill/>
          <a:ln/>
        </p:spPr>
        <p:txBody>
          <a:bodyPr wrap="square" lIns="0" tIns="0" rIns="0" bIns="0" rtlCol="0" anchor="ctr"/>
          <a:lstStyle/>
          <a:p>
            <a:pPr marL="0" indent="0" algn="ctr">
              <a:buNone/>
            </a:pPr>
            <a:r>
              <a:rPr lang="en-US" sz="1400" b="1" dirty="0">
                <a:solidFill>
                  <a:srgbClr val="001B40"/>
                </a:solidFill>
                <a:latin typeface="Arial" pitchFamily="34" charset="0"/>
                <a:ea typeface="Arial" pitchFamily="34" charset="-122"/>
                <a:cs typeface="Arial" pitchFamily="34" charset="-120"/>
              </a:rPr>
              <a:t>BMP</a:t>
            </a:r>
            <a:endParaRPr lang="en-US" sz="1400" dirty="0"/>
          </a:p>
        </p:txBody>
      </p:sp>
      <p:sp>
        <p:nvSpPr>
          <p:cNvPr id="20" name="@4 Card"/>
          <p:cNvSpPr/>
          <p:nvPr/>
        </p:nvSpPr>
        <p:spPr>
          <a:xfrm>
            <a:off x="5029200" y="3931920"/>
            <a:ext cx="914400" cy="457200"/>
          </a:xfrm>
          <a:prstGeom prst="roundRect">
            <a:avLst>
              <a:gd name="adj" fmla="val 24000"/>
            </a:avLst>
          </a:prstGeom>
          <a:solidFill>
            <a:srgbClr val="A9C4E8"/>
          </a:solidFill>
          <a:ln w="9525">
            <a:solidFill>
              <a:srgbClr val="A9C4E8"/>
            </a:solidFill>
            <a:prstDash val="solid"/>
          </a:ln>
        </p:spPr>
        <p:txBody>
          <a:bodyPr/>
          <a:lstStyle/>
          <a:p>
            <a:endParaRPr lang="en-GB"/>
          </a:p>
        </p:txBody>
      </p:sp>
      <p:sp>
        <p:nvSpPr>
          <p:cNvPr id="21" name="@4 addText"/>
          <p:cNvSpPr txBox="1"/>
          <p:nvPr/>
        </p:nvSpPr>
        <p:spPr>
          <a:xfrm>
            <a:off x="5029200" y="3931920"/>
            <a:ext cx="914400" cy="457200"/>
          </a:xfrm>
          <a:prstGeom prst="rect">
            <a:avLst/>
          </a:prstGeom>
          <a:noFill/>
          <a:ln/>
        </p:spPr>
        <p:txBody>
          <a:bodyPr wrap="square" lIns="0" tIns="0" rIns="0" bIns="0" rtlCol="0" anchor="ctr"/>
          <a:lstStyle/>
          <a:p>
            <a:pPr marL="0" indent="0" algn="ctr">
              <a:buNone/>
            </a:pPr>
            <a:r>
              <a:rPr lang="en-US" sz="1400" b="1" dirty="0">
                <a:solidFill>
                  <a:srgbClr val="001B40"/>
                </a:solidFill>
                <a:latin typeface="Arial" pitchFamily="34" charset="0"/>
                <a:ea typeface="Arial" pitchFamily="34" charset="-122"/>
                <a:cs typeface="Arial" pitchFamily="34" charset="-120"/>
              </a:rPr>
              <a:t>TIFF</a:t>
            </a:r>
            <a:endParaRPr lang="en-US" sz="1400" dirty="0"/>
          </a:p>
        </p:txBody>
      </p:sp>
      <p:sp>
        <p:nvSpPr>
          <p:cNvPr id="22" name="@4 Card"/>
          <p:cNvSpPr/>
          <p:nvPr/>
        </p:nvSpPr>
        <p:spPr>
          <a:xfrm>
            <a:off x="6126480" y="3931920"/>
            <a:ext cx="914400" cy="457200"/>
          </a:xfrm>
          <a:prstGeom prst="roundRect">
            <a:avLst>
              <a:gd name="adj" fmla="val 24000"/>
            </a:avLst>
          </a:prstGeom>
          <a:solidFill>
            <a:srgbClr val="A9C4E8"/>
          </a:solidFill>
          <a:ln w="9525">
            <a:solidFill>
              <a:srgbClr val="A9C4E8"/>
            </a:solidFill>
            <a:prstDash val="solid"/>
          </a:ln>
        </p:spPr>
        <p:txBody>
          <a:bodyPr/>
          <a:lstStyle/>
          <a:p>
            <a:endParaRPr lang="en-GB"/>
          </a:p>
        </p:txBody>
      </p:sp>
      <p:sp>
        <p:nvSpPr>
          <p:cNvPr id="23" name="@4 addText"/>
          <p:cNvSpPr txBox="1"/>
          <p:nvPr/>
        </p:nvSpPr>
        <p:spPr>
          <a:xfrm>
            <a:off x="6126480" y="3931920"/>
            <a:ext cx="914400" cy="457200"/>
          </a:xfrm>
          <a:prstGeom prst="rect">
            <a:avLst/>
          </a:prstGeom>
          <a:noFill/>
          <a:ln/>
        </p:spPr>
        <p:txBody>
          <a:bodyPr wrap="square" lIns="0" tIns="0" rIns="0" bIns="0" rtlCol="0" anchor="ctr"/>
          <a:lstStyle/>
          <a:p>
            <a:pPr marL="0" indent="0" algn="ctr">
              <a:buNone/>
            </a:pPr>
            <a:r>
              <a:rPr lang="en-US" sz="1400" b="1" dirty="0">
                <a:solidFill>
                  <a:srgbClr val="001B40"/>
                </a:solidFill>
                <a:latin typeface="Arial" pitchFamily="34" charset="0"/>
                <a:ea typeface="Arial" pitchFamily="34" charset="-122"/>
                <a:cs typeface="Arial" pitchFamily="34" charset="-120"/>
              </a:rPr>
              <a:t>PCX</a:t>
            </a:r>
            <a:endParaRPr lang="en-US" sz="1400" dirty="0"/>
          </a:p>
        </p:txBody>
      </p:sp>
      <p:sp>
        <p:nvSpPr>
          <p:cNvPr id="2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2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2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2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2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2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2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2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20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2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2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2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200"/>
                                        <p:tgtEl>
                                          <p:spTgt spid="2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2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Compressing a Sentence</a:t>
            </a:r>
            <a:endParaRPr lang="en-US" sz="3000" dirty="0"/>
          </a:p>
        </p:txBody>
      </p:sp>
      <p:sp>
        <p:nvSpPr>
          <p:cNvPr id="3" name="Text 1"/>
          <p:cNvSpPr txBox="1"/>
          <p:nvPr/>
        </p:nvSpPr>
        <p:spPr>
          <a:xfrm>
            <a:off x="457200" y="100584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RLE works on any run of repeated symbols, including text.</a:t>
            </a:r>
            <a:endParaRPr lang="en-US" sz="1800" dirty="0"/>
          </a:p>
        </p:txBody>
      </p:sp>
      <p:sp>
        <p:nvSpPr>
          <p:cNvPr id="4" name="Card"/>
          <p:cNvSpPr/>
          <p:nvPr/>
        </p:nvSpPr>
        <p:spPr>
          <a:xfrm>
            <a:off x="1874520" y="1737360"/>
            <a:ext cx="128016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5" name="Text 3"/>
          <p:cNvSpPr txBox="1"/>
          <p:nvPr/>
        </p:nvSpPr>
        <p:spPr>
          <a:xfrm>
            <a:off x="1874520" y="1737360"/>
            <a:ext cx="128016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Y</a:t>
            </a:r>
            <a:endParaRPr lang="en-US" sz="2000" dirty="0"/>
          </a:p>
        </p:txBody>
      </p:sp>
      <p:sp>
        <p:nvSpPr>
          <p:cNvPr id="6" name="Card"/>
          <p:cNvSpPr/>
          <p:nvPr/>
        </p:nvSpPr>
        <p:spPr>
          <a:xfrm>
            <a:off x="3246120" y="1737360"/>
            <a:ext cx="128016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7" name="Text 5"/>
          <p:cNvSpPr txBox="1"/>
          <p:nvPr/>
        </p:nvSpPr>
        <p:spPr>
          <a:xfrm>
            <a:off x="3246120" y="1737360"/>
            <a:ext cx="128016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E</a:t>
            </a:r>
            <a:endParaRPr lang="en-US" sz="2000" dirty="0"/>
          </a:p>
        </p:txBody>
      </p:sp>
      <p:sp>
        <p:nvSpPr>
          <p:cNvPr id="8" name="Card"/>
          <p:cNvSpPr/>
          <p:nvPr/>
        </p:nvSpPr>
        <p:spPr>
          <a:xfrm>
            <a:off x="4617720" y="1737360"/>
            <a:ext cx="128016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9" name="Text 7"/>
          <p:cNvSpPr txBox="1"/>
          <p:nvPr/>
        </p:nvSpPr>
        <p:spPr>
          <a:xfrm>
            <a:off x="4617720" y="1737360"/>
            <a:ext cx="128016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SSSSS</a:t>
            </a:r>
            <a:endParaRPr lang="en-US" sz="2000" dirty="0"/>
          </a:p>
        </p:txBody>
      </p:sp>
      <p:sp>
        <p:nvSpPr>
          <p:cNvPr id="10" name="Card"/>
          <p:cNvSpPr/>
          <p:nvPr/>
        </p:nvSpPr>
        <p:spPr>
          <a:xfrm>
            <a:off x="5989320" y="1737360"/>
            <a:ext cx="128016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11" name="Text 9"/>
          <p:cNvSpPr txBox="1"/>
          <p:nvPr/>
        </p:nvSpPr>
        <p:spPr>
          <a:xfrm>
            <a:off x="5989320" y="1737360"/>
            <a:ext cx="128016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a:t>
            </a:r>
            <a:endParaRPr lang="en-US" sz="2000" dirty="0"/>
          </a:p>
        </p:txBody>
      </p:sp>
      <p:sp>
        <p:nvSpPr>
          <p:cNvPr id="12" name="Text 10"/>
          <p:cNvSpPr txBox="1"/>
          <p:nvPr/>
        </p:nvSpPr>
        <p:spPr>
          <a:xfrm>
            <a:off x="457200" y="2514600"/>
            <a:ext cx="8229600" cy="36576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run-length encode</a:t>
            </a:r>
            <a:endParaRPr lang="en-US" sz="1400" dirty="0"/>
          </a:p>
        </p:txBody>
      </p:sp>
      <p:sp>
        <p:nvSpPr>
          <p:cNvPr id="13" name="@1 Card"/>
          <p:cNvSpPr/>
          <p:nvPr/>
        </p:nvSpPr>
        <p:spPr>
          <a:xfrm>
            <a:off x="1874520" y="2926080"/>
            <a:ext cx="128016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14" name="@1 addText"/>
          <p:cNvSpPr txBox="1"/>
          <p:nvPr/>
        </p:nvSpPr>
        <p:spPr>
          <a:xfrm>
            <a:off x="1874520" y="2926080"/>
            <a:ext cx="128016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1Y</a:t>
            </a:r>
            <a:endParaRPr lang="en-US" sz="2000" dirty="0"/>
          </a:p>
        </p:txBody>
      </p:sp>
      <p:sp>
        <p:nvSpPr>
          <p:cNvPr id="15" name="@1 Card"/>
          <p:cNvSpPr/>
          <p:nvPr/>
        </p:nvSpPr>
        <p:spPr>
          <a:xfrm>
            <a:off x="3246120" y="2926080"/>
            <a:ext cx="128016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16" name="@1 addText"/>
          <p:cNvSpPr txBox="1"/>
          <p:nvPr/>
        </p:nvSpPr>
        <p:spPr>
          <a:xfrm>
            <a:off x="3246120" y="2926080"/>
            <a:ext cx="128016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1E</a:t>
            </a:r>
            <a:endParaRPr lang="en-US" sz="2000" dirty="0"/>
          </a:p>
        </p:txBody>
      </p:sp>
      <p:sp>
        <p:nvSpPr>
          <p:cNvPr id="17" name="@1 Card"/>
          <p:cNvSpPr/>
          <p:nvPr/>
        </p:nvSpPr>
        <p:spPr>
          <a:xfrm>
            <a:off x="4617720" y="2926080"/>
            <a:ext cx="128016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18" name="@1 addText"/>
          <p:cNvSpPr txBox="1"/>
          <p:nvPr/>
        </p:nvSpPr>
        <p:spPr>
          <a:xfrm>
            <a:off x="4617720" y="2926080"/>
            <a:ext cx="128016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5S</a:t>
            </a:r>
            <a:endParaRPr lang="en-US" sz="2000" dirty="0"/>
          </a:p>
        </p:txBody>
      </p:sp>
      <p:sp>
        <p:nvSpPr>
          <p:cNvPr id="19" name="@1 Card"/>
          <p:cNvSpPr/>
          <p:nvPr/>
        </p:nvSpPr>
        <p:spPr>
          <a:xfrm>
            <a:off x="5989320" y="2926080"/>
            <a:ext cx="128016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20" name="@1 addText"/>
          <p:cNvSpPr txBox="1"/>
          <p:nvPr/>
        </p:nvSpPr>
        <p:spPr>
          <a:xfrm>
            <a:off x="5989320" y="2926080"/>
            <a:ext cx="128016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4!</a:t>
            </a:r>
            <a:endParaRPr lang="en-US" sz="2000" dirty="0"/>
          </a:p>
        </p:txBody>
      </p:sp>
      <p:sp>
        <p:nvSpPr>
          <p:cNvPr id="21" name="@2 addText"/>
          <p:cNvSpPr txBox="1"/>
          <p:nvPr/>
        </p:nvSpPr>
        <p:spPr>
          <a:xfrm>
            <a:off x="457200" y="3840480"/>
            <a:ext cx="822960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Arial" pitchFamily="34" charset="0"/>
                <a:ea typeface="Arial" pitchFamily="34" charset="-122"/>
                <a:cs typeface="Arial" pitchFamily="34" charset="-120"/>
              </a:rPr>
              <a:t>11 characters become 8. Long runs compress well.</a:t>
            </a:r>
            <a:endParaRPr lang="en-US" sz="1800" dirty="0"/>
          </a:p>
        </p:txBody>
      </p:sp>
      <p:sp>
        <p:nvSpPr>
          <p:cNvPr id="2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2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2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...But Not Every Sentence Compresses</a:t>
            </a:r>
            <a:endParaRPr lang="en-US" sz="3000" dirty="0"/>
          </a:p>
        </p:txBody>
      </p:sp>
      <p:sp>
        <p:nvSpPr>
          <p:cNvPr id="3" name="Text 1"/>
          <p:cNvSpPr txBox="1"/>
          <p:nvPr/>
        </p:nvSpPr>
        <p:spPr>
          <a:xfrm>
            <a:off x="457200" y="100584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Try it on a different sentence.</a:t>
            </a:r>
            <a:endParaRPr lang="en-US" sz="1800" dirty="0"/>
          </a:p>
        </p:txBody>
      </p:sp>
      <p:sp>
        <p:nvSpPr>
          <p:cNvPr id="4" name="Card"/>
          <p:cNvSpPr/>
          <p:nvPr/>
        </p:nvSpPr>
        <p:spPr>
          <a:xfrm>
            <a:off x="777240" y="1737360"/>
            <a:ext cx="118872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5" name="Text 3"/>
          <p:cNvSpPr txBox="1"/>
          <p:nvPr/>
        </p:nvSpPr>
        <p:spPr>
          <a:xfrm>
            <a:off x="777240" y="1737360"/>
            <a:ext cx="118872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H</a:t>
            </a:r>
            <a:endParaRPr lang="en-US" sz="2000" dirty="0"/>
          </a:p>
        </p:txBody>
      </p:sp>
      <p:sp>
        <p:nvSpPr>
          <p:cNvPr id="6" name="Card"/>
          <p:cNvSpPr/>
          <p:nvPr/>
        </p:nvSpPr>
        <p:spPr>
          <a:xfrm>
            <a:off x="2057400" y="1737360"/>
            <a:ext cx="118872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7" name="Text 5"/>
          <p:cNvSpPr txBox="1"/>
          <p:nvPr/>
        </p:nvSpPr>
        <p:spPr>
          <a:xfrm>
            <a:off x="2057400" y="1737360"/>
            <a:ext cx="118872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A</a:t>
            </a:r>
            <a:endParaRPr lang="en-US" sz="2000" dirty="0"/>
          </a:p>
        </p:txBody>
      </p:sp>
      <p:sp>
        <p:nvSpPr>
          <p:cNvPr id="8" name="Card"/>
          <p:cNvSpPr/>
          <p:nvPr/>
        </p:nvSpPr>
        <p:spPr>
          <a:xfrm>
            <a:off x="3337560" y="1737360"/>
            <a:ext cx="118872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9" name="Text 7"/>
          <p:cNvSpPr txBox="1"/>
          <p:nvPr/>
        </p:nvSpPr>
        <p:spPr>
          <a:xfrm>
            <a:off x="3337560" y="1737360"/>
            <a:ext cx="118872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H</a:t>
            </a:r>
            <a:endParaRPr lang="en-US" sz="2000" dirty="0"/>
          </a:p>
        </p:txBody>
      </p:sp>
      <p:sp>
        <p:nvSpPr>
          <p:cNvPr id="10" name="Card"/>
          <p:cNvSpPr/>
          <p:nvPr/>
        </p:nvSpPr>
        <p:spPr>
          <a:xfrm>
            <a:off x="4617720" y="1737360"/>
            <a:ext cx="118872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11" name="Text 9"/>
          <p:cNvSpPr txBox="1"/>
          <p:nvPr/>
        </p:nvSpPr>
        <p:spPr>
          <a:xfrm>
            <a:off x="4617720" y="1737360"/>
            <a:ext cx="118872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A</a:t>
            </a:r>
            <a:endParaRPr lang="en-US" sz="2000" dirty="0"/>
          </a:p>
        </p:txBody>
      </p:sp>
      <p:sp>
        <p:nvSpPr>
          <p:cNvPr id="12" name="Card"/>
          <p:cNvSpPr/>
          <p:nvPr/>
        </p:nvSpPr>
        <p:spPr>
          <a:xfrm>
            <a:off x="5897880" y="1737360"/>
            <a:ext cx="118872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13" name="Text 11"/>
          <p:cNvSpPr txBox="1"/>
          <p:nvPr/>
        </p:nvSpPr>
        <p:spPr>
          <a:xfrm>
            <a:off x="5897880" y="1737360"/>
            <a:ext cx="118872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H</a:t>
            </a:r>
            <a:endParaRPr lang="en-US" sz="2000" dirty="0"/>
          </a:p>
        </p:txBody>
      </p:sp>
      <p:sp>
        <p:nvSpPr>
          <p:cNvPr id="14" name="Card"/>
          <p:cNvSpPr/>
          <p:nvPr/>
        </p:nvSpPr>
        <p:spPr>
          <a:xfrm>
            <a:off x="7178040" y="1737360"/>
            <a:ext cx="1188720" cy="640080"/>
          </a:xfrm>
          <a:prstGeom prst="roundRect">
            <a:avLst>
              <a:gd name="adj" fmla="val 17143"/>
            </a:avLst>
          </a:prstGeom>
          <a:solidFill>
            <a:srgbClr val="FFFFFF"/>
          </a:solidFill>
          <a:ln w="9525">
            <a:solidFill>
              <a:srgbClr val="C5D1E3"/>
            </a:solidFill>
            <a:prstDash val="solid"/>
          </a:ln>
        </p:spPr>
        <p:txBody>
          <a:bodyPr/>
          <a:lstStyle/>
          <a:p>
            <a:endParaRPr lang="en-GB"/>
          </a:p>
        </p:txBody>
      </p:sp>
      <p:sp>
        <p:nvSpPr>
          <p:cNvPr id="15" name="Text 13"/>
          <p:cNvSpPr txBox="1"/>
          <p:nvPr/>
        </p:nvSpPr>
        <p:spPr>
          <a:xfrm>
            <a:off x="7178040" y="1737360"/>
            <a:ext cx="1188720" cy="640080"/>
          </a:xfrm>
          <a:prstGeom prst="rect">
            <a:avLst/>
          </a:prstGeom>
          <a:noFill/>
          <a:ln/>
        </p:spPr>
        <p:txBody>
          <a:bodyPr wrap="square" lIns="0" tIns="0" rIns="0" bIns="0" rtlCol="0" anchor="ctr"/>
          <a:lstStyle/>
          <a:p>
            <a:pPr marL="0" indent="0" algn="ctr">
              <a:buNone/>
            </a:pPr>
            <a:r>
              <a:rPr lang="en-US" sz="2000" b="1" dirty="0">
                <a:solidFill>
                  <a:srgbClr val="22262E"/>
                </a:solidFill>
                <a:latin typeface="Courier New" pitchFamily="34" charset="0"/>
                <a:ea typeface="Courier New" pitchFamily="34" charset="-122"/>
                <a:cs typeface="Courier New" pitchFamily="34" charset="-120"/>
              </a:rPr>
              <a:t>A</a:t>
            </a:r>
            <a:endParaRPr lang="en-US" sz="2000" dirty="0"/>
          </a:p>
        </p:txBody>
      </p:sp>
      <p:sp>
        <p:nvSpPr>
          <p:cNvPr id="16" name="Text 14"/>
          <p:cNvSpPr txBox="1"/>
          <p:nvPr/>
        </p:nvSpPr>
        <p:spPr>
          <a:xfrm>
            <a:off x="457200" y="2514600"/>
            <a:ext cx="8229600" cy="365760"/>
          </a:xfrm>
          <a:prstGeom prst="rect">
            <a:avLst/>
          </a:prstGeom>
          <a:noFill/>
          <a:ln/>
        </p:spPr>
        <p:txBody>
          <a:bodyPr wrap="square" lIns="0" tIns="0" rIns="0" bIns="0" rtlCol="0" anchor="ctr"/>
          <a:lstStyle/>
          <a:p>
            <a:pPr marL="0" indent="0" algn="ctr">
              <a:buNone/>
            </a:pPr>
            <a:r>
              <a:rPr lang="en-US" sz="1400" dirty="0">
                <a:solidFill>
                  <a:srgbClr val="5D6B80"/>
                </a:solidFill>
                <a:latin typeface="Arial" pitchFamily="34" charset="0"/>
                <a:ea typeface="Arial" pitchFamily="34" charset="-122"/>
                <a:cs typeface="Arial" pitchFamily="34" charset="-120"/>
              </a:rPr>
              <a:t>run-length encode</a:t>
            </a:r>
            <a:endParaRPr lang="en-US" sz="1400" dirty="0"/>
          </a:p>
        </p:txBody>
      </p:sp>
      <p:sp>
        <p:nvSpPr>
          <p:cNvPr id="17" name="@1 Card"/>
          <p:cNvSpPr/>
          <p:nvPr/>
        </p:nvSpPr>
        <p:spPr>
          <a:xfrm>
            <a:off x="777240" y="2926080"/>
            <a:ext cx="118872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18" name="@1 addText"/>
          <p:cNvSpPr txBox="1"/>
          <p:nvPr/>
        </p:nvSpPr>
        <p:spPr>
          <a:xfrm>
            <a:off x="777240" y="2926080"/>
            <a:ext cx="118872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1H</a:t>
            </a:r>
            <a:endParaRPr lang="en-US" sz="2000" dirty="0"/>
          </a:p>
        </p:txBody>
      </p:sp>
      <p:sp>
        <p:nvSpPr>
          <p:cNvPr id="19" name="@1 Card"/>
          <p:cNvSpPr/>
          <p:nvPr/>
        </p:nvSpPr>
        <p:spPr>
          <a:xfrm>
            <a:off x="2057400" y="2926080"/>
            <a:ext cx="118872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20" name="@1 addText"/>
          <p:cNvSpPr txBox="1"/>
          <p:nvPr/>
        </p:nvSpPr>
        <p:spPr>
          <a:xfrm>
            <a:off x="2057400" y="2926080"/>
            <a:ext cx="118872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1A</a:t>
            </a:r>
            <a:endParaRPr lang="en-US" sz="2000" dirty="0"/>
          </a:p>
        </p:txBody>
      </p:sp>
      <p:sp>
        <p:nvSpPr>
          <p:cNvPr id="21" name="@1 Card"/>
          <p:cNvSpPr/>
          <p:nvPr/>
        </p:nvSpPr>
        <p:spPr>
          <a:xfrm>
            <a:off x="3337560" y="2926080"/>
            <a:ext cx="118872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22" name="@1 addText"/>
          <p:cNvSpPr txBox="1"/>
          <p:nvPr/>
        </p:nvSpPr>
        <p:spPr>
          <a:xfrm>
            <a:off x="3337560" y="2926080"/>
            <a:ext cx="118872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1H</a:t>
            </a:r>
            <a:endParaRPr lang="en-US" sz="2000" dirty="0"/>
          </a:p>
        </p:txBody>
      </p:sp>
      <p:sp>
        <p:nvSpPr>
          <p:cNvPr id="23" name="@1 Card"/>
          <p:cNvSpPr/>
          <p:nvPr/>
        </p:nvSpPr>
        <p:spPr>
          <a:xfrm>
            <a:off x="4617720" y="2926080"/>
            <a:ext cx="118872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24" name="@1 addText"/>
          <p:cNvSpPr txBox="1"/>
          <p:nvPr/>
        </p:nvSpPr>
        <p:spPr>
          <a:xfrm>
            <a:off x="4617720" y="2926080"/>
            <a:ext cx="118872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1A</a:t>
            </a:r>
            <a:endParaRPr lang="en-US" sz="2000" dirty="0"/>
          </a:p>
        </p:txBody>
      </p:sp>
      <p:sp>
        <p:nvSpPr>
          <p:cNvPr id="25" name="@1 Card"/>
          <p:cNvSpPr/>
          <p:nvPr/>
        </p:nvSpPr>
        <p:spPr>
          <a:xfrm>
            <a:off x="5897880" y="2926080"/>
            <a:ext cx="118872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26" name="@1 addText"/>
          <p:cNvSpPr txBox="1"/>
          <p:nvPr/>
        </p:nvSpPr>
        <p:spPr>
          <a:xfrm>
            <a:off x="5897880" y="2926080"/>
            <a:ext cx="118872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1H</a:t>
            </a:r>
            <a:endParaRPr lang="en-US" sz="2000" dirty="0"/>
          </a:p>
        </p:txBody>
      </p:sp>
      <p:sp>
        <p:nvSpPr>
          <p:cNvPr id="27" name="@1 Card"/>
          <p:cNvSpPr/>
          <p:nvPr/>
        </p:nvSpPr>
        <p:spPr>
          <a:xfrm>
            <a:off x="7178040" y="2926080"/>
            <a:ext cx="1188720" cy="640080"/>
          </a:xfrm>
          <a:prstGeom prst="roundRect">
            <a:avLst>
              <a:gd name="adj" fmla="val 17143"/>
            </a:avLst>
          </a:prstGeom>
          <a:solidFill>
            <a:srgbClr val="A9C4E8"/>
          </a:solidFill>
          <a:ln w="9525">
            <a:solidFill>
              <a:srgbClr val="A9C4E8"/>
            </a:solidFill>
            <a:prstDash val="solid"/>
          </a:ln>
        </p:spPr>
        <p:txBody>
          <a:bodyPr/>
          <a:lstStyle/>
          <a:p>
            <a:endParaRPr lang="en-GB"/>
          </a:p>
        </p:txBody>
      </p:sp>
      <p:sp>
        <p:nvSpPr>
          <p:cNvPr id="28" name="@1 addText"/>
          <p:cNvSpPr txBox="1"/>
          <p:nvPr/>
        </p:nvSpPr>
        <p:spPr>
          <a:xfrm>
            <a:off x="7178040" y="2926080"/>
            <a:ext cx="1188720" cy="640080"/>
          </a:xfrm>
          <a:prstGeom prst="rect">
            <a:avLst/>
          </a:prstGeom>
          <a:noFill/>
          <a:ln/>
        </p:spPr>
        <p:txBody>
          <a:bodyPr wrap="square" lIns="0" tIns="0" rIns="0" bIns="0" rtlCol="0" anchor="ctr"/>
          <a:lstStyle/>
          <a:p>
            <a:pPr marL="0" indent="0" algn="ctr">
              <a:buNone/>
            </a:pPr>
            <a:r>
              <a:rPr lang="en-US" sz="2000" b="1" dirty="0">
                <a:solidFill>
                  <a:srgbClr val="001B40"/>
                </a:solidFill>
                <a:latin typeface="Courier New" pitchFamily="34" charset="0"/>
                <a:ea typeface="Courier New" pitchFamily="34" charset="-122"/>
                <a:cs typeface="Courier New" pitchFamily="34" charset="-120"/>
              </a:rPr>
              <a:t>1A</a:t>
            </a:r>
            <a:endParaRPr lang="en-US" sz="2000" dirty="0"/>
          </a:p>
        </p:txBody>
      </p:sp>
      <p:sp>
        <p:nvSpPr>
          <p:cNvPr id="29" name="@2 addText"/>
          <p:cNvSpPr txBox="1"/>
          <p:nvPr/>
        </p:nvSpPr>
        <p:spPr>
          <a:xfrm>
            <a:off x="457200" y="3840480"/>
            <a:ext cx="8229600" cy="548640"/>
          </a:xfrm>
          <a:prstGeom prst="rect">
            <a:avLst/>
          </a:prstGeom>
          <a:noFill/>
          <a:ln/>
        </p:spPr>
        <p:txBody>
          <a:bodyPr wrap="square" lIns="0" tIns="0" rIns="0" bIns="0" rtlCol="0" anchor="ctr"/>
          <a:lstStyle/>
          <a:p>
            <a:pPr marL="0" indent="0" algn="ctr">
              <a:buNone/>
            </a:pPr>
            <a:r>
              <a:rPr lang="en-US" sz="1800" b="1" dirty="0">
                <a:solidFill>
                  <a:srgbClr val="002D6A"/>
                </a:solidFill>
                <a:latin typeface="Arial" pitchFamily="34" charset="0"/>
                <a:ea typeface="Arial" pitchFamily="34" charset="-122"/>
                <a:cs typeface="Arial" pitchFamily="34" charset="-120"/>
              </a:rPr>
              <a:t>6 characters become 12. No repeats: RLE makes it bigger.</a:t>
            </a:r>
            <a:endParaRPr lang="en-US" sz="1800" dirty="0"/>
          </a:p>
        </p:txBody>
      </p:sp>
      <p:sp>
        <p:nvSpPr>
          <p:cNvPr id="3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2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2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2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2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2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2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2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2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2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2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2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2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Compressing a Picture</a:t>
            </a:r>
            <a:endParaRPr lang="en-US" sz="3000" dirty="0"/>
          </a:p>
        </p:txBody>
      </p:sp>
      <p:sp>
        <p:nvSpPr>
          <p:cNvPr id="3" name="Callout"/>
          <p:cNvSpPr/>
          <p:nvPr/>
        </p:nvSpPr>
        <p:spPr>
          <a:xfrm>
            <a:off x="457200" y="1188720"/>
            <a:ext cx="8229600" cy="1097280"/>
          </a:xfrm>
          <a:prstGeom prst="roundRect">
            <a:avLst>
              <a:gd name="adj" fmla="val 8333"/>
            </a:avLst>
          </a:prstGeom>
          <a:solidFill>
            <a:srgbClr val="FFFFFF"/>
          </a:solidFill>
          <a:ln w="15875">
            <a:solidFill>
              <a:srgbClr val="5D79A0"/>
            </a:solidFill>
            <a:prstDash val="solid"/>
          </a:ln>
        </p:spPr>
        <p:txBody>
          <a:bodyPr/>
          <a:lstStyle/>
          <a:p>
            <a:endParaRPr lang="en-GB"/>
          </a:p>
        </p:txBody>
      </p:sp>
      <p:sp>
        <p:nvSpPr>
          <p:cNvPr id="4" name="Text 2"/>
          <p:cNvSpPr txBox="1"/>
          <p:nvPr/>
        </p:nvSpPr>
        <p:spPr>
          <a:xfrm>
            <a:off x="685800" y="1188720"/>
            <a:ext cx="7772400" cy="109728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Instead of storing every pixel, store how many blanks, then how many coloured pixels, one row at a time.</a:t>
            </a:r>
            <a:endParaRPr lang="en-US" sz="1200" dirty="0"/>
          </a:p>
        </p:txBody>
      </p:sp>
      <p:sp>
        <p:nvSpPr>
          <p:cNvPr id="5" name="Text 3"/>
          <p:cNvSpPr txBox="1"/>
          <p:nvPr/>
        </p:nvSpPr>
        <p:spPr>
          <a:xfrm>
            <a:off x="685800" y="2651760"/>
            <a:ext cx="1371600" cy="548640"/>
          </a:xfrm>
          <a:prstGeom prst="rect">
            <a:avLst/>
          </a:prstGeom>
          <a:noFill/>
          <a:ln/>
        </p:spPr>
        <p:txBody>
          <a:bodyPr wrap="square" lIns="0" tIns="0" rIns="0" bIns="0" rtlCol="0" anchor="ctr"/>
          <a:lstStyle/>
          <a:p>
            <a:pPr marL="0" indent="0">
              <a:buNone/>
            </a:pPr>
            <a:r>
              <a:rPr lang="en-US" sz="2400" b="1" dirty="0">
                <a:solidFill>
                  <a:srgbClr val="002D6A"/>
                </a:solidFill>
                <a:latin typeface="Courier New" pitchFamily="34" charset="0"/>
                <a:ea typeface="Courier New" pitchFamily="34" charset="-122"/>
                <a:cs typeface="Courier New" pitchFamily="34" charset="-120"/>
              </a:rPr>
              <a:t>6, 4</a:t>
            </a:r>
            <a:endParaRPr lang="en-US" sz="2400" dirty="0"/>
          </a:p>
        </p:txBody>
      </p:sp>
      <p:sp>
        <p:nvSpPr>
          <p:cNvPr id="6" name="Cell off"/>
          <p:cNvSpPr/>
          <p:nvPr/>
        </p:nvSpPr>
        <p:spPr>
          <a:xfrm>
            <a:off x="2377440" y="2697480"/>
            <a:ext cx="457200" cy="457200"/>
          </a:xfrm>
          <a:prstGeom prst="rect">
            <a:avLst/>
          </a:prstGeom>
          <a:solidFill>
            <a:srgbClr val="FFFFFF"/>
          </a:solidFill>
          <a:ln w="9525">
            <a:solidFill>
              <a:srgbClr val="C5D1E3"/>
            </a:solidFill>
            <a:prstDash val="solid"/>
          </a:ln>
        </p:spPr>
        <p:txBody>
          <a:bodyPr/>
          <a:lstStyle/>
          <a:p>
            <a:endParaRPr lang="en-GB"/>
          </a:p>
        </p:txBody>
      </p:sp>
      <p:sp>
        <p:nvSpPr>
          <p:cNvPr id="7" name="Cell off"/>
          <p:cNvSpPr/>
          <p:nvPr/>
        </p:nvSpPr>
        <p:spPr>
          <a:xfrm>
            <a:off x="2834640" y="2697480"/>
            <a:ext cx="457200" cy="457200"/>
          </a:xfrm>
          <a:prstGeom prst="rect">
            <a:avLst/>
          </a:prstGeom>
          <a:solidFill>
            <a:srgbClr val="FFFFFF"/>
          </a:solidFill>
          <a:ln w="9525">
            <a:solidFill>
              <a:srgbClr val="C5D1E3"/>
            </a:solidFill>
            <a:prstDash val="solid"/>
          </a:ln>
        </p:spPr>
        <p:txBody>
          <a:bodyPr/>
          <a:lstStyle/>
          <a:p>
            <a:endParaRPr lang="en-GB"/>
          </a:p>
        </p:txBody>
      </p:sp>
      <p:sp>
        <p:nvSpPr>
          <p:cNvPr id="8" name="Cell off"/>
          <p:cNvSpPr/>
          <p:nvPr/>
        </p:nvSpPr>
        <p:spPr>
          <a:xfrm>
            <a:off x="3291840" y="2697480"/>
            <a:ext cx="457200" cy="457200"/>
          </a:xfrm>
          <a:prstGeom prst="rect">
            <a:avLst/>
          </a:prstGeom>
          <a:solidFill>
            <a:srgbClr val="FFFFFF"/>
          </a:solidFill>
          <a:ln w="9525">
            <a:solidFill>
              <a:srgbClr val="C5D1E3"/>
            </a:solidFill>
            <a:prstDash val="solid"/>
          </a:ln>
        </p:spPr>
        <p:txBody>
          <a:bodyPr/>
          <a:lstStyle/>
          <a:p>
            <a:endParaRPr lang="en-GB"/>
          </a:p>
        </p:txBody>
      </p:sp>
      <p:sp>
        <p:nvSpPr>
          <p:cNvPr id="9" name="Cell off"/>
          <p:cNvSpPr/>
          <p:nvPr/>
        </p:nvSpPr>
        <p:spPr>
          <a:xfrm>
            <a:off x="3749040" y="2697480"/>
            <a:ext cx="457200" cy="457200"/>
          </a:xfrm>
          <a:prstGeom prst="rect">
            <a:avLst/>
          </a:prstGeom>
          <a:solidFill>
            <a:srgbClr val="FFFFFF"/>
          </a:solidFill>
          <a:ln w="9525">
            <a:solidFill>
              <a:srgbClr val="C5D1E3"/>
            </a:solidFill>
            <a:prstDash val="solid"/>
          </a:ln>
        </p:spPr>
        <p:txBody>
          <a:bodyPr/>
          <a:lstStyle/>
          <a:p>
            <a:endParaRPr lang="en-GB"/>
          </a:p>
        </p:txBody>
      </p:sp>
      <p:sp>
        <p:nvSpPr>
          <p:cNvPr id="10" name="Cell off"/>
          <p:cNvSpPr/>
          <p:nvPr/>
        </p:nvSpPr>
        <p:spPr>
          <a:xfrm>
            <a:off x="4206240" y="2697480"/>
            <a:ext cx="457200" cy="457200"/>
          </a:xfrm>
          <a:prstGeom prst="rect">
            <a:avLst/>
          </a:prstGeom>
          <a:solidFill>
            <a:srgbClr val="FFFFFF"/>
          </a:solidFill>
          <a:ln w="9525">
            <a:solidFill>
              <a:srgbClr val="C5D1E3"/>
            </a:solidFill>
            <a:prstDash val="solid"/>
          </a:ln>
        </p:spPr>
        <p:txBody>
          <a:bodyPr/>
          <a:lstStyle/>
          <a:p>
            <a:endParaRPr lang="en-GB"/>
          </a:p>
        </p:txBody>
      </p:sp>
      <p:sp>
        <p:nvSpPr>
          <p:cNvPr id="11" name="Cell off"/>
          <p:cNvSpPr/>
          <p:nvPr/>
        </p:nvSpPr>
        <p:spPr>
          <a:xfrm>
            <a:off x="4663440" y="2697480"/>
            <a:ext cx="457200" cy="457200"/>
          </a:xfrm>
          <a:prstGeom prst="rect">
            <a:avLst/>
          </a:prstGeom>
          <a:solidFill>
            <a:srgbClr val="FFFFFF"/>
          </a:solidFill>
          <a:ln w="9525">
            <a:solidFill>
              <a:srgbClr val="C5D1E3"/>
            </a:solidFill>
            <a:prstDash val="solid"/>
          </a:ln>
        </p:spPr>
        <p:txBody>
          <a:bodyPr/>
          <a:lstStyle/>
          <a:p>
            <a:endParaRPr lang="en-GB"/>
          </a:p>
        </p:txBody>
      </p:sp>
      <p:sp>
        <p:nvSpPr>
          <p:cNvPr id="12" name="Cell on"/>
          <p:cNvSpPr/>
          <p:nvPr/>
        </p:nvSpPr>
        <p:spPr>
          <a:xfrm>
            <a:off x="5120640" y="2697480"/>
            <a:ext cx="457200" cy="457200"/>
          </a:xfrm>
          <a:prstGeom prst="rect">
            <a:avLst/>
          </a:prstGeom>
          <a:solidFill>
            <a:srgbClr val="002D6A"/>
          </a:solidFill>
          <a:ln w="9525">
            <a:solidFill>
              <a:srgbClr val="C5D1E3"/>
            </a:solidFill>
            <a:prstDash val="solid"/>
          </a:ln>
        </p:spPr>
        <p:txBody>
          <a:bodyPr/>
          <a:lstStyle/>
          <a:p>
            <a:endParaRPr lang="en-GB"/>
          </a:p>
        </p:txBody>
      </p:sp>
      <p:sp>
        <p:nvSpPr>
          <p:cNvPr id="13" name="Cell on"/>
          <p:cNvSpPr/>
          <p:nvPr/>
        </p:nvSpPr>
        <p:spPr>
          <a:xfrm>
            <a:off x="5577840" y="2697480"/>
            <a:ext cx="457200" cy="457200"/>
          </a:xfrm>
          <a:prstGeom prst="rect">
            <a:avLst/>
          </a:prstGeom>
          <a:solidFill>
            <a:srgbClr val="002D6A"/>
          </a:solidFill>
          <a:ln w="9525">
            <a:solidFill>
              <a:srgbClr val="C5D1E3"/>
            </a:solidFill>
            <a:prstDash val="solid"/>
          </a:ln>
        </p:spPr>
        <p:txBody>
          <a:bodyPr/>
          <a:lstStyle/>
          <a:p>
            <a:endParaRPr lang="en-GB"/>
          </a:p>
        </p:txBody>
      </p:sp>
      <p:sp>
        <p:nvSpPr>
          <p:cNvPr id="14" name="Cell on"/>
          <p:cNvSpPr/>
          <p:nvPr/>
        </p:nvSpPr>
        <p:spPr>
          <a:xfrm>
            <a:off x="6035040" y="2697480"/>
            <a:ext cx="457200" cy="457200"/>
          </a:xfrm>
          <a:prstGeom prst="rect">
            <a:avLst/>
          </a:prstGeom>
          <a:solidFill>
            <a:srgbClr val="002D6A"/>
          </a:solidFill>
          <a:ln w="9525">
            <a:solidFill>
              <a:srgbClr val="C5D1E3"/>
            </a:solidFill>
            <a:prstDash val="solid"/>
          </a:ln>
        </p:spPr>
        <p:txBody>
          <a:bodyPr/>
          <a:lstStyle/>
          <a:p>
            <a:endParaRPr lang="en-GB"/>
          </a:p>
        </p:txBody>
      </p:sp>
      <p:sp>
        <p:nvSpPr>
          <p:cNvPr id="15" name="Cell on"/>
          <p:cNvSpPr/>
          <p:nvPr/>
        </p:nvSpPr>
        <p:spPr>
          <a:xfrm>
            <a:off x="6492240" y="2697480"/>
            <a:ext cx="457200" cy="457200"/>
          </a:xfrm>
          <a:prstGeom prst="rect">
            <a:avLst/>
          </a:prstGeom>
          <a:solidFill>
            <a:srgbClr val="002D6A"/>
          </a:solidFill>
          <a:ln w="9525">
            <a:solidFill>
              <a:srgbClr val="C5D1E3"/>
            </a:solidFill>
            <a:prstDash val="solid"/>
          </a:ln>
        </p:spPr>
        <p:txBody>
          <a:bodyPr/>
          <a:lstStyle/>
          <a:p>
            <a:endParaRPr lang="en-GB"/>
          </a:p>
        </p:txBody>
      </p:sp>
      <p:sp>
        <p:nvSpPr>
          <p:cNvPr id="16" name="@1 addText"/>
          <p:cNvSpPr txBox="1"/>
          <p:nvPr/>
        </p:nvSpPr>
        <p:spPr>
          <a:xfrm>
            <a:off x="457200" y="3474720"/>
            <a:ext cx="8229600" cy="457200"/>
          </a:xfrm>
          <a:prstGeom prst="rect">
            <a:avLst/>
          </a:prstGeom>
          <a:noFill/>
          <a:ln/>
        </p:spPr>
        <p:txBody>
          <a:bodyPr wrap="square" lIns="0" tIns="0" rIns="0" bIns="0" rtlCol="0" anchor="ctr"/>
          <a:lstStyle/>
          <a:p>
            <a:pPr marL="0" indent="0">
              <a:buNone/>
            </a:pPr>
            <a:r>
              <a:rPr lang="en-US" sz="2000" b="1" dirty="0">
                <a:solidFill>
                  <a:srgbClr val="002D6A"/>
                </a:solidFill>
                <a:latin typeface="Arial" pitchFamily="34" charset="0"/>
                <a:ea typeface="Arial" pitchFamily="34" charset="-122"/>
                <a:cs typeface="Arial" pitchFamily="34" charset="-120"/>
              </a:rPr>
              <a:t>6, 4 = 6 blanks, then 4 coloured pixels.</a:t>
            </a:r>
            <a:endParaRPr lang="en-US" sz="2000" dirty="0"/>
          </a:p>
        </p:txBody>
      </p:sp>
      <p:sp>
        <p:nvSpPr>
          <p:cNvPr id="17" name="Text 15"/>
          <p:cNvSpPr txBox="1"/>
          <p:nvPr/>
        </p:nvSpPr>
        <p:spPr>
          <a:xfrm>
            <a:off x="457200" y="41148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a clue that starts with 0 means the row starts with a coloured pixel.</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Your Turn: Shade the Grids</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BY HAND</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chemeClr val="bg1"/>
                </a:solidFill>
                <a:hlinkClick r:id="rId3"/>
              </a:rPr>
              <a:t>https://tinyurl.com/4xd36zuv</a:t>
            </a:r>
            <a:r>
              <a:rPr lang="en-US" sz="1800" dirty="0">
                <a:solidFill>
                  <a:schemeClr val="bg1"/>
                </a:solidFill>
              </a:rPr>
              <a:t> &lt;- Download then start worksheet (we will come back to this in a bit)</a:t>
            </a:r>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4"/>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15 min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#1: the clues</a:t>
            </a:r>
            <a:endParaRPr lang="en-US" sz="3000" dirty="0"/>
          </a:p>
        </p:txBody>
      </p:sp>
      <p:sp>
        <p:nvSpPr>
          <p:cNvPr id="3" name="2 min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2 min</a:t>
            </a:r>
            <a:endParaRPr lang="en-US" sz="1200" dirty="0"/>
          </a:p>
        </p:txBody>
      </p:sp>
      <p:sp>
        <p:nvSpPr>
          <p:cNvPr id="5" name="Clue card"/>
          <p:cNvSpPr/>
          <p:nvPr/>
        </p:nvSpPr>
        <p:spPr>
          <a:xfrm>
            <a:off x="457200" y="1143000"/>
            <a:ext cx="3931920" cy="2377440"/>
          </a:xfrm>
          <a:prstGeom prst="roundRect">
            <a:avLst>
              <a:gd name="adj" fmla="val 4615"/>
            </a:avLst>
          </a:prstGeom>
          <a:solidFill>
            <a:srgbClr val="FFFFFF"/>
          </a:solidFill>
          <a:ln w="9525">
            <a:solidFill>
              <a:srgbClr val="C5D1E3"/>
            </a:solidFill>
            <a:prstDash val="solid"/>
          </a:ln>
        </p:spPr>
        <p:txBody>
          <a:bodyPr/>
          <a:lstStyle/>
          <a:p>
            <a:endParaRPr lang="en-GB"/>
          </a:p>
        </p:txBody>
      </p:sp>
      <p:sp>
        <p:nvSpPr>
          <p:cNvPr id="6" name="Text 4"/>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2, 7, 3</a:t>
            </a:r>
            <a:endParaRPr lang="en-US" sz="2000" dirty="0"/>
          </a:p>
        </p:txBody>
      </p:sp>
      <p:sp>
        <p:nvSpPr>
          <p:cNvPr id="7" name="Text 5"/>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1, 10, 1</a:t>
            </a:r>
            <a:endParaRPr lang="en-US" sz="2000" dirty="0"/>
          </a:p>
        </p:txBody>
      </p:sp>
      <p:sp>
        <p:nvSpPr>
          <p:cNvPr id="8" name="Text 6"/>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1, 8, 2, 1</a:t>
            </a:r>
            <a:endParaRPr lang="en-US" sz="2000" dirty="0"/>
          </a:p>
        </p:txBody>
      </p:sp>
      <p:sp>
        <p:nvSpPr>
          <p:cNvPr id="9" name="Text 7"/>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1, 8, 2, 1</a:t>
            </a:r>
            <a:endParaRPr lang="en-US" sz="2000" dirty="0"/>
          </a:p>
        </p:txBody>
      </p:sp>
      <p:sp>
        <p:nvSpPr>
          <p:cNvPr id="10" name="Text 8"/>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1, 10, 1</a:t>
            </a:r>
            <a:endParaRPr lang="en-US" sz="2000" dirty="0"/>
          </a:p>
        </p:txBody>
      </p:sp>
      <p:sp>
        <p:nvSpPr>
          <p:cNvPr id="11" name="Clue card"/>
          <p:cNvSpPr/>
          <p:nvPr/>
        </p:nvSpPr>
        <p:spPr>
          <a:xfrm>
            <a:off x="4754880" y="1143000"/>
            <a:ext cx="3931920" cy="2377440"/>
          </a:xfrm>
          <a:prstGeom prst="roundRect">
            <a:avLst>
              <a:gd name="adj" fmla="val 4615"/>
            </a:avLst>
          </a:prstGeom>
          <a:solidFill>
            <a:srgbClr val="FFFFFF"/>
          </a:solidFill>
          <a:ln w="9525">
            <a:solidFill>
              <a:srgbClr val="C5D1E3"/>
            </a:solidFill>
            <a:prstDash val="solid"/>
          </a:ln>
        </p:spPr>
        <p:txBody>
          <a:bodyPr/>
          <a:lstStyle/>
          <a:p>
            <a:endParaRPr lang="en-GB"/>
          </a:p>
        </p:txBody>
      </p:sp>
      <p:sp>
        <p:nvSpPr>
          <p:cNvPr id="12" name="Text 10"/>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2, 6, 4</a:t>
            </a:r>
            <a:endParaRPr lang="en-US" sz="2000" dirty="0"/>
          </a:p>
        </p:txBody>
      </p:sp>
      <p:sp>
        <p:nvSpPr>
          <p:cNvPr id="13" name="Text 11"/>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3, 4, 5</a:t>
            </a:r>
            <a:endParaRPr lang="en-US" sz="2000" dirty="0"/>
          </a:p>
        </p:txBody>
      </p:sp>
      <p:sp>
        <p:nvSpPr>
          <p:cNvPr id="14" name="Text 12"/>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4, 3, 5</a:t>
            </a:r>
            <a:endParaRPr lang="en-US" sz="2000" dirty="0"/>
          </a:p>
        </p:txBody>
      </p:sp>
      <p:sp>
        <p:nvSpPr>
          <p:cNvPr id="15" name="Text 13"/>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2000" b="1" dirty="0">
                <a:solidFill>
                  <a:srgbClr val="002D6A"/>
                </a:solidFill>
                <a:latin typeface="Courier New" pitchFamily="34" charset="0"/>
                <a:ea typeface="Courier New" pitchFamily="34" charset="-122"/>
                <a:cs typeface="Courier New" pitchFamily="34" charset="-120"/>
              </a:rPr>
              <a:t>0, 12</a:t>
            </a:r>
            <a:endParaRPr lang="en-US" sz="2000" dirty="0"/>
          </a:p>
        </p:txBody>
      </p:sp>
      <p:sp>
        <p:nvSpPr>
          <p:cNvPr id="16" name="Text 14"/>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decode it, then check on the next slide</a:t>
            </a:r>
            <a:endParaRPr lang="en-US" sz="1400" dirty="0"/>
          </a:p>
        </p:txBody>
      </p:sp>
      <p:sp>
        <p:nvSpPr>
          <p:cNvPr id="1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Decoding messages #1: decoded</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blank grid, a mug, shaded from the clues not yet shaded"/>
          <p:cNvPicPr>
            <a:picLocks noChangeAspect="1"/>
          </p:cNvPicPr>
          <p:nvPr/>
        </p:nvPicPr>
        <p:blipFill>
          <a:blip r:embed="rId3"/>
          <a:stretch>
            <a:fillRect/>
          </a:stretch>
        </p:blipFill>
        <p:spPr>
          <a:xfrm>
            <a:off x="2286000" y="1163882"/>
            <a:ext cx="4572000" cy="3432955"/>
          </a:xfrm>
          <a:prstGeom prst="rect">
            <a:avLst/>
          </a:prstGeom>
        </p:spPr>
      </p:pic>
      <p:pic>
        <p:nvPicPr>
          <p:cNvPr id="6" name="@1 addImage" descr="a mug, shaded from the clues"/>
          <p:cNvPicPr>
            <a:picLocks noChangeAspect="1"/>
          </p:cNvPicPr>
          <p:nvPr/>
        </p:nvPicPr>
        <p:blipFill>
          <a:blip r:embed="rId4"/>
          <a:stretch>
            <a:fillRect/>
          </a:stretch>
        </p:blipFill>
        <p:spPr>
          <a:xfrm>
            <a:off x="2286000" y="1163882"/>
            <a:ext cx="4572000" cy="3432955"/>
          </a:xfrm>
          <a:prstGeom prst="rect">
            <a:avLst/>
          </a:prstGeom>
        </p:spPr>
      </p:pic>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18</a:t>
            </a:fld>
            <a:endParaRPr lang="en-US"/>
          </a:p>
        </p:txBody>
      </p:sp>
      <p:pic>
        <p:nvPicPr>
          <p:cNvPr id="8" name="Image 0" descr="blank grid, a mug, shaded from the clues not yet shaded">
            <a:extLst>
              <a:ext uri="{FF2B5EF4-FFF2-40B4-BE49-F238E27FC236}">
                <a16:creationId xmlns:a16="http://schemas.microsoft.com/office/drawing/2014/main" id="{FA8D9A28-E4B3-CED9-7833-E61C7A0B63C4}"/>
              </a:ext>
            </a:extLst>
          </p:cNvPr>
          <p:cNvPicPr>
            <a:picLocks noChangeAspect="1"/>
          </p:cNvPicPr>
          <p:nvPr/>
        </p:nvPicPr>
        <p:blipFill rotWithShape="1">
          <a:blip r:embed="rId3"/>
          <a:srcRect t="11378"/>
          <a:stretch/>
        </p:blipFill>
        <p:spPr>
          <a:xfrm>
            <a:off x="2286000" y="1554480"/>
            <a:ext cx="4572000" cy="30423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Decoding messages #1: decoded</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blank grid, a mug, shaded from the clues not yet shaded"/>
          <p:cNvPicPr>
            <a:picLocks noChangeAspect="1"/>
          </p:cNvPicPr>
          <p:nvPr/>
        </p:nvPicPr>
        <p:blipFill>
          <a:blip r:embed="rId3"/>
          <a:stretch>
            <a:fillRect/>
          </a:stretch>
        </p:blipFill>
        <p:spPr>
          <a:xfrm>
            <a:off x="2286000" y="1163882"/>
            <a:ext cx="4572000" cy="3432955"/>
          </a:xfrm>
          <a:prstGeom prst="rect">
            <a:avLst/>
          </a:prstGeom>
        </p:spPr>
      </p:pic>
      <p:pic>
        <p:nvPicPr>
          <p:cNvPr id="6" name="@1 addImage" descr="a mug, shaded from the clues"/>
          <p:cNvPicPr>
            <a:picLocks noChangeAspect="1"/>
          </p:cNvPicPr>
          <p:nvPr/>
        </p:nvPicPr>
        <p:blipFill>
          <a:blip r:embed="rId4"/>
          <a:stretch>
            <a:fillRect/>
          </a:stretch>
        </p:blipFill>
        <p:spPr>
          <a:xfrm>
            <a:off x="2286000" y="1163882"/>
            <a:ext cx="4572000" cy="3432955"/>
          </a:xfrm>
          <a:prstGeom prst="rect">
            <a:avLst/>
          </a:prstGeom>
        </p:spPr>
      </p:pic>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19</a:t>
            </a:fld>
            <a:endParaRPr lang="en-US"/>
          </a:p>
        </p:txBody>
      </p:sp>
    </p:spTree>
    <p:extLst>
      <p:ext uri="{BB962C8B-B14F-4D97-AF65-F5344CB8AC3E}">
        <p14:creationId xmlns:p14="http://schemas.microsoft.com/office/powerpoint/2010/main" val="2952843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#2: the clues</a:t>
            </a:r>
            <a:endParaRPr lang="en-US" sz="3000" dirty="0"/>
          </a:p>
        </p:txBody>
      </p:sp>
      <p:sp>
        <p:nvSpPr>
          <p:cNvPr id="3" name="10 min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10 min</a:t>
            </a:r>
            <a:endParaRPr lang="en-US" sz="1200" dirty="0"/>
          </a:p>
        </p:txBody>
      </p:sp>
      <p:sp>
        <p:nvSpPr>
          <p:cNvPr id="5" name="Clue card"/>
          <p:cNvSpPr/>
          <p:nvPr/>
        </p:nvSpPr>
        <p:spPr>
          <a:xfrm>
            <a:off x="457200" y="1143000"/>
            <a:ext cx="3931920" cy="3291840"/>
          </a:xfrm>
          <a:prstGeom prst="roundRect">
            <a:avLst>
              <a:gd name="adj" fmla="val 3333"/>
            </a:avLst>
          </a:prstGeom>
          <a:solidFill>
            <a:srgbClr val="FFFFFF"/>
          </a:solidFill>
          <a:ln w="9525">
            <a:solidFill>
              <a:srgbClr val="C5D1E3"/>
            </a:solidFill>
            <a:prstDash val="solid"/>
          </a:ln>
        </p:spPr>
        <p:txBody>
          <a:bodyPr/>
          <a:lstStyle/>
          <a:p>
            <a:endParaRPr lang="en-GB"/>
          </a:p>
        </p:txBody>
      </p:sp>
      <p:sp>
        <p:nvSpPr>
          <p:cNvPr id="6" name="Text 4"/>
          <p:cNvSpPr txBox="1"/>
          <p:nvPr/>
        </p:nvSpPr>
        <p:spPr>
          <a:xfrm>
            <a:off x="731520" y="128016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14</a:t>
            </a:r>
            <a:endParaRPr lang="en-US" sz="1600" dirty="0"/>
          </a:p>
        </p:txBody>
      </p:sp>
      <p:sp>
        <p:nvSpPr>
          <p:cNvPr id="7" name="Text 5"/>
          <p:cNvSpPr txBox="1"/>
          <p:nvPr/>
        </p:nvSpPr>
        <p:spPr>
          <a:xfrm>
            <a:off x="731520" y="165735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7, 3, 4</a:t>
            </a:r>
            <a:endParaRPr lang="en-US" sz="1600" dirty="0"/>
          </a:p>
        </p:txBody>
      </p:sp>
      <p:sp>
        <p:nvSpPr>
          <p:cNvPr id="8" name="Text 6"/>
          <p:cNvSpPr txBox="1"/>
          <p:nvPr/>
        </p:nvSpPr>
        <p:spPr>
          <a:xfrm>
            <a:off x="731520" y="203454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6, 4, 4</a:t>
            </a:r>
            <a:endParaRPr lang="en-US" sz="1600" dirty="0"/>
          </a:p>
        </p:txBody>
      </p:sp>
      <p:sp>
        <p:nvSpPr>
          <p:cNvPr id="9" name="Text 7"/>
          <p:cNvSpPr txBox="1"/>
          <p:nvPr/>
        </p:nvSpPr>
        <p:spPr>
          <a:xfrm>
            <a:off x="731520" y="241173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6, 2, 6</a:t>
            </a:r>
            <a:endParaRPr lang="en-US" sz="1600" dirty="0"/>
          </a:p>
        </p:txBody>
      </p:sp>
      <p:sp>
        <p:nvSpPr>
          <p:cNvPr id="10" name="Text 8"/>
          <p:cNvSpPr txBox="1"/>
          <p:nvPr/>
        </p:nvSpPr>
        <p:spPr>
          <a:xfrm>
            <a:off x="731520" y="278892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3, 3, 2, 3, 3</a:t>
            </a:r>
            <a:endParaRPr lang="en-US" sz="1600" dirty="0"/>
          </a:p>
        </p:txBody>
      </p:sp>
      <p:sp>
        <p:nvSpPr>
          <p:cNvPr id="11" name="Text 9"/>
          <p:cNvSpPr txBox="1"/>
          <p:nvPr/>
        </p:nvSpPr>
        <p:spPr>
          <a:xfrm>
            <a:off x="731520" y="316611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2, 4, 2, 4, 2</a:t>
            </a:r>
            <a:endParaRPr lang="en-US" sz="1600" dirty="0"/>
          </a:p>
        </p:txBody>
      </p:sp>
      <p:sp>
        <p:nvSpPr>
          <p:cNvPr id="12" name="Text 10"/>
          <p:cNvSpPr txBox="1"/>
          <p:nvPr/>
        </p:nvSpPr>
        <p:spPr>
          <a:xfrm>
            <a:off x="731520" y="354330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1, 12, 1</a:t>
            </a:r>
            <a:endParaRPr lang="en-US" sz="1600" dirty="0"/>
          </a:p>
        </p:txBody>
      </p:sp>
      <p:sp>
        <p:nvSpPr>
          <p:cNvPr id="13" name="Text 11"/>
          <p:cNvSpPr txBox="1"/>
          <p:nvPr/>
        </p:nvSpPr>
        <p:spPr>
          <a:xfrm>
            <a:off x="731520" y="392049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1, 10, 3</a:t>
            </a:r>
            <a:endParaRPr lang="en-US" sz="1600" dirty="0"/>
          </a:p>
        </p:txBody>
      </p:sp>
      <p:sp>
        <p:nvSpPr>
          <p:cNvPr id="14" name="Clue card"/>
          <p:cNvSpPr/>
          <p:nvPr/>
        </p:nvSpPr>
        <p:spPr>
          <a:xfrm>
            <a:off x="4754880" y="1143000"/>
            <a:ext cx="3931920" cy="3291840"/>
          </a:xfrm>
          <a:prstGeom prst="roundRect">
            <a:avLst>
              <a:gd name="adj" fmla="val 3333"/>
            </a:avLst>
          </a:prstGeom>
          <a:solidFill>
            <a:srgbClr val="FFFFFF"/>
          </a:solidFill>
          <a:ln w="9525">
            <a:solidFill>
              <a:srgbClr val="C5D1E3"/>
            </a:solidFill>
            <a:prstDash val="solid"/>
          </a:ln>
        </p:spPr>
        <p:txBody>
          <a:bodyPr/>
          <a:lstStyle/>
          <a:p>
            <a:endParaRPr lang="en-GB"/>
          </a:p>
        </p:txBody>
      </p:sp>
      <p:sp>
        <p:nvSpPr>
          <p:cNvPr id="15" name="Text 13"/>
          <p:cNvSpPr txBox="1"/>
          <p:nvPr/>
        </p:nvSpPr>
        <p:spPr>
          <a:xfrm>
            <a:off x="5029200" y="128016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1, 9, 4</a:t>
            </a:r>
            <a:endParaRPr lang="en-US" sz="1600" dirty="0"/>
          </a:p>
        </p:txBody>
      </p:sp>
      <p:sp>
        <p:nvSpPr>
          <p:cNvPr id="16" name="Text 14"/>
          <p:cNvSpPr txBox="1"/>
          <p:nvPr/>
        </p:nvSpPr>
        <p:spPr>
          <a:xfrm>
            <a:off x="5029200" y="165735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1, 9, 4</a:t>
            </a:r>
            <a:endParaRPr lang="en-US" sz="1600" dirty="0"/>
          </a:p>
        </p:txBody>
      </p:sp>
      <p:sp>
        <p:nvSpPr>
          <p:cNvPr id="17" name="Text 15"/>
          <p:cNvSpPr txBox="1"/>
          <p:nvPr/>
        </p:nvSpPr>
        <p:spPr>
          <a:xfrm>
            <a:off x="5029200" y="203454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1, 9, 4</a:t>
            </a:r>
            <a:endParaRPr lang="en-US" sz="1600" dirty="0"/>
          </a:p>
        </p:txBody>
      </p:sp>
      <p:sp>
        <p:nvSpPr>
          <p:cNvPr id="18" name="Text 16"/>
          <p:cNvSpPr txBox="1"/>
          <p:nvPr/>
        </p:nvSpPr>
        <p:spPr>
          <a:xfrm>
            <a:off x="5029200" y="241173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1, 9, 4</a:t>
            </a:r>
            <a:endParaRPr lang="en-US" sz="1600" dirty="0"/>
          </a:p>
        </p:txBody>
      </p:sp>
      <p:sp>
        <p:nvSpPr>
          <p:cNvPr id="19" name="Text 17"/>
          <p:cNvSpPr txBox="1"/>
          <p:nvPr/>
        </p:nvSpPr>
        <p:spPr>
          <a:xfrm>
            <a:off x="5029200" y="278892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1, 11, 2</a:t>
            </a:r>
            <a:endParaRPr lang="en-US" sz="1600" dirty="0"/>
          </a:p>
        </p:txBody>
      </p:sp>
      <p:sp>
        <p:nvSpPr>
          <p:cNvPr id="20" name="Text 18"/>
          <p:cNvSpPr txBox="1"/>
          <p:nvPr/>
        </p:nvSpPr>
        <p:spPr>
          <a:xfrm>
            <a:off x="5029200" y="316611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1, 12, 1</a:t>
            </a:r>
            <a:endParaRPr lang="en-US" sz="1600" dirty="0"/>
          </a:p>
        </p:txBody>
      </p:sp>
      <p:sp>
        <p:nvSpPr>
          <p:cNvPr id="21" name="Text 19"/>
          <p:cNvSpPr txBox="1"/>
          <p:nvPr/>
        </p:nvSpPr>
        <p:spPr>
          <a:xfrm>
            <a:off x="5029200" y="354330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2, 10, 2</a:t>
            </a:r>
            <a:endParaRPr lang="en-US" sz="1600" dirty="0"/>
          </a:p>
        </p:txBody>
      </p:sp>
      <p:sp>
        <p:nvSpPr>
          <p:cNvPr id="22" name="Text 20"/>
          <p:cNvSpPr txBox="1"/>
          <p:nvPr/>
        </p:nvSpPr>
        <p:spPr>
          <a:xfrm>
            <a:off x="5029200" y="3920490"/>
            <a:ext cx="3474720" cy="37719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4, 6, 4</a:t>
            </a:r>
            <a:endParaRPr lang="en-US" sz="1600" dirty="0"/>
          </a:p>
        </p:txBody>
      </p:sp>
      <p:sp>
        <p:nvSpPr>
          <p:cNvPr id="23" name="Text 21"/>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decode it, then check on the next slide</a:t>
            </a:r>
            <a:endParaRPr lang="en-US" sz="1400" dirty="0"/>
          </a:p>
        </p:txBody>
      </p:sp>
      <p:sp>
        <p:nvSpPr>
          <p:cNvPr id="2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Decoding messages #2: decoded</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blank grid, an apple, shaded from the clues not yet shaded"/>
          <p:cNvPicPr>
            <a:picLocks noChangeAspect="1"/>
          </p:cNvPicPr>
          <p:nvPr/>
        </p:nvPicPr>
        <p:blipFill>
          <a:blip r:embed="rId3"/>
          <a:stretch>
            <a:fillRect/>
          </a:stretch>
        </p:blipFill>
        <p:spPr>
          <a:xfrm>
            <a:off x="3011226" y="1097280"/>
            <a:ext cx="3121548" cy="3566160"/>
          </a:xfrm>
          <a:prstGeom prst="rect">
            <a:avLst/>
          </a:prstGeom>
        </p:spPr>
      </p:pic>
      <p:pic>
        <p:nvPicPr>
          <p:cNvPr id="6" name="@1 addImage" descr="an apple, shaded from the clues"/>
          <p:cNvPicPr>
            <a:picLocks noChangeAspect="1"/>
          </p:cNvPicPr>
          <p:nvPr/>
        </p:nvPicPr>
        <p:blipFill>
          <a:blip r:embed="rId4"/>
          <a:stretch>
            <a:fillRect/>
          </a:stretch>
        </p:blipFill>
        <p:spPr>
          <a:xfrm>
            <a:off x="3011226" y="1097280"/>
            <a:ext cx="3121548" cy="3566160"/>
          </a:xfrm>
          <a:prstGeom prst="rect">
            <a:avLst/>
          </a:prstGeom>
        </p:spPr>
      </p:pic>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#3: the clues</a:t>
            </a:r>
            <a:endParaRPr lang="en-US" sz="3000" dirty="0"/>
          </a:p>
        </p:txBody>
      </p:sp>
      <p:sp>
        <p:nvSpPr>
          <p:cNvPr id="3" name="Clue card"/>
          <p:cNvSpPr/>
          <p:nvPr/>
        </p:nvSpPr>
        <p:spPr>
          <a:xfrm>
            <a:off x="457200" y="1143000"/>
            <a:ext cx="3931920" cy="3291840"/>
          </a:xfrm>
          <a:prstGeom prst="roundRect">
            <a:avLst>
              <a:gd name="adj" fmla="val 3333"/>
            </a:avLst>
          </a:prstGeom>
          <a:solidFill>
            <a:srgbClr val="FFFFFF"/>
          </a:solidFill>
          <a:ln w="9525">
            <a:solidFill>
              <a:srgbClr val="C5D1E3"/>
            </a:solidFill>
            <a:prstDash val="solid"/>
          </a:ln>
        </p:spPr>
        <p:txBody>
          <a:bodyPr/>
          <a:lstStyle/>
          <a:p>
            <a:endParaRPr lang="en-GB"/>
          </a:p>
        </p:txBody>
      </p:sp>
      <p:sp>
        <p:nvSpPr>
          <p:cNvPr id="4" name="Text 2"/>
          <p:cNvSpPr txBox="1"/>
          <p:nvPr/>
        </p:nvSpPr>
        <p:spPr>
          <a:xfrm>
            <a:off x="731520" y="128016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14</a:t>
            </a:r>
            <a:endParaRPr lang="en-US" sz="1600" dirty="0"/>
          </a:p>
        </p:txBody>
      </p:sp>
      <p:sp>
        <p:nvSpPr>
          <p:cNvPr id="5" name="Text 3"/>
          <p:cNvSpPr txBox="1"/>
          <p:nvPr/>
        </p:nvSpPr>
        <p:spPr>
          <a:xfrm>
            <a:off x="731520" y="161544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5, 4, 5</a:t>
            </a:r>
            <a:endParaRPr lang="en-US" sz="1600" dirty="0"/>
          </a:p>
        </p:txBody>
      </p:sp>
      <p:sp>
        <p:nvSpPr>
          <p:cNvPr id="6" name="Text 4"/>
          <p:cNvSpPr txBox="1"/>
          <p:nvPr/>
        </p:nvSpPr>
        <p:spPr>
          <a:xfrm>
            <a:off x="731520" y="195072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4, 6, 4</a:t>
            </a:r>
            <a:endParaRPr lang="en-US" sz="1600" dirty="0"/>
          </a:p>
        </p:txBody>
      </p:sp>
      <p:sp>
        <p:nvSpPr>
          <p:cNvPr id="7" name="Text 5"/>
          <p:cNvSpPr txBox="1"/>
          <p:nvPr/>
        </p:nvSpPr>
        <p:spPr>
          <a:xfrm>
            <a:off x="731520" y="228600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3, 3, 2, 3, 3</a:t>
            </a:r>
            <a:endParaRPr lang="en-US" sz="1600" dirty="0"/>
          </a:p>
        </p:txBody>
      </p:sp>
      <p:sp>
        <p:nvSpPr>
          <p:cNvPr id="8" name="Text 6"/>
          <p:cNvSpPr txBox="1"/>
          <p:nvPr/>
        </p:nvSpPr>
        <p:spPr>
          <a:xfrm>
            <a:off x="731520" y="262128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3, 2, 4, 2, 3</a:t>
            </a:r>
            <a:endParaRPr lang="en-US" sz="1600" dirty="0"/>
          </a:p>
        </p:txBody>
      </p:sp>
      <p:sp>
        <p:nvSpPr>
          <p:cNvPr id="9" name="Text 7"/>
          <p:cNvSpPr txBox="1"/>
          <p:nvPr/>
        </p:nvSpPr>
        <p:spPr>
          <a:xfrm>
            <a:off x="731520" y="295656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3, 2, 4, 2, 3</a:t>
            </a:r>
            <a:endParaRPr lang="en-US" sz="1600" dirty="0"/>
          </a:p>
        </p:txBody>
      </p:sp>
      <p:sp>
        <p:nvSpPr>
          <p:cNvPr id="10" name="Text 8"/>
          <p:cNvSpPr txBox="1"/>
          <p:nvPr/>
        </p:nvSpPr>
        <p:spPr>
          <a:xfrm>
            <a:off x="731520" y="329184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3, 2, 4, 2, 3</a:t>
            </a:r>
            <a:endParaRPr lang="en-US" sz="1600" dirty="0"/>
          </a:p>
        </p:txBody>
      </p:sp>
      <p:sp>
        <p:nvSpPr>
          <p:cNvPr id="11" name="Text 9"/>
          <p:cNvSpPr txBox="1"/>
          <p:nvPr/>
        </p:nvSpPr>
        <p:spPr>
          <a:xfrm>
            <a:off x="731520" y="362712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2, 10, 2</a:t>
            </a:r>
            <a:endParaRPr lang="en-US" sz="1600" dirty="0"/>
          </a:p>
        </p:txBody>
      </p:sp>
      <p:sp>
        <p:nvSpPr>
          <p:cNvPr id="12" name="Text 10"/>
          <p:cNvSpPr txBox="1"/>
          <p:nvPr/>
        </p:nvSpPr>
        <p:spPr>
          <a:xfrm>
            <a:off x="731520" y="396240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2, 10, 2</a:t>
            </a:r>
            <a:endParaRPr lang="en-US" sz="1600" dirty="0"/>
          </a:p>
        </p:txBody>
      </p:sp>
      <p:sp>
        <p:nvSpPr>
          <p:cNvPr id="13" name="Clue card"/>
          <p:cNvSpPr/>
          <p:nvPr/>
        </p:nvSpPr>
        <p:spPr>
          <a:xfrm>
            <a:off x="4754880" y="1143000"/>
            <a:ext cx="3931920" cy="3291840"/>
          </a:xfrm>
          <a:prstGeom prst="roundRect">
            <a:avLst>
              <a:gd name="adj" fmla="val 3333"/>
            </a:avLst>
          </a:prstGeom>
          <a:solidFill>
            <a:srgbClr val="FFFFFF"/>
          </a:solidFill>
          <a:ln w="9525">
            <a:solidFill>
              <a:srgbClr val="C5D1E3"/>
            </a:solidFill>
            <a:prstDash val="solid"/>
          </a:ln>
        </p:spPr>
        <p:txBody>
          <a:bodyPr/>
          <a:lstStyle/>
          <a:p>
            <a:endParaRPr lang="en-GB"/>
          </a:p>
        </p:txBody>
      </p:sp>
      <p:sp>
        <p:nvSpPr>
          <p:cNvPr id="14" name="Text 12"/>
          <p:cNvSpPr txBox="1"/>
          <p:nvPr/>
        </p:nvSpPr>
        <p:spPr>
          <a:xfrm>
            <a:off x="5029200" y="128016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2, 10, 2</a:t>
            </a:r>
            <a:endParaRPr lang="en-US" sz="1600" dirty="0"/>
          </a:p>
        </p:txBody>
      </p:sp>
      <p:sp>
        <p:nvSpPr>
          <p:cNvPr id="15" name="Text 13"/>
          <p:cNvSpPr txBox="1"/>
          <p:nvPr/>
        </p:nvSpPr>
        <p:spPr>
          <a:xfrm>
            <a:off x="5029200" y="161544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2, 4, 2, 4, 2</a:t>
            </a:r>
            <a:endParaRPr lang="en-US" sz="1600" dirty="0"/>
          </a:p>
        </p:txBody>
      </p:sp>
      <p:sp>
        <p:nvSpPr>
          <p:cNvPr id="16" name="Text 14"/>
          <p:cNvSpPr txBox="1"/>
          <p:nvPr/>
        </p:nvSpPr>
        <p:spPr>
          <a:xfrm>
            <a:off x="5029200" y="195072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2, 4, 2, 4, 2</a:t>
            </a:r>
            <a:endParaRPr lang="en-US" sz="1600" dirty="0"/>
          </a:p>
        </p:txBody>
      </p:sp>
      <p:sp>
        <p:nvSpPr>
          <p:cNvPr id="17" name="Text 15"/>
          <p:cNvSpPr txBox="1"/>
          <p:nvPr/>
        </p:nvSpPr>
        <p:spPr>
          <a:xfrm>
            <a:off x="5029200" y="228600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2, 4, 2, 4, 2</a:t>
            </a:r>
            <a:endParaRPr lang="en-US" sz="1600" dirty="0"/>
          </a:p>
        </p:txBody>
      </p:sp>
      <p:sp>
        <p:nvSpPr>
          <p:cNvPr id="18" name="Text 16"/>
          <p:cNvSpPr txBox="1"/>
          <p:nvPr/>
        </p:nvSpPr>
        <p:spPr>
          <a:xfrm>
            <a:off x="5029200" y="262128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2, 10, 2</a:t>
            </a:r>
            <a:endParaRPr lang="en-US" sz="1600" dirty="0"/>
          </a:p>
        </p:txBody>
      </p:sp>
      <p:sp>
        <p:nvSpPr>
          <p:cNvPr id="19" name="Text 17"/>
          <p:cNvSpPr txBox="1"/>
          <p:nvPr/>
        </p:nvSpPr>
        <p:spPr>
          <a:xfrm>
            <a:off x="5029200" y="295656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2, 10, 2</a:t>
            </a:r>
            <a:endParaRPr lang="en-US" sz="1600" dirty="0"/>
          </a:p>
        </p:txBody>
      </p:sp>
      <p:sp>
        <p:nvSpPr>
          <p:cNvPr id="20" name="Text 18"/>
          <p:cNvSpPr txBox="1"/>
          <p:nvPr/>
        </p:nvSpPr>
        <p:spPr>
          <a:xfrm>
            <a:off x="5029200" y="329184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2, 10, 2</a:t>
            </a:r>
            <a:endParaRPr lang="en-US" sz="1600" dirty="0"/>
          </a:p>
        </p:txBody>
      </p:sp>
      <p:sp>
        <p:nvSpPr>
          <p:cNvPr id="21" name="Text 19"/>
          <p:cNvSpPr txBox="1"/>
          <p:nvPr/>
        </p:nvSpPr>
        <p:spPr>
          <a:xfrm>
            <a:off x="5029200" y="362712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2, 10, 2</a:t>
            </a:r>
            <a:endParaRPr lang="en-US" sz="1600" dirty="0"/>
          </a:p>
        </p:txBody>
      </p:sp>
      <p:sp>
        <p:nvSpPr>
          <p:cNvPr id="22" name="Text 20"/>
          <p:cNvSpPr txBox="1"/>
          <p:nvPr/>
        </p:nvSpPr>
        <p:spPr>
          <a:xfrm>
            <a:off x="5029200" y="3962400"/>
            <a:ext cx="3474720" cy="335280"/>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14</a:t>
            </a:r>
            <a:endParaRPr lang="en-US" sz="1600" dirty="0"/>
          </a:p>
        </p:txBody>
      </p:sp>
      <p:sp>
        <p:nvSpPr>
          <p:cNvPr id="23" name="Text 21"/>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decode it, then check on the next slide</a:t>
            </a:r>
            <a:endParaRPr lang="en-US" sz="1400" dirty="0"/>
          </a:p>
        </p:txBody>
      </p:sp>
      <p:sp>
        <p:nvSpPr>
          <p:cNvPr id="2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Decoding messages #3: decoded</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blank grid, a padlock, shaded from the clues not yet shaded"/>
          <p:cNvPicPr>
            <a:picLocks noChangeAspect="1"/>
          </p:cNvPicPr>
          <p:nvPr/>
        </p:nvPicPr>
        <p:blipFill>
          <a:blip r:embed="rId3"/>
          <a:stretch>
            <a:fillRect/>
          </a:stretch>
        </p:blipFill>
        <p:spPr>
          <a:xfrm>
            <a:off x="3184245" y="1097280"/>
            <a:ext cx="2775510" cy="3566160"/>
          </a:xfrm>
          <a:prstGeom prst="rect">
            <a:avLst/>
          </a:prstGeom>
        </p:spPr>
      </p:pic>
      <p:pic>
        <p:nvPicPr>
          <p:cNvPr id="6" name="@1 addImage" descr="a padlock, shaded from the clues"/>
          <p:cNvPicPr>
            <a:picLocks noChangeAspect="1"/>
          </p:cNvPicPr>
          <p:nvPr/>
        </p:nvPicPr>
        <p:blipFill>
          <a:blip r:embed="rId4"/>
          <a:stretch>
            <a:fillRect/>
          </a:stretch>
        </p:blipFill>
        <p:spPr>
          <a:xfrm>
            <a:off x="3184245" y="1097280"/>
            <a:ext cx="2775510" cy="3566160"/>
          </a:xfrm>
          <a:prstGeom prst="rect">
            <a:avLst/>
          </a:prstGeom>
        </p:spPr>
      </p:pic>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#4: the clues</a:t>
            </a:r>
            <a:endParaRPr lang="en-US" sz="3000" dirty="0"/>
          </a:p>
        </p:txBody>
      </p:sp>
      <p:sp>
        <p:nvSpPr>
          <p:cNvPr id="3" name="Clue card"/>
          <p:cNvSpPr/>
          <p:nvPr/>
        </p:nvSpPr>
        <p:spPr>
          <a:xfrm>
            <a:off x="457200" y="1143000"/>
            <a:ext cx="3931920" cy="3218688"/>
          </a:xfrm>
          <a:prstGeom prst="roundRect">
            <a:avLst>
              <a:gd name="adj" fmla="val 3409"/>
            </a:avLst>
          </a:prstGeom>
          <a:solidFill>
            <a:srgbClr val="FFFFFF"/>
          </a:solidFill>
          <a:ln w="9525">
            <a:solidFill>
              <a:srgbClr val="C5D1E3"/>
            </a:solidFill>
            <a:prstDash val="solid"/>
          </a:ln>
        </p:spPr>
        <p:txBody>
          <a:bodyPr/>
          <a:lstStyle/>
          <a:p>
            <a:endParaRPr lang="en-GB"/>
          </a:p>
        </p:txBody>
      </p:sp>
      <p:sp>
        <p:nvSpPr>
          <p:cNvPr id="4" name="Text 2"/>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14</a:t>
            </a:r>
            <a:endParaRPr lang="en-US" sz="1600" dirty="0"/>
          </a:p>
        </p:txBody>
      </p:sp>
      <p:sp>
        <p:nvSpPr>
          <p:cNvPr id="5" name="Text 3"/>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4, 6, 4</a:t>
            </a:r>
            <a:endParaRPr lang="en-US" sz="1600" dirty="0"/>
          </a:p>
        </p:txBody>
      </p:sp>
      <p:sp>
        <p:nvSpPr>
          <p:cNvPr id="6" name="Text 4"/>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3, 8, 3</a:t>
            </a:r>
            <a:endParaRPr lang="en-US" sz="1600" dirty="0"/>
          </a:p>
        </p:txBody>
      </p:sp>
      <p:sp>
        <p:nvSpPr>
          <p:cNvPr id="7" name="Text 5"/>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2, 10, 2</a:t>
            </a:r>
            <a:endParaRPr lang="en-US" sz="1600" dirty="0"/>
          </a:p>
        </p:txBody>
      </p:sp>
      <p:sp>
        <p:nvSpPr>
          <p:cNvPr id="8" name="Text 6"/>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1, 12, 1</a:t>
            </a:r>
            <a:endParaRPr lang="en-US" sz="1600" dirty="0"/>
          </a:p>
        </p:txBody>
      </p:sp>
      <p:sp>
        <p:nvSpPr>
          <p:cNvPr id="9" name="Text 7"/>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1, 12, 1</a:t>
            </a:r>
            <a:endParaRPr lang="en-US" sz="1600" dirty="0"/>
          </a:p>
        </p:txBody>
      </p:sp>
      <p:sp>
        <p:nvSpPr>
          <p:cNvPr id="10" name="Text 8"/>
          <p:cNvSpPr txBox="1"/>
          <p:nvPr/>
        </p:nvSpPr>
        <p:spPr>
          <a:xfrm>
            <a:off x="731520" y="3803904"/>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1, 3, 1, 4, 1, 3, 1</a:t>
            </a:r>
            <a:endParaRPr lang="en-US" sz="1600" dirty="0"/>
          </a:p>
        </p:txBody>
      </p:sp>
      <p:sp>
        <p:nvSpPr>
          <p:cNvPr id="11" name="Clue card"/>
          <p:cNvSpPr/>
          <p:nvPr/>
        </p:nvSpPr>
        <p:spPr>
          <a:xfrm>
            <a:off x="4754880" y="1143000"/>
            <a:ext cx="3931920" cy="3218688"/>
          </a:xfrm>
          <a:prstGeom prst="roundRect">
            <a:avLst>
              <a:gd name="adj" fmla="val 3409"/>
            </a:avLst>
          </a:prstGeom>
          <a:solidFill>
            <a:srgbClr val="FFFFFF"/>
          </a:solidFill>
          <a:ln w="9525">
            <a:solidFill>
              <a:srgbClr val="C5D1E3"/>
            </a:solidFill>
            <a:prstDash val="solid"/>
          </a:ln>
        </p:spPr>
        <p:txBody>
          <a:bodyPr/>
          <a:lstStyle/>
          <a:p>
            <a:endParaRPr lang="en-GB"/>
          </a:p>
        </p:txBody>
      </p:sp>
      <p:sp>
        <p:nvSpPr>
          <p:cNvPr id="12" name="Text 10"/>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1, 12, 1</a:t>
            </a:r>
            <a:endParaRPr lang="en-US" sz="1600" dirty="0"/>
          </a:p>
        </p:txBody>
      </p:sp>
      <p:sp>
        <p:nvSpPr>
          <p:cNvPr id="13" name="Text 11"/>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1, 12, 1</a:t>
            </a:r>
            <a:endParaRPr lang="en-US" sz="1600" dirty="0"/>
          </a:p>
        </p:txBody>
      </p:sp>
      <p:sp>
        <p:nvSpPr>
          <p:cNvPr id="14" name="Text 12"/>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1, 12, 1</a:t>
            </a:r>
            <a:endParaRPr lang="en-US" sz="1600" dirty="0"/>
          </a:p>
        </p:txBody>
      </p:sp>
      <p:sp>
        <p:nvSpPr>
          <p:cNvPr id="15" name="Text 13"/>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1, 5, 2, 5, 1</a:t>
            </a:r>
            <a:endParaRPr lang="en-US" sz="1600" dirty="0"/>
          </a:p>
        </p:txBody>
      </p:sp>
      <p:sp>
        <p:nvSpPr>
          <p:cNvPr id="16" name="Text 14"/>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1, 4, 4, 4, 1</a:t>
            </a:r>
            <a:endParaRPr lang="en-US" sz="1600" dirty="0"/>
          </a:p>
        </p:txBody>
      </p:sp>
      <p:sp>
        <p:nvSpPr>
          <p:cNvPr id="17" name="Text 15"/>
          <p:cNvSpPr txBox="1"/>
          <p:nvPr/>
        </p:nvSpPr>
        <p:spPr>
          <a:xfrm>
            <a:off x="5029200" y="3383280"/>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14</a:t>
            </a:r>
            <a:endParaRPr lang="en-US" sz="1600" dirty="0"/>
          </a:p>
        </p:txBody>
      </p:sp>
      <p:sp>
        <p:nvSpPr>
          <p:cNvPr id="18" name="Text 16"/>
          <p:cNvSpPr txBox="1"/>
          <p:nvPr/>
        </p:nvSpPr>
        <p:spPr>
          <a:xfrm>
            <a:off x="5029200" y="3803904"/>
            <a:ext cx="3474720" cy="420624"/>
          </a:xfrm>
          <a:prstGeom prst="rect">
            <a:avLst/>
          </a:prstGeom>
          <a:noFill/>
          <a:ln/>
        </p:spPr>
        <p:txBody>
          <a:bodyPr wrap="none" lIns="0" tIns="0" rIns="0" bIns="0" rtlCol="0" anchor="ctr"/>
          <a:lstStyle/>
          <a:p>
            <a:pPr marL="0" indent="0">
              <a:buNone/>
            </a:pPr>
            <a:r>
              <a:rPr lang="en-US" sz="1600" b="1" dirty="0">
                <a:solidFill>
                  <a:srgbClr val="002D6A"/>
                </a:solidFill>
                <a:latin typeface="Courier New" pitchFamily="34" charset="0"/>
                <a:ea typeface="Courier New" pitchFamily="34" charset="-122"/>
                <a:cs typeface="Courier New" pitchFamily="34" charset="-120"/>
              </a:rPr>
              <a:t>14</a:t>
            </a:r>
            <a:endParaRPr lang="en-US" sz="1600" dirty="0"/>
          </a:p>
        </p:txBody>
      </p:sp>
      <p:sp>
        <p:nvSpPr>
          <p:cNvPr id="19" name="Text 17"/>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decode it, then check on the next slide</a:t>
            </a:r>
            <a:endParaRPr lang="en-US" sz="1400" dirty="0"/>
          </a:p>
        </p:txBody>
      </p:sp>
      <p:sp>
        <p:nvSpPr>
          <p:cNvPr id="2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Decoding messages #4: decoded</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blank grid, a ghost, shaded from the clues not yet shaded"/>
          <p:cNvPicPr>
            <a:picLocks noChangeAspect="1"/>
          </p:cNvPicPr>
          <p:nvPr/>
        </p:nvPicPr>
        <p:blipFill>
          <a:blip r:embed="rId3"/>
          <a:stretch>
            <a:fillRect/>
          </a:stretch>
        </p:blipFill>
        <p:spPr>
          <a:xfrm>
            <a:off x="2788920" y="1097280"/>
            <a:ext cx="3566160" cy="3566160"/>
          </a:xfrm>
          <a:prstGeom prst="rect">
            <a:avLst/>
          </a:prstGeom>
        </p:spPr>
      </p:pic>
      <p:pic>
        <p:nvPicPr>
          <p:cNvPr id="6" name="@1 addImage" descr="a ghost, shaded from the clues"/>
          <p:cNvPicPr>
            <a:picLocks noChangeAspect="1"/>
          </p:cNvPicPr>
          <p:nvPr/>
        </p:nvPicPr>
        <p:blipFill>
          <a:blip r:embed="rId4"/>
          <a:stretch>
            <a:fillRect/>
          </a:stretch>
        </p:blipFill>
        <p:spPr>
          <a:xfrm>
            <a:off x="2788920" y="1097280"/>
            <a:ext cx="3566160" cy="3566160"/>
          </a:xfrm>
          <a:prstGeom prst="rect">
            <a:avLst/>
          </a:prstGeom>
        </p:spPr>
      </p:pic>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That took a while.</a:t>
            </a:r>
            <a:endParaRPr lang="en-US" sz="3400" dirty="0"/>
          </a:p>
        </p:txBody>
      </p:sp>
      <p:sp>
        <p:nvSpPr>
          <p:cNvPr id="3" name="Text 1"/>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Fun, but slow. And those were the small ones.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How Long Did That Take?</a:t>
            </a:r>
            <a:endParaRPr lang="en-US" sz="3000" dirty="0"/>
          </a:p>
        </p:txBody>
      </p:sp>
      <p:sp>
        <p:nvSpPr>
          <p:cNvPr id="3" name="Card"/>
          <p:cNvSpPr/>
          <p:nvPr/>
        </p:nvSpPr>
        <p:spPr>
          <a:xfrm>
            <a:off x="457200" y="1188720"/>
            <a:ext cx="8229600" cy="594360"/>
          </a:xfrm>
          <a:prstGeom prst="roundRect">
            <a:avLst>
              <a:gd name="adj" fmla="val 18462"/>
            </a:avLst>
          </a:prstGeom>
          <a:solidFill>
            <a:srgbClr val="FFFFFF"/>
          </a:solidFill>
          <a:ln w="9525">
            <a:solidFill>
              <a:srgbClr val="C5D1E3"/>
            </a:solidFill>
            <a:prstDash val="solid"/>
          </a:ln>
        </p:spPr>
        <p:txBody>
          <a:bodyPr/>
          <a:lstStyle/>
          <a:p>
            <a:endParaRPr lang="en-GB"/>
          </a:p>
        </p:txBody>
      </p:sp>
      <p:sp>
        <p:nvSpPr>
          <p:cNvPr id="4" name="Text 2"/>
          <p:cNvSpPr txBox="1"/>
          <p:nvPr/>
        </p:nvSpPr>
        <p:spPr>
          <a:xfrm>
            <a:off x="731520" y="1188720"/>
            <a:ext cx="2743200" cy="594360"/>
          </a:xfrm>
          <a:prstGeom prst="rect">
            <a:avLst/>
          </a:prstGeom>
          <a:noFill/>
          <a:ln/>
        </p:spPr>
        <p:txBody>
          <a:bodyPr wrap="square" lIns="0" tIns="0" rIns="0" bIns="0" rtlCol="0" anchor="ctr"/>
          <a:lstStyle/>
          <a:p>
            <a:pPr marL="0" indent="0">
              <a:buNone/>
            </a:pPr>
            <a:r>
              <a:rPr lang="en-US" sz="1800" b="1" dirty="0">
                <a:solidFill>
                  <a:srgbClr val="22262E"/>
                </a:solidFill>
                <a:latin typeface="Arial" pitchFamily="34" charset="0"/>
                <a:ea typeface="Arial" pitchFamily="34" charset="-122"/>
                <a:cs typeface="Arial" pitchFamily="34" charset="-120"/>
              </a:rPr>
              <a:t>mystery 1</a:t>
            </a:r>
            <a:endParaRPr lang="en-US" sz="1800" dirty="0"/>
          </a:p>
        </p:txBody>
      </p:sp>
      <p:sp>
        <p:nvSpPr>
          <p:cNvPr id="5" name="Text 3"/>
          <p:cNvSpPr txBox="1"/>
          <p:nvPr/>
        </p:nvSpPr>
        <p:spPr>
          <a:xfrm>
            <a:off x="3657600" y="1188720"/>
            <a:ext cx="4846320" cy="594360"/>
          </a:xfrm>
          <a:prstGeom prst="rect">
            <a:avLst/>
          </a:prstGeom>
          <a:noFill/>
          <a:ln/>
        </p:spPr>
        <p:txBody>
          <a:bodyPr wrap="square" lIns="0" tIns="0" rIns="0" bIns="0" rtlCol="0" anchor="ctr"/>
          <a:lstStyle/>
          <a:p>
            <a:pPr marL="0" indent="0">
              <a:buNone/>
            </a:pPr>
            <a:r>
              <a:rPr lang="en-US" sz="1800" b="1" dirty="0">
                <a:solidFill>
                  <a:srgbClr val="002D6A"/>
                </a:solidFill>
                <a:latin typeface="Arial" pitchFamily="34" charset="0"/>
                <a:ea typeface="Arial" pitchFamily="34" charset="-122"/>
                <a:cs typeface="Arial" pitchFamily="34" charset="-120"/>
              </a:rPr>
              <a:t>9 rows</a:t>
            </a:r>
            <a:endParaRPr lang="en-US" sz="1800" dirty="0"/>
          </a:p>
        </p:txBody>
      </p:sp>
      <p:sp>
        <p:nvSpPr>
          <p:cNvPr id="6" name="Card"/>
          <p:cNvSpPr/>
          <p:nvPr/>
        </p:nvSpPr>
        <p:spPr>
          <a:xfrm>
            <a:off x="457200" y="1920240"/>
            <a:ext cx="8229600" cy="594360"/>
          </a:xfrm>
          <a:prstGeom prst="roundRect">
            <a:avLst>
              <a:gd name="adj" fmla="val 18462"/>
            </a:avLst>
          </a:prstGeom>
          <a:solidFill>
            <a:srgbClr val="FFFFFF"/>
          </a:solidFill>
          <a:ln w="9525">
            <a:solidFill>
              <a:srgbClr val="C5D1E3"/>
            </a:solidFill>
            <a:prstDash val="solid"/>
          </a:ln>
        </p:spPr>
        <p:txBody>
          <a:bodyPr/>
          <a:lstStyle/>
          <a:p>
            <a:endParaRPr lang="en-GB"/>
          </a:p>
        </p:txBody>
      </p:sp>
      <p:sp>
        <p:nvSpPr>
          <p:cNvPr id="7" name="Text 5"/>
          <p:cNvSpPr txBox="1"/>
          <p:nvPr/>
        </p:nvSpPr>
        <p:spPr>
          <a:xfrm>
            <a:off x="731520" y="1920240"/>
            <a:ext cx="2743200" cy="594360"/>
          </a:xfrm>
          <a:prstGeom prst="rect">
            <a:avLst/>
          </a:prstGeom>
          <a:noFill/>
          <a:ln/>
        </p:spPr>
        <p:txBody>
          <a:bodyPr wrap="square" lIns="0" tIns="0" rIns="0" bIns="0" rtlCol="0" anchor="ctr"/>
          <a:lstStyle/>
          <a:p>
            <a:pPr marL="0" indent="0">
              <a:buNone/>
            </a:pPr>
            <a:r>
              <a:rPr lang="en-US" sz="1800" b="1" dirty="0">
                <a:solidFill>
                  <a:srgbClr val="22262E"/>
                </a:solidFill>
                <a:latin typeface="Arial" pitchFamily="34" charset="0"/>
                <a:ea typeface="Arial" pitchFamily="34" charset="-122"/>
                <a:cs typeface="Arial" pitchFamily="34" charset="-120"/>
              </a:rPr>
              <a:t>mystery 3</a:t>
            </a:r>
            <a:endParaRPr lang="en-US" sz="1800" dirty="0"/>
          </a:p>
        </p:txBody>
      </p:sp>
      <p:sp>
        <p:nvSpPr>
          <p:cNvPr id="8" name="Text 6"/>
          <p:cNvSpPr txBox="1"/>
          <p:nvPr/>
        </p:nvSpPr>
        <p:spPr>
          <a:xfrm>
            <a:off x="3657600" y="1920240"/>
            <a:ext cx="4846320" cy="594360"/>
          </a:xfrm>
          <a:prstGeom prst="rect">
            <a:avLst/>
          </a:prstGeom>
          <a:noFill/>
          <a:ln/>
        </p:spPr>
        <p:txBody>
          <a:bodyPr wrap="square" lIns="0" tIns="0" rIns="0" bIns="0" rtlCol="0" anchor="ctr"/>
          <a:lstStyle/>
          <a:p>
            <a:pPr marL="0" indent="0">
              <a:buNone/>
            </a:pPr>
            <a:r>
              <a:rPr lang="en-US" sz="1800" b="1" dirty="0">
                <a:solidFill>
                  <a:srgbClr val="002D6A"/>
                </a:solidFill>
                <a:latin typeface="Arial" pitchFamily="34" charset="0"/>
                <a:ea typeface="Arial" pitchFamily="34" charset="-122"/>
                <a:cs typeface="Arial" pitchFamily="34" charset="-120"/>
              </a:rPr>
              <a:t>18 rows</a:t>
            </a:r>
            <a:endParaRPr lang="en-US" sz="1800" dirty="0"/>
          </a:p>
        </p:txBody>
      </p:sp>
      <p:sp>
        <p:nvSpPr>
          <p:cNvPr id="12" name="@1 Bar"/>
          <p:cNvSpPr/>
          <p:nvPr/>
        </p:nvSpPr>
        <p:spPr>
          <a:xfrm>
            <a:off x="457200" y="3566160"/>
            <a:ext cx="64008" cy="548640"/>
          </a:xfrm>
          <a:prstGeom prst="rect">
            <a:avLst/>
          </a:prstGeom>
          <a:solidFill>
            <a:srgbClr val="002D6A"/>
          </a:solidFill>
          <a:ln w="12700">
            <a:solidFill>
              <a:srgbClr val="002D6A"/>
            </a:solidFill>
            <a:prstDash val="solid"/>
          </a:ln>
        </p:spPr>
        <p:txBody>
          <a:bodyPr/>
          <a:lstStyle/>
          <a:p>
            <a:endParaRPr lang="en-GB"/>
          </a:p>
        </p:txBody>
      </p:sp>
      <p:sp>
        <p:nvSpPr>
          <p:cNvPr id="13" name="@1 addText"/>
          <p:cNvSpPr txBox="1"/>
          <p:nvPr/>
        </p:nvSpPr>
        <p:spPr>
          <a:xfrm>
            <a:off x="685800" y="3566160"/>
            <a:ext cx="8001000" cy="548640"/>
          </a:xfrm>
          <a:prstGeom prst="rect">
            <a:avLst/>
          </a:prstGeom>
          <a:noFill/>
          <a:ln/>
        </p:spPr>
        <p:txBody>
          <a:bodyPr wrap="square" lIns="0" tIns="0" rIns="0" bIns="0" rtlCol="0" anchor="ctr"/>
          <a:lstStyle/>
          <a:p>
            <a:pPr marL="0" indent="0">
              <a:buNone/>
            </a:pPr>
            <a:r>
              <a:rPr lang="en-US" sz="2200" b="1" dirty="0">
                <a:solidFill>
                  <a:srgbClr val="002D6A"/>
                </a:solidFill>
                <a:latin typeface="Arial" pitchFamily="34" charset="0"/>
                <a:ea typeface="Arial" pitchFamily="34" charset="-122"/>
                <a:cs typeface="Arial" pitchFamily="34" charset="-120"/>
              </a:rPr>
              <a:t>What if it were a photo with a million rows?</a:t>
            </a:r>
            <a:endParaRPr lang="en-US" sz="2200" dirty="0"/>
          </a:p>
        </p:txBody>
      </p:sp>
      <p:sp>
        <p:nvSpPr>
          <p:cNvPr id="1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Let the Computer Do It</a:t>
            </a:r>
            <a:endParaRPr lang="en-US" sz="3000" dirty="0"/>
          </a:p>
        </p:txBody>
      </p:sp>
      <p:sp>
        <p:nvSpPr>
          <p:cNvPr id="3" name="Text 1"/>
          <p:cNvSpPr txBox="1"/>
          <p:nvPr/>
        </p:nvSpPr>
        <p:spPr>
          <a:xfrm>
            <a:off x="457200" y="128016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Computers are great at repeating things.</a:t>
            </a:r>
            <a:endParaRPr lang="en-US" sz="1800" dirty="0"/>
          </a:p>
        </p:txBody>
      </p:sp>
      <p:sp>
        <p:nvSpPr>
          <p:cNvPr id="4" name="@1 Callout"/>
          <p:cNvSpPr/>
          <p:nvPr/>
        </p:nvSpPr>
        <p:spPr>
          <a:xfrm>
            <a:off x="457200" y="2286000"/>
            <a:ext cx="8229600" cy="822960"/>
          </a:xfrm>
          <a:prstGeom prst="roundRect">
            <a:avLst>
              <a:gd name="adj" fmla="val 11111"/>
            </a:avLst>
          </a:prstGeom>
          <a:solidFill>
            <a:srgbClr val="FFFFFF"/>
          </a:solidFill>
          <a:ln w="15875">
            <a:solidFill>
              <a:srgbClr val="002D6A"/>
            </a:solidFill>
            <a:prstDash val="solid"/>
          </a:ln>
        </p:spPr>
        <p:txBody>
          <a:bodyPr/>
          <a:lstStyle/>
          <a:p>
            <a:endParaRPr lang="en-GB"/>
          </a:p>
        </p:txBody>
      </p:sp>
      <p:sp>
        <p:nvSpPr>
          <p:cNvPr id="5" name="@1 addText"/>
          <p:cNvSpPr txBox="1"/>
          <p:nvPr/>
        </p:nvSpPr>
        <p:spPr>
          <a:xfrm>
            <a:off x="685800" y="2286000"/>
            <a:ext cx="7772400" cy="82296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You already know how: loops and functions.</a:t>
            </a:r>
            <a:endParaRPr lang="en-US" sz="1200" dirty="0"/>
          </a:p>
        </p:txBody>
      </p:sp>
      <p:sp>
        <p:nvSpPr>
          <p:cNvPr id="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List Is Like a Filing Cabinet</a:t>
            </a:r>
            <a:endParaRPr lang="en-US" sz="3000" dirty="0"/>
          </a:p>
        </p:txBody>
      </p:sp>
      <p:sp>
        <p:nvSpPr>
          <p:cNvPr id="3" name="Cabinet body"/>
          <p:cNvSpPr/>
          <p:nvPr/>
        </p:nvSpPr>
        <p:spPr>
          <a:xfrm>
            <a:off x="731520" y="1097280"/>
            <a:ext cx="2377440" cy="3182112"/>
          </a:xfrm>
          <a:prstGeom prst="roundRect">
            <a:avLst>
              <a:gd name="adj" fmla="val 3077"/>
            </a:avLst>
          </a:prstGeom>
          <a:solidFill>
            <a:srgbClr val="001B40"/>
          </a:solidFill>
          <a:ln w="12700">
            <a:solidFill>
              <a:srgbClr val="001B40"/>
            </a:solidFill>
            <a:prstDash val="solid"/>
          </a:ln>
        </p:spPr>
        <p:txBody>
          <a:bodyPr/>
          <a:lstStyle/>
          <a:p>
            <a:endParaRPr lang="en-GB"/>
          </a:p>
        </p:txBody>
      </p:sp>
      <p:sp>
        <p:nvSpPr>
          <p:cNvPr id="4" name="Drawer 1"/>
          <p:cNvSpPr/>
          <p:nvPr/>
        </p:nvSpPr>
        <p:spPr>
          <a:xfrm>
            <a:off x="841248" y="1207008"/>
            <a:ext cx="2157984" cy="914400"/>
          </a:xfrm>
          <a:prstGeom prst="roundRect">
            <a:avLst>
              <a:gd name="adj" fmla="val 5000"/>
            </a:avLst>
          </a:prstGeom>
          <a:solidFill>
            <a:srgbClr val="5D79A0"/>
          </a:solidFill>
          <a:ln w="9525">
            <a:solidFill>
              <a:srgbClr val="C5D1E3"/>
            </a:solidFill>
            <a:prstDash val="solid"/>
          </a:ln>
        </p:spPr>
        <p:txBody>
          <a:bodyPr/>
          <a:lstStyle/>
          <a:p>
            <a:endParaRPr lang="en-GB"/>
          </a:p>
        </p:txBody>
      </p:sp>
      <p:sp>
        <p:nvSpPr>
          <p:cNvPr id="5" name="Handle 1"/>
          <p:cNvSpPr/>
          <p:nvPr/>
        </p:nvSpPr>
        <p:spPr>
          <a:xfrm>
            <a:off x="1488643" y="1600200"/>
            <a:ext cx="863194" cy="128016"/>
          </a:xfrm>
          <a:prstGeom prst="roundRect">
            <a:avLst>
              <a:gd name="adj" fmla="val 21429"/>
            </a:avLst>
          </a:prstGeom>
          <a:solidFill>
            <a:srgbClr val="A9C4E8"/>
          </a:solidFill>
          <a:ln w="6350">
            <a:solidFill>
              <a:srgbClr val="C5D1E3"/>
            </a:solidFill>
            <a:prstDash val="solid"/>
          </a:ln>
        </p:spPr>
        <p:txBody>
          <a:bodyPr/>
          <a:lstStyle/>
          <a:p>
            <a:endParaRPr lang="en-GB"/>
          </a:p>
        </p:txBody>
      </p:sp>
      <p:sp>
        <p:nvSpPr>
          <p:cNvPr id="6" name="Drawer 2"/>
          <p:cNvSpPr/>
          <p:nvPr/>
        </p:nvSpPr>
        <p:spPr>
          <a:xfrm>
            <a:off x="841248" y="2231136"/>
            <a:ext cx="2157984" cy="914400"/>
          </a:xfrm>
          <a:prstGeom prst="roundRect">
            <a:avLst>
              <a:gd name="adj" fmla="val 5000"/>
            </a:avLst>
          </a:prstGeom>
          <a:solidFill>
            <a:srgbClr val="5D79A0"/>
          </a:solidFill>
          <a:ln w="9525">
            <a:solidFill>
              <a:srgbClr val="C5D1E3"/>
            </a:solidFill>
            <a:prstDash val="solid"/>
          </a:ln>
        </p:spPr>
        <p:txBody>
          <a:bodyPr/>
          <a:lstStyle/>
          <a:p>
            <a:endParaRPr lang="en-GB"/>
          </a:p>
        </p:txBody>
      </p:sp>
      <p:sp>
        <p:nvSpPr>
          <p:cNvPr id="7" name="Handle 2"/>
          <p:cNvSpPr/>
          <p:nvPr/>
        </p:nvSpPr>
        <p:spPr>
          <a:xfrm>
            <a:off x="1488643" y="2624328"/>
            <a:ext cx="863194" cy="128016"/>
          </a:xfrm>
          <a:prstGeom prst="roundRect">
            <a:avLst>
              <a:gd name="adj" fmla="val 21429"/>
            </a:avLst>
          </a:prstGeom>
          <a:solidFill>
            <a:srgbClr val="A9C4E8"/>
          </a:solidFill>
          <a:ln w="6350">
            <a:solidFill>
              <a:srgbClr val="C5D1E3"/>
            </a:solidFill>
            <a:prstDash val="solid"/>
          </a:ln>
        </p:spPr>
        <p:txBody>
          <a:bodyPr/>
          <a:lstStyle/>
          <a:p>
            <a:endParaRPr lang="en-GB"/>
          </a:p>
        </p:txBody>
      </p:sp>
      <p:sp>
        <p:nvSpPr>
          <p:cNvPr id="8" name="Drawer 3"/>
          <p:cNvSpPr/>
          <p:nvPr/>
        </p:nvSpPr>
        <p:spPr>
          <a:xfrm>
            <a:off x="841248" y="3255264"/>
            <a:ext cx="2157984" cy="914400"/>
          </a:xfrm>
          <a:prstGeom prst="roundRect">
            <a:avLst>
              <a:gd name="adj" fmla="val 5000"/>
            </a:avLst>
          </a:prstGeom>
          <a:solidFill>
            <a:srgbClr val="5D79A0"/>
          </a:solidFill>
          <a:ln w="9525">
            <a:solidFill>
              <a:srgbClr val="C5D1E3"/>
            </a:solidFill>
            <a:prstDash val="solid"/>
          </a:ln>
        </p:spPr>
        <p:txBody>
          <a:bodyPr/>
          <a:lstStyle/>
          <a:p>
            <a:endParaRPr lang="en-GB"/>
          </a:p>
        </p:txBody>
      </p:sp>
      <p:sp>
        <p:nvSpPr>
          <p:cNvPr id="9" name="Handle 3"/>
          <p:cNvSpPr/>
          <p:nvPr/>
        </p:nvSpPr>
        <p:spPr>
          <a:xfrm>
            <a:off x="1488643" y="3648456"/>
            <a:ext cx="863194" cy="128016"/>
          </a:xfrm>
          <a:prstGeom prst="roundRect">
            <a:avLst>
              <a:gd name="adj" fmla="val 21429"/>
            </a:avLst>
          </a:prstGeom>
          <a:solidFill>
            <a:srgbClr val="A9C4E8"/>
          </a:solidFill>
          <a:ln w="6350">
            <a:solidFill>
              <a:srgbClr val="C5D1E3"/>
            </a:solidFill>
            <a:prstDash val="solid"/>
          </a:ln>
        </p:spPr>
        <p:txBody>
          <a:bodyPr/>
          <a:lstStyle/>
          <a:p>
            <a:endParaRPr lang="en-GB"/>
          </a:p>
        </p:txBody>
      </p:sp>
      <p:sp>
        <p:nvSpPr>
          <p:cNvPr id="10" name="@1 Open drawer 1"/>
          <p:cNvSpPr/>
          <p:nvPr/>
        </p:nvSpPr>
        <p:spPr>
          <a:xfrm>
            <a:off x="1389888" y="1243584"/>
            <a:ext cx="2157984" cy="841248"/>
          </a:xfrm>
          <a:prstGeom prst="roundRect">
            <a:avLst>
              <a:gd name="adj" fmla="val 5435"/>
            </a:avLst>
          </a:prstGeom>
          <a:solidFill>
            <a:srgbClr val="FFFFFF"/>
          </a:solidFill>
          <a:ln w="19050">
            <a:solidFill>
              <a:srgbClr val="002D6A"/>
            </a:solidFill>
            <a:prstDash val="solid"/>
          </a:ln>
        </p:spPr>
        <p:txBody>
          <a:bodyPr/>
          <a:lstStyle/>
          <a:p>
            <a:endParaRPr lang="en-GB"/>
          </a:p>
        </p:txBody>
      </p:sp>
      <p:sp>
        <p:nvSpPr>
          <p:cNvPr id="11" name="@1 addText"/>
          <p:cNvSpPr txBox="1"/>
          <p:nvPr/>
        </p:nvSpPr>
        <p:spPr>
          <a:xfrm>
            <a:off x="1389888" y="1243584"/>
            <a:ext cx="2157984" cy="841248"/>
          </a:xfrm>
          <a:prstGeom prst="rect">
            <a:avLst/>
          </a:prstGeom>
          <a:noFill/>
          <a:ln/>
        </p:spPr>
        <p:txBody>
          <a:bodyPr wrap="square" lIns="0" tIns="0" rIns="0" bIns="0" rtlCol="0" anchor="ctr"/>
          <a:lstStyle/>
          <a:p>
            <a:pPr marL="0" indent="0" algn="ctr">
              <a:buNone/>
            </a:pPr>
            <a:r>
              <a:rPr lang="en-US" sz="4000" b="1" dirty="0">
                <a:solidFill>
                  <a:srgbClr val="002D6A"/>
                </a:solidFill>
                <a:latin typeface="Courier New" pitchFamily="34" charset="0"/>
                <a:ea typeface="Courier New" pitchFamily="34" charset="-122"/>
                <a:cs typeface="Courier New" pitchFamily="34" charset="-120"/>
              </a:rPr>
              <a:t>7</a:t>
            </a:r>
            <a:endParaRPr lang="en-US" sz="4000" dirty="0"/>
          </a:p>
        </p:txBody>
      </p:sp>
      <p:sp>
        <p:nvSpPr>
          <p:cNvPr id="12" name="@2 Open drawer 2"/>
          <p:cNvSpPr/>
          <p:nvPr/>
        </p:nvSpPr>
        <p:spPr>
          <a:xfrm>
            <a:off x="1389888" y="2267712"/>
            <a:ext cx="2157984" cy="841248"/>
          </a:xfrm>
          <a:prstGeom prst="roundRect">
            <a:avLst>
              <a:gd name="adj" fmla="val 5435"/>
            </a:avLst>
          </a:prstGeom>
          <a:solidFill>
            <a:srgbClr val="FFFFFF"/>
          </a:solidFill>
          <a:ln w="19050">
            <a:solidFill>
              <a:srgbClr val="002D6A"/>
            </a:solidFill>
            <a:prstDash val="solid"/>
          </a:ln>
        </p:spPr>
        <p:txBody>
          <a:bodyPr/>
          <a:lstStyle/>
          <a:p>
            <a:endParaRPr lang="en-GB"/>
          </a:p>
        </p:txBody>
      </p:sp>
      <p:sp>
        <p:nvSpPr>
          <p:cNvPr id="13" name="@2 addText"/>
          <p:cNvSpPr txBox="1"/>
          <p:nvPr/>
        </p:nvSpPr>
        <p:spPr>
          <a:xfrm>
            <a:off x="1389888" y="2267712"/>
            <a:ext cx="2157984" cy="841248"/>
          </a:xfrm>
          <a:prstGeom prst="rect">
            <a:avLst/>
          </a:prstGeom>
          <a:noFill/>
          <a:ln/>
        </p:spPr>
        <p:txBody>
          <a:bodyPr wrap="square" lIns="0" tIns="0" rIns="0" bIns="0" rtlCol="0" anchor="ctr"/>
          <a:lstStyle/>
          <a:p>
            <a:pPr marL="0" indent="0" algn="ctr">
              <a:buNone/>
            </a:pPr>
            <a:r>
              <a:rPr lang="en-US" sz="4000" b="1" dirty="0">
                <a:solidFill>
                  <a:srgbClr val="002D6A"/>
                </a:solidFill>
                <a:latin typeface="Courier New" pitchFamily="34" charset="0"/>
                <a:ea typeface="Courier New" pitchFamily="34" charset="-122"/>
                <a:cs typeface="Courier New" pitchFamily="34" charset="-120"/>
              </a:rPr>
              <a:t>3</a:t>
            </a:r>
            <a:endParaRPr lang="en-US" sz="4000" dirty="0"/>
          </a:p>
        </p:txBody>
      </p:sp>
      <p:sp>
        <p:nvSpPr>
          <p:cNvPr id="14" name="@3 Open drawer 3"/>
          <p:cNvSpPr/>
          <p:nvPr/>
        </p:nvSpPr>
        <p:spPr>
          <a:xfrm>
            <a:off x="1389888" y="3291840"/>
            <a:ext cx="2157984" cy="841248"/>
          </a:xfrm>
          <a:prstGeom prst="roundRect">
            <a:avLst>
              <a:gd name="adj" fmla="val 5435"/>
            </a:avLst>
          </a:prstGeom>
          <a:solidFill>
            <a:srgbClr val="FFFFFF"/>
          </a:solidFill>
          <a:ln w="19050">
            <a:solidFill>
              <a:srgbClr val="002D6A"/>
            </a:solidFill>
            <a:prstDash val="solid"/>
          </a:ln>
        </p:spPr>
        <p:txBody>
          <a:bodyPr/>
          <a:lstStyle/>
          <a:p>
            <a:endParaRPr lang="en-GB"/>
          </a:p>
        </p:txBody>
      </p:sp>
      <p:sp>
        <p:nvSpPr>
          <p:cNvPr id="15" name="@3 addText"/>
          <p:cNvSpPr txBox="1"/>
          <p:nvPr/>
        </p:nvSpPr>
        <p:spPr>
          <a:xfrm>
            <a:off x="1389888" y="3291840"/>
            <a:ext cx="2157984" cy="841248"/>
          </a:xfrm>
          <a:prstGeom prst="rect">
            <a:avLst/>
          </a:prstGeom>
          <a:noFill/>
          <a:ln/>
        </p:spPr>
        <p:txBody>
          <a:bodyPr wrap="square" lIns="0" tIns="0" rIns="0" bIns="0" rtlCol="0" anchor="ctr"/>
          <a:lstStyle/>
          <a:p>
            <a:pPr marL="0" indent="0" algn="ctr">
              <a:buNone/>
            </a:pPr>
            <a:r>
              <a:rPr lang="en-US" sz="4000" b="1" dirty="0">
                <a:solidFill>
                  <a:srgbClr val="002D6A"/>
                </a:solidFill>
                <a:latin typeface="Courier New" pitchFamily="34" charset="0"/>
                <a:ea typeface="Courier New" pitchFamily="34" charset="-122"/>
                <a:cs typeface="Courier New" pitchFamily="34" charset="-120"/>
              </a:rPr>
              <a:t>9</a:t>
            </a:r>
            <a:endParaRPr lang="en-US" sz="4000" dirty="0"/>
          </a:p>
        </p:txBody>
      </p:sp>
      <p:sp>
        <p:nvSpPr>
          <p:cNvPr id="16" name="Bar"/>
          <p:cNvSpPr/>
          <p:nvPr/>
        </p:nvSpPr>
        <p:spPr>
          <a:xfrm>
            <a:off x="4572000" y="1280160"/>
            <a:ext cx="64008" cy="548640"/>
          </a:xfrm>
          <a:prstGeom prst="rect">
            <a:avLst/>
          </a:prstGeom>
          <a:solidFill>
            <a:srgbClr val="002D6A"/>
          </a:solidFill>
          <a:ln w="12700">
            <a:solidFill>
              <a:srgbClr val="002D6A"/>
            </a:solidFill>
            <a:prstDash val="solid"/>
          </a:ln>
        </p:spPr>
        <p:txBody>
          <a:bodyPr/>
          <a:lstStyle/>
          <a:p>
            <a:endParaRPr lang="en-GB"/>
          </a:p>
        </p:txBody>
      </p:sp>
      <p:sp>
        <p:nvSpPr>
          <p:cNvPr id="17" name="Text 15"/>
          <p:cNvSpPr txBox="1"/>
          <p:nvPr/>
        </p:nvSpPr>
        <p:spPr>
          <a:xfrm>
            <a:off x="4800600" y="1280160"/>
            <a:ext cx="3931920" cy="548640"/>
          </a:xfrm>
          <a:prstGeom prst="rect">
            <a:avLst/>
          </a:prstGeom>
          <a:noFill/>
          <a:ln/>
        </p:spPr>
        <p:txBody>
          <a:bodyPr wrap="square" lIns="0" tIns="0" rIns="0" bIns="0" rtlCol="0" anchor="ctr"/>
          <a:lstStyle/>
          <a:p>
            <a:pPr marL="0" indent="0">
              <a:buNone/>
            </a:pPr>
            <a:r>
              <a:rPr lang="en-US" sz="2200" b="1" dirty="0">
                <a:solidFill>
                  <a:srgbClr val="002D6A"/>
                </a:solidFill>
                <a:latin typeface="Arial" pitchFamily="34" charset="0"/>
                <a:ea typeface="Arial" pitchFamily="34" charset="-122"/>
                <a:cs typeface="Arial" pitchFamily="34" charset="-120"/>
              </a:rPr>
              <a:t>Each drawer holds one thing.</a:t>
            </a:r>
            <a:endParaRPr lang="en-US" sz="2200" dirty="0"/>
          </a:p>
        </p:txBody>
      </p:sp>
      <p:sp>
        <p:nvSpPr>
          <p:cNvPr id="18" name="Text 16"/>
          <p:cNvSpPr txBox="1"/>
          <p:nvPr/>
        </p:nvSpPr>
        <p:spPr>
          <a:xfrm>
            <a:off x="4572000" y="2103120"/>
            <a:ext cx="4114800" cy="822960"/>
          </a:xfrm>
          <a:prstGeom prst="rect">
            <a:avLst/>
          </a:prstGeom>
          <a:noFill/>
          <a:ln/>
        </p:spPr>
        <p:txBody>
          <a:bodyPr wrap="square" lIns="0" tIns="0" rIns="0" bIns="0" rtlCol="0" anchor="t"/>
          <a:lstStyle/>
          <a:p>
            <a:pPr marL="0" indent="0">
              <a:buNone/>
            </a:pPr>
            <a:r>
              <a:rPr lang="en-US" sz="1800" dirty="0">
                <a:solidFill>
                  <a:srgbClr val="22262E"/>
                </a:solidFill>
                <a:latin typeface="Arial" pitchFamily="34" charset="0"/>
                <a:ea typeface="Arial" pitchFamily="34" charset="-122"/>
                <a:cs typeface="Arial" pitchFamily="34" charset="-120"/>
              </a:rPr>
              <a:t>A list keeps things in order, one per drawer.</a:t>
            </a:r>
            <a:endParaRPr lang="en-US" sz="1800" dirty="0"/>
          </a:p>
        </p:txBody>
      </p:sp>
      <p:sp>
        <p:nvSpPr>
          <p:cNvPr id="19" name="Code box"/>
          <p:cNvSpPr/>
          <p:nvPr/>
        </p:nvSpPr>
        <p:spPr>
          <a:xfrm>
            <a:off x="4572000" y="3108960"/>
            <a:ext cx="4114800" cy="676656"/>
          </a:xfrm>
          <a:prstGeom prst="rect">
            <a:avLst/>
          </a:prstGeom>
          <a:solidFill>
            <a:srgbClr val="0B2A57"/>
          </a:solidFill>
          <a:ln w="12700">
            <a:solidFill>
              <a:srgbClr val="0B2A57"/>
            </a:solidFill>
            <a:prstDash val="solid"/>
          </a:ln>
        </p:spPr>
        <p:txBody>
          <a:bodyPr/>
          <a:lstStyle/>
          <a:p>
            <a:endParaRPr lang="en-GB"/>
          </a:p>
        </p:txBody>
      </p:sp>
      <p:sp>
        <p:nvSpPr>
          <p:cNvPr id="20" name="Code bar"/>
          <p:cNvSpPr/>
          <p:nvPr/>
        </p:nvSpPr>
        <p:spPr>
          <a:xfrm>
            <a:off x="4572000" y="3108960"/>
            <a:ext cx="54864" cy="676656"/>
          </a:xfrm>
          <a:prstGeom prst="rect">
            <a:avLst/>
          </a:prstGeom>
          <a:solidFill>
            <a:srgbClr val="5D79A0"/>
          </a:solidFill>
          <a:ln w="12700">
            <a:solidFill>
              <a:srgbClr val="5D79A0"/>
            </a:solidFill>
            <a:prstDash val="solid"/>
          </a:ln>
        </p:spPr>
        <p:txBody>
          <a:bodyPr/>
          <a:lstStyle/>
          <a:p>
            <a:endParaRPr lang="en-GB"/>
          </a:p>
        </p:txBody>
      </p:sp>
      <p:sp>
        <p:nvSpPr>
          <p:cNvPr id="21" name="Text 19"/>
          <p:cNvSpPr txBox="1"/>
          <p:nvPr/>
        </p:nvSpPr>
        <p:spPr>
          <a:xfrm>
            <a:off x="4754880" y="3246120"/>
            <a:ext cx="3840480" cy="402336"/>
          </a:xfrm>
          <a:prstGeom prst="rect">
            <a:avLst/>
          </a:prstGeom>
          <a:noFill/>
          <a:ln/>
        </p:spPr>
        <p:txBody>
          <a:bodyPr wrap="none" lIns="0" tIns="0" rIns="0" bIns="0" rtlCol="0" anchor="ctr"/>
          <a:lstStyle/>
          <a:p>
            <a:pPr marL="0" indent="0">
              <a:buNone/>
            </a:pPr>
            <a:r>
              <a:rPr lang="en-US" sz="2200" dirty="0">
                <a:solidFill>
                  <a:srgbClr val="E6ECF5"/>
                </a:solidFill>
                <a:latin typeface="Courier New" pitchFamily="34" charset="0"/>
                <a:ea typeface="Courier New" pitchFamily="34" charset="-122"/>
                <a:cs typeface="Courier New" pitchFamily="34" charset="-120"/>
              </a:rPr>
              <a:t>numbers = [</a:t>
            </a:r>
            <a:r>
              <a:rPr lang="en-US" sz="2200" dirty="0">
                <a:solidFill>
                  <a:srgbClr val="F2C879"/>
                </a:solidFill>
                <a:latin typeface="Courier New" pitchFamily="34" charset="0"/>
                <a:ea typeface="Courier New" pitchFamily="34" charset="-122"/>
                <a:cs typeface="Courier New" pitchFamily="34" charset="-120"/>
              </a:rPr>
              <a:t>7</a:t>
            </a:r>
            <a:r>
              <a:rPr lang="en-US" sz="2200" dirty="0">
                <a:solidFill>
                  <a:srgbClr val="E6ECF5"/>
                </a:solidFill>
                <a:latin typeface="Courier New" pitchFamily="34" charset="0"/>
                <a:ea typeface="Courier New" pitchFamily="34" charset="-122"/>
                <a:cs typeface="Courier New" pitchFamily="34" charset="-120"/>
              </a:rPr>
              <a:t>, </a:t>
            </a:r>
            <a:r>
              <a:rPr lang="en-US" sz="2200" dirty="0">
                <a:solidFill>
                  <a:srgbClr val="F2C879"/>
                </a:solidFill>
                <a:latin typeface="Courier New" pitchFamily="34" charset="0"/>
                <a:ea typeface="Courier New" pitchFamily="34" charset="-122"/>
                <a:cs typeface="Courier New" pitchFamily="34" charset="-120"/>
              </a:rPr>
              <a:t>3</a:t>
            </a:r>
            <a:r>
              <a:rPr lang="en-US" sz="2200" dirty="0">
                <a:solidFill>
                  <a:srgbClr val="E6ECF5"/>
                </a:solidFill>
                <a:latin typeface="Courier New" pitchFamily="34" charset="0"/>
                <a:ea typeface="Courier New" pitchFamily="34" charset="-122"/>
                <a:cs typeface="Courier New" pitchFamily="34" charset="-120"/>
              </a:rPr>
              <a:t>, </a:t>
            </a:r>
            <a:r>
              <a:rPr lang="en-US" sz="2200" dirty="0">
                <a:solidFill>
                  <a:srgbClr val="F2C879"/>
                </a:solidFill>
                <a:latin typeface="Courier New" pitchFamily="34" charset="0"/>
                <a:ea typeface="Courier New" pitchFamily="34" charset="-122"/>
                <a:cs typeface="Courier New" pitchFamily="34" charset="-120"/>
              </a:rPr>
              <a:t>9</a:t>
            </a:r>
            <a:r>
              <a:rPr lang="en-US" sz="2200" dirty="0">
                <a:solidFill>
                  <a:srgbClr val="E6ECF5"/>
                </a:solidFill>
                <a:latin typeface="Courier New" pitchFamily="34" charset="0"/>
                <a:ea typeface="Courier New" pitchFamily="34" charset="-122"/>
                <a:cs typeface="Courier New" pitchFamily="34" charset="-120"/>
              </a:rPr>
              <a:t>]</a:t>
            </a:r>
            <a:endParaRPr lang="en-US" sz="2200" dirty="0"/>
          </a:p>
        </p:txBody>
      </p:sp>
      <p:sp>
        <p:nvSpPr>
          <p:cNvPr id="2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2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2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List Can Hold Lists</a:t>
            </a:r>
            <a:endParaRPr lang="en-US" sz="3000" dirty="0"/>
          </a:p>
        </p:txBody>
      </p:sp>
      <p:sp>
        <p:nvSpPr>
          <p:cNvPr id="3" name="Cabinet body"/>
          <p:cNvSpPr/>
          <p:nvPr/>
        </p:nvSpPr>
        <p:spPr>
          <a:xfrm>
            <a:off x="457200" y="1097280"/>
            <a:ext cx="2011680" cy="2971800"/>
          </a:xfrm>
          <a:prstGeom prst="roundRect">
            <a:avLst>
              <a:gd name="adj" fmla="val 3636"/>
            </a:avLst>
          </a:prstGeom>
          <a:solidFill>
            <a:srgbClr val="001B40"/>
          </a:solidFill>
          <a:ln w="12700">
            <a:solidFill>
              <a:srgbClr val="001B40"/>
            </a:solidFill>
            <a:prstDash val="solid"/>
          </a:ln>
        </p:spPr>
        <p:txBody>
          <a:bodyPr/>
          <a:lstStyle/>
          <a:p>
            <a:endParaRPr lang="en-GB"/>
          </a:p>
        </p:txBody>
      </p:sp>
      <p:sp>
        <p:nvSpPr>
          <p:cNvPr id="4" name="Drawer 1"/>
          <p:cNvSpPr/>
          <p:nvPr/>
        </p:nvSpPr>
        <p:spPr>
          <a:xfrm>
            <a:off x="548640" y="1188720"/>
            <a:ext cx="1828800" cy="868680"/>
          </a:xfrm>
          <a:prstGeom prst="roundRect">
            <a:avLst>
              <a:gd name="adj" fmla="val 5263"/>
            </a:avLst>
          </a:prstGeom>
          <a:solidFill>
            <a:srgbClr val="5D79A0"/>
          </a:solidFill>
          <a:ln w="9525">
            <a:solidFill>
              <a:srgbClr val="C5D1E3"/>
            </a:solidFill>
            <a:prstDash val="solid"/>
          </a:ln>
        </p:spPr>
        <p:txBody>
          <a:bodyPr/>
          <a:lstStyle/>
          <a:p>
            <a:endParaRPr lang="en-GB"/>
          </a:p>
        </p:txBody>
      </p:sp>
      <p:sp>
        <p:nvSpPr>
          <p:cNvPr id="5" name="Handle 1"/>
          <p:cNvSpPr/>
          <p:nvPr/>
        </p:nvSpPr>
        <p:spPr>
          <a:xfrm>
            <a:off x="1097280" y="1562252"/>
            <a:ext cx="731520" cy="121615"/>
          </a:xfrm>
          <a:prstGeom prst="roundRect">
            <a:avLst>
              <a:gd name="adj" fmla="val 22556"/>
            </a:avLst>
          </a:prstGeom>
          <a:solidFill>
            <a:srgbClr val="A9C4E8"/>
          </a:solidFill>
          <a:ln w="6350">
            <a:solidFill>
              <a:srgbClr val="C5D1E3"/>
            </a:solidFill>
            <a:prstDash val="solid"/>
          </a:ln>
        </p:spPr>
        <p:txBody>
          <a:bodyPr/>
          <a:lstStyle/>
          <a:p>
            <a:endParaRPr lang="en-GB"/>
          </a:p>
        </p:txBody>
      </p:sp>
      <p:sp>
        <p:nvSpPr>
          <p:cNvPr id="6" name="Drawer 2"/>
          <p:cNvSpPr/>
          <p:nvPr/>
        </p:nvSpPr>
        <p:spPr>
          <a:xfrm>
            <a:off x="548640" y="2148840"/>
            <a:ext cx="1828800" cy="868680"/>
          </a:xfrm>
          <a:prstGeom prst="roundRect">
            <a:avLst>
              <a:gd name="adj" fmla="val 5263"/>
            </a:avLst>
          </a:prstGeom>
          <a:solidFill>
            <a:srgbClr val="5D79A0"/>
          </a:solidFill>
          <a:ln w="9525">
            <a:solidFill>
              <a:srgbClr val="C5D1E3"/>
            </a:solidFill>
            <a:prstDash val="solid"/>
          </a:ln>
        </p:spPr>
        <p:txBody>
          <a:bodyPr/>
          <a:lstStyle/>
          <a:p>
            <a:endParaRPr lang="en-GB"/>
          </a:p>
        </p:txBody>
      </p:sp>
      <p:sp>
        <p:nvSpPr>
          <p:cNvPr id="7" name="Handle 2"/>
          <p:cNvSpPr/>
          <p:nvPr/>
        </p:nvSpPr>
        <p:spPr>
          <a:xfrm>
            <a:off x="1097280" y="2522372"/>
            <a:ext cx="731520" cy="121615"/>
          </a:xfrm>
          <a:prstGeom prst="roundRect">
            <a:avLst>
              <a:gd name="adj" fmla="val 22556"/>
            </a:avLst>
          </a:prstGeom>
          <a:solidFill>
            <a:srgbClr val="A9C4E8"/>
          </a:solidFill>
          <a:ln w="6350">
            <a:solidFill>
              <a:srgbClr val="C5D1E3"/>
            </a:solidFill>
            <a:prstDash val="solid"/>
          </a:ln>
        </p:spPr>
        <p:txBody>
          <a:bodyPr/>
          <a:lstStyle/>
          <a:p>
            <a:endParaRPr lang="en-GB"/>
          </a:p>
        </p:txBody>
      </p:sp>
      <p:sp>
        <p:nvSpPr>
          <p:cNvPr id="8" name="Drawer 3"/>
          <p:cNvSpPr/>
          <p:nvPr/>
        </p:nvSpPr>
        <p:spPr>
          <a:xfrm>
            <a:off x="548640" y="3108960"/>
            <a:ext cx="1828800" cy="868680"/>
          </a:xfrm>
          <a:prstGeom prst="roundRect">
            <a:avLst>
              <a:gd name="adj" fmla="val 5263"/>
            </a:avLst>
          </a:prstGeom>
          <a:solidFill>
            <a:srgbClr val="5D79A0"/>
          </a:solidFill>
          <a:ln w="9525">
            <a:solidFill>
              <a:srgbClr val="C5D1E3"/>
            </a:solidFill>
            <a:prstDash val="solid"/>
          </a:ln>
        </p:spPr>
        <p:txBody>
          <a:bodyPr/>
          <a:lstStyle/>
          <a:p>
            <a:endParaRPr lang="en-GB"/>
          </a:p>
        </p:txBody>
      </p:sp>
      <p:sp>
        <p:nvSpPr>
          <p:cNvPr id="9" name="Handle 3"/>
          <p:cNvSpPr/>
          <p:nvPr/>
        </p:nvSpPr>
        <p:spPr>
          <a:xfrm>
            <a:off x="1097280" y="3482492"/>
            <a:ext cx="731520" cy="121615"/>
          </a:xfrm>
          <a:prstGeom prst="roundRect">
            <a:avLst>
              <a:gd name="adj" fmla="val 22556"/>
            </a:avLst>
          </a:prstGeom>
          <a:solidFill>
            <a:srgbClr val="A9C4E8"/>
          </a:solidFill>
          <a:ln w="6350">
            <a:solidFill>
              <a:srgbClr val="C5D1E3"/>
            </a:solidFill>
            <a:prstDash val="solid"/>
          </a:ln>
        </p:spPr>
        <p:txBody>
          <a:bodyPr/>
          <a:lstStyle/>
          <a:p>
            <a:endParaRPr lang="en-GB"/>
          </a:p>
        </p:txBody>
      </p:sp>
      <p:sp>
        <p:nvSpPr>
          <p:cNvPr id="10" name="@1 Open drawer 1"/>
          <p:cNvSpPr/>
          <p:nvPr/>
        </p:nvSpPr>
        <p:spPr>
          <a:xfrm>
            <a:off x="1097280" y="1225296"/>
            <a:ext cx="1828800" cy="795528"/>
          </a:xfrm>
          <a:prstGeom prst="roundRect">
            <a:avLst>
              <a:gd name="adj" fmla="val 5747"/>
            </a:avLst>
          </a:prstGeom>
          <a:solidFill>
            <a:srgbClr val="FFFFFF"/>
          </a:solidFill>
          <a:ln w="19050">
            <a:solidFill>
              <a:srgbClr val="002D6A"/>
            </a:solidFill>
            <a:prstDash val="solid"/>
          </a:ln>
        </p:spPr>
        <p:txBody>
          <a:bodyPr/>
          <a:lstStyle/>
          <a:p>
            <a:endParaRPr lang="en-GB"/>
          </a:p>
        </p:txBody>
      </p:sp>
      <p:sp>
        <p:nvSpPr>
          <p:cNvPr id="11" name="@1 Arrow 1"/>
          <p:cNvSpPr/>
          <p:nvPr/>
        </p:nvSpPr>
        <p:spPr>
          <a:xfrm>
            <a:off x="2788920" y="1623060"/>
            <a:ext cx="868680" cy="0"/>
          </a:xfrm>
          <a:prstGeom prst="line">
            <a:avLst/>
          </a:prstGeom>
          <a:noFill/>
          <a:ln w="38100">
            <a:solidFill>
              <a:srgbClr val="002D6A"/>
            </a:solidFill>
            <a:prstDash val="solid"/>
            <a:tailEnd type="triangle"/>
          </a:ln>
        </p:spPr>
        <p:txBody>
          <a:bodyPr/>
          <a:lstStyle/>
          <a:p>
            <a:endParaRPr lang="en-GB"/>
          </a:p>
        </p:txBody>
      </p:sp>
      <p:sp>
        <p:nvSpPr>
          <p:cNvPr id="12" name="@1 Cabinet body"/>
          <p:cNvSpPr/>
          <p:nvPr/>
        </p:nvSpPr>
        <p:spPr>
          <a:xfrm>
            <a:off x="3840480" y="1188720"/>
            <a:ext cx="3108960" cy="868680"/>
          </a:xfrm>
          <a:prstGeom prst="roundRect">
            <a:avLst>
              <a:gd name="adj" fmla="val 8421"/>
            </a:avLst>
          </a:prstGeom>
          <a:solidFill>
            <a:srgbClr val="001B40"/>
          </a:solidFill>
          <a:ln w="12700">
            <a:solidFill>
              <a:srgbClr val="001B40"/>
            </a:solidFill>
            <a:prstDash val="solid"/>
          </a:ln>
        </p:spPr>
        <p:txBody>
          <a:bodyPr/>
          <a:lstStyle/>
          <a:p>
            <a:endParaRPr lang="en-GB"/>
          </a:p>
        </p:txBody>
      </p:sp>
      <p:sp>
        <p:nvSpPr>
          <p:cNvPr id="13" name="@1 Drawer 1"/>
          <p:cNvSpPr/>
          <p:nvPr/>
        </p:nvSpPr>
        <p:spPr>
          <a:xfrm>
            <a:off x="3872484" y="1220724"/>
            <a:ext cx="3044952" cy="246888"/>
          </a:xfrm>
          <a:prstGeom prst="roundRect">
            <a:avLst>
              <a:gd name="adj" fmla="val 18519"/>
            </a:avLst>
          </a:prstGeom>
          <a:solidFill>
            <a:srgbClr val="5D79A0"/>
          </a:solidFill>
          <a:ln w="9525">
            <a:solidFill>
              <a:srgbClr val="C5D1E3"/>
            </a:solidFill>
            <a:prstDash val="solid"/>
          </a:ln>
        </p:spPr>
        <p:txBody>
          <a:bodyPr/>
          <a:lstStyle/>
          <a:p>
            <a:endParaRPr lang="en-GB"/>
          </a:p>
        </p:txBody>
      </p:sp>
      <p:sp>
        <p:nvSpPr>
          <p:cNvPr id="14" name="@1 Drawer 2"/>
          <p:cNvSpPr/>
          <p:nvPr/>
        </p:nvSpPr>
        <p:spPr>
          <a:xfrm>
            <a:off x="3872484" y="1499616"/>
            <a:ext cx="3044952" cy="246888"/>
          </a:xfrm>
          <a:prstGeom prst="roundRect">
            <a:avLst>
              <a:gd name="adj" fmla="val 18519"/>
            </a:avLst>
          </a:prstGeom>
          <a:solidFill>
            <a:srgbClr val="5D79A0"/>
          </a:solidFill>
          <a:ln w="9525">
            <a:solidFill>
              <a:srgbClr val="C5D1E3"/>
            </a:solidFill>
            <a:prstDash val="solid"/>
          </a:ln>
        </p:spPr>
        <p:txBody>
          <a:bodyPr/>
          <a:lstStyle/>
          <a:p>
            <a:endParaRPr lang="en-GB"/>
          </a:p>
        </p:txBody>
      </p:sp>
      <p:sp>
        <p:nvSpPr>
          <p:cNvPr id="15" name="@1 Drawer 3"/>
          <p:cNvSpPr/>
          <p:nvPr/>
        </p:nvSpPr>
        <p:spPr>
          <a:xfrm>
            <a:off x="3872484" y="1778508"/>
            <a:ext cx="3044952" cy="246888"/>
          </a:xfrm>
          <a:prstGeom prst="roundRect">
            <a:avLst>
              <a:gd name="adj" fmla="val 18519"/>
            </a:avLst>
          </a:prstGeom>
          <a:solidFill>
            <a:srgbClr val="5D79A0"/>
          </a:solidFill>
          <a:ln w="9525">
            <a:solidFill>
              <a:srgbClr val="C5D1E3"/>
            </a:solidFill>
            <a:prstDash val="solid"/>
          </a:ln>
        </p:spPr>
        <p:txBody>
          <a:bodyPr/>
          <a:lstStyle/>
          <a:p>
            <a:endParaRPr lang="en-GB"/>
          </a:p>
        </p:txBody>
      </p:sp>
      <p:sp>
        <p:nvSpPr>
          <p:cNvPr id="16" name="@1 addText"/>
          <p:cNvSpPr txBox="1"/>
          <p:nvPr/>
        </p:nvSpPr>
        <p:spPr>
          <a:xfrm>
            <a:off x="3872484" y="1220724"/>
            <a:ext cx="3044952"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7" name="@1 addText"/>
          <p:cNvSpPr txBox="1"/>
          <p:nvPr/>
        </p:nvSpPr>
        <p:spPr>
          <a:xfrm>
            <a:off x="3872484" y="1499616"/>
            <a:ext cx="3044952"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1 addText"/>
          <p:cNvSpPr txBox="1"/>
          <p:nvPr/>
        </p:nvSpPr>
        <p:spPr>
          <a:xfrm>
            <a:off x="3872484" y="1778508"/>
            <a:ext cx="3044952"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9" name="@2 Open drawer 2"/>
          <p:cNvSpPr/>
          <p:nvPr/>
        </p:nvSpPr>
        <p:spPr>
          <a:xfrm>
            <a:off x="1097280" y="2185416"/>
            <a:ext cx="1828800" cy="795528"/>
          </a:xfrm>
          <a:prstGeom prst="roundRect">
            <a:avLst>
              <a:gd name="adj" fmla="val 5747"/>
            </a:avLst>
          </a:prstGeom>
          <a:solidFill>
            <a:srgbClr val="FFFFFF"/>
          </a:solidFill>
          <a:ln w="19050">
            <a:solidFill>
              <a:srgbClr val="002D6A"/>
            </a:solidFill>
            <a:prstDash val="solid"/>
          </a:ln>
        </p:spPr>
        <p:txBody>
          <a:bodyPr/>
          <a:lstStyle/>
          <a:p>
            <a:endParaRPr lang="en-GB"/>
          </a:p>
        </p:txBody>
      </p:sp>
      <p:sp>
        <p:nvSpPr>
          <p:cNvPr id="20" name="@2 Arrow 2"/>
          <p:cNvSpPr/>
          <p:nvPr/>
        </p:nvSpPr>
        <p:spPr>
          <a:xfrm>
            <a:off x="2788920" y="2583180"/>
            <a:ext cx="868680" cy="0"/>
          </a:xfrm>
          <a:prstGeom prst="line">
            <a:avLst/>
          </a:prstGeom>
          <a:noFill/>
          <a:ln w="38100">
            <a:solidFill>
              <a:srgbClr val="002D6A"/>
            </a:solidFill>
            <a:prstDash val="solid"/>
            <a:tailEnd type="triangle"/>
          </a:ln>
        </p:spPr>
        <p:txBody>
          <a:bodyPr/>
          <a:lstStyle/>
          <a:p>
            <a:endParaRPr lang="en-GB"/>
          </a:p>
        </p:txBody>
      </p:sp>
      <p:sp>
        <p:nvSpPr>
          <p:cNvPr id="21" name="@2 Cabinet body"/>
          <p:cNvSpPr/>
          <p:nvPr/>
        </p:nvSpPr>
        <p:spPr>
          <a:xfrm>
            <a:off x="3840480" y="2148840"/>
            <a:ext cx="3108960" cy="868680"/>
          </a:xfrm>
          <a:prstGeom prst="roundRect">
            <a:avLst>
              <a:gd name="adj" fmla="val 8421"/>
            </a:avLst>
          </a:prstGeom>
          <a:solidFill>
            <a:srgbClr val="001B40"/>
          </a:solidFill>
          <a:ln w="12700">
            <a:solidFill>
              <a:srgbClr val="001B40"/>
            </a:solidFill>
            <a:prstDash val="solid"/>
          </a:ln>
        </p:spPr>
        <p:txBody>
          <a:bodyPr/>
          <a:lstStyle/>
          <a:p>
            <a:endParaRPr lang="en-GB"/>
          </a:p>
        </p:txBody>
      </p:sp>
      <p:sp>
        <p:nvSpPr>
          <p:cNvPr id="22" name="@2 Drawer 1"/>
          <p:cNvSpPr/>
          <p:nvPr/>
        </p:nvSpPr>
        <p:spPr>
          <a:xfrm>
            <a:off x="3872484" y="2180844"/>
            <a:ext cx="3044952" cy="246888"/>
          </a:xfrm>
          <a:prstGeom prst="roundRect">
            <a:avLst>
              <a:gd name="adj" fmla="val 18519"/>
            </a:avLst>
          </a:prstGeom>
          <a:solidFill>
            <a:srgbClr val="5D79A0"/>
          </a:solidFill>
          <a:ln w="9525">
            <a:solidFill>
              <a:srgbClr val="C5D1E3"/>
            </a:solidFill>
            <a:prstDash val="solid"/>
          </a:ln>
        </p:spPr>
        <p:txBody>
          <a:bodyPr/>
          <a:lstStyle/>
          <a:p>
            <a:endParaRPr lang="en-GB"/>
          </a:p>
        </p:txBody>
      </p:sp>
      <p:sp>
        <p:nvSpPr>
          <p:cNvPr id="23" name="@2 Drawer 2"/>
          <p:cNvSpPr/>
          <p:nvPr/>
        </p:nvSpPr>
        <p:spPr>
          <a:xfrm>
            <a:off x="3872484" y="2459736"/>
            <a:ext cx="3044952" cy="246888"/>
          </a:xfrm>
          <a:prstGeom prst="roundRect">
            <a:avLst>
              <a:gd name="adj" fmla="val 18519"/>
            </a:avLst>
          </a:prstGeom>
          <a:solidFill>
            <a:srgbClr val="5D79A0"/>
          </a:solidFill>
          <a:ln w="9525">
            <a:solidFill>
              <a:srgbClr val="C5D1E3"/>
            </a:solidFill>
            <a:prstDash val="solid"/>
          </a:ln>
        </p:spPr>
        <p:txBody>
          <a:bodyPr/>
          <a:lstStyle/>
          <a:p>
            <a:endParaRPr lang="en-GB"/>
          </a:p>
        </p:txBody>
      </p:sp>
      <p:sp>
        <p:nvSpPr>
          <p:cNvPr id="24" name="@2 Drawer 3"/>
          <p:cNvSpPr/>
          <p:nvPr/>
        </p:nvSpPr>
        <p:spPr>
          <a:xfrm>
            <a:off x="3872484" y="2738628"/>
            <a:ext cx="3044952" cy="246888"/>
          </a:xfrm>
          <a:prstGeom prst="roundRect">
            <a:avLst>
              <a:gd name="adj" fmla="val 18519"/>
            </a:avLst>
          </a:prstGeom>
          <a:solidFill>
            <a:srgbClr val="5D79A0"/>
          </a:solidFill>
          <a:ln w="9525">
            <a:solidFill>
              <a:srgbClr val="C5D1E3"/>
            </a:solidFill>
            <a:prstDash val="solid"/>
          </a:ln>
        </p:spPr>
        <p:txBody>
          <a:bodyPr/>
          <a:lstStyle/>
          <a:p>
            <a:endParaRPr lang="en-GB"/>
          </a:p>
        </p:txBody>
      </p:sp>
      <p:sp>
        <p:nvSpPr>
          <p:cNvPr id="25" name="@2 addText"/>
          <p:cNvSpPr txBox="1"/>
          <p:nvPr/>
        </p:nvSpPr>
        <p:spPr>
          <a:xfrm>
            <a:off x="3872484" y="2180844"/>
            <a:ext cx="3044952"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6" name="@2 addText"/>
          <p:cNvSpPr txBox="1"/>
          <p:nvPr/>
        </p:nvSpPr>
        <p:spPr>
          <a:xfrm>
            <a:off x="3872484" y="2459736"/>
            <a:ext cx="3044952"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27" name="@2 addText"/>
          <p:cNvSpPr txBox="1"/>
          <p:nvPr/>
        </p:nvSpPr>
        <p:spPr>
          <a:xfrm>
            <a:off x="3872484" y="2738628"/>
            <a:ext cx="3044952"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6</a:t>
            </a:r>
            <a:endParaRPr lang="en-US" sz="1400" dirty="0"/>
          </a:p>
        </p:txBody>
      </p:sp>
      <p:sp>
        <p:nvSpPr>
          <p:cNvPr id="28" name="@3 Open drawer 3"/>
          <p:cNvSpPr/>
          <p:nvPr/>
        </p:nvSpPr>
        <p:spPr>
          <a:xfrm>
            <a:off x="1097280" y="3145536"/>
            <a:ext cx="1828800" cy="795528"/>
          </a:xfrm>
          <a:prstGeom prst="roundRect">
            <a:avLst>
              <a:gd name="adj" fmla="val 5747"/>
            </a:avLst>
          </a:prstGeom>
          <a:solidFill>
            <a:srgbClr val="FFFFFF"/>
          </a:solidFill>
          <a:ln w="19050">
            <a:solidFill>
              <a:srgbClr val="002D6A"/>
            </a:solidFill>
            <a:prstDash val="solid"/>
          </a:ln>
        </p:spPr>
        <p:txBody>
          <a:bodyPr/>
          <a:lstStyle/>
          <a:p>
            <a:endParaRPr lang="en-GB"/>
          </a:p>
        </p:txBody>
      </p:sp>
      <p:sp>
        <p:nvSpPr>
          <p:cNvPr id="29" name="@3 Arrow 3"/>
          <p:cNvSpPr/>
          <p:nvPr/>
        </p:nvSpPr>
        <p:spPr>
          <a:xfrm>
            <a:off x="2788920" y="3543300"/>
            <a:ext cx="868680" cy="0"/>
          </a:xfrm>
          <a:prstGeom prst="line">
            <a:avLst/>
          </a:prstGeom>
          <a:noFill/>
          <a:ln w="38100">
            <a:solidFill>
              <a:srgbClr val="002D6A"/>
            </a:solidFill>
            <a:prstDash val="solid"/>
            <a:tailEnd type="triangle"/>
          </a:ln>
        </p:spPr>
        <p:txBody>
          <a:bodyPr/>
          <a:lstStyle/>
          <a:p>
            <a:endParaRPr lang="en-GB"/>
          </a:p>
        </p:txBody>
      </p:sp>
      <p:sp>
        <p:nvSpPr>
          <p:cNvPr id="30" name="@3 Cabinet body"/>
          <p:cNvSpPr/>
          <p:nvPr/>
        </p:nvSpPr>
        <p:spPr>
          <a:xfrm>
            <a:off x="3840480" y="3108960"/>
            <a:ext cx="3108960" cy="868680"/>
          </a:xfrm>
          <a:prstGeom prst="roundRect">
            <a:avLst>
              <a:gd name="adj" fmla="val 8421"/>
            </a:avLst>
          </a:prstGeom>
          <a:solidFill>
            <a:srgbClr val="001B40"/>
          </a:solidFill>
          <a:ln w="12700">
            <a:solidFill>
              <a:srgbClr val="001B40"/>
            </a:solidFill>
            <a:prstDash val="solid"/>
          </a:ln>
        </p:spPr>
        <p:txBody>
          <a:bodyPr/>
          <a:lstStyle/>
          <a:p>
            <a:endParaRPr lang="en-GB"/>
          </a:p>
        </p:txBody>
      </p:sp>
      <p:sp>
        <p:nvSpPr>
          <p:cNvPr id="31" name="@3 Drawer 1"/>
          <p:cNvSpPr/>
          <p:nvPr/>
        </p:nvSpPr>
        <p:spPr>
          <a:xfrm>
            <a:off x="3872484" y="3140964"/>
            <a:ext cx="3044952" cy="246888"/>
          </a:xfrm>
          <a:prstGeom prst="roundRect">
            <a:avLst>
              <a:gd name="adj" fmla="val 18519"/>
            </a:avLst>
          </a:prstGeom>
          <a:solidFill>
            <a:srgbClr val="5D79A0"/>
          </a:solidFill>
          <a:ln w="9525">
            <a:solidFill>
              <a:srgbClr val="C5D1E3"/>
            </a:solidFill>
            <a:prstDash val="solid"/>
          </a:ln>
        </p:spPr>
        <p:txBody>
          <a:bodyPr/>
          <a:lstStyle/>
          <a:p>
            <a:endParaRPr lang="en-GB"/>
          </a:p>
        </p:txBody>
      </p:sp>
      <p:sp>
        <p:nvSpPr>
          <p:cNvPr id="32" name="@3 Drawer 2"/>
          <p:cNvSpPr/>
          <p:nvPr/>
        </p:nvSpPr>
        <p:spPr>
          <a:xfrm>
            <a:off x="3872484" y="3419856"/>
            <a:ext cx="3044952" cy="246888"/>
          </a:xfrm>
          <a:prstGeom prst="roundRect">
            <a:avLst>
              <a:gd name="adj" fmla="val 18519"/>
            </a:avLst>
          </a:prstGeom>
          <a:solidFill>
            <a:srgbClr val="5D79A0"/>
          </a:solidFill>
          <a:ln w="9525">
            <a:solidFill>
              <a:srgbClr val="C5D1E3"/>
            </a:solidFill>
            <a:prstDash val="solid"/>
          </a:ln>
        </p:spPr>
        <p:txBody>
          <a:bodyPr/>
          <a:lstStyle/>
          <a:p>
            <a:endParaRPr lang="en-GB"/>
          </a:p>
        </p:txBody>
      </p:sp>
      <p:sp>
        <p:nvSpPr>
          <p:cNvPr id="33" name="@3 Drawer 3"/>
          <p:cNvSpPr/>
          <p:nvPr/>
        </p:nvSpPr>
        <p:spPr>
          <a:xfrm>
            <a:off x="3872484" y="3698748"/>
            <a:ext cx="3044952" cy="246888"/>
          </a:xfrm>
          <a:prstGeom prst="roundRect">
            <a:avLst>
              <a:gd name="adj" fmla="val 18519"/>
            </a:avLst>
          </a:prstGeom>
          <a:solidFill>
            <a:srgbClr val="5D79A0"/>
          </a:solidFill>
          <a:ln w="9525">
            <a:solidFill>
              <a:srgbClr val="C5D1E3"/>
            </a:solidFill>
            <a:prstDash val="solid"/>
          </a:ln>
        </p:spPr>
        <p:txBody>
          <a:bodyPr/>
          <a:lstStyle/>
          <a:p>
            <a:endParaRPr lang="en-GB"/>
          </a:p>
        </p:txBody>
      </p:sp>
      <p:sp>
        <p:nvSpPr>
          <p:cNvPr id="34" name="@3 addText"/>
          <p:cNvSpPr txBox="1"/>
          <p:nvPr/>
        </p:nvSpPr>
        <p:spPr>
          <a:xfrm>
            <a:off x="3872484" y="3140964"/>
            <a:ext cx="3044952"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7</a:t>
            </a:r>
            <a:endParaRPr lang="en-US" sz="1400" dirty="0"/>
          </a:p>
        </p:txBody>
      </p:sp>
      <p:sp>
        <p:nvSpPr>
          <p:cNvPr id="35" name="@3 addText"/>
          <p:cNvSpPr txBox="1"/>
          <p:nvPr/>
        </p:nvSpPr>
        <p:spPr>
          <a:xfrm>
            <a:off x="3872484" y="3419856"/>
            <a:ext cx="3044952"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8</a:t>
            </a:r>
            <a:endParaRPr lang="en-US" sz="1400" dirty="0"/>
          </a:p>
        </p:txBody>
      </p:sp>
      <p:sp>
        <p:nvSpPr>
          <p:cNvPr id="36" name="@3 addText"/>
          <p:cNvSpPr txBox="1"/>
          <p:nvPr/>
        </p:nvSpPr>
        <p:spPr>
          <a:xfrm>
            <a:off x="3872484" y="3698748"/>
            <a:ext cx="3044952" cy="246888"/>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9</a:t>
            </a:r>
            <a:endParaRPr lang="en-US" sz="1400" dirty="0"/>
          </a:p>
        </p:txBody>
      </p:sp>
      <p:sp>
        <p:nvSpPr>
          <p:cNvPr id="37" name="@4 addText"/>
          <p:cNvSpPr txBox="1"/>
          <p:nvPr/>
        </p:nvSpPr>
        <p:spPr>
          <a:xfrm>
            <a:off x="7223760" y="2194560"/>
            <a:ext cx="1554480" cy="640080"/>
          </a:xfrm>
          <a:prstGeom prst="rect">
            <a:avLst/>
          </a:prstGeom>
          <a:noFill/>
          <a:ln/>
        </p:spPr>
        <p:txBody>
          <a:bodyPr wrap="square" lIns="0" tIns="0" rIns="0" bIns="0" rtlCol="0" anchor="ctr"/>
          <a:lstStyle/>
          <a:p>
            <a:pPr marL="0" indent="0" algn="ctr">
              <a:buNone/>
            </a:pPr>
            <a:r>
              <a:rPr lang="en-US" sz="1800" b="1" dirty="0">
                <a:solidFill>
                  <a:srgbClr val="002D6A"/>
                </a:solidFill>
                <a:latin typeface="Arial" pitchFamily="34" charset="0"/>
                <a:ea typeface="Arial" pitchFamily="34" charset="-122"/>
                <a:cs typeface="Arial" pitchFamily="34" charset="-120"/>
              </a:rPr>
              <a:t>a list of lists</a:t>
            </a:r>
            <a:endParaRPr lang="en-US" sz="1800" dirty="0"/>
          </a:p>
        </p:txBody>
      </p:sp>
      <p:sp>
        <p:nvSpPr>
          <p:cNvPr id="38" name="@4 addText"/>
          <p:cNvSpPr txBox="1"/>
          <p:nvPr/>
        </p:nvSpPr>
        <p:spPr>
          <a:xfrm>
            <a:off x="457200" y="429768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grid = [[1, 2, 3], [4, 5, 6], [7, 8, 9]]</a:t>
            </a:r>
            <a:endParaRPr lang="en-US" sz="1400" dirty="0"/>
          </a:p>
        </p:txBody>
      </p:sp>
      <p:sp>
        <p:nvSpPr>
          <p:cNvPr id="3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2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2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2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2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2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2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2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2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2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2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20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200"/>
                                        <p:tgtEl>
                                          <p:spTgt spid="2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200"/>
                                        <p:tgtEl>
                                          <p:spTgt spid="2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2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2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200"/>
                                        <p:tgtEl>
                                          <p:spTgt spid="3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200"/>
                                        <p:tgtEl>
                                          <p:spTgt spid="3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200"/>
                                        <p:tgtEl>
                                          <p:spTgt spid="3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200"/>
                                        <p:tgtEl>
                                          <p:spTgt spid="3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200"/>
                                        <p:tgtEl>
                                          <p:spTgt spid="3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200"/>
                                        <p:tgtEl>
                                          <p:spTgt spid="3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200"/>
                                        <p:tgtEl>
                                          <p:spTgt spid="36"/>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fade">
                                      <p:cBhvr>
                                        <p:cTn id="94" dur="200"/>
                                        <p:tgtEl>
                                          <p:spTgt spid="37"/>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2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Row Is a List</a:t>
            </a:r>
            <a:endParaRPr lang="en-US" sz="3000" dirty="0"/>
          </a:p>
        </p:txBody>
      </p:sp>
      <p:sp>
        <p:nvSpPr>
          <p:cNvPr id="3" name="Code box"/>
          <p:cNvSpPr/>
          <p:nvPr/>
        </p:nvSpPr>
        <p:spPr>
          <a:xfrm>
            <a:off x="457200" y="1188720"/>
            <a:ext cx="8229600" cy="676656"/>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88720"/>
            <a:ext cx="54864" cy="676656"/>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325880"/>
            <a:ext cx="7955280" cy="402336"/>
          </a:xfrm>
          <a:prstGeom prst="rect">
            <a:avLst/>
          </a:prstGeom>
          <a:noFill/>
          <a:ln/>
        </p:spPr>
        <p:txBody>
          <a:bodyPr wrap="none" lIns="0" tIns="0" rIns="0" bIns="0" rtlCol="0" anchor="ctr"/>
          <a:lstStyle/>
          <a:p>
            <a:pPr marL="0" indent="0">
              <a:buNone/>
            </a:pPr>
            <a:r>
              <a:rPr lang="en-US" sz="2200" dirty="0">
                <a:solidFill>
                  <a:srgbClr val="E6ECF5"/>
                </a:solidFill>
                <a:latin typeface="Courier New" pitchFamily="34" charset="0"/>
                <a:ea typeface="Courier New" pitchFamily="34" charset="-122"/>
                <a:cs typeface="Courier New" pitchFamily="34" charset="-120"/>
              </a:rPr>
              <a:t>row = [</a:t>
            </a:r>
            <a:r>
              <a:rPr lang="en-US" sz="2200" dirty="0">
                <a:solidFill>
                  <a:srgbClr val="F2C879"/>
                </a:solidFill>
                <a:latin typeface="Courier New" pitchFamily="34" charset="0"/>
                <a:ea typeface="Courier New" pitchFamily="34" charset="-122"/>
                <a:cs typeface="Courier New" pitchFamily="34" charset="-120"/>
              </a:rPr>
              <a:t>0</a:t>
            </a:r>
            <a:r>
              <a:rPr lang="en-US" sz="2200" dirty="0">
                <a:solidFill>
                  <a:srgbClr val="E6ECF5"/>
                </a:solidFill>
                <a:latin typeface="Courier New" pitchFamily="34" charset="0"/>
                <a:ea typeface="Courier New" pitchFamily="34" charset="-122"/>
                <a:cs typeface="Courier New" pitchFamily="34" charset="-120"/>
              </a:rPr>
              <a:t>, </a:t>
            </a:r>
            <a:r>
              <a:rPr lang="en-US" sz="2200" dirty="0">
                <a:solidFill>
                  <a:srgbClr val="F2C879"/>
                </a:solidFill>
                <a:latin typeface="Courier New" pitchFamily="34" charset="0"/>
                <a:ea typeface="Courier New" pitchFamily="34" charset="-122"/>
                <a:cs typeface="Courier New" pitchFamily="34" charset="-120"/>
              </a:rPr>
              <a:t>0</a:t>
            </a:r>
            <a:r>
              <a:rPr lang="en-US" sz="2200" dirty="0">
                <a:solidFill>
                  <a:srgbClr val="E6ECF5"/>
                </a:solidFill>
                <a:latin typeface="Courier New" pitchFamily="34" charset="0"/>
                <a:ea typeface="Courier New" pitchFamily="34" charset="-122"/>
                <a:cs typeface="Courier New" pitchFamily="34" charset="-120"/>
              </a:rPr>
              <a:t>, </a:t>
            </a:r>
            <a:r>
              <a:rPr lang="en-US" sz="2200" dirty="0">
                <a:solidFill>
                  <a:srgbClr val="F2C879"/>
                </a:solidFill>
                <a:latin typeface="Courier New" pitchFamily="34" charset="0"/>
                <a:ea typeface="Courier New" pitchFamily="34" charset="-122"/>
                <a:cs typeface="Courier New" pitchFamily="34" charset="-120"/>
              </a:rPr>
              <a:t>1</a:t>
            </a:r>
            <a:r>
              <a:rPr lang="en-US" sz="2200" dirty="0">
                <a:solidFill>
                  <a:srgbClr val="E6ECF5"/>
                </a:solidFill>
                <a:latin typeface="Courier New" pitchFamily="34" charset="0"/>
                <a:ea typeface="Courier New" pitchFamily="34" charset="-122"/>
                <a:cs typeface="Courier New" pitchFamily="34" charset="-120"/>
              </a:rPr>
              <a:t>, </a:t>
            </a:r>
            <a:r>
              <a:rPr lang="en-US" sz="2200" dirty="0">
                <a:solidFill>
                  <a:srgbClr val="F2C879"/>
                </a:solidFill>
                <a:latin typeface="Courier New" pitchFamily="34" charset="0"/>
                <a:ea typeface="Courier New" pitchFamily="34" charset="-122"/>
                <a:cs typeface="Courier New" pitchFamily="34" charset="-120"/>
              </a:rPr>
              <a:t>1</a:t>
            </a:r>
            <a:r>
              <a:rPr lang="en-US" sz="2200" dirty="0">
                <a:solidFill>
                  <a:srgbClr val="E6ECF5"/>
                </a:solidFill>
                <a:latin typeface="Courier New" pitchFamily="34" charset="0"/>
                <a:ea typeface="Courier New" pitchFamily="34" charset="-122"/>
                <a:cs typeface="Courier New" pitchFamily="34" charset="-120"/>
              </a:rPr>
              <a:t>, </a:t>
            </a:r>
            <a:r>
              <a:rPr lang="en-US" sz="2200" dirty="0">
                <a:solidFill>
                  <a:srgbClr val="F2C879"/>
                </a:solidFill>
                <a:latin typeface="Courier New" pitchFamily="34" charset="0"/>
                <a:ea typeface="Courier New" pitchFamily="34" charset="-122"/>
                <a:cs typeface="Courier New" pitchFamily="34" charset="-120"/>
              </a:rPr>
              <a:t>1</a:t>
            </a:r>
            <a:r>
              <a:rPr lang="en-US" sz="2200" dirty="0">
                <a:solidFill>
                  <a:srgbClr val="E6ECF5"/>
                </a:solidFill>
                <a:latin typeface="Courier New" pitchFamily="34" charset="0"/>
                <a:ea typeface="Courier New" pitchFamily="34" charset="-122"/>
                <a:cs typeface="Courier New" pitchFamily="34" charset="-120"/>
              </a:rPr>
              <a:t>, </a:t>
            </a:r>
            <a:r>
              <a:rPr lang="en-US" sz="2200" dirty="0">
                <a:solidFill>
                  <a:srgbClr val="F2C879"/>
                </a:solidFill>
                <a:latin typeface="Courier New" pitchFamily="34" charset="0"/>
                <a:ea typeface="Courier New" pitchFamily="34" charset="-122"/>
                <a:cs typeface="Courier New" pitchFamily="34" charset="-120"/>
              </a:rPr>
              <a:t>0</a:t>
            </a:r>
            <a:r>
              <a:rPr lang="en-US" sz="2200" dirty="0">
                <a:solidFill>
                  <a:srgbClr val="E6ECF5"/>
                </a:solidFill>
                <a:latin typeface="Courier New" pitchFamily="34" charset="0"/>
                <a:ea typeface="Courier New" pitchFamily="34" charset="-122"/>
                <a:cs typeface="Courier New" pitchFamily="34" charset="-120"/>
              </a:rPr>
              <a:t>]</a:t>
            </a:r>
            <a:endParaRPr lang="en-US" sz="2200" dirty="0"/>
          </a:p>
        </p:txBody>
      </p:sp>
      <p:sp>
        <p:nvSpPr>
          <p:cNvPr id="6" name="Text 4"/>
          <p:cNvSpPr txBox="1"/>
          <p:nvPr/>
        </p:nvSpPr>
        <p:spPr>
          <a:xfrm>
            <a:off x="457200" y="219456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0 = blank,  1 = coloured</a:t>
            </a:r>
            <a:endParaRPr lang="en-US" sz="1800" dirty="0"/>
          </a:p>
        </p:txBody>
      </p:sp>
      <p:sp>
        <p:nvSpPr>
          <p:cNvPr id="7" name="Cell off"/>
          <p:cNvSpPr/>
          <p:nvPr/>
        </p:nvSpPr>
        <p:spPr>
          <a:xfrm>
            <a:off x="2286000" y="2926080"/>
            <a:ext cx="640080" cy="640080"/>
          </a:xfrm>
          <a:prstGeom prst="rect">
            <a:avLst/>
          </a:prstGeom>
          <a:solidFill>
            <a:srgbClr val="FFFFFF"/>
          </a:solidFill>
          <a:ln w="9525">
            <a:solidFill>
              <a:srgbClr val="C5D1E3"/>
            </a:solidFill>
            <a:prstDash val="solid"/>
          </a:ln>
        </p:spPr>
        <p:txBody>
          <a:bodyPr/>
          <a:lstStyle/>
          <a:p>
            <a:endParaRPr lang="en-GB"/>
          </a:p>
        </p:txBody>
      </p:sp>
      <p:sp>
        <p:nvSpPr>
          <p:cNvPr id="8" name="Cell off"/>
          <p:cNvSpPr/>
          <p:nvPr/>
        </p:nvSpPr>
        <p:spPr>
          <a:xfrm>
            <a:off x="2926080" y="2926080"/>
            <a:ext cx="640080" cy="640080"/>
          </a:xfrm>
          <a:prstGeom prst="rect">
            <a:avLst/>
          </a:prstGeom>
          <a:solidFill>
            <a:srgbClr val="FFFFFF"/>
          </a:solidFill>
          <a:ln w="9525">
            <a:solidFill>
              <a:srgbClr val="C5D1E3"/>
            </a:solidFill>
            <a:prstDash val="solid"/>
          </a:ln>
        </p:spPr>
        <p:txBody>
          <a:bodyPr/>
          <a:lstStyle/>
          <a:p>
            <a:endParaRPr lang="en-GB"/>
          </a:p>
        </p:txBody>
      </p:sp>
      <p:sp>
        <p:nvSpPr>
          <p:cNvPr id="9" name="Cell on"/>
          <p:cNvSpPr/>
          <p:nvPr/>
        </p:nvSpPr>
        <p:spPr>
          <a:xfrm>
            <a:off x="3566160" y="2926080"/>
            <a:ext cx="640080" cy="640080"/>
          </a:xfrm>
          <a:prstGeom prst="rect">
            <a:avLst/>
          </a:prstGeom>
          <a:solidFill>
            <a:srgbClr val="002D6A"/>
          </a:solidFill>
          <a:ln w="9525">
            <a:solidFill>
              <a:srgbClr val="C5D1E3"/>
            </a:solidFill>
            <a:prstDash val="solid"/>
          </a:ln>
        </p:spPr>
        <p:txBody>
          <a:bodyPr/>
          <a:lstStyle/>
          <a:p>
            <a:endParaRPr lang="en-GB"/>
          </a:p>
        </p:txBody>
      </p:sp>
      <p:sp>
        <p:nvSpPr>
          <p:cNvPr id="10" name="Cell on"/>
          <p:cNvSpPr/>
          <p:nvPr/>
        </p:nvSpPr>
        <p:spPr>
          <a:xfrm>
            <a:off x="4206240" y="2926080"/>
            <a:ext cx="640080" cy="640080"/>
          </a:xfrm>
          <a:prstGeom prst="rect">
            <a:avLst/>
          </a:prstGeom>
          <a:solidFill>
            <a:srgbClr val="002D6A"/>
          </a:solidFill>
          <a:ln w="9525">
            <a:solidFill>
              <a:srgbClr val="C5D1E3"/>
            </a:solidFill>
            <a:prstDash val="solid"/>
          </a:ln>
        </p:spPr>
        <p:txBody>
          <a:bodyPr/>
          <a:lstStyle/>
          <a:p>
            <a:endParaRPr lang="en-GB"/>
          </a:p>
        </p:txBody>
      </p:sp>
      <p:sp>
        <p:nvSpPr>
          <p:cNvPr id="11" name="Cell on"/>
          <p:cNvSpPr/>
          <p:nvPr/>
        </p:nvSpPr>
        <p:spPr>
          <a:xfrm>
            <a:off x="4846320" y="2926080"/>
            <a:ext cx="640080" cy="640080"/>
          </a:xfrm>
          <a:prstGeom prst="rect">
            <a:avLst/>
          </a:prstGeom>
          <a:solidFill>
            <a:srgbClr val="002D6A"/>
          </a:solidFill>
          <a:ln w="9525">
            <a:solidFill>
              <a:srgbClr val="C5D1E3"/>
            </a:solidFill>
            <a:prstDash val="solid"/>
          </a:ln>
        </p:spPr>
        <p:txBody>
          <a:bodyPr/>
          <a:lstStyle/>
          <a:p>
            <a:endParaRPr lang="en-GB"/>
          </a:p>
        </p:txBody>
      </p:sp>
      <p:sp>
        <p:nvSpPr>
          <p:cNvPr id="12" name="Cell off"/>
          <p:cNvSpPr/>
          <p:nvPr/>
        </p:nvSpPr>
        <p:spPr>
          <a:xfrm>
            <a:off x="5486400" y="2926080"/>
            <a:ext cx="640080" cy="640080"/>
          </a:xfrm>
          <a:prstGeom prst="rect">
            <a:avLst/>
          </a:prstGeom>
          <a:solidFill>
            <a:srgbClr val="FFFFFF"/>
          </a:solidFill>
          <a:ln w="9525">
            <a:solidFill>
              <a:srgbClr val="C5D1E3"/>
            </a:solidFill>
            <a:prstDash val="solid"/>
          </a:ln>
        </p:spPr>
        <p:txBody>
          <a:bodyPr/>
          <a:lstStyle/>
          <a:p>
            <a:endParaRPr lang="en-GB"/>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Picture Is a List of Rows</a:t>
            </a:r>
            <a:endParaRPr lang="en-US" sz="3000" dirty="0"/>
          </a:p>
        </p:txBody>
      </p:sp>
      <p:sp>
        <p:nvSpPr>
          <p:cNvPr id="3" name="Code box"/>
          <p:cNvSpPr/>
          <p:nvPr/>
        </p:nvSpPr>
        <p:spPr>
          <a:xfrm>
            <a:off x="457200" y="1188720"/>
            <a:ext cx="8229600" cy="2249424"/>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88720"/>
            <a:ext cx="54864" cy="2249424"/>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325880"/>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1  </a:t>
            </a:r>
            <a:r>
              <a:rPr lang="en-US" sz="1800" dirty="0">
                <a:solidFill>
                  <a:srgbClr val="E6ECF5"/>
                </a:solidFill>
                <a:latin typeface="Courier New" pitchFamily="34" charset="0"/>
                <a:ea typeface="Courier New" pitchFamily="34" charset="-122"/>
                <a:cs typeface="Courier New" pitchFamily="34" charset="-120"/>
              </a:rPr>
              <a:t>mug = [</a:t>
            </a:r>
            <a:endParaRPr lang="en-US" sz="1800" dirty="0"/>
          </a:p>
        </p:txBody>
      </p:sp>
      <p:sp>
        <p:nvSpPr>
          <p:cNvPr id="6" name="Text 4"/>
          <p:cNvSpPr txBox="1"/>
          <p:nvPr/>
        </p:nvSpPr>
        <p:spPr>
          <a:xfrm>
            <a:off x="640080" y="1655064"/>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2  </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7" name="Text 5"/>
          <p:cNvSpPr txBox="1"/>
          <p:nvPr/>
        </p:nvSpPr>
        <p:spPr>
          <a:xfrm>
            <a:off x="640080" y="1984248"/>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3  </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8" name="Text 6"/>
          <p:cNvSpPr txBox="1"/>
          <p:nvPr/>
        </p:nvSpPr>
        <p:spPr>
          <a:xfrm>
            <a:off x="640080" y="2313432"/>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4  </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9" name="Text 7"/>
          <p:cNvSpPr txBox="1"/>
          <p:nvPr/>
        </p:nvSpPr>
        <p:spPr>
          <a:xfrm>
            <a:off x="640080" y="2642616"/>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5  </a:t>
            </a:r>
            <a:r>
              <a:rPr lang="en-US" sz="1800" dirty="0">
                <a:solidFill>
                  <a:srgbClr val="E6ECF5"/>
                </a:solidFill>
                <a:latin typeface="Courier New" pitchFamily="34" charset="0"/>
                <a:ea typeface="Courier New" pitchFamily="34" charset="-122"/>
                <a:cs typeface="Courier New" pitchFamily="34" charset="-120"/>
              </a:rPr>
              <a:t>    ...</a:t>
            </a:r>
            <a:endParaRPr lang="en-US" sz="1800" dirty="0"/>
          </a:p>
        </p:txBody>
      </p:sp>
      <p:sp>
        <p:nvSpPr>
          <p:cNvPr id="10" name="Text 8"/>
          <p:cNvSpPr txBox="1"/>
          <p:nvPr/>
        </p:nvSpPr>
        <p:spPr>
          <a:xfrm>
            <a:off x="640080" y="2971800"/>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6  </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11" name="Text 9"/>
          <p:cNvSpPr txBox="1"/>
          <p:nvPr/>
        </p:nvSpPr>
        <p:spPr>
          <a:xfrm>
            <a:off x="457200" y="41148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a list of lists. Each inner list is one row of the grid</a:t>
            </a:r>
            <a:endParaRPr lang="en-US" sz="14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For Loop: One Drawer at a Time</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40</a:t>
            </a:fld>
            <a:endParaRPr lang="en-US"/>
          </a:p>
        </p:txBody>
      </p:sp>
      <p:sp>
        <p:nvSpPr>
          <p:cNvPr id="4" name="Cabinet body"/>
          <p:cNvSpPr/>
          <p:nvPr/>
        </p:nvSpPr>
        <p:spPr>
          <a:xfrm>
            <a:off x="548640" y="1097280"/>
            <a:ext cx="2377440" cy="3182112"/>
          </a:xfrm>
          <a:prstGeom prst="roundRect">
            <a:avLst>
              <a:gd name="adj" fmla="val 12000"/>
            </a:avLst>
          </a:prstGeom>
          <a:solidFill>
            <a:srgbClr val="001B40"/>
          </a:solidFill>
          <a:ln w="9525">
            <a:solidFill>
              <a:srgbClr val="001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rawer"/>
          <p:cNvSpPr/>
          <p:nvPr/>
        </p:nvSpPr>
        <p:spPr>
          <a:xfrm>
            <a:off x="658368" y="1207007"/>
            <a:ext cx="2157984" cy="914400"/>
          </a:xfrm>
          <a:prstGeom prst="roundRect">
            <a:avLst>
              <a:gd name="adj" fmla="val 12000"/>
            </a:avLst>
          </a:prstGeom>
          <a:solidFill>
            <a:srgbClr val="5D79A0"/>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ndle"/>
          <p:cNvSpPr/>
          <p:nvPr/>
        </p:nvSpPr>
        <p:spPr>
          <a:xfrm>
            <a:off x="1305763" y="1600199"/>
            <a:ext cx="863193" cy="128016"/>
          </a:xfrm>
          <a:prstGeom prst="roundRect">
            <a:avLst>
              <a:gd name="adj" fmla="val 12000"/>
            </a:avLst>
          </a:prstGeom>
          <a:solidFill>
            <a:srgbClr val="A9C4E8"/>
          </a:solidFill>
          <a:ln w="6350">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rawer"/>
          <p:cNvSpPr/>
          <p:nvPr/>
        </p:nvSpPr>
        <p:spPr>
          <a:xfrm>
            <a:off x="658368" y="2231136"/>
            <a:ext cx="2157984" cy="914400"/>
          </a:xfrm>
          <a:prstGeom prst="roundRect">
            <a:avLst>
              <a:gd name="adj" fmla="val 12000"/>
            </a:avLst>
          </a:prstGeom>
          <a:solidFill>
            <a:srgbClr val="5D79A0"/>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andle"/>
          <p:cNvSpPr/>
          <p:nvPr/>
        </p:nvSpPr>
        <p:spPr>
          <a:xfrm>
            <a:off x="1305763" y="2624328"/>
            <a:ext cx="863193" cy="128016"/>
          </a:xfrm>
          <a:prstGeom prst="roundRect">
            <a:avLst>
              <a:gd name="adj" fmla="val 12000"/>
            </a:avLst>
          </a:prstGeom>
          <a:solidFill>
            <a:srgbClr val="A9C4E8"/>
          </a:solidFill>
          <a:ln w="6350">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rawer"/>
          <p:cNvSpPr/>
          <p:nvPr/>
        </p:nvSpPr>
        <p:spPr>
          <a:xfrm>
            <a:off x="658368" y="3255264"/>
            <a:ext cx="2157984" cy="914400"/>
          </a:xfrm>
          <a:prstGeom prst="roundRect">
            <a:avLst>
              <a:gd name="adj" fmla="val 12000"/>
            </a:avLst>
          </a:prstGeom>
          <a:solidFill>
            <a:srgbClr val="5D79A0"/>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andle"/>
          <p:cNvSpPr/>
          <p:nvPr/>
        </p:nvSpPr>
        <p:spPr>
          <a:xfrm>
            <a:off x="1305763" y="3648456"/>
            <a:ext cx="863193" cy="128016"/>
          </a:xfrm>
          <a:prstGeom prst="roundRect">
            <a:avLst>
              <a:gd name="adj" fmla="val 12000"/>
            </a:avLst>
          </a:prstGeom>
          <a:solidFill>
            <a:srgbClr val="A9C4E8"/>
          </a:solidFill>
          <a:ln w="6350">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1 Open drawer"/>
          <p:cNvSpPr/>
          <p:nvPr/>
        </p:nvSpPr>
        <p:spPr>
          <a:xfrm>
            <a:off x="1207007" y="1243584"/>
            <a:ext cx="2157984" cy="841248"/>
          </a:xfrm>
          <a:prstGeom prst="roundRect">
            <a:avLst>
              <a:gd name="adj" fmla="val 12000"/>
            </a:avLst>
          </a:prstGeom>
          <a:solidFill>
            <a:srgbClr val="FFFFFF"/>
          </a:solidFill>
          <a:ln w="19050">
            <a:solidFill>
              <a:srgbClr val="002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1 Drawer value"/>
          <p:cNvSpPr txBox="1"/>
          <p:nvPr/>
        </p:nvSpPr>
        <p:spPr>
          <a:xfrm>
            <a:off x="1207007" y="1243584"/>
            <a:ext cx="2157984" cy="841248"/>
          </a:xfrm>
          <a:prstGeom prst="rect">
            <a:avLst/>
          </a:prstGeom>
          <a:noFill/>
        </p:spPr>
        <p:txBody>
          <a:bodyPr wrap="square" lIns="0" rIns="0" tIns="0" bIns="0" anchor="ctr">
            <a:spAutoFit/>
          </a:bodyPr>
          <a:lstStyle/>
          <a:p>
            <a:pPr algn="ctr"/>
            <a:r>
              <a:rPr sz="4000" b="1" i="0">
                <a:solidFill>
                  <a:srgbClr val="002D6A"/>
                </a:solidFill>
                <a:latin typeface="Courier New"/>
              </a:rPr>
              <a:t>7</a:t>
            </a:r>
          </a:p>
        </p:txBody>
      </p:sp>
      <p:sp>
        <p:nvSpPr>
          <p:cNvPr id="13" name="@2 Open drawer"/>
          <p:cNvSpPr/>
          <p:nvPr/>
        </p:nvSpPr>
        <p:spPr>
          <a:xfrm>
            <a:off x="1207007" y="2267712"/>
            <a:ext cx="2157984" cy="841248"/>
          </a:xfrm>
          <a:prstGeom prst="roundRect">
            <a:avLst>
              <a:gd name="adj" fmla="val 12000"/>
            </a:avLst>
          </a:prstGeom>
          <a:solidFill>
            <a:srgbClr val="FFFFFF"/>
          </a:solidFill>
          <a:ln w="19050">
            <a:solidFill>
              <a:srgbClr val="002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2 Drawer value"/>
          <p:cNvSpPr txBox="1"/>
          <p:nvPr/>
        </p:nvSpPr>
        <p:spPr>
          <a:xfrm>
            <a:off x="1207007" y="2267712"/>
            <a:ext cx="2157984" cy="841248"/>
          </a:xfrm>
          <a:prstGeom prst="rect">
            <a:avLst/>
          </a:prstGeom>
          <a:noFill/>
        </p:spPr>
        <p:txBody>
          <a:bodyPr wrap="square" lIns="0" rIns="0" tIns="0" bIns="0" anchor="ctr">
            <a:spAutoFit/>
          </a:bodyPr>
          <a:lstStyle/>
          <a:p>
            <a:pPr algn="ctr"/>
            <a:r>
              <a:rPr sz="4000" b="1" i="0">
                <a:solidFill>
                  <a:srgbClr val="002D6A"/>
                </a:solidFill>
                <a:latin typeface="Courier New"/>
              </a:rPr>
              <a:t>3</a:t>
            </a:r>
          </a:p>
        </p:txBody>
      </p:sp>
      <p:sp>
        <p:nvSpPr>
          <p:cNvPr id="15" name="@3 Open drawer"/>
          <p:cNvSpPr/>
          <p:nvPr/>
        </p:nvSpPr>
        <p:spPr>
          <a:xfrm>
            <a:off x="1207007" y="3291840"/>
            <a:ext cx="2157984" cy="841248"/>
          </a:xfrm>
          <a:prstGeom prst="roundRect">
            <a:avLst>
              <a:gd name="adj" fmla="val 12000"/>
            </a:avLst>
          </a:prstGeom>
          <a:solidFill>
            <a:srgbClr val="FFFFFF"/>
          </a:solidFill>
          <a:ln w="19050">
            <a:solidFill>
              <a:srgbClr val="002D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3 Drawer value"/>
          <p:cNvSpPr txBox="1"/>
          <p:nvPr/>
        </p:nvSpPr>
        <p:spPr>
          <a:xfrm>
            <a:off x="1207007" y="3291840"/>
            <a:ext cx="2157984" cy="841248"/>
          </a:xfrm>
          <a:prstGeom prst="rect">
            <a:avLst/>
          </a:prstGeom>
          <a:noFill/>
        </p:spPr>
        <p:txBody>
          <a:bodyPr wrap="square" lIns="0" rIns="0" tIns="0" bIns="0" anchor="ctr">
            <a:spAutoFit/>
          </a:bodyPr>
          <a:lstStyle/>
          <a:p>
            <a:pPr algn="ctr"/>
            <a:r>
              <a:rPr sz="4000" b="1" i="0">
                <a:solidFill>
                  <a:srgbClr val="002D6A"/>
                </a:solidFill>
                <a:latin typeface="Courier New"/>
              </a:rPr>
              <a:t>9</a:t>
            </a:r>
          </a:p>
        </p:txBody>
      </p:sp>
      <p:sp>
        <p:nvSpPr>
          <p:cNvPr id="17" name="Code box"/>
          <p:cNvSpPr/>
          <p:nvPr/>
        </p:nvSpPr>
        <p:spPr>
          <a:xfrm>
            <a:off x="3749039" y="1143000"/>
            <a:ext cx="4937760" cy="1042415"/>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ode bar"/>
          <p:cNvSpPr/>
          <p:nvPr/>
        </p:nvSpPr>
        <p:spPr>
          <a:xfrm>
            <a:off x="3749039" y="1143000"/>
            <a:ext cx="54864" cy="1042415"/>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ode line"/>
          <p:cNvSpPr txBox="1"/>
          <p:nvPr/>
        </p:nvSpPr>
        <p:spPr>
          <a:xfrm>
            <a:off x="3931920" y="1280160"/>
            <a:ext cx="4663440" cy="384048"/>
          </a:xfrm>
          <a:prstGeom prst="rect">
            <a:avLst/>
          </a:prstGeom>
          <a:noFill/>
        </p:spPr>
        <p:txBody>
          <a:bodyPr wrap="square" lIns="0" rIns="0" tIns="0" bIns="0" anchor="ctr">
            <a:spAutoFit/>
          </a:bodyPr>
          <a:lstStyle/>
          <a:p>
            <a:pPr algn="l"/>
            <a:r>
              <a:rPr sz="2000" b="1" i="0">
                <a:solidFill>
                  <a:srgbClr val="8FB8FF"/>
                </a:solidFill>
                <a:latin typeface="Courier New"/>
              </a:rPr>
              <a:t>for</a:t>
            </a:r>
            <a:r>
              <a:rPr sz="2000" b="0" i="0">
                <a:solidFill>
                  <a:srgbClr val="E6ECF5"/>
                </a:solidFill>
                <a:latin typeface="Courier New"/>
              </a:rPr>
              <a:t> </a:t>
            </a:r>
            <a:r>
              <a:rPr sz="2000" b="0" i="0">
                <a:solidFill>
                  <a:srgbClr val="E6ECF5"/>
                </a:solidFill>
                <a:latin typeface="Courier New"/>
              </a:rPr>
              <a:t>number</a:t>
            </a:r>
            <a:r>
              <a:rPr sz="2000" b="0" i="0">
                <a:solidFill>
                  <a:srgbClr val="E6ECF5"/>
                </a:solidFill>
                <a:latin typeface="Courier New"/>
              </a:rPr>
              <a:t> </a:t>
            </a:r>
            <a:r>
              <a:rPr sz="2000" b="1" i="0">
                <a:solidFill>
                  <a:srgbClr val="8FB8FF"/>
                </a:solidFill>
                <a:latin typeface="Courier New"/>
              </a:rPr>
              <a:t>in</a:t>
            </a:r>
            <a:r>
              <a:rPr sz="2000" b="0" i="0">
                <a:solidFill>
                  <a:srgbClr val="E6ECF5"/>
                </a:solidFill>
                <a:latin typeface="Courier New"/>
              </a:rPr>
              <a:t> </a:t>
            </a:r>
            <a:r>
              <a:rPr sz="2000" b="0" i="0">
                <a:solidFill>
                  <a:srgbClr val="E6ECF5"/>
                </a:solidFill>
                <a:latin typeface="Courier New"/>
              </a:rPr>
              <a:t>[</a:t>
            </a:r>
            <a:r>
              <a:rPr sz="2000" b="0" i="0">
                <a:solidFill>
                  <a:srgbClr val="F2C879"/>
                </a:solidFill>
                <a:latin typeface="Courier New"/>
              </a:rPr>
              <a:t>7</a:t>
            </a:r>
            <a:r>
              <a:rPr sz="2000" b="0" i="0">
                <a:solidFill>
                  <a:srgbClr val="E6ECF5"/>
                </a:solidFill>
                <a:latin typeface="Courier New"/>
              </a:rPr>
              <a:t>,</a:t>
            </a:r>
            <a:r>
              <a:rPr sz="2000" b="0" i="0">
                <a:solidFill>
                  <a:srgbClr val="E6ECF5"/>
                </a:solidFill>
                <a:latin typeface="Courier New"/>
              </a:rPr>
              <a:t> </a:t>
            </a:r>
            <a:r>
              <a:rPr sz="2000" b="0" i="0">
                <a:solidFill>
                  <a:srgbClr val="F2C879"/>
                </a:solidFill>
                <a:latin typeface="Courier New"/>
              </a:rPr>
              <a:t>3</a:t>
            </a:r>
            <a:r>
              <a:rPr sz="2000" b="0" i="0">
                <a:solidFill>
                  <a:srgbClr val="E6ECF5"/>
                </a:solidFill>
                <a:latin typeface="Courier New"/>
              </a:rPr>
              <a:t>,</a:t>
            </a:r>
            <a:r>
              <a:rPr sz="2000" b="0" i="0">
                <a:solidFill>
                  <a:srgbClr val="E6ECF5"/>
                </a:solidFill>
                <a:latin typeface="Courier New"/>
              </a:rPr>
              <a:t> </a:t>
            </a:r>
            <a:r>
              <a:rPr sz="2000" b="0" i="0">
                <a:solidFill>
                  <a:srgbClr val="F2C879"/>
                </a:solidFill>
                <a:latin typeface="Courier New"/>
              </a:rPr>
              <a:t>9</a:t>
            </a:r>
            <a:r>
              <a:rPr sz="2000" b="0" i="0">
                <a:solidFill>
                  <a:srgbClr val="E6ECF5"/>
                </a:solidFill>
                <a:latin typeface="Courier New"/>
              </a:rPr>
              <a:t>]</a:t>
            </a:r>
            <a:r>
              <a:rPr sz="2000" b="0" i="0">
                <a:solidFill>
                  <a:srgbClr val="E6ECF5"/>
                </a:solidFill>
                <a:latin typeface="Courier New"/>
              </a:rPr>
              <a:t>:</a:t>
            </a:r>
          </a:p>
        </p:txBody>
      </p:sp>
      <p:sp>
        <p:nvSpPr>
          <p:cNvPr id="20" name="Code line"/>
          <p:cNvSpPr txBox="1"/>
          <p:nvPr/>
        </p:nvSpPr>
        <p:spPr>
          <a:xfrm>
            <a:off x="3931920" y="1664207"/>
            <a:ext cx="4663440" cy="384048"/>
          </a:xfrm>
          <a:prstGeom prst="rect">
            <a:avLst/>
          </a:prstGeom>
          <a:noFill/>
        </p:spPr>
        <p:txBody>
          <a:bodyPr wrap="square" lIns="0" rIns="0" tIns="0" bIns="0" anchor="ctr">
            <a:spAutoFit/>
          </a:bodyPr>
          <a:lstStyle/>
          <a:p>
            <a:pPr algn="l"/>
            <a:r>
              <a:rPr sz="2000" b="0" i="0">
                <a:solidFill>
                  <a:srgbClr val="E6ECF5"/>
                </a:solidFill>
                <a:latin typeface="Courier New"/>
              </a:rPr>
              <a:t>    </a:t>
            </a:r>
            <a:r>
              <a:rPr sz="2000" b="0" i="0">
                <a:solidFill>
                  <a:srgbClr val="E6ECF5"/>
                </a:solidFill>
                <a:latin typeface="Courier New"/>
              </a:rPr>
              <a:t>print</a:t>
            </a:r>
            <a:r>
              <a:rPr sz="2000" b="0" i="0">
                <a:solidFill>
                  <a:srgbClr val="E6ECF5"/>
                </a:solidFill>
                <a:latin typeface="Courier New"/>
              </a:rPr>
              <a:t>(</a:t>
            </a:r>
            <a:r>
              <a:rPr sz="2000" b="0" i="0">
                <a:solidFill>
                  <a:srgbClr val="E6ECF5"/>
                </a:solidFill>
                <a:latin typeface="Courier New"/>
              </a:rPr>
              <a:t>number</a:t>
            </a:r>
            <a:r>
              <a:rPr sz="2000" b="0" i="0">
                <a:solidFill>
                  <a:srgbClr val="E6ECF5"/>
                </a:solidFill>
                <a:latin typeface="Courier New"/>
              </a:rPr>
              <a:t>)</a:t>
            </a:r>
          </a:p>
        </p:txBody>
      </p:sp>
      <p:sp>
        <p:nvSpPr>
          <p:cNvPr id="21" name="Text"/>
          <p:cNvSpPr txBox="1"/>
          <p:nvPr/>
        </p:nvSpPr>
        <p:spPr>
          <a:xfrm>
            <a:off x="3749039" y="2331720"/>
            <a:ext cx="4937760" cy="457200"/>
          </a:xfrm>
          <a:prstGeom prst="rect">
            <a:avLst/>
          </a:prstGeom>
          <a:noFill/>
        </p:spPr>
        <p:txBody>
          <a:bodyPr wrap="square" lIns="0" rIns="0" tIns="0" bIns="0" anchor="ctr">
            <a:spAutoFit/>
          </a:bodyPr>
          <a:lstStyle/>
          <a:p>
            <a:pPr algn="l"/>
            <a:r>
              <a:rPr sz="1700" b="0" i="0">
                <a:solidFill>
                  <a:srgbClr val="22262E"/>
                </a:solidFill>
                <a:latin typeface="Arial"/>
              </a:rPr>
              <a:t>The indented lines run once for each drawer.</a:t>
            </a:r>
          </a:p>
        </p:txBody>
      </p:sp>
      <p:sp>
        <p:nvSpPr>
          <p:cNvPr id="22" name="Console card"/>
          <p:cNvSpPr/>
          <p:nvPr/>
        </p:nvSpPr>
        <p:spPr>
          <a:xfrm>
            <a:off x="3749039" y="2926080"/>
            <a:ext cx="4937760" cy="146304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p:cNvSpPr txBox="1"/>
          <p:nvPr/>
        </p:nvSpPr>
        <p:spPr>
          <a:xfrm>
            <a:off x="3931920" y="2971800"/>
            <a:ext cx="2743200" cy="274320"/>
          </a:xfrm>
          <a:prstGeom prst="rect">
            <a:avLst/>
          </a:prstGeom>
          <a:noFill/>
        </p:spPr>
        <p:txBody>
          <a:bodyPr wrap="square" lIns="0" rIns="0" tIns="0" bIns="0" anchor="ctr">
            <a:spAutoFit/>
          </a:bodyPr>
          <a:lstStyle/>
          <a:p>
            <a:pPr algn="l"/>
            <a:r>
              <a:rPr sz="1200" b="1" i="0">
                <a:solidFill>
                  <a:srgbClr val="5D6B80"/>
                </a:solidFill>
                <a:latin typeface="Arial"/>
              </a:rPr>
              <a:t>Console</a:t>
            </a:r>
          </a:p>
        </p:txBody>
      </p:sp>
      <p:sp>
        <p:nvSpPr>
          <p:cNvPr id="24" name="@1 Console line"/>
          <p:cNvSpPr txBox="1"/>
          <p:nvPr/>
        </p:nvSpPr>
        <p:spPr>
          <a:xfrm>
            <a:off x="3931920" y="3246120"/>
            <a:ext cx="4572000" cy="365760"/>
          </a:xfrm>
          <a:prstGeom prst="rect">
            <a:avLst/>
          </a:prstGeom>
          <a:noFill/>
        </p:spPr>
        <p:txBody>
          <a:bodyPr wrap="square" lIns="0" rIns="0" tIns="0" bIns="0" anchor="ctr">
            <a:spAutoFit/>
          </a:bodyPr>
          <a:lstStyle/>
          <a:p>
            <a:pPr algn="l"/>
            <a:r>
              <a:rPr sz="2200" b="1" i="0">
                <a:solidFill>
                  <a:srgbClr val="002D6A"/>
                </a:solidFill>
                <a:latin typeface="Courier New"/>
              </a:rPr>
              <a:t>7</a:t>
            </a:r>
          </a:p>
        </p:txBody>
      </p:sp>
      <p:sp>
        <p:nvSpPr>
          <p:cNvPr id="25" name="@2 Console line"/>
          <p:cNvSpPr txBox="1"/>
          <p:nvPr/>
        </p:nvSpPr>
        <p:spPr>
          <a:xfrm>
            <a:off x="3931920" y="3611879"/>
            <a:ext cx="4572000" cy="365760"/>
          </a:xfrm>
          <a:prstGeom prst="rect">
            <a:avLst/>
          </a:prstGeom>
          <a:noFill/>
        </p:spPr>
        <p:txBody>
          <a:bodyPr wrap="square" lIns="0" rIns="0" tIns="0" bIns="0" anchor="ctr">
            <a:spAutoFit/>
          </a:bodyPr>
          <a:lstStyle/>
          <a:p>
            <a:pPr algn="l"/>
            <a:r>
              <a:rPr sz="2200" b="1" i="0">
                <a:solidFill>
                  <a:srgbClr val="002D6A"/>
                </a:solidFill>
                <a:latin typeface="Courier New"/>
              </a:rPr>
              <a:t>3</a:t>
            </a:r>
          </a:p>
        </p:txBody>
      </p:sp>
      <p:sp>
        <p:nvSpPr>
          <p:cNvPr id="26" name="@3 Console line"/>
          <p:cNvSpPr txBox="1"/>
          <p:nvPr/>
        </p:nvSpPr>
        <p:spPr>
          <a:xfrm>
            <a:off x="3931920" y="3977639"/>
            <a:ext cx="4572000" cy="365760"/>
          </a:xfrm>
          <a:prstGeom prst="rect">
            <a:avLst/>
          </a:prstGeom>
          <a:noFill/>
        </p:spPr>
        <p:txBody>
          <a:bodyPr wrap="square" lIns="0" rIns="0" tIns="0" bIns="0" anchor="ctr">
            <a:spAutoFit/>
          </a:bodyPr>
          <a:lstStyle/>
          <a:p>
            <a:pPr algn="l"/>
            <a:r>
              <a:rPr sz="2200" b="1" i="0">
                <a:solidFill>
                  <a:srgbClr val="002D6A"/>
                </a:solidFill>
                <a:latin typeface="Courier New"/>
              </a:rPr>
              <a:t>9</a:t>
            </a:r>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2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2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200"/>
                                        <p:tgtEl>
                                          <p:spTgt spid="24"/>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200"/>
                                        <p:tgtEl>
                                          <p:spTgt spid="25"/>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2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2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2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4" grpId="0" animBg="1"/>
      <p:bldP spid="13" grpId="0" animBg="1"/>
      <p:bldP spid="14" grpId="0" animBg="1"/>
      <p:bldP spid="25" grpId="0" animBg="1"/>
      <p:bldP spid="15" grpId="0" animBg="1"/>
      <p:bldP spid="16" grpId="0" animBg="1"/>
      <p:bldP spid="26"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For Loops: range(3) Means Three Times</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40</a:t>
            </a:fld>
            <a:endParaRPr lang="en-US"/>
          </a:p>
        </p:txBody>
      </p:sp>
      <p:sp>
        <p:nvSpPr>
          <p:cNvPr id="4" name="Code box"/>
          <p:cNvSpPr/>
          <p:nvPr/>
        </p:nvSpPr>
        <p:spPr>
          <a:xfrm>
            <a:off x="457200" y="1143000"/>
            <a:ext cx="4572000" cy="1810512"/>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 bar"/>
          <p:cNvSpPr/>
          <p:nvPr/>
        </p:nvSpPr>
        <p:spPr>
          <a:xfrm>
            <a:off x="457200" y="1143000"/>
            <a:ext cx="54864" cy="1810512"/>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ode line"/>
          <p:cNvSpPr txBox="1"/>
          <p:nvPr/>
        </p:nvSpPr>
        <p:spPr>
          <a:xfrm>
            <a:off x="640080" y="1280160"/>
            <a:ext cx="4297680" cy="384048"/>
          </a:xfrm>
          <a:prstGeom prst="rect">
            <a:avLst/>
          </a:prstGeom>
          <a:noFill/>
        </p:spPr>
        <p:txBody>
          <a:bodyPr wrap="square" lIns="0" rIns="0" tIns="0" bIns="0" anchor="ctr">
            <a:spAutoFit/>
          </a:bodyPr>
          <a:lstStyle/>
          <a:p>
            <a:pPr algn="l"/>
            <a:r>
              <a:rPr sz="2000" b="0" i="0">
                <a:solidFill>
                  <a:srgbClr val="E6ECF5"/>
                </a:solidFill>
                <a:latin typeface="Courier New"/>
              </a:rPr>
              <a:t>row</a:t>
            </a:r>
            <a:r>
              <a:rPr sz="2000" b="0" i="0">
                <a:solidFill>
                  <a:srgbClr val="E6ECF5"/>
                </a:solidFill>
                <a:latin typeface="Courier New"/>
              </a:rPr>
              <a:t> </a:t>
            </a:r>
            <a:r>
              <a:rPr sz="2000" b="0" i="0">
                <a:solidFill>
                  <a:srgbClr val="E6ECF5"/>
                </a:solidFill>
                <a:latin typeface="Courier New"/>
              </a:rPr>
              <a:t>=</a:t>
            </a:r>
            <a:r>
              <a:rPr sz="2000" b="0" i="0">
                <a:solidFill>
                  <a:srgbClr val="E6ECF5"/>
                </a:solidFill>
                <a:latin typeface="Courier New"/>
              </a:rPr>
              <a:t> </a:t>
            </a:r>
            <a:r>
              <a:rPr sz="2000" b="0" i="0">
                <a:solidFill>
                  <a:srgbClr val="E6ECF5"/>
                </a:solidFill>
                <a:latin typeface="Courier New"/>
              </a:rPr>
              <a:t>[</a:t>
            </a:r>
            <a:r>
              <a:rPr sz="2000" b="0" i="0">
                <a:solidFill>
                  <a:srgbClr val="E6ECF5"/>
                </a:solidFill>
                <a:latin typeface="Courier New"/>
              </a:rPr>
              <a:t>]</a:t>
            </a:r>
          </a:p>
        </p:txBody>
      </p:sp>
      <p:sp>
        <p:nvSpPr>
          <p:cNvPr id="7" name="Code line"/>
          <p:cNvSpPr txBox="1"/>
          <p:nvPr/>
        </p:nvSpPr>
        <p:spPr>
          <a:xfrm>
            <a:off x="640080" y="1664207"/>
            <a:ext cx="4297680" cy="384048"/>
          </a:xfrm>
          <a:prstGeom prst="rect">
            <a:avLst/>
          </a:prstGeom>
          <a:noFill/>
        </p:spPr>
        <p:txBody>
          <a:bodyPr wrap="square" lIns="0" rIns="0" tIns="0" bIns="0" anchor="ctr">
            <a:spAutoFit/>
          </a:bodyPr>
          <a:lstStyle/>
          <a:p>
            <a:pPr algn="l"/>
            <a:r>
              <a:rPr sz="2000" b="1" i="0">
                <a:solidFill>
                  <a:srgbClr val="8FB8FF"/>
                </a:solidFill>
                <a:latin typeface="Courier New"/>
              </a:rPr>
              <a:t>for</a:t>
            </a:r>
            <a:r>
              <a:rPr sz="2000" b="0" i="0">
                <a:solidFill>
                  <a:srgbClr val="E6ECF5"/>
                </a:solidFill>
                <a:latin typeface="Courier New"/>
              </a:rPr>
              <a:t> </a:t>
            </a:r>
            <a:r>
              <a:rPr sz="2000" b="0" i="0">
                <a:solidFill>
                  <a:srgbClr val="E6ECF5"/>
                </a:solidFill>
                <a:latin typeface="Courier New"/>
              </a:rPr>
              <a:t>i</a:t>
            </a:r>
            <a:r>
              <a:rPr sz="2000" b="0" i="0">
                <a:solidFill>
                  <a:srgbClr val="E6ECF5"/>
                </a:solidFill>
                <a:latin typeface="Courier New"/>
              </a:rPr>
              <a:t> </a:t>
            </a:r>
            <a:r>
              <a:rPr sz="2000" b="1" i="0">
                <a:solidFill>
                  <a:srgbClr val="8FB8FF"/>
                </a:solidFill>
                <a:latin typeface="Courier New"/>
              </a:rPr>
              <a:t>in</a:t>
            </a:r>
            <a:r>
              <a:rPr sz="2000" b="0" i="0">
                <a:solidFill>
                  <a:srgbClr val="E6ECF5"/>
                </a:solidFill>
                <a:latin typeface="Courier New"/>
              </a:rPr>
              <a:t> </a:t>
            </a:r>
            <a:r>
              <a:rPr sz="2000" b="1" i="0">
                <a:solidFill>
                  <a:srgbClr val="8FB8FF"/>
                </a:solidFill>
                <a:latin typeface="Courier New"/>
              </a:rPr>
              <a:t>range</a:t>
            </a:r>
            <a:r>
              <a:rPr sz="2000" b="0" i="0">
                <a:solidFill>
                  <a:srgbClr val="E6ECF5"/>
                </a:solidFill>
                <a:latin typeface="Courier New"/>
              </a:rPr>
              <a:t>(</a:t>
            </a:r>
            <a:r>
              <a:rPr sz="2000" b="0" i="0">
                <a:solidFill>
                  <a:srgbClr val="F2C879"/>
                </a:solidFill>
                <a:latin typeface="Courier New"/>
              </a:rPr>
              <a:t>3</a:t>
            </a:r>
            <a:r>
              <a:rPr sz="2000" b="0" i="0">
                <a:solidFill>
                  <a:srgbClr val="E6ECF5"/>
                </a:solidFill>
                <a:latin typeface="Courier New"/>
              </a:rPr>
              <a:t>)</a:t>
            </a:r>
            <a:r>
              <a:rPr sz="2000" b="0" i="0">
                <a:solidFill>
                  <a:srgbClr val="E6ECF5"/>
                </a:solidFill>
                <a:latin typeface="Courier New"/>
              </a:rPr>
              <a:t>:</a:t>
            </a:r>
          </a:p>
        </p:txBody>
      </p:sp>
      <p:sp>
        <p:nvSpPr>
          <p:cNvPr id="8" name="Code line"/>
          <p:cNvSpPr txBox="1"/>
          <p:nvPr/>
        </p:nvSpPr>
        <p:spPr>
          <a:xfrm>
            <a:off x="640080" y="2048255"/>
            <a:ext cx="4297680" cy="384048"/>
          </a:xfrm>
          <a:prstGeom prst="rect">
            <a:avLst/>
          </a:prstGeom>
          <a:noFill/>
        </p:spPr>
        <p:txBody>
          <a:bodyPr wrap="square" lIns="0" rIns="0" tIns="0" bIns="0" anchor="ctr">
            <a:spAutoFit/>
          </a:bodyPr>
          <a:lstStyle/>
          <a:p>
            <a:pPr algn="l"/>
            <a:r>
              <a:rPr sz="2000" b="0" i="0">
                <a:solidFill>
                  <a:srgbClr val="E6ECF5"/>
                </a:solidFill>
                <a:latin typeface="Courier New"/>
              </a:rPr>
              <a:t>    </a:t>
            </a:r>
            <a:r>
              <a:rPr sz="2000" b="0" i="0">
                <a:solidFill>
                  <a:srgbClr val="E6ECF5"/>
                </a:solidFill>
                <a:latin typeface="Courier New"/>
              </a:rPr>
              <a:t>row</a:t>
            </a:r>
            <a:r>
              <a:rPr sz="2000" b="0" i="0">
                <a:solidFill>
                  <a:srgbClr val="E6ECF5"/>
                </a:solidFill>
                <a:latin typeface="Courier New"/>
              </a:rPr>
              <a:t>.</a:t>
            </a:r>
            <a:r>
              <a:rPr sz="2000" b="0" i="0">
                <a:solidFill>
                  <a:srgbClr val="E6ECF5"/>
                </a:solidFill>
                <a:latin typeface="Courier New"/>
              </a:rPr>
              <a:t>append</a:t>
            </a:r>
            <a:r>
              <a:rPr sz="2000" b="0" i="0">
                <a:solidFill>
                  <a:srgbClr val="E6ECF5"/>
                </a:solidFill>
                <a:latin typeface="Courier New"/>
              </a:rPr>
              <a:t>(</a:t>
            </a:r>
            <a:r>
              <a:rPr sz="2000" b="0" i="0">
                <a:solidFill>
                  <a:srgbClr val="F2C879"/>
                </a:solidFill>
                <a:latin typeface="Courier New"/>
              </a:rPr>
              <a:t>0</a:t>
            </a:r>
            <a:r>
              <a:rPr sz="2000" b="0" i="0">
                <a:solidFill>
                  <a:srgbClr val="E6ECF5"/>
                </a:solidFill>
                <a:latin typeface="Courier New"/>
              </a:rPr>
              <a:t>)</a:t>
            </a:r>
          </a:p>
        </p:txBody>
      </p:sp>
      <p:sp>
        <p:nvSpPr>
          <p:cNvPr id="9" name="Code line"/>
          <p:cNvSpPr txBox="1"/>
          <p:nvPr/>
        </p:nvSpPr>
        <p:spPr>
          <a:xfrm>
            <a:off x="640080" y="2432304"/>
            <a:ext cx="4297680" cy="384048"/>
          </a:xfrm>
          <a:prstGeom prst="rect">
            <a:avLst/>
          </a:prstGeom>
          <a:noFill/>
        </p:spPr>
        <p:txBody>
          <a:bodyPr wrap="square" lIns="0" rIns="0" tIns="0" bIns="0" anchor="ctr">
            <a:spAutoFit/>
          </a:bodyPr>
          <a:lstStyle/>
          <a:p>
            <a:pPr algn="l"/>
            <a:r>
              <a:rPr sz="2000" b="0" i="0">
                <a:solidFill>
                  <a:srgbClr val="E6ECF5"/>
                </a:solidFill>
                <a:latin typeface="Courier New"/>
              </a:rPr>
              <a:t>print</a:t>
            </a:r>
            <a:r>
              <a:rPr sz="2000" b="0" i="0">
                <a:solidFill>
                  <a:srgbClr val="E6ECF5"/>
                </a:solidFill>
                <a:latin typeface="Courier New"/>
              </a:rPr>
              <a:t>(</a:t>
            </a:r>
            <a:r>
              <a:rPr sz="2000" b="0" i="0">
                <a:solidFill>
                  <a:srgbClr val="E6ECF5"/>
                </a:solidFill>
                <a:latin typeface="Courier New"/>
              </a:rPr>
              <a:t>row</a:t>
            </a:r>
            <a:r>
              <a:rPr sz="2000" b="0" i="0">
                <a:solidFill>
                  <a:srgbClr val="E6ECF5"/>
                </a:solidFill>
                <a:latin typeface="Courier New"/>
              </a:rPr>
              <a:t>)</a:t>
            </a:r>
          </a:p>
        </p:txBody>
      </p:sp>
      <p:sp>
        <p:nvSpPr>
          <p:cNvPr id="10" name="@1 Card"/>
          <p:cNvSpPr/>
          <p:nvPr/>
        </p:nvSpPr>
        <p:spPr>
          <a:xfrm>
            <a:off x="5303520" y="1143000"/>
            <a:ext cx="3383280" cy="54864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1 Pass"/>
          <p:cNvSpPr txBox="1"/>
          <p:nvPr/>
        </p:nvSpPr>
        <p:spPr>
          <a:xfrm>
            <a:off x="5394960" y="1143000"/>
            <a:ext cx="3246120" cy="548640"/>
          </a:xfrm>
          <a:prstGeom prst="rect">
            <a:avLst/>
          </a:prstGeom>
          <a:noFill/>
        </p:spPr>
        <p:txBody>
          <a:bodyPr wrap="square" lIns="0" rIns="0" tIns="0" bIns="0" anchor="ctr">
            <a:spAutoFit/>
          </a:bodyPr>
          <a:lstStyle/>
          <a:p>
            <a:pPr algn="l"/>
            <a:r>
              <a:rPr sz="1400" b="0" i="0">
                <a:solidFill>
                  <a:srgbClr val="5D6B80"/>
                </a:solidFill>
                <a:latin typeface="Courier New"/>
              </a:rPr>
              <a:t>pass 1   </a:t>
            </a:r>
            <a:r>
              <a:rPr sz="1400" b="1" i="0">
                <a:solidFill>
                  <a:srgbClr val="002D6A"/>
                </a:solidFill>
                <a:latin typeface="Courier New"/>
              </a:rPr>
              <a:t>row = [0]</a:t>
            </a:r>
          </a:p>
        </p:txBody>
      </p:sp>
      <p:sp>
        <p:nvSpPr>
          <p:cNvPr id="12" name="@2 Card"/>
          <p:cNvSpPr/>
          <p:nvPr/>
        </p:nvSpPr>
        <p:spPr>
          <a:xfrm>
            <a:off x="5303520" y="1783080"/>
            <a:ext cx="3383280" cy="54864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2 Pass"/>
          <p:cNvSpPr txBox="1"/>
          <p:nvPr/>
        </p:nvSpPr>
        <p:spPr>
          <a:xfrm>
            <a:off x="5394960" y="1783080"/>
            <a:ext cx="3246120" cy="548640"/>
          </a:xfrm>
          <a:prstGeom prst="rect">
            <a:avLst/>
          </a:prstGeom>
          <a:noFill/>
        </p:spPr>
        <p:txBody>
          <a:bodyPr wrap="square" lIns="0" rIns="0" tIns="0" bIns="0" anchor="ctr">
            <a:spAutoFit/>
          </a:bodyPr>
          <a:lstStyle/>
          <a:p>
            <a:pPr algn="l"/>
            <a:r>
              <a:rPr sz="1400" b="0" i="0">
                <a:solidFill>
                  <a:srgbClr val="5D6B80"/>
                </a:solidFill>
                <a:latin typeface="Courier New"/>
              </a:rPr>
              <a:t>pass 2   </a:t>
            </a:r>
            <a:r>
              <a:rPr sz="1400" b="1" i="0">
                <a:solidFill>
                  <a:srgbClr val="002D6A"/>
                </a:solidFill>
                <a:latin typeface="Courier New"/>
              </a:rPr>
              <a:t>row = [0, 0]</a:t>
            </a:r>
          </a:p>
        </p:txBody>
      </p:sp>
      <p:sp>
        <p:nvSpPr>
          <p:cNvPr id="14" name="@3 Card"/>
          <p:cNvSpPr/>
          <p:nvPr/>
        </p:nvSpPr>
        <p:spPr>
          <a:xfrm>
            <a:off x="5303520" y="2423160"/>
            <a:ext cx="3383280" cy="54864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3 Pass"/>
          <p:cNvSpPr txBox="1"/>
          <p:nvPr/>
        </p:nvSpPr>
        <p:spPr>
          <a:xfrm>
            <a:off x="5394960" y="2423160"/>
            <a:ext cx="3246120" cy="548640"/>
          </a:xfrm>
          <a:prstGeom prst="rect">
            <a:avLst/>
          </a:prstGeom>
          <a:noFill/>
        </p:spPr>
        <p:txBody>
          <a:bodyPr wrap="square" lIns="0" rIns="0" tIns="0" bIns="0" anchor="ctr">
            <a:spAutoFit/>
          </a:bodyPr>
          <a:lstStyle/>
          <a:p>
            <a:pPr algn="l"/>
            <a:r>
              <a:rPr sz="1400" b="0" i="0">
                <a:solidFill>
                  <a:srgbClr val="5D6B80"/>
                </a:solidFill>
                <a:latin typeface="Courier New"/>
              </a:rPr>
              <a:t>pass 3   </a:t>
            </a:r>
            <a:r>
              <a:rPr sz="1400" b="1" i="0">
                <a:solidFill>
                  <a:srgbClr val="002D6A"/>
                </a:solidFill>
                <a:latin typeface="Courier New"/>
              </a:rPr>
              <a:t>row = [0, 0, 0]</a:t>
            </a:r>
          </a:p>
        </p:txBody>
      </p:sp>
      <p:sp>
        <p:nvSpPr>
          <p:cNvPr id="16" name="@4 Card"/>
          <p:cNvSpPr/>
          <p:nvPr/>
        </p:nvSpPr>
        <p:spPr>
          <a:xfrm>
            <a:off x="457200" y="3108960"/>
            <a:ext cx="4572000" cy="64008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4 Console line"/>
          <p:cNvSpPr txBox="1"/>
          <p:nvPr/>
        </p:nvSpPr>
        <p:spPr>
          <a:xfrm>
            <a:off x="685800" y="3108960"/>
            <a:ext cx="4114800" cy="640080"/>
          </a:xfrm>
          <a:prstGeom prst="rect">
            <a:avLst/>
          </a:prstGeom>
          <a:noFill/>
        </p:spPr>
        <p:txBody>
          <a:bodyPr wrap="square" lIns="0" rIns="0" tIns="0" bIns="0" anchor="ctr">
            <a:spAutoFit/>
          </a:bodyPr>
          <a:lstStyle/>
          <a:p>
            <a:pPr algn="l"/>
            <a:r>
              <a:rPr sz="2200" b="1" i="0">
                <a:solidFill>
                  <a:srgbClr val="002D6A"/>
                </a:solidFill>
                <a:latin typeface="Courier New"/>
              </a:rPr>
              <a:t>[0, 0, 0]</a:t>
            </a:r>
          </a:p>
        </p:txBody>
      </p:sp>
      <p:sp>
        <p:nvSpPr>
          <p:cNvPr id="18" name="@5 Callout"/>
          <p:cNvSpPr/>
          <p:nvPr/>
        </p:nvSpPr>
        <p:spPr>
          <a:xfrm>
            <a:off x="457200" y="3931920"/>
            <a:ext cx="8229600" cy="640080"/>
          </a:xfrm>
          <a:prstGeom prst="roundRect">
            <a:avLst>
              <a:gd name="adj" fmla="val 12000"/>
            </a:avLst>
          </a:prstGeom>
          <a:solidFill>
            <a:srgbClr val="FFFFFF"/>
          </a:solidFill>
          <a:ln w="1587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5 Callout text"/>
          <p:cNvSpPr txBox="1"/>
          <p:nvPr/>
        </p:nvSpPr>
        <p:spPr>
          <a:xfrm>
            <a:off x="685800" y="3931920"/>
            <a:ext cx="7772400" cy="640080"/>
          </a:xfrm>
          <a:prstGeom prst="rect">
            <a:avLst/>
          </a:prstGeom>
          <a:noFill/>
        </p:spPr>
        <p:txBody>
          <a:bodyPr wrap="square" lIns="0" rIns="0" tIns="0" bIns="0" anchor="ctr">
            <a:spAutoFit/>
          </a:bodyPr>
          <a:lstStyle/>
          <a:p>
            <a:pPr algn="l"/>
            <a:r>
              <a:rPr sz="1600" b="1" i="0">
                <a:solidFill>
                  <a:srgbClr val="5D79A0"/>
                </a:solidFill>
                <a:latin typeface="Arial"/>
              </a:rPr>
              <a:t>TIP  </a:t>
            </a:r>
            <a:r>
              <a:rPr sz="1600" b="0" i="0">
                <a:solidFill>
                  <a:srgbClr val="22262E"/>
                </a:solidFill>
                <a:latin typeface="Arial"/>
              </a:rPr>
              <a:t>range(3) counts 0, 1, 2: three times round.</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200"/>
                                        <p:tgtEl>
                                          <p:spTgt spid="10"/>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2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00"/>
                                        <p:tgtEl>
                                          <p:spTgt spid="13"/>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2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200"/>
                                        <p:tgtEl>
                                          <p:spTgt spid="15"/>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2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200"/>
                                        <p:tgtEl>
                                          <p:spTgt spid="17"/>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2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2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Same Thing, Two Ways</a:t>
            </a:r>
            <a:endParaRPr lang="en-US" sz="3000" dirty="0"/>
          </a:p>
        </p:txBody>
      </p:sp>
      <p:sp>
        <p:nvSpPr>
          <p:cNvPr id="3" name="Text 1"/>
          <p:cNvSpPr txBox="1"/>
          <p:nvPr/>
        </p:nvSpPr>
        <p:spPr>
          <a:xfrm>
            <a:off x="457200" y="1280160"/>
            <a:ext cx="8229600" cy="548640"/>
          </a:xfrm>
          <a:prstGeom prst="rect">
            <a:avLst/>
          </a:prstGeom>
          <a:noFill/>
          <a:ln/>
        </p:spPr>
        <p:txBody>
          <a:bodyPr wrap="square" lIns="0" tIns="0" rIns="0" bIns="0" rtlCol="0" anchor="ctr"/>
          <a:lstStyle/>
          <a:p>
            <a:pPr marL="0" indent="0">
              <a:buNone/>
            </a:pPr>
            <a:r>
              <a:rPr lang="en-US" sz="2400" b="1" dirty="0">
                <a:solidFill>
                  <a:srgbClr val="002D6A"/>
                </a:solidFill>
                <a:latin typeface="Courier New" pitchFamily="34" charset="0"/>
                <a:ea typeface="Courier New" pitchFamily="34" charset="-122"/>
                <a:cs typeface="Courier New" pitchFamily="34" charset="-120"/>
              </a:rPr>
              <a:t>Clue:  [2, 7, 3]</a:t>
            </a:r>
            <a:endParaRPr lang="en-US" sz="2400" dirty="0"/>
          </a:p>
        </p:txBody>
      </p:sp>
      <p:sp>
        <p:nvSpPr>
          <p:cNvPr id="4" name="Text 2"/>
          <p:cNvSpPr txBox="1"/>
          <p:nvPr/>
        </p:nvSpPr>
        <p:spPr>
          <a:xfrm>
            <a:off x="457200" y="2011680"/>
            <a:ext cx="8229600" cy="548640"/>
          </a:xfrm>
          <a:prstGeom prst="rect">
            <a:avLst/>
          </a:prstGeom>
          <a:noFill/>
          <a:ln/>
        </p:spPr>
        <p:txBody>
          <a:bodyPr wrap="square" lIns="0" tIns="0" rIns="0" bIns="0" rtlCol="0" anchor="ctr"/>
          <a:lstStyle/>
          <a:p>
            <a:pPr marL="0" indent="0">
              <a:buNone/>
            </a:pPr>
            <a:r>
              <a:rPr lang="en-US" sz="2200" b="1" dirty="0">
                <a:solidFill>
                  <a:srgbClr val="002D6A"/>
                </a:solidFill>
                <a:latin typeface="Courier New" pitchFamily="34" charset="0"/>
                <a:ea typeface="Courier New" pitchFamily="34" charset="-122"/>
                <a:cs typeface="Courier New" pitchFamily="34" charset="-120"/>
              </a:rPr>
              <a:t>Row:   [0,0,1,1,1,1,1,1,1,0,0,0]</a:t>
            </a:r>
            <a:endParaRPr lang="en-US" sz="2200" dirty="0"/>
          </a:p>
        </p:txBody>
      </p:sp>
      <p:sp>
        <p:nvSpPr>
          <p:cNvPr id="5" name="Cell off"/>
          <p:cNvSpPr/>
          <p:nvPr/>
        </p:nvSpPr>
        <p:spPr>
          <a:xfrm>
            <a:off x="1371600" y="2834640"/>
            <a:ext cx="457200" cy="457200"/>
          </a:xfrm>
          <a:prstGeom prst="rect">
            <a:avLst/>
          </a:prstGeom>
          <a:solidFill>
            <a:srgbClr val="FFFFFF"/>
          </a:solidFill>
          <a:ln w="9525">
            <a:solidFill>
              <a:srgbClr val="C5D1E3"/>
            </a:solidFill>
            <a:prstDash val="solid"/>
          </a:ln>
        </p:spPr>
        <p:txBody>
          <a:bodyPr/>
          <a:lstStyle/>
          <a:p>
            <a:endParaRPr lang="en-GB"/>
          </a:p>
        </p:txBody>
      </p:sp>
      <p:sp>
        <p:nvSpPr>
          <p:cNvPr id="6" name="Cell off"/>
          <p:cNvSpPr/>
          <p:nvPr/>
        </p:nvSpPr>
        <p:spPr>
          <a:xfrm>
            <a:off x="1828800" y="2834640"/>
            <a:ext cx="457200" cy="457200"/>
          </a:xfrm>
          <a:prstGeom prst="rect">
            <a:avLst/>
          </a:prstGeom>
          <a:solidFill>
            <a:srgbClr val="FFFFFF"/>
          </a:solidFill>
          <a:ln w="9525">
            <a:solidFill>
              <a:srgbClr val="C5D1E3"/>
            </a:solidFill>
            <a:prstDash val="solid"/>
          </a:ln>
        </p:spPr>
        <p:txBody>
          <a:bodyPr/>
          <a:lstStyle/>
          <a:p>
            <a:endParaRPr lang="en-GB"/>
          </a:p>
        </p:txBody>
      </p:sp>
      <p:sp>
        <p:nvSpPr>
          <p:cNvPr id="7" name="Cell on"/>
          <p:cNvSpPr/>
          <p:nvPr/>
        </p:nvSpPr>
        <p:spPr>
          <a:xfrm>
            <a:off x="2286000" y="2834640"/>
            <a:ext cx="457200" cy="457200"/>
          </a:xfrm>
          <a:prstGeom prst="rect">
            <a:avLst/>
          </a:prstGeom>
          <a:solidFill>
            <a:srgbClr val="002D6A"/>
          </a:solidFill>
          <a:ln w="9525">
            <a:solidFill>
              <a:srgbClr val="C5D1E3"/>
            </a:solidFill>
            <a:prstDash val="solid"/>
          </a:ln>
        </p:spPr>
        <p:txBody>
          <a:bodyPr/>
          <a:lstStyle/>
          <a:p>
            <a:endParaRPr lang="en-GB"/>
          </a:p>
        </p:txBody>
      </p:sp>
      <p:sp>
        <p:nvSpPr>
          <p:cNvPr id="8" name="Cell on"/>
          <p:cNvSpPr/>
          <p:nvPr/>
        </p:nvSpPr>
        <p:spPr>
          <a:xfrm>
            <a:off x="2743200" y="2834640"/>
            <a:ext cx="457200" cy="457200"/>
          </a:xfrm>
          <a:prstGeom prst="rect">
            <a:avLst/>
          </a:prstGeom>
          <a:solidFill>
            <a:srgbClr val="002D6A"/>
          </a:solidFill>
          <a:ln w="9525">
            <a:solidFill>
              <a:srgbClr val="C5D1E3"/>
            </a:solidFill>
            <a:prstDash val="solid"/>
          </a:ln>
        </p:spPr>
        <p:txBody>
          <a:bodyPr/>
          <a:lstStyle/>
          <a:p>
            <a:endParaRPr lang="en-GB"/>
          </a:p>
        </p:txBody>
      </p:sp>
      <p:sp>
        <p:nvSpPr>
          <p:cNvPr id="9" name="Cell on"/>
          <p:cNvSpPr/>
          <p:nvPr/>
        </p:nvSpPr>
        <p:spPr>
          <a:xfrm>
            <a:off x="3200400" y="2834640"/>
            <a:ext cx="457200" cy="457200"/>
          </a:xfrm>
          <a:prstGeom prst="rect">
            <a:avLst/>
          </a:prstGeom>
          <a:solidFill>
            <a:srgbClr val="002D6A"/>
          </a:solidFill>
          <a:ln w="9525">
            <a:solidFill>
              <a:srgbClr val="C5D1E3"/>
            </a:solidFill>
            <a:prstDash val="solid"/>
          </a:ln>
        </p:spPr>
        <p:txBody>
          <a:bodyPr/>
          <a:lstStyle/>
          <a:p>
            <a:endParaRPr lang="en-GB"/>
          </a:p>
        </p:txBody>
      </p:sp>
      <p:sp>
        <p:nvSpPr>
          <p:cNvPr id="10" name="Cell on"/>
          <p:cNvSpPr/>
          <p:nvPr/>
        </p:nvSpPr>
        <p:spPr>
          <a:xfrm>
            <a:off x="3657600" y="2834640"/>
            <a:ext cx="457200" cy="457200"/>
          </a:xfrm>
          <a:prstGeom prst="rect">
            <a:avLst/>
          </a:prstGeom>
          <a:solidFill>
            <a:srgbClr val="002D6A"/>
          </a:solidFill>
          <a:ln w="9525">
            <a:solidFill>
              <a:srgbClr val="C5D1E3"/>
            </a:solidFill>
            <a:prstDash val="solid"/>
          </a:ln>
        </p:spPr>
        <p:txBody>
          <a:bodyPr/>
          <a:lstStyle/>
          <a:p>
            <a:endParaRPr lang="en-GB"/>
          </a:p>
        </p:txBody>
      </p:sp>
      <p:sp>
        <p:nvSpPr>
          <p:cNvPr id="11" name="Cell on"/>
          <p:cNvSpPr/>
          <p:nvPr/>
        </p:nvSpPr>
        <p:spPr>
          <a:xfrm>
            <a:off x="4114800" y="2834640"/>
            <a:ext cx="457200" cy="457200"/>
          </a:xfrm>
          <a:prstGeom prst="rect">
            <a:avLst/>
          </a:prstGeom>
          <a:solidFill>
            <a:srgbClr val="002D6A"/>
          </a:solidFill>
          <a:ln w="9525">
            <a:solidFill>
              <a:srgbClr val="C5D1E3"/>
            </a:solidFill>
            <a:prstDash val="solid"/>
          </a:ln>
        </p:spPr>
        <p:txBody>
          <a:bodyPr/>
          <a:lstStyle/>
          <a:p>
            <a:endParaRPr lang="en-GB"/>
          </a:p>
        </p:txBody>
      </p:sp>
      <p:sp>
        <p:nvSpPr>
          <p:cNvPr id="12" name="Cell on"/>
          <p:cNvSpPr/>
          <p:nvPr/>
        </p:nvSpPr>
        <p:spPr>
          <a:xfrm>
            <a:off x="4572000" y="2834640"/>
            <a:ext cx="457200" cy="457200"/>
          </a:xfrm>
          <a:prstGeom prst="rect">
            <a:avLst/>
          </a:prstGeom>
          <a:solidFill>
            <a:srgbClr val="002D6A"/>
          </a:solidFill>
          <a:ln w="9525">
            <a:solidFill>
              <a:srgbClr val="C5D1E3"/>
            </a:solidFill>
            <a:prstDash val="solid"/>
          </a:ln>
        </p:spPr>
        <p:txBody>
          <a:bodyPr/>
          <a:lstStyle/>
          <a:p>
            <a:endParaRPr lang="en-GB"/>
          </a:p>
        </p:txBody>
      </p:sp>
      <p:sp>
        <p:nvSpPr>
          <p:cNvPr id="13" name="Cell on"/>
          <p:cNvSpPr/>
          <p:nvPr/>
        </p:nvSpPr>
        <p:spPr>
          <a:xfrm>
            <a:off x="5029200" y="2834640"/>
            <a:ext cx="457200" cy="457200"/>
          </a:xfrm>
          <a:prstGeom prst="rect">
            <a:avLst/>
          </a:prstGeom>
          <a:solidFill>
            <a:srgbClr val="002D6A"/>
          </a:solidFill>
          <a:ln w="9525">
            <a:solidFill>
              <a:srgbClr val="C5D1E3"/>
            </a:solidFill>
            <a:prstDash val="solid"/>
          </a:ln>
        </p:spPr>
        <p:txBody>
          <a:bodyPr/>
          <a:lstStyle/>
          <a:p>
            <a:endParaRPr lang="en-GB"/>
          </a:p>
        </p:txBody>
      </p:sp>
      <p:sp>
        <p:nvSpPr>
          <p:cNvPr id="14" name="Cell off"/>
          <p:cNvSpPr/>
          <p:nvPr/>
        </p:nvSpPr>
        <p:spPr>
          <a:xfrm>
            <a:off x="5486400" y="2834640"/>
            <a:ext cx="457200" cy="457200"/>
          </a:xfrm>
          <a:prstGeom prst="rect">
            <a:avLst/>
          </a:prstGeom>
          <a:solidFill>
            <a:srgbClr val="FFFFFF"/>
          </a:solidFill>
          <a:ln w="9525">
            <a:solidFill>
              <a:srgbClr val="C5D1E3"/>
            </a:solidFill>
            <a:prstDash val="solid"/>
          </a:ln>
        </p:spPr>
        <p:txBody>
          <a:bodyPr/>
          <a:lstStyle/>
          <a:p>
            <a:endParaRPr lang="en-GB"/>
          </a:p>
        </p:txBody>
      </p:sp>
      <p:sp>
        <p:nvSpPr>
          <p:cNvPr id="15" name="Cell off"/>
          <p:cNvSpPr/>
          <p:nvPr/>
        </p:nvSpPr>
        <p:spPr>
          <a:xfrm>
            <a:off x="5943600" y="2834640"/>
            <a:ext cx="457200" cy="457200"/>
          </a:xfrm>
          <a:prstGeom prst="rect">
            <a:avLst/>
          </a:prstGeom>
          <a:solidFill>
            <a:srgbClr val="FFFFFF"/>
          </a:solidFill>
          <a:ln w="9525">
            <a:solidFill>
              <a:srgbClr val="C5D1E3"/>
            </a:solidFill>
            <a:prstDash val="solid"/>
          </a:ln>
        </p:spPr>
        <p:txBody>
          <a:bodyPr/>
          <a:lstStyle/>
          <a:p>
            <a:endParaRPr lang="en-GB"/>
          </a:p>
        </p:txBody>
      </p:sp>
      <p:sp>
        <p:nvSpPr>
          <p:cNvPr id="16" name="Cell off"/>
          <p:cNvSpPr/>
          <p:nvPr/>
        </p:nvSpPr>
        <p:spPr>
          <a:xfrm>
            <a:off x="6400800" y="2834640"/>
            <a:ext cx="457200" cy="457200"/>
          </a:xfrm>
          <a:prstGeom prst="rect">
            <a:avLst/>
          </a:prstGeom>
          <a:solidFill>
            <a:srgbClr val="FFFFFF"/>
          </a:solidFill>
          <a:ln w="9525">
            <a:solidFill>
              <a:srgbClr val="C5D1E3"/>
            </a:solidFill>
            <a:prstDash val="solid"/>
          </a:ln>
        </p:spPr>
        <p:txBody>
          <a:bodyPr/>
          <a:lstStyle/>
          <a:p>
            <a:endParaRPr lang="en-GB"/>
          </a:p>
        </p:txBody>
      </p:sp>
      <p:sp>
        <p:nvSpPr>
          <p:cNvPr id="17" name="@1 Callout"/>
          <p:cNvSpPr/>
          <p:nvPr/>
        </p:nvSpPr>
        <p:spPr>
          <a:xfrm>
            <a:off x="457200" y="3657600"/>
            <a:ext cx="8229600" cy="731520"/>
          </a:xfrm>
          <a:prstGeom prst="roundRect">
            <a:avLst>
              <a:gd name="adj" fmla="val 12500"/>
            </a:avLst>
          </a:prstGeom>
          <a:solidFill>
            <a:srgbClr val="FFFFFF"/>
          </a:solidFill>
          <a:ln w="15875">
            <a:solidFill>
              <a:srgbClr val="002D6A"/>
            </a:solidFill>
            <a:prstDash val="solid"/>
          </a:ln>
        </p:spPr>
        <p:txBody>
          <a:bodyPr/>
          <a:lstStyle/>
          <a:p>
            <a:endParaRPr lang="en-GB"/>
          </a:p>
        </p:txBody>
      </p:sp>
      <p:sp>
        <p:nvSpPr>
          <p:cNvPr id="18" name="@1 addText"/>
          <p:cNvSpPr txBox="1"/>
          <p:nvPr/>
        </p:nvSpPr>
        <p:spPr>
          <a:xfrm>
            <a:off x="685800" y="3657600"/>
            <a:ext cx="7772400" cy="73152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Our job: turn the clue into the row.</a:t>
            </a:r>
            <a:endParaRPr lang="en-US" sz="1200" dirty="0"/>
          </a:p>
        </p:txBody>
      </p:sp>
      <p:sp>
        <p:nvSpPr>
          <p:cNvPr id="19"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2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Function We Give You</a:t>
            </a:r>
            <a:endParaRPr lang="en-US" sz="3000" dirty="0"/>
          </a:p>
        </p:txBody>
      </p:sp>
      <p:sp>
        <p:nvSpPr>
          <p:cNvPr id="3" name="Code box"/>
          <p:cNvSpPr/>
          <p:nvPr/>
        </p:nvSpPr>
        <p:spPr>
          <a:xfrm>
            <a:off x="457200" y="1188720"/>
            <a:ext cx="8229600" cy="1078992"/>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88720"/>
            <a:ext cx="54864" cy="1078992"/>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325880"/>
            <a:ext cx="7955280" cy="402336"/>
          </a:xfrm>
          <a:prstGeom prst="rect">
            <a:avLst/>
          </a:prstGeom>
          <a:noFill/>
          <a:ln/>
        </p:spPr>
        <p:txBody>
          <a:bodyPr wrap="non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 1  </a:t>
            </a:r>
            <a:r>
              <a:rPr lang="en-US" sz="2200" b="1" dirty="0">
                <a:solidFill>
                  <a:srgbClr val="8FB8FF"/>
                </a:solidFill>
                <a:latin typeface="Courier New" pitchFamily="34" charset="0"/>
                <a:ea typeface="Courier New" pitchFamily="34" charset="-122"/>
                <a:cs typeface="Courier New" pitchFamily="34" charset="-120"/>
              </a:rPr>
              <a:t>def</a:t>
            </a:r>
            <a:r>
              <a:rPr lang="en-US" sz="2200" dirty="0">
                <a:solidFill>
                  <a:srgbClr val="E6ECF5"/>
                </a:solidFill>
                <a:latin typeface="Courier New" pitchFamily="34" charset="0"/>
                <a:ea typeface="Courier New" pitchFamily="34" charset="-122"/>
                <a:cs typeface="Courier New" pitchFamily="34" charset="-120"/>
              </a:rPr>
              <a:t> show_picture(picture):</a:t>
            </a:r>
            <a:endParaRPr lang="en-US" sz="2200" dirty="0"/>
          </a:p>
        </p:txBody>
      </p:sp>
      <p:sp>
        <p:nvSpPr>
          <p:cNvPr id="6" name="Text 4"/>
          <p:cNvSpPr txBox="1"/>
          <p:nvPr/>
        </p:nvSpPr>
        <p:spPr>
          <a:xfrm>
            <a:off x="640080" y="1728216"/>
            <a:ext cx="7955280" cy="402336"/>
          </a:xfrm>
          <a:prstGeom prst="rect">
            <a:avLst/>
          </a:prstGeom>
          <a:noFill/>
          <a:ln/>
        </p:spPr>
        <p:txBody>
          <a:bodyPr wrap="non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 2  </a:t>
            </a:r>
            <a:r>
              <a:rPr lang="en-US" sz="2200" dirty="0">
                <a:solidFill>
                  <a:srgbClr val="E6ECF5"/>
                </a:solidFill>
                <a:latin typeface="Courier New" pitchFamily="34" charset="0"/>
                <a:ea typeface="Courier New" pitchFamily="34" charset="-122"/>
                <a:cs typeface="Courier New" pitchFamily="34" charset="-120"/>
              </a:rPr>
              <a:t>    </a:t>
            </a:r>
            <a:r>
              <a:rPr lang="en-US" sz="2200" i="1" dirty="0">
                <a:solidFill>
                  <a:srgbClr val="8EA3C0"/>
                </a:solidFill>
                <a:latin typeface="Courier New" pitchFamily="34" charset="0"/>
                <a:ea typeface="Courier New" pitchFamily="34" charset="-122"/>
                <a:cs typeface="Courier New" pitchFamily="34" charset="-120"/>
              </a:rPr>
              <a:t># draws the picture</a:t>
            </a:r>
            <a:endParaRPr lang="en-US" sz="2200" dirty="0"/>
          </a:p>
        </p:txBody>
      </p:sp>
      <p:sp>
        <p:nvSpPr>
          <p:cNvPr id="7" name="Bar"/>
          <p:cNvSpPr/>
          <p:nvPr/>
        </p:nvSpPr>
        <p:spPr>
          <a:xfrm>
            <a:off x="457200" y="2651760"/>
            <a:ext cx="64008" cy="548640"/>
          </a:xfrm>
          <a:prstGeom prst="rect">
            <a:avLst/>
          </a:prstGeom>
          <a:solidFill>
            <a:srgbClr val="002D6A"/>
          </a:solidFill>
          <a:ln w="12700">
            <a:solidFill>
              <a:srgbClr val="002D6A"/>
            </a:solidFill>
            <a:prstDash val="solid"/>
          </a:ln>
        </p:spPr>
        <p:txBody>
          <a:bodyPr/>
          <a:lstStyle/>
          <a:p>
            <a:endParaRPr lang="en-GB"/>
          </a:p>
        </p:txBody>
      </p:sp>
      <p:sp>
        <p:nvSpPr>
          <p:cNvPr id="8" name="Text 6"/>
          <p:cNvSpPr txBox="1"/>
          <p:nvPr/>
        </p:nvSpPr>
        <p:spPr>
          <a:xfrm>
            <a:off x="685800" y="2651760"/>
            <a:ext cx="8001000" cy="548640"/>
          </a:xfrm>
          <a:prstGeom prst="rect">
            <a:avLst/>
          </a:prstGeom>
          <a:noFill/>
          <a:ln/>
        </p:spPr>
        <p:txBody>
          <a:bodyPr wrap="square" lIns="0" tIns="0" rIns="0" bIns="0" rtlCol="0" anchor="ctr"/>
          <a:lstStyle/>
          <a:p>
            <a:pPr marL="0" indent="0">
              <a:buNone/>
            </a:pPr>
            <a:r>
              <a:rPr lang="en-US" sz="2400" b="1" dirty="0">
                <a:solidFill>
                  <a:srgbClr val="002D6A"/>
                </a:solidFill>
                <a:latin typeface="Arial" pitchFamily="34" charset="0"/>
                <a:ea typeface="Arial" pitchFamily="34" charset="-122"/>
                <a:cs typeface="Arial" pitchFamily="34" charset="-120"/>
              </a:rPr>
              <a:t>Don't read the inside. Just use it.</a:t>
            </a:r>
            <a:endParaRPr lang="en-US" sz="2400" dirty="0"/>
          </a:p>
        </p:txBody>
      </p:sp>
      <p:sp>
        <p:nvSpPr>
          <p:cNvPr id="9" name="Text 7"/>
          <p:cNvSpPr txBox="1"/>
          <p:nvPr/>
        </p:nvSpPr>
        <p:spPr>
          <a:xfrm>
            <a:off x="457200" y="347472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like print(): you use it without knowing how it works</a:t>
            </a:r>
            <a:endParaRPr lang="en-US" sz="14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34</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Try It on a Heart</a:t>
            </a:r>
            <a:endParaRPr lang="en-US" sz="3000" dirty="0"/>
          </a:p>
        </p:txBody>
      </p:sp>
      <p:sp>
        <p:nvSpPr>
          <p:cNvPr id="3" name="Code box"/>
          <p:cNvSpPr/>
          <p:nvPr/>
        </p:nvSpPr>
        <p:spPr>
          <a:xfrm>
            <a:off x="457200" y="1097280"/>
            <a:ext cx="8229600" cy="2578608"/>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097280"/>
            <a:ext cx="54864" cy="2578608"/>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234440"/>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1  </a:t>
            </a:r>
            <a:r>
              <a:rPr lang="en-US" sz="1800" dirty="0">
                <a:solidFill>
                  <a:srgbClr val="E6ECF5"/>
                </a:solidFill>
                <a:latin typeface="Courier New" pitchFamily="34" charset="0"/>
                <a:ea typeface="Courier New" pitchFamily="34" charset="-122"/>
                <a:cs typeface="Courier New" pitchFamily="34" charset="-120"/>
              </a:rPr>
              <a:t>heart = [</a:t>
            </a:r>
            <a:endParaRPr lang="en-US" sz="1800" dirty="0"/>
          </a:p>
        </p:txBody>
      </p:sp>
      <p:sp>
        <p:nvSpPr>
          <p:cNvPr id="6" name="Text 4"/>
          <p:cNvSpPr txBox="1"/>
          <p:nvPr/>
        </p:nvSpPr>
        <p:spPr>
          <a:xfrm>
            <a:off x="640080" y="1563624"/>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2  </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7" name="Text 5"/>
          <p:cNvSpPr txBox="1"/>
          <p:nvPr/>
        </p:nvSpPr>
        <p:spPr>
          <a:xfrm>
            <a:off x="640080" y="1892808"/>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3  </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8" name="Text 6"/>
          <p:cNvSpPr txBox="1"/>
          <p:nvPr/>
        </p:nvSpPr>
        <p:spPr>
          <a:xfrm>
            <a:off x="640080" y="2221992"/>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4  </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9" name="Text 7"/>
          <p:cNvSpPr txBox="1"/>
          <p:nvPr/>
        </p:nvSpPr>
        <p:spPr>
          <a:xfrm>
            <a:off x="640080" y="2551176"/>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5  </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10" name="Text 8"/>
          <p:cNvSpPr txBox="1"/>
          <p:nvPr/>
        </p:nvSpPr>
        <p:spPr>
          <a:xfrm>
            <a:off x="640080" y="2880360"/>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6  </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11" name="Text 9"/>
          <p:cNvSpPr txBox="1"/>
          <p:nvPr/>
        </p:nvSpPr>
        <p:spPr>
          <a:xfrm>
            <a:off x="640080" y="3209544"/>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7  </a:t>
            </a:r>
            <a:r>
              <a:rPr lang="en-US" sz="1800" dirty="0">
                <a:solidFill>
                  <a:srgbClr val="E6ECF5"/>
                </a:solidFill>
                <a:latin typeface="Courier New" pitchFamily="34" charset="0"/>
                <a:ea typeface="Courier New" pitchFamily="34" charset="-122"/>
                <a:cs typeface="Courier New" pitchFamily="34" charset="-120"/>
              </a:rPr>
              <a:t>show_picture(heart)</a:t>
            </a:r>
            <a:endParaRPr lang="en-US" sz="1800" dirty="0"/>
          </a:p>
        </p:txBody>
      </p:sp>
      <p:sp>
        <p:nvSpPr>
          <p:cNvPr id="12" name="@1 addText"/>
          <p:cNvSpPr txBox="1"/>
          <p:nvPr/>
        </p:nvSpPr>
        <p:spPr>
          <a:xfrm>
            <a:off x="457200" y="429768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the picture appears in the Plots pane, just like your graphs</a:t>
            </a:r>
            <a:endParaRPr lang="en-US" sz="1400" dirty="0"/>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The Heart</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A heart drawn on a 5 by 4 grid, dark squares for 1 and blank for 0"/>
          <p:cNvPicPr>
            <a:picLocks noChangeAspect="1"/>
          </p:cNvPicPr>
          <p:nvPr/>
        </p:nvPicPr>
        <p:blipFill>
          <a:blip r:embed="rId3"/>
          <a:stretch>
            <a:fillRect/>
          </a:stretch>
        </p:blipFill>
        <p:spPr>
          <a:xfrm>
            <a:off x="2861035" y="1188720"/>
            <a:ext cx="3421930" cy="2743200"/>
          </a:xfrm>
          <a:prstGeom prst="rect">
            <a:avLst/>
          </a:prstGeom>
        </p:spPr>
      </p:pic>
      <p:sp>
        <p:nvSpPr>
          <p:cNvPr id="6" name="Callout"/>
          <p:cNvSpPr/>
          <p:nvPr/>
        </p:nvSpPr>
        <p:spPr>
          <a:xfrm>
            <a:off x="457200" y="4023360"/>
            <a:ext cx="8229600" cy="640080"/>
          </a:xfrm>
          <a:prstGeom prst="roundRect">
            <a:avLst>
              <a:gd name="adj" fmla="val 14286"/>
            </a:avLst>
          </a:prstGeom>
          <a:solidFill>
            <a:srgbClr val="FFFFFF"/>
          </a:solidFill>
          <a:ln w="15875">
            <a:solidFill>
              <a:srgbClr val="5D79A0"/>
            </a:solidFill>
            <a:prstDash val="solid"/>
          </a:ln>
        </p:spPr>
        <p:txBody>
          <a:bodyPr/>
          <a:lstStyle/>
          <a:p>
            <a:endParaRPr lang="en-GB"/>
          </a:p>
        </p:txBody>
      </p:sp>
      <p:sp>
        <p:nvSpPr>
          <p:cNvPr id="7" name="Text 4"/>
          <p:cNvSpPr txBox="1"/>
          <p:nvPr/>
        </p:nvSpPr>
        <p:spPr>
          <a:xfrm>
            <a:off x="685800" y="4023360"/>
            <a:ext cx="7772400" cy="64008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1 = dark square, 0 = blank. Check it matches the list.</a:t>
            </a:r>
            <a:endParaRPr lang="en-US" sz="1200" dirty="0"/>
          </a:p>
        </p:txBody>
      </p:sp>
      <p:sp>
        <p:nvSpPr>
          <p:cNvPr id="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36</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One Line We Need</a:t>
            </a:r>
            <a:endParaRPr lang="en-US" sz="3000" dirty="0"/>
          </a:p>
        </p:txBody>
      </p:sp>
      <p:sp>
        <p:nvSpPr>
          <p:cNvPr id="3" name="Code box"/>
          <p:cNvSpPr/>
          <p:nvPr/>
        </p:nvSpPr>
        <p:spPr>
          <a:xfrm>
            <a:off x="457200" y="1188720"/>
            <a:ext cx="8229600" cy="676656"/>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88720"/>
            <a:ext cx="54864" cy="676656"/>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325880"/>
            <a:ext cx="7955280" cy="402336"/>
          </a:xfrm>
          <a:prstGeom prst="rect">
            <a:avLst/>
          </a:prstGeom>
          <a:noFill/>
          <a:ln/>
        </p:spPr>
        <p:txBody>
          <a:bodyPr wrap="non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 1  </a:t>
            </a:r>
            <a:r>
              <a:rPr lang="en-US" sz="2200" b="1" dirty="0">
                <a:solidFill>
                  <a:srgbClr val="8FB8FF"/>
                </a:solidFill>
                <a:latin typeface="Courier New" pitchFamily="34" charset="0"/>
                <a:ea typeface="Courier New" pitchFamily="34" charset="-122"/>
                <a:cs typeface="Courier New" pitchFamily="34" charset="-120"/>
              </a:rPr>
              <a:t>from</a:t>
            </a:r>
            <a:r>
              <a:rPr lang="en-US" sz="2200" dirty="0">
                <a:solidFill>
                  <a:srgbClr val="E6ECF5"/>
                </a:solidFill>
                <a:latin typeface="Courier New" pitchFamily="34" charset="0"/>
                <a:ea typeface="Courier New" pitchFamily="34" charset="-122"/>
                <a:cs typeface="Courier New" pitchFamily="34" charset="-120"/>
              </a:rPr>
              <a:t> pictures </a:t>
            </a:r>
            <a:r>
              <a:rPr lang="en-US" sz="2200" b="1" dirty="0">
                <a:solidFill>
                  <a:srgbClr val="8FB8FF"/>
                </a:solidFill>
                <a:latin typeface="Courier New" pitchFamily="34" charset="0"/>
                <a:ea typeface="Courier New" pitchFamily="34" charset="-122"/>
                <a:cs typeface="Courier New" pitchFamily="34" charset="-120"/>
              </a:rPr>
              <a:t>import</a:t>
            </a:r>
            <a:r>
              <a:rPr lang="en-US" sz="2200" dirty="0">
                <a:solidFill>
                  <a:srgbClr val="E6ECF5"/>
                </a:solidFill>
                <a:latin typeface="Courier New" pitchFamily="34" charset="0"/>
                <a:ea typeface="Courier New" pitchFamily="34" charset="-122"/>
                <a:cs typeface="Courier New" pitchFamily="34" charset="-120"/>
              </a:rPr>
              <a:t> mystery_image_1, mystery_image_5, mystery_image_6</a:t>
            </a:r>
            <a:endParaRPr lang="en-US" sz="2200" dirty="0"/>
          </a:p>
        </p:txBody>
      </p:sp>
      <p:sp>
        <p:nvSpPr>
          <p:cNvPr id="6" name="Bar"/>
          <p:cNvSpPr/>
          <p:nvPr/>
        </p:nvSpPr>
        <p:spPr>
          <a:xfrm>
            <a:off x="457200" y="2560320"/>
            <a:ext cx="64008" cy="548640"/>
          </a:xfrm>
          <a:prstGeom prst="rect">
            <a:avLst/>
          </a:prstGeom>
          <a:solidFill>
            <a:srgbClr val="002D6A"/>
          </a:solidFill>
          <a:ln w="12700">
            <a:solidFill>
              <a:srgbClr val="002D6A"/>
            </a:solidFill>
            <a:prstDash val="solid"/>
          </a:ln>
        </p:spPr>
        <p:txBody>
          <a:bodyPr/>
          <a:lstStyle/>
          <a:p>
            <a:endParaRPr lang="en-GB"/>
          </a:p>
        </p:txBody>
      </p:sp>
      <p:sp>
        <p:nvSpPr>
          <p:cNvPr id="7" name="Text 5"/>
          <p:cNvSpPr txBox="1"/>
          <p:nvPr/>
        </p:nvSpPr>
        <p:spPr>
          <a:xfrm>
            <a:off x="685800" y="2560320"/>
            <a:ext cx="8001000" cy="548640"/>
          </a:xfrm>
          <a:prstGeom prst="rect">
            <a:avLst/>
          </a:prstGeom>
          <a:noFill/>
          <a:ln/>
        </p:spPr>
        <p:txBody>
          <a:bodyPr wrap="square" lIns="0" tIns="0" rIns="0" bIns="0" rtlCol="0" anchor="ctr"/>
          <a:lstStyle/>
          <a:p>
            <a:pPr marL="0" indent="0">
              <a:buNone/>
            </a:pPr>
            <a:r>
              <a:rPr lang="en-US" sz="2200" b="1" dirty="0">
                <a:solidFill>
                  <a:srgbClr val="002D6A"/>
                </a:solidFill>
                <a:latin typeface="Arial" pitchFamily="34" charset="0"/>
                <a:ea typeface="Arial" pitchFamily="34" charset="-122"/>
                <a:cs typeface="Arial" pitchFamily="34" charset="-120"/>
              </a:rPr>
              <a:t>Fetch the clues from another file.</a:t>
            </a:r>
            <a:endParaRPr lang="en-US" sz="2200" dirty="0"/>
          </a:p>
        </p:txBody>
      </p:sp>
      <p:sp>
        <p:nvSpPr>
          <p:cNvPr id="8" name="Callout"/>
          <p:cNvSpPr/>
          <p:nvPr/>
        </p:nvSpPr>
        <p:spPr>
          <a:xfrm>
            <a:off x="457200" y="3474720"/>
            <a:ext cx="8229600" cy="822960"/>
          </a:xfrm>
          <a:prstGeom prst="roundRect">
            <a:avLst>
              <a:gd name="adj" fmla="val 11111"/>
            </a:avLst>
          </a:prstGeom>
          <a:solidFill>
            <a:srgbClr val="FFFFFF"/>
          </a:solidFill>
          <a:ln w="15875">
            <a:solidFill>
              <a:srgbClr val="002D6A"/>
            </a:solidFill>
            <a:prstDash val="solid"/>
          </a:ln>
        </p:spPr>
        <p:txBody>
          <a:bodyPr/>
          <a:lstStyle/>
          <a:p>
            <a:endParaRPr lang="en-GB"/>
          </a:p>
        </p:txBody>
      </p:sp>
      <p:sp>
        <p:nvSpPr>
          <p:cNvPr id="9" name="Text 7"/>
          <p:cNvSpPr txBox="1"/>
          <p:nvPr/>
        </p:nvSpPr>
        <p:spPr>
          <a:xfrm>
            <a:off x="685800" y="3474720"/>
            <a:ext cx="7772400" cy="82296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pictures.py must be in the same folder as your file.</a:t>
            </a:r>
            <a:endParaRPr lang="en-US" sz="12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37</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Decode One Row</a:t>
            </a:r>
            <a:endParaRPr lang="en-US" sz="3000" dirty="0"/>
          </a:p>
        </p:txBody>
      </p:sp>
      <p:sp>
        <p:nvSpPr>
          <p:cNvPr id="3" name="Text 1"/>
          <p:cNvSpPr txBox="1"/>
          <p:nvPr/>
        </p:nvSpPr>
        <p:spPr>
          <a:xfrm>
            <a:off x="457200" y="1371600"/>
            <a:ext cx="8229600" cy="548640"/>
          </a:xfrm>
          <a:prstGeom prst="rect">
            <a:avLst/>
          </a:prstGeom>
          <a:noFill/>
          <a:ln/>
        </p:spPr>
        <p:txBody>
          <a:bodyPr wrap="square" lIns="0" tIns="0" rIns="0" bIns="0" rtlCol="0" anchor="ctr"/>
          <a:lstStyle/>
          <a:p>
            <a:pPr marL="0" indent="0">
              <a:buNone/>
            </a:pPr>
            <a:r>
              <a:rPr lang="en-US" sz="2400" b="1" dirty="0">
                <a:solidFill>
                  <a:srgbClr val="002D6A"/>
                </a:solidFill>
                <a:latin typeface="Courier New" pitchFamily="34" charset="0"/>
                <a:ea typeface="Courier New" pitchFamily="34" charset="-122"/>
                <a:cs typeface="Courier New" pitchFamily="34" charset="-120"/>
              </a:rPr>
              <a:t>Clue  [2, 7, 3]  becomes</a:t>
            </a:r>
            <a:endParaRPr lang="en-US" sz="2400" dirty="0"/>
          </a:p>
        </p:txBody>
      </p:sp>
      <p:sp>
        <p:nvSpPr>
          <p:cNvPr id="4" name="Text 2"/>
          <p:cNvSpPr txBox="1"/>
          <p:nvPr/>
        </p:nvSpPr>
        <p:spPr>
          <a:xfrm>
            <a:off x="457200" y="2194560"/>
            <a:ext cx="8229600" cy="548640"/>
          </a:xfrm>
          <a:prstGeom prst="rect">
            <a:avLst/>
          </a:prstGeom>
          <a:noFill/>
          <a:ln/>
        </p:spPr>
        <p:txBody>
          <a:bodyPr wrap="square" lIns="0" tIns="0" rIns="0" bIns="0" rtlCol="0" anchor="ctr"/>
          <a:lstStyle/>
          <a:p>
            <a:pPr marL="0" indent="0">
              <a:buNone/>
            </a:pPr>
            <a:r>
              <a:rPr lang="en-US" sz="2400" b="1" dirty="0">
                <a:solidFill>
                  <a:srgbClr val="002D6A"/>
                </a:solidFill>
                <a:latin typeface="Courier New" pitchFamily="34" charset="0"/>
                <a:ea typeface="Courier New" pitchFamily="34" charset="-122"/>
                <a:cs typeface="Courier New" pitchFamily="34" charset="-120"/>
              </a:rPr>
              <a:t>[0,0,1,1,1,1,1,1,1,0,0,0]</a:t>
            </a:r>
            <a:endParaRPr lang="en-US" sz="2400" dirty="0"/>
          </a:p>
        </p:txBody>
      </p:sp>
      <p:sp>
        <p:nvSpPr>
          <p:cNvPr id="5" name="Cell off"/>
          <p:cNvSpPr/>
          <p:nvPr/>
        </p:nvSpPr>
        <p:spPr>
          <a:xfrm>
            <a:off x="1828800" y="3108960"/>
            <a:ext cx="457200" cy="457200"/>
          </a:xfrm>
          <a:prstGeom prst="rect">
            <a:avLst/>
          </a:prstGeom>
          <a:solidFill>
            <a:srgbClr val="FFFFFF"/>
          </a:solidFill>
          <a:ln w="9525">
            <a:solidFill>
              <a:srgbClr val="C5D1E3"/>
            </a:solidFill>
            <a:prstDash val="solid"/>
          </a:ln>
        </p:spPr>
        <p:txBody>
          <a:bodyPr/>
          <a:lstStyle/>
          <a:p>
            <a:endParaRPr lang="en-GB"/>
          </a:p>
        </p:txBody>
      </p:sp>
      <p:sp>
        <p:nvSpPr>
          <p:cNvPr id="6" name="Cell off"/>
          <p:cNvSpPr/>
          <p:nvPr/>
        </p:nvSpPr>
        <p:spPr>
          <a:xfrm>
            <a:off x="2286000" y="3108960"/>
            <a:ext cx="457200" cy="457200"/>
          </a:xfrm>
          <a:prstGeom prst="rect">
            <a:avLst/>
          </a:prstGeom>
          <a:solidFill>
            <a:srgbClr val="FFFFFF"/>
          </a:solidFill>
          <a:ln w="9525">
            <a:solidFill>
              <a:srgbClr val="C5D1E3"/>
            </a:solidFill>
            <a:prstDash val="solid"/>
          </a:ln>
        </p:spPr>
        <p:txBody>
          <a:bodyPr/>
          <a:lstStyle/>
          <a:p>
            <a:endParaRPr lang="en-GB"/>
          </a:p>
        </p:txBody>
      </p:sp>
      <p:sp>
        <p:nvSpPr>
          <p:cNvPr id="7" name="Cell on"/>
          <p:cNvSpPr/>
          <p:nvPr/>
        </p:nvSpPr>
        <p:spPr>
          <a:xfrm>
            <a:off x="2743200" y="3108960"/>
            <a:ext cx="457200" cy="457200"/>
          </a:xfrm>
          <a:prstGeom prst="rect">
            <a:avLst/>
          </a:prstGeom>
          <a:solidFill>
            <a:srgbClr val="002D6A"/>
          </a:solidFill>
          <a:ln w="9525">
            <a:solidFill>
              <a:srgbClr val="C5D1E3"/>
            </a:solidFill>
            <a:prstDash val="solid"/>
          </a:ln>
        </p:spPr>
        <p:txBody>
          <a:bodyPr/>
          <a:lstStyle/>
          <a:p>
            <a:endParaRPr lang="en-GB"/>
          </a:p>
        </p:txBody>
      </p:sp>
      <p:sp>
        <p:nvSpPr>
          <p:cNvPr id="8" name="Cell on"/>
          <p:cNvSpPr/>
          <p:nvPr/>
        </p:nvSpPr>
        <p:spPr>
          <a:xfrm>
            <a:off x="3200400" y="3108960"/>
            <a:ext cx="457200" cy="457200"/>
          </a:xfrm>
          <a:prstGeom prst="rect">
            <a:avLst/>
          </a:prstGeom>
          <a:solidFill>
            <a:srgbClr val="002D6A"/>
          </a:solidFill>
          <a:ln w="9525">
            <a:solidFill>
              <a:srgbClr val="C5D1E3"/>
            </a:solidFill>
            <a:prstDash val="solid"/>
          </a:ln>
        </p:spPr>
        <p:txBody>
          <a:bodyPr/>
          <a:lstStyle/>
          <a:p>
            <a:endParaRPr lang="en-GB"/>
          </a:p>
        </p:txBody>
      </p:sp>
      <p:sp>
        <p:nvSpPr>
          <p:cNvPr id="9" name="Cell on"/>
          <p:cNvSpPr/>
          <p:nvPr/>
        </p:nvSpPr>
        <p:spPr>
          <a:xfrm>
            <a:off x="3657600" y="3108960"/>
            <a:ext cx="457200" cy="457200"/>
          </a:xfrm>
          <a:prstGeom prst="rect">
            <a:avLst/>
          </a:prstGeom>
          <a:solidFill>
            <a:srgbClr val="002D6A"/>
          </a:solidFill>
          <a:ln w="9525">
            <a:solidFill>
              <a:srgbClr val="C5D1E3"/>
            </a:solidFill>
            <a:prstDash val="solid"/>
          </a:ln>
        </p:spPr>
        <p:txBody>
          <a:bodyPr/>
          <a:lstStyle/>
          <a:p>
            <a:endParaRPr lang="en-GB"/>
          </a:p>
        </p:txBody>
      </p:sp>
      <p:sp>
        <p:nvSpPr>
          <p:cNvPr id="10" name="Cell on"/>
          <p:cNvSpPr/>
          <p:nvPr/>
        </p:nvSpPr>
        <p:spPr>
          <a:xfrm>
            <a:off x="4114800" y="3108960"/>
            <a:ext cx="457200" cy="457200"/>
          </a:xfrm>
          <a:prstGeom prst="rect">
            <a:avLst/>
          </a:prstGeom>
          <a:solidFill>
            <a:srgbClr val="002D6A"/>
          </a:solidFill>
          <a:ln w="9525">
            <a:solidFill>
              <a:srgbClr val="C5D1E3"/>
            </a:solidFill>
            <a:prstDash val="solid"/>
          </a:ln>
        </p:spPr>
        <p:txBody>
          <a:bodyPr/>
          <a:lstStyle/>
          <a:p>
            <a:endParaRPr lang="en-GB"/>
          </a:p>
        </p:txBody>
      </p:sp>
      <p:sp>
        <p:nvSpPr>
          <p:cNvPr id="11" name="Cell on"/>
          <p:cNvSpPr/>
          <p:nvPr/>
        </p:nvSpPr>
        <p:spPr>
          <a:xfrm>
            <a:off x="4572000" y="3108960"/>
            <a:ext cx="457200" cy="457200"/>
          </a:xfrm>
          <a:prstGeom prst="rect">
            <a:avLst/>
          </a:prstGeom>
          <a:solidFill>
            <a:srgbClr val="002D6A"/>
          </a:solidFill>
          <a:ln w="9525">
            <a:solidFill>
              <a:srgbClr val="C5D1E3"/>
            </a:solidFill>
            <a:prstDash val="solid"/>
          </a:ln>
        </p:spPr>
        <p:txBody>
          <a:bodyPr/>
          <a:lstStyle/>
          <a:p>
            <a:endParaRPr lang="en-GB"/>
          </a:p>
        </p:txBody>
      </p:sp>
      <p:sp>
        <p:nvSpPr>
          <p:cNvPr id="12" name="Cell on"/>
          <p:cNvSpPr/>
          <p:nvPr/>
        </p:nvSpPr>
        <p:spPr>
          <a:xfrm>
            <a:off x="5029200" y="3108960"/>
            <a:ext cx="457200" cy="457200"/>
          </a:xfrm>
          <a:prstGeom prst="rect">
            <a:avLst/>
          </a:prstGeom>
          <a:solidFill>
            <a:srgbClr val="002D6A"/>
          </a:solidFill>
          <a:ln w="9525">
            <a:solidFill>
              <a:srgbClr val="C5D1E3"/>
            </a:solidFill>
            <a:prstDash val="solid"/>
          </a:ln>
        </p:spPr>
        <p:txBody>
          <a:bodyPr/>
          <a:lstStyle/>
          <a:p>
            <a:endParaRPr lang="en-GB"/>
          </a:p>
        </p:txBody>
      </p:sp>
      <p:sp>
        <p:nvSpPr>
          <p:cNvPr id="13" name="Cell on"/>
          <p:cNvSpPr/>
          <p:nvPr/>
        </p:nvSpPr>
        <p:spPr>
          <a:xfrm>
            <a:off x="5486400" y="3108960"/>
            <a:ext cx="457200" cy="457200"/>
          </a:xfrm>
          <a:prstGeom prst="rect">
            <a:avLst/>
          </a:prstGeom>
          <a:solidFill>
            <a:srgbClr val="002D6A"/>
          </a:solidFill>
          <a:ln w="9525">
            <a:solidFill>
              <a:srgbClr val="C5D1E3"/>
            </a:solidFill>
            <a:prstDash val="solid"/>
          </a:ln>
        </p:spPr>
        <p:txBody>
          <a:bodyPr/>
          <a:lstStyle/>
          <a:p>
            <a:endParaRPr lang="en-GB"/>
          </a:p>
        </p:txBody>
      </p:sp>
      <p:sp>
        <p:nvSpPr>
          <p:cNvPr id="14" name="Cell off"/>
          <p:cNvSpPr/>
          <p:nvPr/>
        </p:nvSpPr>
        <p:spPr>
          <a:xfrm>
            <a:off x="5943600" y="3108960"/>
            <a:ext cx="457200" cy="457200"/>
          </a:xfrm>
          <a:prstGeom prst="rect">
            <a:avLst/>
          </a:prstGeom>
          <a:solidFill>
            <a:srgbClr val="FFFFFF"/>
          </a:solidFill>
          <a:ln w="9525">
            <a:solidFill>
              <a:srgbClr val="C5D1E3"/>
            </a:solidFill>
            <a:prstDash val="solid"/>
          </a:ln>
        </p:spPr>
        <p:txBody>
          <a:bodyPr/>
          <a:lstStyle/>
          <a:p>
            <a:endParaRPr lang="en-GB"/>
          </a:p>
        </p:txBody>
      </p:sp>
      <p:sp>
        <p:nvSpPr>
          <p:cNvPr id="15" name="Cell off"/>
          <p:cNvSpPr/>
          <p:nvPr/>
        </p:nvSpPr>
        <p:spPr>
          <a:xfrm>
            <a:off x="6400800" y="3108960"/>
            <a:ext cx="457200" cy="457200"/>
          </a:xfrm>
          <a:prstGeom prst="rect">
            <a:avLst/>
          </a:prstGeom>
          <a:solidFill>
            <a:srgbClr val="FFFFFF"/>
          </a:solidFill>
          <a:ln w="9525">
            <a:solidFill>
              <a:srgbClr val="C5D1E3"/>
            </a:solidFill>
            <a:prstDash val="solid"/>
          </a:ln>
        </p:spPr>
        <p:txBody>
          <a:bodyPr/>
          <a:lstStyle/>
          <a:p>
            <a:endParaRPr lang="en-GB"/>
          </a:p>
        </p:txBody>
      </p:sp>
      <p:sp>
        <p:nvSpPr>
          <p:cNvPr id="16" name="Cell off"/>
          <p:cNvSpPr/>
          <p:nvPr/>
        </p:nvSpPr>
        <p:spPr>
          <a:xfrm>
            <a:off x="6858000" y="3108960"/>
            <a:ext cx="457200" cy="457200"/>
          </a:xfrm>
          <a:prstGeom prst="rect">
            <a:avLst/>
          </a:prstGeom>
          <a:solidFill>
            <a:srgbClr val="FFFFFF"/>
          </a:solidFill>
          <a:ln w="9525">
            <a:solidFill>
              <a:srgbClr val="C5D1E3"/>
            </a:solidFill>
            <a:prstDash val="solid"/>
          </a:ln>
        </p:spPr>
        <p:txBody>
          <a:bodyPr/>
          <a:lstStyle/>
          <a:p>
            <a:endParaRPr lang="en-GB"/>
          </a:p>
        </p:txBody>
      </p:sp>
      <p:sp>
        <p:nvSpPr>
          <p:cNvPr id="1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38</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What the Computer Does</a:t>
            </a:r>
            <a:endParaRPr lang="en-US" sz="3000" dirty="0"/>
          </a:p>
        </p:txBody>
      </p:sp>
      <p:sp>
        <p:nvSpPr>
          <p:cNvPr id="3" name="@1 Card"/>
          <p:cNvSpPr/>
          <p:nvPr/>
        </p:nvSpPr>
        <p:spPr>
          <a:xfrm>
            <a:off x="457200" y="1188720"/>
            <a:ext cx="8229600" cy="685800"/>
          </a:xfrm>
          <a:prstGeom prst="roundRect">
            <a:avLst>
              <a:gd name="adj" fmla="val 16000"/>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188720"/>
            <a:ext cx="7772400" cy="685800"/>
          </a:xfrm>
          <a:prstGeom prst="rect">
            <a:avLst/>
          </a:prstGeom>
          <a:noFill/>
          <a:ln/>
        </p:spPr>
        <p:txBody>
          <a:bodyPr wrap="square" lIns="0" tIns="0" rIns="0" bIns="0" rtlCol="0" anchor="ctr"/>
          <a:lstStyle/>
          <a:p>
            <a:pPr marL="0" indent="0">
              <a:buNone/>
            </a:pPr>
            <a:r>
              <a:rPr lang="en-US" sz="2000" dirty="0">
                <a:solidFill>
                  <a:srgbClr val="22262E"/>
                </a:solidFill>
                <a:latin typeface="Arial" pitchFamily="34" charset="0"/>
                <a:ea typeface="Arial" pitchFamily="34" charset="-122"/>
                <a:cs typeface="Arial" pitchFamily="34" charset="-120"/>
              </a:rPr>
              <a:t>1.  start with an empty row, colour = 0 (blank)</a:t>
            </a:r>
            <a:endParaRPr lang="en-US" sz="2000" dirty="0"/>
          </a:p>
        </p:txBody>
      </p:sp>
      <p:sp>
        <p:nvSpPr>
          <p:cNvPr id="5" name="@2 Card"/>
          <p:cNvSpPr/>
          <p:nvPr/>
        </p:nvSpPr>
        <p:spPr>
          <a:xfrm>
            <a:off x="457200" y="2011680"/>
            <a:ext cx="8229600" cy="685800"/>
          </a:xfrm>
          <a:prstGeom prst="roundRect">
            <a:avLst>
              <a:gd name="adj" fmla="val 16000"/>
            </a:avLst>
          </a:prstGeom>
          <a:solidFill>
            <a:srgbClr val="FFFFFF"/>
          </a:solidFill>
          <a:ln w="9525">
            <a:solidFill>
              <a:srgbClr val="C5D1E3"/>
            </a:solidFill>
            <a:prstDash val="solid"/>
          </a:ln>
        </p:spPr>
        <p:txBody>
          <a:bodyPr/>
          <a:lstStyle/>
          <a:p>
            <a:endParaRPr lang="en-GB"/>
          </a:p>
        </p:txBody>
      </p:sp>
      <p:sp>
        <p:nvSpPr>
          <p:cNvPr id="6" name="@2 addText"/>
          <p:cNvSpPr txBox="1"/>
          <p:nvPr/>
        </p:nvSpPr>
        <p:spPr>
          <a:xfrm>
            <a:off x="731520" y="2011680"/>
            <a:ext cx="7772400" cy="685800"/>
          </a:xfrm>
          <a:prstGeom prst="rect">
            <a:avLst/>
          </a:prstGeom>
          <a:noFill/>
          <a:ln/>
        </p:spPr>
        <p:txBody>
          <a:bodyPr wrap="square" lIns="0" tIns="0" rIns="0" bIns="0" rtlCol="0" anchor="ctr"/>
          <a:lstStyle/>
          <a:p>
            <a:pPr marL="0" indent="0">
              <a:buNone/>
            </a:pPr>
            <a:r>
              <a:rPr lang="en-US" sz="2000" dirty="0">
                <a:solidFill>
                  <a:srgbClr val="22262E"/>
                </a:solidFill>
                <a:latin typeface="Arial" pitchFamily="34" charset="0"/>
                <a:ea typeface="Arial" pitchFamily="34" charset="-122"/>
                <a:cs typeface="Arial" pitchFamily="34" charset="-120"/>
              </a:rPr>
              <a:t>2.  take a number: add that many of the colour</a:t>
            </a:r>
            <a:endParaRPr lang="en-US" sz="2000" dirty="0"/>
          </a:p>
        </p:txBody>
      </p:sp>
      <p:sp>
        <p:nvSpPr>
          <p:cNvPr id="7" name="@3 Card"/>
          <p:cNvSpPr/>
          <p:nvPr/>
        </p:nvSpPr>
        <p:spPr>
          <a:xfrm>
            <a:off x="457200" y="2834640"/>
            <a:ext cx="8229600" cy="685800"/>
          </a:xfrm>
          <a:prstGeom prst="roundRect">
            <a:avLst>
              <a:gd name="adj" fmla="val 16000"/>
            </a:avLst>
          </a:prstGeom>
          <a:solidFill>
            <a:srgbClr val="FFFFFF"/>
          </a:solidFill>
          <a:ln w="9525">
            <a:solidFill>
              <a:srgbClr val="C5D1E3"/>
            </a:solidFill>
            <a:prstDash val="solid"/>
          </a:ln>
        </p:spPr>
        <p:txBody>
          <a:bodyPr/>
          <a:lstStyle/>
          <a:p>
            <a:endParaRPr lang="en-GB"/>
          </a:p>
        </p:txBody>
      </p:sp>
      <p:sp>
        <p:nvSpPr>
          <p:cNvPr id="8" name="@3 addText"/>
          <p:cNvSpPr txBox="1"/>
          <p:nvPr/>
        </p:nvSpPr>
        <p:spPr>
          <a:xfrm>
            <a:off x="731520" y="2834640"/>
            <a:ext cx="7772400" cy="685800"/>
          </a:xfrm>
          <a:prstGeom prst="rect">
            <a:avLst/>
          </a:prstGeom>
          <a:noFill/>
          <a:ln/>
        </p:spPr>
        <p:txBody>
          <a:bodyPr wrap="square" lIns="0" tIns="0" rIns="0" bIns="0" rtlCol="0" anchor="ctr"/>
          <a:lstStyle/>
          <a:p>
            <a:pPr marL="0" indent="0">
              <a:buNone/>
            </a:pPr>
            <a:r>
              <a:rPr lang="en-US" sz="2000" dirty="0">
                <a:solidFill>
                  <a:srgbClr val="22262E"/>
                </a:solidFill>
                <a:latin typeface="Arial" pitchFamily="34" charset="0"/>
                <a:ea typeface="Arial" pitchFamily="34" charset="-122"/>
                <a:cs typeface="Arial" pitchFamily="34" charset="-120"/>
              </a:rPr>
              <a:t>3.  swap the colour: 0 becomes 1, 1 becomes 0</a:t>
            </a:r>
            <a:endParaRPr lang="en-US" sz="2000" dirty="0"/>
          </a:p>
        </p:txBody>
      </p:sp>
      <p:sp>
        <p:nvSpPr>
          <p:cNvPr id="9" name="@4 Card"/>
          <p:cNvSpPr/>
          <p:nvPr/>
        </p:nvSpPr>
        <p:spPr>
          <a:xfrm>
            <a:off x="457200" y="3657600"/>
            <a:ext cx="8229600" cy="685800"/>
          </a:xfrm>
          <a:prstGeom prst="roundRect">
            <a:avLst>
              <a:gd name="adj" fmla="val 16000"/>
            </a:avLst>
          </a:prstGeom>
          <a:solidFill>
            <a:srgbClr val="FFFFFF"/>
          </a:solidFill>
          <a:ln w="9525">
            <a:solidFill>
              <a:srgbClr val="C5D1E3"/>
            </a:solidFill>
            <a:prstDash val="solid"/>
          </a:ln>
        </p:spPr>
        <p:txBody>
          <a:bodyPr/>
          <a:lstStyle/>
          <a:p>
            <a:endParaRPr lang="en-GB"/>
          </a:p>
        </p:txBody>
      </p:sp>
      <p:sp>
        <p:nvSpPr>
          <p:cNvPr id="10" name="@4 addText"/>
          <p:cNvSpPr txBox="1"/>
          <p:nvPr/>
        </p:nvSpPr>
        <p:spPr>
          <a:xfrm>
            <a:off x="731520" y="3657600"/>
            <a:ext cx="7772400" cy="685800"/>
          </a:xfrm>
          <a:prstGeom prst="rect">
            <a:avLst/>
          </a:prstGeom>
          <a:noFill/>
          <a:ln/>
        </p:spPr>
        <p:txBody>
          <a:bodyPr wrap="square" lIns="0" tIns="0" rIns="0" bIns="0" rtlCol="0" anchor="ctr"/>
          <a:lstStyle/>
          <a:p>
            <a:pPr marL="0" indent="0">
              <a:buNone/>
            </a:pPr>
            <a:r>
              <a:rPr lang="en-US" sz="2000" dirty="0">
                <a:solidFill>
                  <a:srgbClr val="22262E"/>
                </a:solidFill>
                <a:latin typeface="Arial" pitchFamily="34" charset="0"/>
                <a:ea typeface="Arial" pitchFamily="34" charset="-122"/>
                <a:cs typeface="Arial" pitchFamily="34" charset="-120"/>
              </a:rPr>
              <a:t>4.  repeat for the next number</a:t>
            </a:r>
            <a:endParaRPr lang="en-US" sz="20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2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2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2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Follow [2, 7, 3]</a:t>
            </a:r>
            <a:endParaRPr lang="en-US" sz="3000" dirty="0"/>
          </a:p>
        </p:txBody>
      </p:sp>
      <p:sp>
        <p:nvSpPr>
          <p:cNvPr id="3" name="@1 Code box"/>
          <p:cNvSpPr/>
          <p:nvPr/>
        </p:nvSpPr>
        <p:spPr>
          <a:xfrm>
            <a:off x="457200" y="1280160"/>
            <a:ext cx="8229600" cy="1261872"/>
          </a:xfrm>
          <a:prstGeom prst="rect">
            <a:avLst/>
          </a:prstGeom>
          <a:solidFill>
            <a:srgbClr val="0B2A57"/>
          </a:solidFill>
          <a:ln w="12700">
            <a:solidFill>
              <a:srgbClr val="0B2A57"/>
            </a:solidFill>
            <a:prstDash val="solid"/>
          </a:ln>
        </p:spPr>
        <p:txBody>
          <a:bodyPr/>
          <a:lstStyle/>
          <a:p>
            <a:endParaRPr lang="en-GB"/>
          </a:p>
        </p:txBody>
      </p:sp>
      <p:sp>
        <p:nvSpPr>
          <p:cNvPr id="4" name="@1 Code bar"/>
          <p:cNvSpPr/>
          <p:nvPr/>
        </p:nvSpPr>
        <p:spPr>
          <a:xfrm>
            <a:off x="457200" y="1280160"/>
            <a:ext cx="54864" cy="1261872"/>
          </a:xfrm>
          <a:prstGeom prst="rect">
            <a:avLst/>
          </a:prstGeom>
          <a:solidFill>
            <a:srgbClr val="5D79A0"/>
          </a:solidFill>
          <a:ln w="12700">
            <a:solidFill>
              <a:srgbClr val="5D79A0"/>
            </a:solidFill>
            <a:prstDash val="solid"/>
          </a:ln>
        </p:spPr>
        <p:txBody>
          <a:bodyPr/>
          <a:lstStyle/>
          <a:p>
            <a:endParaRPr lang="en-GB"/>
          </a:p>
        </p:txBody>
      </p:sp>
      <p:sp>
        <p:nvSpPr>
          <p:cNvPr id="5" name="@1 addText"/>
          <p:cNvSpPr txBox="1"/>
          <p:nvPr/>
        </p:nvSpPr>
        <p:spPr>
          <a:xfrm>
            <a:off x="640080" y="1417320"/>
            <a:ext cx="7955280" cy="329184"/>
          </a:xfrm>
          <a:prstGeom prst="rect">
            <a:avLst/>
          </a:prstGeom>
          <a:noFill/>
          <a:ln/>
        </p:spPr>
        <p:txBody>
          <a:bodyPr wrap="none" lIns="0" tIns="0" rIns="0" bIns="0" rtlCol="0" anchor="ctr"/>
          <a:lstStyle/>
          <a:p>
            <a:pPr marL="0" indent="0">
              <a:buNone/>
            </a:pPr>
            <a:r>
              <a:rPr lang="en-US" sz="1800" dirty="0">
                <a:solidFill>
                  <a:srgbClr val="F2C879"/>
                </a:solidFill>
                <a:latin typeface="Courier New" pitchFamily="34" charset="0"/>
                <a:ea typeface="Courier New" pitchFamily="34" charset="-122"/>
                <a:cs typeface="Courier New" pitchFamily="34" charset="-120"/>
              </a:rPr>
              <a:t>2</a:t>
            </a:r>
            <a:r>
              <a:rPr lang="en-US" sz="1800" dirty="0">
                <a:solidFill>
                  <a:srgbClr val="E6ECF5"/>
                </a:solidFill>
                <a:latin typeface="Courier New" pitchFamily="34" charset="0"/>
                <a:ea typeface="Courier New" pitchFamily="34" charset="-122"/>
                <a:cs typeface="Courier New" pitchFamily="34" charset="-120"/>
              </a:rPr>
              <a:t> blanks: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6" name="@2 addText"/>
          <p:cNvSpPr txBox="1"/>
          <p:nvPr/>
        </p:nvSpPr>
        <p:spPr>
          <a:xfrm>
            <a:off x="640080" y="1746504"/>
            <a:ext cx="7955280" cy="329184"/>
          </a:xfrm>
          <a:prstGeom prst="rect">
            <a:avLst/>
          </a:prstGeom>
          <a:noFill/>
          <a:ln/>
        </p:spPr>
        <p:txBody>
          <a:bodyPr wrap="none" lIns="0" tIns="0" rIns="0" bIns="0" rtlCol="0" anchor="ctr"/>
          <a:lstStyle/>
          <a:p>
            <a:pPr marL="0" indent="0">
              <a:buNone/>
            </a:pPr>
            <a:r>
              <a:rPr lang="en-US" sz="1800" dirty="0">
                <a:solidFill>
                  <a:srgbClr val="F2C879"/>
                </a:solidFill>
                <a:latin typeface="Courier New" pitchFamily="34" charset="0"/>
                <a:ea typeface="Courier New" pitchFamily="34" charset="-122"/>
                <a:cs typeface="Courier New" pitchFamily="34" charset="-120"/>
              </a:rPr>
              <a:t>7</a:t>
            </a:r>
            <a:r>
              <a:rPr lang="en-US" sz="1800" dirty="0">
                <a:solidFill>
                  <a:srgbClr val="E6ECF5"/>
                </a:solidFill>
                <a:latin typeface="Courier New" pitchFamily="34" charset="0"/>
                <a:ea typeface="Courier New" pitchFamily="34" charset="-122"/>
                <a:cs typeface="Courier New" pitchFamily="34" charset="-120"/>
              </a:rPr>
              <a:t> ones: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7" name="@3 addText"/>
          <p:cNvSpPr txBox="1"/>
          <p:nvPr/>
        </p:nvSpPr>
        <p:spPr>
          <a:xfrm>
            <a:off x="640080" y="2075688"/>
            <a:ext cx="7955280" cy="329184"/>
          </a:xfrm>
          <a:prstGeom prst="rect">
            <a:avLst/>
          </a:prstGeom>
          <a:noFill/>
          <a:ln/>
        </p:spPr>
        <p:txBody>
          <a:bodyPr wrap="none" lIns="0" tIns="0" rIns="0" bIns="0" rtlCol="0" anchor="ctr"/>
          <a:lstStyle/>
          <a:p>
            <a:pPr marL="0" indent="0">
              <a:buNone/>
            </a:pPr>
            <a:r>
              <a:rPr lang="en-US" sz="1800" dirty="0">
                <a:solidFill>
                  <a:srgbClr val="F2C879"/>
                </a:solidFill>
                <a:latin typeface="Courier New" pitchFamily="34" charset="0"/>
                <a:ea typeface="Courier New" pitchFamily="34" charset="-122"/>
                <a:cs typeface="Courier New" pitchFamily="34" charset="-120"/>
              </a:rPr>
              <a:t>3</a:t>
            </a:r>
            <a:r>
              <a:rPr lang="en-US" sz="1800" dirty="0">
                <a:solidFill>
                  <a:srgbClr val="E6ECF5"/>
                </a:solidFill>
                <a:latin typeface="Courier New" pitchFamily="34" charset="0"/>
                <a:ea typeface="Courier New" pitchFamily="34" charset="-122"/>
                <a:cs typeface="Courier New" pitchFamily="34" charset="-120"/>
              </a:rPr>
              <a:t> blanks: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1</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 </a:t>
            </a:r>
            <a:r>
              <a:rPr lang="en-US" sz="1800" dirty="0">
                <a:solidFill>
                  <a:srgbClr val="F2C879"/>
                </a:solidFill>
                <a:latin typeface="Courier New" pitchFamily="34" charset="0"/>
                <a:ea typeface="Courier New" pitchFamily="34" charset="-122"/>
                <a:cs typeface="Courier New" pitchFamily="34" charset="-120"/>
              </a:rPr>
              <a:t>0</a:t>
            </a:r>
            <a:r>
              <a:rPr lang="en-US" sz="1800" dirty="0">
                <a:solidFill>
                  <a:srgbClr val="E6ECF5"/>
                </a:solidFill>
                <a:latin typeface="Courier New" pitchFamily="34" charset="0"/>
                <a:ea typeface="Courier New" pitchFamily="34" charset="-122"/>
                <a:cs typeface="Courier New" pitchFamily="34" charset="-120"/>
              </a:rPr>
              <a:t>]</a:t>
            </a:r>
            <a:endParaRPr lang="en-US" sz="1800" dirty="0"/>
          </a:p>
        </p:txBody>
      </p:sp>
      <p:sp>
        <p:nvSpPr>
          <p:cNvPr id="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2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Worked Example: the Heart</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41</a:t>
            </a:fld>
            <a:endParaRPr lang="en-US"/>
          </a:p>
        </p:txBody>
      </p:sp>
      <p:sp>
        <p:nvSpPr>
          <p:cNvPr id="4" name="Text"/>
          <p:cNvSpPr txBox="1"/>
          <p:nvPr/>
        </p:nvSpPr>
        <p:spPr>
          <a:xfrm>
            <a:off x="548640" y="1005840"/>
            <a:ext cx="2834640" cy="274320"/>
          </a:xfrm>
          <a:prstGeom prst="rect">
            <a:avLst/>
          </a:prstGeom>
          <a:noFill/>
        </p:spPr>
        <p:txBody>
          <a:bodyPr wrap="square" lIns="0" tIns="0" rIns="0" bIns="0" anchor="ctr">
            <a:spAutoFit/>
          </a:bodyPr>
          <a:lstStyle/>
          <a:p>
            <a:pPr algn="l"/>
            <a:r>
              <a:rPr sz="1300" b="1" i="0">
                <a:solidFill>
                  <a:srgbClr val="5D6B80"/>
                </a:solidFill>
                <a:latin typeface="Arial"/>
              </a:rPr>
              <a:t>the picture</a:t>
            </a:r>
          </a:p>
        </p:txBody>
      </p:sp>
      <p:sp>
        <p:nvSpPr>
          <p:cNvPr id="5" name="Text"/>
          <p:cNvSpPr txBox="1"/>
          <p:nvPr/>
        </p:nvSpPr>
        <p:spPr>
          <a:xfrm>
            <a:off x="3931920" y="1005840"/>
            <a:ext cx="3657600" cy="274320"/>
          </a:xfrm>
          <a:prstGeom prst="rect">
            <a:avLst/>
          </a:prstGeom>
          <a:noFill/>
        </p:spPr>
        <p:txBody>
          <a:bodyPr wrap="square" lIns="0" tIns="0" rIns="0" bIns="0" anchor="ctr">
            <a:spAutoFit/>
          </a:bodyPr>
          <a:lstStyle/>
          <a:p>
            <a:pPr algn="l"/>
            <a:r>
              <a:rPr sz="1300" b="1" i="0">
                <a:solidFill>
                  <a:srgbClr val="5D6B80"/>
                </a:solidFill>
                <a:latin typeface="Arial"/>
              </a:rPr>
              <a:t>RLE clue for each row</a:t>
            </a:r>
          </a:p>
        </p:txBody>
      </p:sp>
      <p:sp>
        <p:nvSpPr>
          <p:cNvPr id="6" name="Cell off"/>
          <p:cNvSpPr/>
          <p:nvPr/>
        </p:nvSpPr>
        <p:spPr>
          <a:xfrm>
            <a:off x="548640"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ell off"/>
          <p:cNvSpPr/>
          <p:nvPr/>
        </p:nvSpPr>
        <p:spPr>
          <a:xfrm>
            <a:off x="1115568"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ell off"/>
          <p:cNvSpPr/>
          <p:nvPr/>
        </p:nvSpPr>
        <p:spPr>
          <a:xfrm>
            <a:off x="1682495"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ell off"/>
          <p:cNvSpPr/>
          <p:nvPr/>
        </p:nvSpPr>
        <p:spPr>
          <a:xfrm>
            <a:off x="2249424"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ell off"/>
          <p:cNvSpPr/>
          <p:nvPr/>
        </p:nvSpPr>
        <p:spPr>
          <a:xfrm>
            <a:off x="2816352"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ell off"/>
          <p:cNvSpPr/>
          <p:nvPr/>
        </p:nvSpPr>
        <p:spPr>
          <a:xfrm>
            <a:off x="548640"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ell off"/>
          <p:cNvSpPr/>
          <p:nvPr/>
        </p:nvSpPr>
        <p:spPr>
          <a:xfrm>
            <a:off x="1115568"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ell off"/>
          <p:cNvSpPr/>
          <p:nvPr/>
        </p:nvSpPr>
        <p:spPr>
          <a:xfrm>
            <a:off x="1682495"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ell off"/>
          <p:cNvSpPr/>
          <p:nvPr/>
        </p:nvSpPr>
        <p:spPr>
          <a:xfrm>
            <a:off x="2249424"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ell off"/>
          <p:cNvSpPr/>
          <p:nvPr/>
        </p:nvSpPr>
        <p:spPr>
          <a:xfrm>
            <a:off x="2816352"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ell off"/>
          <p:cNvSpPr/>
          <p:nvPr/>
        </p:nvSpPr>
        <p:spPr>
          <a:xfrm>
            <a:off x="548640"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ell off"/>
          <p:cNvSpPr/>
          <p:nvPr/>
        </p:nvSpPr>
        <p:spPr>
          <a:xfrm>
            <a:off x="1115568"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ell off"/>
          <p:cNvSpPr/>
          <p:nvPr/>
        </p:nvSpPr>
        <p:spPr>
          <a:xfrm>
            <a:off x="1682495"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ell off"/>
          <p:cNvSpPr/>
          <p:nvPr/>
        </p:nvSpPr>
        <p:spPr>
          <a:xfrm>
            <a:off x="2249424"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ell off"/>
          <p:cNvSpPr/>
          <p:nvPr/>
        </p:nvSpPr>
        <p:spPr>
          <a:xfrm>
            <a:off x="2816352"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ell off"/>
          <p:cNvSpPr/>
          <p:nvPr/>
        </p:nvSpPr>
        <p:spPr>
          <a:xfrm>
            <a:off x="548640"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ell off"/>
          <p:cNvSpPr/>
          <p:nvPr/>
        </p:nvSpPr>
        <p:spPr>
          <a:xfrm>
            <a:off x="1115568"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ell off"/>
          <p:cNvSpPr/>
          <p:nvPr/>
        </p:nvSpPr>
        <p:spPr>
          <a:xfrm>
            <a:off x="1682495"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ell off"/>
          <p:cNvSpPr/>
          <p:nvPr/>
        </p:nvSpPr>
        <p:spPr>
          <a:xfrm>
            <a:off x="2249424"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ell off"/>
          <p:cNvSpPr/>
          <p:nvPr/>
        </p:nvSpPr>
        <p:spPr>
          <a:xfrm>
            <a:off x="2816352"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ell on"/>
          <p:cNvSpPr/>
          <p:nvPr/>
        </p:nvSpPr>
        <p:spPr>
          <a:xfrm>
            <a:off x="1115568" y="1371600"/>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ell on"/>
          <p:cNvSpPr/>
          <p:nvPr/>
        </p:nvSpPr>
        <p:spPr>
          <a:xfrm>
            <a:off x="2249424" y="1371600"/>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ell on"/>
          <p:cNvSpPr/>
          <p:nvPr/>
        </p:nvSpPr>
        <p:spPr>
          <a:xfrm>
            <a:off x="548640"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ell on"/>
          <p:cNvSpPr/>
          <p:nvPr/>
        </p:nvSpPr>
        <p:spPr>
          <a:xfrm>
            <a:off x="1115568"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ell on"/>
          <p:cNvSpPr/>
          <p:nvPr/>
        </p:nvSpPr>
        <p:spPr>
          <a:xfrm>
            <a:off x="1682495"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ell on"/>
          <p:cNvSpPr/>
          <p:nvPr/>
        </p:nvSpPr>
        <p:spPr>
          <a:xfrm>
            <a:off x="2249424"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ell on"/>
          <p:cNvSpPr/>
          <p:nvPr/>
        </p:nvSpPr>
        <p:spPr>
          <a:xfrm>
            <a:off x="2816352"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ell on"/>
          <p:cNvSpPr/>
          <p:nvPr/>
        </p:nvSpPr>
        <p:spPr>
          <a:xfrm>
            <a:off x="1115568" y="2505456"/>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ell on"/>
          <p:cNvSpPr/>
          <p:nvPr/>
        </p:nvSpPr>
        <p:spPr>
          <a:xfrm>
            <a:off x="1682495" y="2505456"/>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ell on"/>
          <p:cNvSpPr/>
          <p:nvPr/>
        </p:nvSpPr>
        <p:spPr>
          <a:xfrm>
            <a:off x="2249424" y="2505456"/>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ell on"/>
          <p:cNvSpPr/>
          <p:nvPr/>
        </p:nvSpPr>
        <p:spPr>
          <a:xfrm>
            <a:off x="1682495" y="3072384"/>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1 Clue"/>
          <p:cNvSpPr txBox="1"/>
          <p:nvPr/>
        </p:nvSpPr>
        <p:spPr>
          <a:xfrm>
            <a:off x="3931920" y="1371600"/>
            <a:ext cx="2194560" cy="566928"/>
          </a:xfrm>
          <a:prstGeom prst="rect">
            <a:avLst/>
          </a:prstGeom>
          <a:noFill/>
        </p:spPr>
        <p:txBody>
          <a:bodyPr wrap="square" lIns="0" tIns="0" rIns="0" bIns="0" anchor="ctr">
            <a:spAutoFit/>
          </a:bodyPr>
          <a:lstStyle/>
          <a:p>
            <a:pPr algn="l"/>
            <a:r>
              <a:rPr sz="2200" b="1" i="0">
                <a:solidFill>
                  <a:srgbClr val="002D6A"/>
                </a:solidFill>
                <a:latin typeface="Courier New"/>
              </a:rPr>
              <a:t>1, 1, 1, 1, 1</a:t>
            </a:r>
          </a:p>
        </p:txBody>
      </p:sp>
      <p:sp>
        <p:nvSpPr>
          <p:cNvPr id="38" name="@2 Clue"/>
          <p:cNvSpPr txBox="1"/>
          <p:nvPr/>
        </p:nvSpPr>
        <p:spPr>
          <a:xfrm>
            <a:off x="3931920" y="1938528"/>
            <a:ext cx="2194560" cy="566928"/>
          </a:xfrm>
          <a:prstGeom prst="rect">
            <a:avLst/>
          </a:prstGeom>
          <a:noFill/>
        </p:spPr>
        <p:txBody>
          <a:bodyPr wrap="square" lIns="0" tIns="0" rIns="0" bIns="0" anchor="ctr">
            <a:spAutoFit/>
          </a:bodyPr>
          <a:lstStyle/>
          <a:p>
            <a:pPr algn="l"/>
            <a:r>
              <a:rPr sz="2200" b="1" i="0">
                <a:solidFill>
                  <a:srgbClr val="002D6A"/>
                </a:solidFill>
                <a:latin typeface="Courier New"/>
              </a:rPr>
              <a:t>0, 5</a:t>
            </a:r>
          </a:p>
        </p:txBody>
      </p:sp>
      <p:sp>
        <p:nvSpPr>
          <p:cNvPr id="39" name="@3 Clue"/>
          <p:cNvSpPr txBox="1"/>
          <p:nvPr/>
        </p:nvSpPr>
        <p:spPr>
          <a:xfrm>
            <a:off x="3931920" y="2505456"/>
            <a:ext cx="2194560" cy="566928"/>
          </a:xfrm>
          <a:prstGeom prst="rect">
            <a:avLst/>
          </a:prstGeom>
          <a:noFill/>
        </p:spPr>
        <p:txBody>
          <a:bodyPr wrap="square" lIns="0" tIns="0" rIns="0" bIns="0" anchor="ctr">
            <a:spAutoFit/>
          </a:bodyPr>
          <a:lstStyle/>
          <a:p>
            <a:pPr algn="l"/>
            <a:r>
              <a:rPr sz="2200" b="1" i="0">
                <a:solidFill>
                  <a:srgbClr val="002D6A"/>
                </a:solidFill>
                <a:latin typeface="Courier New"/>
              </a:rPr>
              <a:t>1, 3, 1</a:t>
            </a:r>
          </a:p>
        </p:txBody>
      </p:sp>
      <p:sp>
        <p:nvSpPr>
          <p:cNvPr id="40" name="@4 Clue"/>
          <p:cNvSpPr txBox="1"/>
          <p:nvPr/>
        </p:nvSpPr>
        <p:spPr>
          <a:xfrm>
            <a:off x="3931920" y="3072384"/>
            <a:ext cx="2194560" cy="566928"/>
          </a:xfrm>
          <a:prstGeom prst="rect">
            <a:avLst/>
          </a:prstGeom>
          <a:noFill/>
        </p:spPr>
        <p:txBody>
          <a:bodyPr wrap="square" lIns="0" tIns="0" rIns="0" bIns="0" anchor="ctr">
            <a:spAutoFit/>
          </a:bodyPr>
          <a:lstStyle/>
          <a:p>
            <a:pPr algn="l"/>
            <a:r>
              <a:rPr sz="2200" b="1" i="0">
                <a:solidFill>
                  <a:srgbClr val="002D6A"/>
                </a:solidFill>
                <a:latin typeface="Courier New"/>
              </a:rPr>
              <a:t>2, 1, 2</a:t>
            </a:r>
          </a:p>
        </p:txBody>
      </p:sp>
      <p:sp>
        <p:nvSpPr>
          <p:cNvPr id="41" name="@2 Clue note"/>
          <p:cNvSpPr txBox="1"/>
          <p:nvPr/>
        </p:nvSpPr>
        <p:spPr>
          <a:xfrm>
            <a:off x="6035040" y="1938528"/>
            <a:ext cx="2743200" cy="566928"/>
          </a:xfrm>
          <a:prstGeom prst="rect">
            <a:avLst/>
          </a:prstGeom>
          <a:noFill/>
        </p:spPr>
        <p:txBody>
          <a:bodyPr wrap="square" lIns="0" tIns="0" rIns="0" bIns="0" anchor="ctr">
            <a:spAutoFit/>
          </a:bodyPr>
          <a:lstStyle/>
          <a:p>
            <a:pPr algn="l"/>
            <a:r>
              <a:rPr sz="1300" b="0" i="1">
                <a:solidFill>
                  <a:srgbClr val="5D6B80"/>
                </a:solidFill>
                <a:latin typeface="Arial"/>
              </a:rPr>
              <a:t>0 blanks first: the row starts coloured</a:t>
            </a:r>
          </a:p>
        </p:txBody>
      </p:sp>
      <p:sp>
        <p:nvSpPr>
          <p:cNvPr id="42" name="@5 Callout"/>
          <p:cNvSpPr/>
          <p:nvPr/>
        </p:nvSpPr>
        <p:spPr>
          <a:xfrm>
            <a:off x="457200" y="3931920"/>
            <a:ext cx="8229600" cy="640080"/>
          </a:xfrm>
          <a:prstGeom prst="roundRect">
            <a:avLst>
              <a:gd name="adj" fmla="val 12000"/>
            </a:avLst>
          </a:prstGeom>
          <a:solidFill>
            <a:srgbClr val="FFFFFF"/>
          </a:solidFill>
          <a:ln w="1587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5 Callout text"/>
          <p:cNvSpPr txBox="1"/>
          <p:nvPr/>
        </p:nvSpPr>
        <p:spPr>
          <a:xfrm>
            <a:off x="685800" y="3931920"/>
            <a:ext cx="7772400" cy="640080"/>
          </a:xfrm>
          <a:prstGeom prst="rect">
            <a:avLst/>
          </a:prstGeom>
          <a:noFill/>
        </p:spPr>
        <p:txBody>
          <a:bodyPr wrap="square" lIns="0" tIns="0" rIns="0" bIns="0" anchor="ctr">
            <a:spAutoFit/>
          </a:bodyPr>
          <a:lstStyle/>
          <a:p>
            <a:pPr algn="l"/>
            <a:r>
              <a:rPr sz="1600" b="1" i="0">
                <a:solidFill>
                  <a:srgbClr val="5D79A0"/>
                </a:solidFill>
                <a:latin typeface="Arial"/>
              </a:rPr>
              <a:t>NOTE  </a:t>
            </a:r>
            <a:r>
              <a:rPr sz="1600" b="0" i="0">
                <a:solidFill>
                  <a:srgbClr val="22262E"/>
                </a:solidFill>
                <a:latin typeface="Arial"/>
              </a:rPr>
              <a:t>Our job: turn each clue back into a row.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2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200"/>
                                        <p:tgtEl>
                                          <p:spTgt spid="3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200"/>
                                        <p:tgtEl>
                                          <p:spTgt spid="4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200"/>
                                        <p:tgtEl>
                                          <p:spTgt spid="3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2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200"/>
                                        <p:tgtEl>
                                          <p:spTgt spid="4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2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Plan It in Pseudocode</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42</a:t>
            </a:fld>
            <a:endParaRPr lang="en-US"/>
          </a:p>
        </p:txBody>
      </p:sp>
      <p:sp>
        <p:nvSpPr>
          <p:cNvPr id="4" name="@1 Code box"/>
          <p:cNvSpPr/>
          <p:nvPr/>
        </p:nvSpPr>
        <p:spPr>
          <a:xfrm>
            <a:off x="457200" y="1143000"/>
            <a:ext cx="8229600" cy="3319272"/>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1 Code bar"/>
          <p:cNvSpPr/>
          <p:nvPr/>
        </p:nvSpPr>
        <p:spPr>
          <a:xfrm>
            <a:off x="457200" y="1143000"/>
            <a:ext cx="54864" cy="3319272"/>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1 Code line"/>
          <p:cNvSpPr txBox="1"/>
          <p:nvPr/>
        </p:nvSpPr>
        <p:spPr>
          <a:xfrm>
            <a:off x="640080" y="1280160"/>
            <a:ext cx="7680960" cy="338328"/>
          </a:xfrm>
          <a:prstGeom prst="rect">
            <a:avLst/>
          </a:prstGeom>
          <a:noFill/>
        </p:spPr>
        <p:txBody>
          <a:bodyPr wrap="square" lIns="0" tIns="0" rIns="0" bIns="0" anchor="ctr">
            <a:spAutoFit/>
          </a:bodyPr>
          <a:lstStyle/>
          <a:p>
            <a:pPr algn="l"/>
            <a:r>
              <a:rPr sz="1700" b="0" i="0">
                <a:solidFill>
                  <a:srgbClr val="6F86A8"/>
                </a:solidFill>
                <a:latin typeface="Courier New"/>
              </a:rPr>
              <a:t> 1  </a:t>
            </a:r>
            <a:r>
              <a:rPr sz="1700" b="0" i="0">
                <a:solidFill>
                  <a:srgbClr val="E6ECF5"/>
                </a:solidFill>
                <a:latin typeface="Courier New"/>
              </a:rPr>
              <a:t>picture = empty list</a:t>
            </a:r>
          </a:p>
        </p:txBody>
      </p:sp>
      <p:sp>
        <p:nvSpPr>
          <p:cNvPr id="7" name="@2 Code line"/>
          <p:cNvSpPr txBox="1"/>
          <p:nvPr/>
        </p:nvSpPr>
        <p:spPr>
          <a:xfrm>
            <a:off x="640080" y="1618488"/>
            <a:ext cx="7680960" cy="338328"/>
          </a:xfrm>
          <a:prstGeom prst="rect">
            <a:avLst/>
          </a:prstGeom>
          <a:noFill/>
        </p:spPr>
        <p:txBody>
          <a:bodyPr wrap="square" lIns="0" tIns="0" rIns="0" bIns="0" anchor="ctr">
            <a:spAutoFit/>
          </a:bodyPr>
          <a:lstStyle/>
          <a:p>
            <a:pPr algn="l"/>
            <a:r>
              <a:rPr sz="1700" b="0" i="0">
                <a:solidFill>
                  <a:srgbClr val="6F86A8"/>
                </a:solidFill>
                <a:latin typeface="Courier New"/>
              </a:rPr>
              <a:t> 2  </a:t>
            </a:r>
            <a:r>
              <a:rPr sz="1700" b="1" i="0">
                <a:solidFill>
                  <a:srgbClr val="8FB8FF"/>
                </a:solidFill>
                <a:latin typeface="Courier New"/>
              </a:rPr>
              <a:t>FOR</a:t>
            </a:r>
            <a:r>
              <a:rPr sz="1700" b="0" i="0">
                <a:solidFill>
                  <a:srgbClr val="E6ECF5"/>
                </a:solidFill>
                <a:latin typeface="Courier New"/>
              </a:rPr>
              <a:t> each clue in the clues:</a:t>
            </a:r>
          </a:p>
        </p:txBody>
      </p:sp>
      <p:sp>
        <p:nvSpPr>
          <p:cNvPr id="8" name="@2 Code line"/>
          <p:cNvSpPr txBox="1"/>
          <p:nvPr/>
        </p:nvSpPr>
        <p:spPr>
          <a:xfrm>
            <a:off x="640080" y="1956815"/>
            <a:ext cx="7680960" cy="338328"/>
          </a:xfrm>
          <a:prstGeom prst="rect">
            <a:avLst/>
          </a:prstGeom>
          <a:noFill/>
        </p:spPr>
        <p:txBody>
          <a:bodyPr wrap="square" lIns="0" tIns="0" rIns="0" bIns="0" anchor="ctr">
            <a:spAutoFit/>
          </a:bodyPr>
          <a:lstStyle/>
          <a:p>
            <a:pPr algn="l"/>
            <a:r>
              <a:rPr sz="1700" b="0" i="0">
                <a:solidFill>
                  <a:srgbClr val="6F86A8"/>
                </a:solidFill>
                <a:latin typeface="Courier New"/>
              </a:rPr>
              <a:t> 3  </a:t>
            </a:r>
            <a:r>
              <a:rPr sz="1700" b="0" i="0">
                <a:solidFill>
                  <a:srgbClr val="E6ECF5"/>
                </a:solidFill>
                <a:latin typeface="Courier New"/>
              </a:rPr>
              <a:t>    row = empty list</a:t>
            </a:r>
          </a:p>
        </p:txBody>
      </p:sp>
      <p:sp>
        <p:nvSpPr>
          <p:cNvPr id="9" name="@2 Code line"/>
          <p:cNvSpPr txBox="1"/>
          <p:nvPr/>
        </p:nvSpPr>
        <p:spPr>
          <a:xfrm>
            <a:off x="640080" y="2295144"/>
            <a:ext cx="7680960" cy="338328"/>
          </a:xfrm>
          <a:prstGeom prst="rect">
            <a:avLst/>
          </a:prstGeom>
          <a:noFill/>
        </p:spPr>
        <p:txBody>
          <a:bodyPr wrap="square" lIns="0" tIns="0" rIns="0" bIns="0" anchor="ctr">
            <a:spAutoFit/>
          </a:bodyPr>
          <a:lstStyle/>
          <a:p>
            <a:pPr algn="l"/>
            <a:r>
              <a:rPr sz="1700" b="0" i="0">
                <a:solidFill>
                  <a:srgbClr val="6F86A8"/>
                </a:solidFill>
                <a:latin typeface="Courier New"/>
              </a:rPr>
              <a:t> 4  </a:t>
            </a:r>
            <a:r>
              <a:rPr sz="1700" b="0" i="0">
                <a:solidFill>
                  <a:srgbClr val="E6ECF5"/>
                </a:solidFill>
                <a:latin typeface="Courier New"/>
              </a:rPr>
              <a:t>    colour = </a:t>
            </a:r>
            <a:r>
              <a:rPr sz="1700" b="0" i="0">
                <a:solidFill>
                  <a:srgbClr val="F2C879"/>
                </a:solidFill>
                <a:latin typeface="Courier New"/>
              </a:rPr>
              <a:t>0</a:t>
            </a:r>
            <a:r>
              <a:rPr sz="1700" b="0" i="0">
                <a:solidFill>
                  <a:srgbClr val="E6ECF5"/>
                </a:solidFill>
                <a:latin typeface="Courier New"/>
              </a:rPr>
              <a:t>   </a:t>
            </a:r>
            <a:r>
              <a:rPr sz="1700" b="0" i="0">
                <a:solidFill>
                  <a:srgbClr val="8EA3C0"/>
                </a:solidFill>
                <a:latin typeface="Courier New"/>
              </a:rPr>
              <a:t>(blank)</a:t>
            </a:r>
          </a:p>
        </p:txBody>
      </p:sp>
      <p:sp>
        <p:nvSpPr>
          <p:cNvPr id="10" name="@3 Code line"/>
          <p:cNvSpPr txBox="1"/>
          <p:nvPr/>
        </p:nvSpPr>
        <p:spPr>
          <a:xfrm>
            <a:off x="640080" y="2633472"/>
            <a:ext cx="7680960" cy="338328"/>
          </a:xfrm>
          <a:prstGeom prst="rect">
            <a:avLst/>
          </a:prstGeom>
          <a:noFill/>
        </p:spPr>
        <p:txBody>
          <a:bodyPr wrap="square" lIns="0" tIns="0" rIns="0" bIns="0" anchor="ctr">
            <a:spAutoFit/>
          </a:bodyPr>
          <a:lstStyle/>
          <a:p>
            <a:pPr algn="l"/>
            <a:r>
              <a:rPr sz="1700" b="0" i="0">
                <a:solidFill>
                  <a:srgbClr val="6F86A8"/>
                </a:solidFill>
                <a:latin typeface="Courier New"/>
              </a:rPr>
              <a:t> 5  </a:t>
            </a:r>
            <a:r>
              <a:rPr sz="1700" b="0" i="0">
                <a:solidFill>
                  <a:srgbClr val="E6ECF5"/>
                </a:solidFill>
                <a:latin typeface="Courier New"/>
              </a:rPr>
              <a:t>    </a:t>
            </a:r>
            <a:r>
              <a:rPr sz="1700" b="1" i="0">
                <a:solidFill>
                  <a:srgbClr val="8FB8FF"/>
                </a:solidFill>
                <a:latin typeface="Courier New"/>
              </a:rPr>
              <a:t>FOR</a:t>
            </a:r>
            <a:r>
              <a:rPr sz="1700" b="0" i="0">
                <a:solidFill>
                  <a:srgbClr val="E6ECF5"/>
                </a:solidFill>
                <a:latin typeface="Courier New"/>
              </a:rPr>
              <a:t> each number in the clue:</a:t>
            </a:r>
          </a:p>
        </p:txBody>
      </p:sp>
      <p:sp>
        <p:nvSpPr>
          <p:cNvPr id="11" name="@3 Code line"/>
          <p:cNvSpPr txBox="1"/>
          <p:nvPr/>
        </p:nvSpPr>
        <p:spPr>
          <a:xfrm>
            <a:off x="640080" y="2971800"/>
            <a:ext cx="7680960" cy="338328"/>
          </a:xfrm>
          <a:prstGeom prst="rect">
            <a:avLst/>
          </a:prstGeom>
          <a:noFill/>
        </p:spPr>
        <p:txBody>
          <a:bodyPr wrap="square" lIns="0" tIns="0" rIns="0" bIns="0" anchor="ctr">
            <a:spAutoFit/>
          </a:bodyPr>
          <a:lstStyle/>
          <a:p>
            <a:pPr algn="l"/>
            <a:r>
              <a:rPr sz="1700" b="0" i="0">
                <a:solidFill>
                  <a:srgbClr val="6F86A8"/>
                </a:solidFill>
                <a:latin typeface="Courier New"/>
              </a:rPr>
              <a:t> 6  </a:t>
            </a:r>
            <a:r>
              <a:rPr sz="1700" b="0" i="0">
                <a:solidFill>
                  <a:srgbClr val="E6ECF5"/>
                </a:solidFill>
                <a:latin typeface="Courier New"/>
              </a:rPr>
              <a:t>        add that many of colour to the row</a:t>
            </a:r>
          </a:p>
        </p:txBody>
      </p:sp>
      <p:sp>
        <p:nvSpPr>
          <p:cNvPr id="12" name="@3 Code line"/>
          <p:cNvSpPr txBox="1"/>
          <p:nvPr/>
        </p:nvSpPr>
        <p:spPr>
          <a:xfrm>
            <a:off x="640080" y="3310127"/>
            <a:ext cx="7680960" cy="338328"/>
          </a:xfrm>
          <a:prstGeom prst="rect">
            <a:avLst/>
          </a:prstGeom>
          <a:noFill/>
        </p:spPr>
        <p:txBody>
          <a:bodyPr wrap="square" lIns="0" tIns="0" rIns="0" bIns="0" anchor="ctr">
            <a:spAutoFit/>
          </a:bodyPr>
          <a:lstStyle/>
          <a:p>
            <a:pPr algn="l"/>
            <a:r>
              <a:rPr sz="1700" b="0" i="0">
                <a:solidFill>
                  <a:srgbClr val="6F86A8"/>
                </a:solidFill>
                <a:latin typeface="Courier New"/>
              </a:rPr>
              <a:t> 7  </a:t>
            </a:r>
            <a:r>
              <a:rPr sz="1700" b="0" i="0">
                <a:solidFill>
                  <a:srgbClr val="E6ECF5"/>
                </a:solidFill>
                <a:latin typeface="Courier New"/>
              </a:rPr>
              <a:t>        swap colour   </a:t>
            </a:r>
            <a:r>
              <a:rPr sz="1700" b="0" i="0">
                <a:solidFill>
                  <a:srgbClr val="8EA3C0"/>
                </a:solidFill>
                <a:latin typeface="Courier New"/>
              </a:rPr>
              <a:t>(0 to 1, 1 to 0)</a:t>
            </a:r>
          </a:p>
        </p:txBody>
      </p:sp>
      <p:sp>
        <p:nvSpPr>
          <p:cNvPr id="13" name="@4 Code line"/>
          <p:cNvSpPr txBox="1"/>
          <p:nvPr/>
        </p:nvSpPr>
        <p:spPr>
          <a:xfrm>
            <a:off x="640080" y="3648456"/>
            <a:ext cx="7680960" cy="338328"/>
          </a:xfrm>
          <a:prstGeom prst="rect">
            <a:avLst/>
          </a:prstGeom>
          <a:noFill/>
        </p:spPr>
        <p:txBody>
          <a:bodyPr wrap="square" lIns="0" tIns="0" rIns="0" bIns="0" anchor="ctr">
            <a:spAutoFit/>
          </a:bodyPr>
          <a:lstStyle/>
          <a:p>
            <a:pPr algn="l"/>
            <a:r>
              <a:rPr sz="1700" b="0" i="0">
                <a:solidFill>
                  <a:srgbClr val="6F86A8"/>
                </a:solidFill>
                <a:latin typeface="Courier New"/>
              </a:rPr>
              <a:t> 8  </a:t>
            </a:r>
            <a:r>
              <a:rPr sz="1700" b="0" i="0">
                <a:solidFill>
                  <a:srgbClr val="E6ECF5"/>
                </a:solidFill>
                <a:latin typeface="Courier New"/>
              </a:rPr>
              <a:t>    add the row to the picture</a:t>
            </a:r>
          </a:p>
        </p:txBody>
      </p:sp>
      <p:sp>
        <p:nvSpPr>
          <p:cNvPr id="14" name="@4 Code line"/>
          <p:cNvSpPr txBox="1"/>
          <p:nvPr/>
        </p:nvSpPr>
        <p:spPr>
          <a:xfrm>
            <a:off x="640080" y="3986783"/>
            <a:ext cx="7680960" cy="338328"/>
          </a:xfrm>
          <a:prstGeom prst="rect">
            <a:avLst/>
          </a:prstGeom>
          <a:noFill/>
        </p:spPr>
        <p:txBody>
          <a:bodyPr wrap="square" lIns="0" tIns="0" rIns="0" bIns="0" anchor="ctr">
            <a:spAutoFit/>
          </a:bodyPr>
          <a:lstStyle/>
          <a:p>
            <a:pPr algn="l"/>
            <a:r>
              <a:rPr sz="1700" b="0" i="0">
                <a:solidFill>
                  <a:srgbClr val="6F86A8"/>
                </a:solidFill>
                <a:latin typeface="Courier New"/>
              </a:rPr>
              <a:t> 9  </a:t>
            </a:r>
            <a:r>
              <a:rPr sz="1700" b="1" i="0">
                <a:solidFill>
                  <a:srgbClr val="8FB8FF"/>
                </a:solidFill>
                <a:latin typeface="Courier New"/>
              </a:rPr>
              <a:t>RETURN</a:t>
            </a:r>
            <a:r>
              <a:rPr sz="1700" b="0" i="0">
                <a:solidFill>
                  <a:srgbClr val="E6ECF5"/>
                </a:solidFill>
                <a:latin typeface="Courier New"/>
              </a:rPr>
              <a:t> the picture</a:t>
            </a:r>
          </a:p>
        </p:txBody>
      </p:sp>
      <p:sp>
        <p:nvSpPr>
          <p:cNvPr id="15" name="@2 Outer label"/>
          <p:cNvSpPr txBox="1"/>
          <p:nvPr/>
        </p:nvSpPr>
        <p:spPr>
          <a:xfrm>
            <a:off x="6720840" y="1618488"/>
            <a:ext cx="1828800" cy="566928"/>
          </a:xfrm>
          <a:prstGeom prst="rect">
            <a:avLst/>
          </a:prstGeom>
          <a:noFill/>
        </p:spPr>
        <p:txBody>
          <a:bodyPr wrap="square" lIns="0" tIns="0" rIns="0" bIns="0" anchor="t">
            <a:spAutoFit/>
          </a:bodyPr>
          <a:lstStyle/>
          <a:p>
            <a:pPr algn="l"/>
            <a:r>
              <a:rPr sz="1300" b="1" i="0">
                <a:solidFill>
                  <a:srgbClr val="F2C879"/>
                </a:solidFill>
                <a:latin typeface="Arial"/>
              </a:rPr>
              <a:t>outer loop: one row at a time</a:t>
            </a:r>
          </a:p>
        </p:txBody>
      </p:sp>
      <p:sp>
        <p:nvSpPr>
          <p:cNvPr id="16" name="@3 Inner label"/>
          <p:cNvSpPr txBox="1"/>
          <p:nvPr/>
        </p:nvSpPr>
        <p:spPr>
          <a:xfrm>
            <a:off x="6720840" y="2633472"/>
            <a:ext cx="1828800" cy="566928"/>
          </a:xfrm>
          <a:prstGeom prst="rect">
            <a:avLst/>
          </a:prstGeom>
          <a:noFill/>
        </p:spPr>
        <p:txBody>
          <a:bodyPr wrap="square" lIns="0" tIns="0" rIns="0" bIns="0" anchor="t">
            <a:spAutoFit/>
          </a:bodyPr>
          <a:lstStyle/>
          <a:p>
            <a:pPr algn="l"/>
            <a:r>
              <a:rPr sz="1300" b="1" i="0">
                <a:solidFill>
                  <a:srgbClr val="F2C879"/>
                </a:solidFill>
                <a:latin typeface="Arial"/>
              </a:rPr>
              <a:t>inner loop: one number at a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2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2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2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2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200"/>
                                        <p:tgtEl>
                                          <p:spTgt spid="1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2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Step Through: One Row</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43</a:t>
            </a:fld>
            <a:endParaRPr lang="en-US"/>
          </a:p>
        </p:txBody>
      </p:sp>
      <p:sp>
        <p:nvSpPr>
          <p:cNvPr id="4" name="Text"/>
          <p:cNvSpPr txBox="1"/>
          <p:nvPr/>
        </p:nvSpPr>
        <p:spPr>
          <a:xfrm>
            <a:off x="457200" y="1024128"/>
            <a:ext cx="5486400" cy="457200"/>
          </a:xfrm>
          <a:prstGeom prst="rect">
            <a:avLst/>
          </a:prstGeom>
          <a:noFill/>
        </p:spPr>
        <p:txBody>
          <a:bodyPr wrap="square" lIns="0" tIns="0" rIns="0" bIns="0" anchor="ctr">
            <a:spAutoFit/>
          </a:bodyPr>
          <a:lstStyle/>
          <a:p>
            <a:pPr algn="l"/>
            <a:r>
              <a:rPr sz="2400" b="0" i="0">
                <a:solidFill>
                  <a:srgbClr val="5D6B80"/>
                </a:solidFill>
                <a:latin typeface="Courier New"/>
              </a:rPr>
              <a:t>clue = </a:t>
            </a:r>
            <a:r>
              <a:rPr sz="2400" b="1" i="0">
                <a:solidFill>
                  <a:srgbClr val="002D6A"/>
                </a:solidFill>
                <a:latin typeface="Courier New"/>
              </a:rPr>
              <a:t>[1, 3, 1]</a:t>
            </a:r>
          </a:p>
        </p:txBody>
      </p:sp>
      <p:sp>
        <p:nvSpPr>
          <p:cNvPr id="5" name="Text"/>
          <p:cNvSpPr txBox="1"/>
          <p:nvPr/>
        </p:nvSpPr>
        <p:spPr>
          <a:xfrm>
            <a:off x="594360" y="1627632"/>
            <a:ext cx="1371600" cy="274320"/>
          </a:xfrm>
          <a:prstGeom prst="rect">
            <a:avLst/>
          </a:prstGeom>
          <a:noFill/>
        </p:spPr>
        <p:txBody>
          <a:bodyPr wrap="square" lIns="0" tIns="0" rIns="0" bIns="0" anchor="ctr">
            <a:spAutoFit/>
          </a:bodyPr>
          <a:lstStyle/>
          <a:p>
            <a:pPr algn="l"/>
            <a:r>
              <a:rPr sz="1300" b="1" i="0">
                <a:solidFill>
                  <a:srgbClr val="5D6B80"/>
                </a:solidFill>
                <a:latin typeface="Arial"/>
              </a:rPr>
              <a:t>number</a:t>
            </a:r>
          </a:p>
        </p:txBody>
      </p:sp>
      <p:sp>
        <p:nvSpPr>
          <p:cNvPr id="6" name="Text"/>
          <p:cNvSpPr txBox="1"/>
          <p:nvPr/>
        </p:nvSpPr>
        <p:spPr>
          <a:xfrm>
            <a:off x="1965960" y="1627632"/>
            <a:ext cx="1371600" cy="274320"/>
          </a:xfrm>
          <a:prstGeom prst="rect">
            <a:avLst/>
          </a:prstGeom>
          <a:noFill/>
        </p:spPr>
        <p:txBody>
          <a:bodyPr wrap="square" lIns="0" tIns="0" rIns="0" bIns="0" anchor="ctr">
            <a:spAutoFit/>
          </a:bodyPr>
          <a:lstStyle/>
          <a:p>
            <a:pPr algn="l"/>
            <a:r>
              <a:rPr sz="1300" b="1" i="0">
                <a:solidFill>
                  <a:srgbClr val="5D6B80"/>
                </a:solidFill>
                <a:latin typeface="Arial"/>
              </a:rPr>
              <a:t>colour</a:t>
            </a:r>
          </a:p>
        </p:txBody>
      </p:sp>
      <p:sp>
        <p:nvSpPr>
          <p:cNvPr id="7" name="Text"/>
          <p:cNvSpPr txBox="1"/>
          <p:nvPr/>
        </p:nvSpPr>
        <p:spPr>
          <a:xfrm>
            <a:off x="3337560" y="1627632"/>
            <a:ext cx="2286000" cy="274320"/>
          </a:xfrm>
          <a:prstGeom prst="rect">
            <a:avLst/>
          </a:prstGeom>
          <a:noFill/>
        </p:spPr>
        <p:txBody>
          <a:bodyPr wrap="square" lIns="0" tIns="0" rIns="0" bIns="0" anchor="ctr">
            <a:spAutoFit/>
          </a:bodyPr>
          <a:lstStyle/>
          <a:p>
            <a:pPr algn="l"/>
            <a:r>
              <a:rPr sz="1300" b="1" i="0">
                <a:solidFill>
                  <a:srgbClr val="5D6B80"/>
                </a:solidFill>
                <a:latin typeface="Arial"/>
              </a:rPr>
              <a:t>add to the row</a:t>
            </a:r>
          </a:p>
        </p:txBody>
      </p:sp>
      <p:sp>
        <p:nvSpPr>
          <p:cNvPr id="8" name="Text"/>
          <p:cNvSpPr txBox="1"/>
          <p:nvPr/>
        </p:nvSpPr>
        <p:spPr>
          <a:xfrm>
            <a:off x="5623560" y="1627632"/>
            <a:ext cx="3200400" cy="274320"/>
          </a:xfrm>
          <a:prstGeom prst="rect">
            <a:avLst/>
          </a:prstGeom>
          <a:noFill/>
        </p:spPr>
        <p:txBody>
          <a:bodyPr wrap="square" lIns="0" tIns="0" rIns="0" bIns="0" anchor="ctr">
            <a:spAutoFit/>
          </a:bodyPr>
          <a:lstStyle/>
          <a:p>
            <a:pPr algn="l"/>
            <a:r>
              <a:rPr sz="1300" b="1" i="0">
                <a:solidFill>
                  <a:srgbClr val="5D6B80"/>
                </a:solidFill>
                <a:latin typeface="Arial"/>
              </a:rPr>
              <a:t>row so far</a:t>
            </a:r>
          </a:p>
        </p:txBody>
      </p:sp>
      <p:sp>
        <p:nvSpPr>
          <p:cNvPr id="9" name="Card"/>
          <p:cNvSpPr/>
          <p:nvPr/>
        </p:nvSpPr>
        <p:spPr>
          <a:xfrm>
            <a:off x="457200" y="1938528"/>
            <a:ext cx="8229600" cy="384048"/>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race cell"/>
          <p:cNvSpPr txBox="1"/>
          <p:nvPr/>
        </p:nvSpPr>
        <p:spPr>
          <a:xfrm>
            <a:off x="594360" y="1938528"/>
            <a:ext cx="1280160" cy="384048"/>
          </a:xfrm>
          <a:prstGeom prst="rect">
            <a:avLst/>
          </a:prstGeom>
          <a:noFill/>
        </p:spPr>
        <p:txBody>
          <a:bodyPr wrap="square" lIns="0" tIns="0" rIns="0" bIns="0" anchor="ctr">
            <a:spAutoFit/>
          </a:bodyPr>
          <a:lstStyle/>
          <a:p>
            <a:pPr algn="l"/>
            <a:r>
              <a:rPr sz="1700" b="0" i="0">
                <a:solidFill>
                  <a:srgbClr val="5D6B80"/>
                </a:solidFill>
                <a:latin typeface="Courier New"/>
              </a:rPr>
              <a:t>start</a:t>
            </a:r>
          </a:p>
        </p:txBody>
      </p:sp>
      <p:sp>
        <p:nvSpPr>
          <p:cNvPr id="11" name="Trace cell"/>
          <p:cNvSpPr txBox="1"/>
          <p:nvPr/>
        </p:nvSpPr>
        <p:spPr>
          <a:xfrm>
            <a:off x="1965960" y="1938528"/>
            <a:ext cx="1280160" cy="384048"/>
          </a:xfrm>
          <a:prstGeom prst="rect">
            <a:avLst/>
          </a:prstGeom>
          <a:noFill/>
        </p:spPr>
        <p:txBody>
          <a:bodyPr wrap="square" lIns="0" tIns="0" rIns="0" bIns="0" anchor="ctr">
            <a:spAutoFit/>
          </a:bodyPr>
          <a:lstStyle/>
          <a:p>
            <a:pPr algn="l"/>
            <a:r>
              <a:rPr sz="1700" b="0" i="0">
                <a:solidFill>
                  <a:srgbClr val="5D6B80"/>
                </a:solidFill>
                <a:latin typeface="Courier New"/>
              </a:rPr>
              <a:t>0</a:t>
            </a:r>
          </a:p>
        </p:txBody>
      </p:sp>
      <p:sp>
        <p:nvSpPr>
          <p:cNvPr id="12" name="Trace cell"/>
          <p:cNvSpPr txBox="1"/>
          <p:nvPr/>
        </p:nvSpPr>
        <p:spPr>
          <a:xfrm>
            <a:off x="3337560" y="1938528"/>
            <a:ext cx="2194560" cy="384048"/>
          </a:xfrm>
          <a:prstGeom prst="rect">
            <a:avLst/>
          </a:prstGeom>
          <a:noFill/>
        </p:spPr>
        <p:txBody>
          <a:bodyPr wrap="square" lIns="0" tIns="0" rIns="0" bIns="0" anchor="ctr">
            <a:spAutoFit/>
          </a:bodyPr>
          <a:lstStyle/>
          <a:p>
            <a:pPr algn="l"/>
            <a:endParaRPr/>
          </a:p>
        </p:txBody>
      </p:sp>
      <p:sp>
        <p:nvSpPr>
          <p:cNvPr id="13" name="Trace cell"/>
          <p:cNvSpPr txBox="1"/>
          <p:nvPr/>
        </p:nvSpPr>
        <p:spPr>
          <a:xfrm>
            <a:off x="5623560" y="1938528"/>
            <a:ext cx="3108960" cy="384048"/>
          </a:xfrm>
          <a:prstGeom prst="rect">
            <a:avLst/>
          </a:prstGeom>
          <a:noFill/>
        </p:spPr>
        <p:txBody>
          <a:bodyPr wrap="square" lIns="0" tIns="0" rIns="0" bIns="0" anchor="ctr">
            <a:spAutoFit/>
          </a:bodyPr>
          <a:lstStyle/>
          <a:p>
            <a:pPr algn="l"/>
            <a:r>
              <a:rPr sz="1700" b="0" i="0">
                <a:solidFill>
                  <a:srgbClr val="5D6B80"/>
                </a:solidFill>
                <a:latin typeface="Courier New"/>
              </a:rPr>
              <a:t>[]</a:t>
            </a:r>
          </a:p>
        </p:txBody>
      </p:sp>
      <p:sp>
        <p:nvSpPr>
          <p:cNvPr id="14" name="@1 Card"/>
          <p:cNvSpPr/>
          <p:nvPr/>
        </p:nvSpPr>
        <p:spPr>
          <a:xfrm>
            <a:off x="457200" y="2395728"/>
            <a:ext cx="8229600" cy="384048"/>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1 Trace cell"/>
          <p:cNvSpPr txBox="1"/>
          <p:nvPr/>
        </p:nvSpPr>
        <p:spPr>
          <a:xfrm>
            <a:off x="594360" y="2395728"/>
            <a:ext cx="1280160" cy="384048"/>
          </a:xfrm>
          <a:prstGeom prst="rect">
            <a:avLst/>
          </a:prstGeom>
          <a:noFill/>
        </p:spPr>
        <p:txBody>
          <a:bodyPr wrap="square" lIns="0" tIns="0" rIns="0" bIns="0" anchor="ctr">
            <a:spAutoFit/>
          </a:bodyPr>
          <a:lstStyle/>
          <a:p>
            <a:pPr algn="l"/>
            <a:r>
              <a:rPr sz="1700" b="1" i="0">
                <a:solidFill>
                  <a:srgbClr val="002D6A"/>
                </a:solidFill>
                <a:latin typeface="Courier New"/>
              </a:rPr>
              <a:t>1</a:t>
            </a:r>
          </a:p>
        </p:txBody>
      </p:sp>
      <p:sp>
        <p:nvSpPr>
          <p:cNvPr id="16" name="@1 Trace cell"/>
          <p:cNvSpPr txBox="1"/>
          <p:nvPr/>
        </p:nvSpPr>
        <p:spPr>
          <a:xfrm>
            <a:off x="1965960" y="2395728"/>
            <a:ext cx="1280160" cy="384048"/>
          </a:xfrm>
          <a:prstGeom prst="rect">
            <a:avLst/>
          </a:prstGeom>
          <a:noFill/>
        </p:spPr>
        <p:txBody>
          <a:bodyPr wrap="square" lIns="0" tIns="0" rIns="0" bIns="0" anchor="ctr">
            <a:spAutoFit/>
          </a:bodyPr>
          <a:lstStyle/>
          <a:p>
            <a:pPr algn="l"/>
            <a:r>
              <a:rPr sz="1700" b="1" i="0">
                <a:solidFill>
                  <a:srgbClr val="002D6A"/>
                </a:solidFill>
                <a:latin typeface="Courier New"/>
              </a:rPr>
              <a:t>0</a:t>
            </a:r>
          </a:p>
        </p:txBody>
      </p:sp>
      <p:sp>
        <p:nvSpPr>
          <p:cNvPr id="17" name="@1 Trace cell"/>
          <p:cNvSpPr txBox="1"/>
          <p:nvPr/>
        </p:nvSpPr>
        <p:spPr>
          <a:xfrm>
            <a:off x="3337560" y="2395728"/>
            <a:ext cx="2194560" cy="384048"/>
          </a:xfrm>
          <a:prstGeom prst="rect">
            <a:avLst/>
          </a:prstGeom>
          <a:noFill/>
        </p:spPr>
        <p:txBody>
          <a:bodyPr wrap="square" lIns="0" tIns="0" rIns="0" bIns="0" anchor="ctr">
            <a:spAutoFit/>
          </a:bodyPr>
          <a:lstStyle/>
          <a:p>
            <a:pPr algn="l"/>
            <a:r>
              <a:rPr sz="1700" b="1" i="0">
                <a:solidFill>
                  <a:srgbClr val="002D6A"/>
                </a:solidFill>
                <a:latin typeface="Courier New"/>
              </a:rPr>
              <a:t>[0]</a:t>
            </a:r>
          </a:p>
        </p:txBody>
      </p:sp>
      <p:sp>
        <p:nvSpPr>
          <p:cNvPr id="18" name="@1 Trace cell"/>
          <p:cNvSpPr txBox="1"/>
          <p:nvPr/>
        </p:nvSpPr>
        <p:spPr>
          <a:xfrm>
            <a:off x="5623560" y="2395728"/>
            <a:ext cx="3108960" cy="384048"/>
          </a:xfrm>
          <a:prstGeom prst="rect">
            <a:avLst/>
          </a:prstGeom>
          <a:noFill/>
        </p:spPr>
        <p:txBody>
          <a:bodyPr wrap="square" lIns="0" tIns="0" rIns="0" bIns="0" anchor="ctr">
            <a:spAutoFit/>
          </a:bodyPr>
          <a:lstStyle/>
          <a:p>
            <a:pPr algn="l"/>
            <a:r>
              <a:rPr sz="1700" b="1" i="0">
                <a:solidFill>
                  <a:srgbClr val="002D6A"/>
                </a:solidFill>
                <a:latin typeface="Courier New"/>
              </a:rPr>
              <a:t>[0]</a:t>
            </a:r>
          </a:p>
        </p:txBody>
      </p:sp>
      <p:sp>
        <p:nvSpPr>
          <p:cNvPr id="19" name="@2 Card"/>
          <p:cNvSpPr/>
          <p:nvPr/>
        </p:nvSpPr>
        <p:spPr>
          <a:xfrm>
            <a:off x="457200" y="2852928"/>
            <a:ext cx="8229600" cy="384048"/>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2 Trace cell"/>
          <p:cNvSpPr txBox="1"/>
          <p:nvPr/>
        </p:nvSpPr>
        <p:spPr>
          <a:xfrm>
            <a:off x="594360" y="2852928"/>
            <a:ext cx="1280160" cy="384048"/>
          </a:xfrm>
          <a:prstGeom prst="rect">
            <a:avLst/>
          </a:prstGeom>
          <a:noFill/>
        </p:spPr>
        <p:txBody>
          <a:bodyPr wrap="square" lIns="0" tIns="0" rIns="0" bIns="0" anchor="ctr">
            <a:spAutoFit/>
          </a:bodyPr>
          <a:lstStyle/>
          <a:p>
            <a:pPr algn="l"/>
            <a:r>
              <a:rPr sz="1700" b="1" i="0">
                <a:solidFill>
                  <a:srgbClr val="002D6A"/>
                </a:solidFill>
                <a:latin typeface="Courier New"/>
              </a:rPr>
              <a:t>3</a:t>
            </a:r>
          </a:p>
        </p:txBody>
      </p:sp>
      <p:sp>
        <p:nvSpPr>
          <p:cNvPr id="21" name="@2 Trace cell"/>
          <p:cNvSpPr txBox="1"/>
          <p:nvPr/>
        </p:nvSpPr>
        <p:spPr>
          <a:xfrm>
            <a:off x="1965960" y="2852928"/>
            <a:ext cx="1280160" cy="384048"/>
          </a:xfrm>
          <a:prstGeom prst="rect">
            <a:avLst/>
          </a:prstGeom>
          <a:noFill/>
        </p:spPr>
        <p:txBody>
          <a:bodyPr wrap="square" lIns="0" tIns="0" rIns="0" bIns="0" anchor="ctr">
            <a:spAutoFit/>
          </a:bodyPr>
          <a:lstStyle/>
          <a:p>
            <a:pPr algn="l"/>
            <a:r>
              <a:rPr sz="1700" b="1" i="0">
                <a:solidFill>
                  <a:srgbClr val="002D6A"/>
                </a:solidFill>
                <a:latin typeface="Courier New"/>
              </a:rPr>
              <a:t>1</a:t>
            </a:r>
          </a:p>
        </p:txBody>
      </p:sp>
      <p:sp>
        <p:nvSpPr>
          <p:cNvPr id="22" name="@2 Trace cell"/>
          <p:cNvSpPr txBox="1"/>
          <p:nvPr/>
        </p:nvSpPr>
        <p:spPr>
          <a:xfrm>
            <a:off x="3337560" y="2852928"/>
            <a:ext cx="2194560" cy="384048"/>
          </a:xfrm>
          <a:prstGeom prst="rect">
            <a:avLst/>
          </a:prstGeom>
          <a:noFill/>
        </p:spPr>
        <p:txBody>
          <a:bodyPr wrap="square" lIns="0" tIns="0" rIns="0" bIns="0" anchor="ctr">
            <a:spAutoFit/>
          </a:bodyPr>
          <a:lstStyle/>
          <a:p>
            <a:pPr algn="l"/>
            <a:r>
              <a:rPr sz="1700" b="1" i="0">
                <a:solidFill>
                  <a:srgbClr val="002D6A"/>
                </a:solidFill>
                <a:latin typeface="Courier New"/>
              </a:rPr>
              <a:t>[1, 1, 1]</a:t>
            </a:r>
          </a:p>
        </p:txBody>
      </p:sp>
      <p:sp>
        <p:nvSpPr>
          <p:cNvPr id="23" name="@2 Trace cell"/>
          <p:cNvSpPr txBox="1"/>
          <p:nvPr/>
        </p:nvSpPr>
        <p:spPr>
          <a:xfrm>
            <a:off x="5623560" y="2852928"/>
            <a:ext cx="3108960" cy="384048"/>
          </a:xfrm>
          <a:prstGeom prst="rect">
            <a:avLst/>
          </a:prstGeom>
          <a:noFill/>
        </p:spPr>
        <p:txBody>
          <a:bodyPr wrap="square" lIns="0" tIns="0" rIns="0" bIns="0" anchor="ctr">
            <a:spAutoFit/>
          </a:bodyPr>
          <a:lstStyle/>
          <a:p>
            <a:pPr algn="l"/>
            <a:r>
              <a:rPr sz="1700" b="1" i="0">
                <a:solidFill>
                  <a:srgbClr val="002D6A"/>
                </a:solidFill>
                <a:latin typeface="Courier New"/>
              </a:rPr>
              <a:t>[0, 1, 1, 1]</a:t>
            </a:r>
          </a:p>
        </p:txBody>
      </p:sp>
      <p:sp>
        <p:nvSpPr>
          <p:cNvPr id="24" name="@3 Card"/>
          <p:cNvSpPr/>
          <p:nvPr/>
        </p:nvSpPr>
        <p:spPr>
          <a:xfrm>
            <a:off x="457200" y="3310128"/>
            <a:ext cx="8229600" cy="384048"/>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3 Trace cell"/>
          <p:cNvSpPr txBox="1"/>
          <p:nvPr/>
        </p:nvSpPr>
        <p:spPr>
          <a:xfrm>
            <a:off x="594360" y="3310128"/>
            <a:ext cx="1280160" cy="384048"/>
          </a:xfrm>
          <a:prstGeom prst="rect">
            <a:avLst/>
          </a:prstGeom>
          <a:noFill/>
        </p:spPr>
        <p:txBody>
          <a:bodyPr wrap="square" lIns="0" tIns="0" rIns="0" bIns="0" anchor="ctr">
            <a:spAutoFit/>
          </a:bodyPr>
          <a:lstStyle/>
          <a:p>
            <a:pPr algn="l"/>
            <a:r>
              <a:rPr sz="1700" b="1" i="0">
                <a:solidFill>
                  <a:srgbClr val="002D6A"/>
                </a:solidFill>
                <a:latin typeface="Courier New"/>
              </a:rPr>
              <a:t>1</a:t>
            </a:r>
          </a:p>
        </p:txBody>
      </p:sp>
      <p:sp>
        <p:nvSpPr>
          <p:cNvPr id="26" name="@3 Trace cell"/>
          <p:cNvSpPr txBox="1"/>
          <p:nvPr/>
        </p:nvSpPr>
        <p:spPr>
          <a:xfrm>
            <a:off x="1965960" y="3310128"/>
            <a:ext cx="1280160" cy="384048"/>
          </a:xfrm>
          <a:prstGeom prst="rect">
            <a:avLst/>
          </a:prstGeom>
          <a:noFill/>
        </p:spPr>
        <p:txBody>
          <a:bodyPr wrap="square" lIns="0" tIns="0" rIns="0" bIns="0" anchor="ctr">
            <a:spAutoFit/>
          </a:bodyPr>
          <a:lstStyle/>
          <a:p>
            <a:pPr algn="l"/>
            <a:r>
              <a:rPr sz="1700" b="1" i="0">
                <a:solidFill>
                  <a:srgbClr val="002D6A"/>
                </a:solidFill>
                <a:latin typeface="Courier New"/>
              </a:rPr>
              <a:t>0</a:t>
            </a:r>
          </a:p>
        </p:txBody>
      </p:sp>
      <p:sp>
        <p:nvSpPr>
          <p:cNvPr id="27" name="@3 Trace cell"/>
          <p:cNvSpPr txBox="1"/>
          <p:nvPr/>
        </p:nvSpPr>
        <p:spPr>
          <a:xfrm>
            <a:off x="3337560" y="3310128"/>
            <a:ext cx="2194560" cy="384048"/>
          </a:xfrm>
          <a:prstGeom prst="rect">
            <a:avLst/>
          </a:prstGeom>
          <a:noFill/>
        </p:spPr>
        <p:txBody>
          <a:bodyPr wrap="square" lIns="0" tIns="0" rIns="0" bIns="0" anchor="ctr">
            <a:spAutoFit/>
          </a:bodyPr>
          <a:lstStyle/>
          <a:p>
            <a:pPr algn="l"/>
            <a:r>
              <a:rPr sz="1700" b="1" i="0">
                <a:solidFill>
                  <a:srgbClr val="002D6A"/>
                </a:solidFill>
                <a:latin typeface="Courier New"/>
              </a:rPr>
              <a:t>[0]</a:t>
            </a:r>
          </a:p>
        </p:txBody>
      </p:sp>
      <p:sp>
        <p:nvSpPr>
          <p:cNvPr id="28" name="@3 Trace cell"/>
          <p:cNvSpPr txBox="1"/>
          <p:nvPr/>
        </p:nvSpPr>
        <p:spPr>
          <a:xfrm>
            <a:off x="5623560" y="3310128"/>
            <a:ext cx="3108960" cy="384048"/>
          </a:xfrm>
          <a:prstGeom prst="rect">
            <a:avLst/>
          </a:prstGeom>
          <a:noFill/>
        </p:spPr>
        <p:txBody>
          <a:bodyPr wrap="square" lIns="0" tIns="0" rIns="0" bIns="0" anchor="ctr">
            <a:spAutoFit/>
          </a:bodyPr>
          <a:lstStyle/>
          <a:p>
            <a:pPr algn="l"/>
            <a:r>
              <a:rPr sz="1700" b="1" i="0">
                <a:solidFill>
                  <a:srgbClr val="002D6A"/>
                </a:solidFill>
                <a:latin typeface="Courier New"/>
              </a:rPr>
              <a:t>[0, 1, 1, 1, 0]</a:t>
            </a:r>
          </a:p>
        </p:txBody>
      </p:sp>
      <p:sp>
        <p:nvSpPr>
          <p:cNvPr id="29" name="@4 Cell off"/>
          <p:cNvSpPr/>
          <p:nvPr/>
        </p:nvSpPr>
        <p:spPr>
          <a:xfrm>
            <a:off x="457200" y="3931920"/>
            <a:ext cx="457200" cy="457200"/>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4 Cell on"/>
          <p:cNvSpPr/>
          <p:nvPr/>
        </p:nvSpPr>
        <p:spPr>
          <a:xfrm>
            <a:off x="914400" y="3931920"/>
            <a:ext cx="457200" cy="457200"/>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4 Cell on"/>
          <p:cNvSpPr/>
          <p:nvPr/>
        </p:nvSpPr>
        <p:spPr>
          <a:xfrm>
            <a:off x="1371600" y="3931920"/>
            <a:ext cx="457200" cy="457200"/>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4 Cell on"/>
          <p:cNvSpPr/>
          <p:nvPr/>
        </p:nvSpPr>
        <p:spPr>
          <a:xfrm>
            <a:off x="1828800" y="3931920"/>
            <a:ext cx="457200" cy="457200"/>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4 Cell off"/>
          <p:cNvSpPr/>
          <p:nvPr/>
        </p:nvSpPr>
        <p:spPr>
          <a:xfrm>
            <a:off x="2286000" y="3931920"/>
            <a:ext cx="457200" cy="457200"/>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4 Row label"/>
          <p:cNvSpPr txBox="1"/>
          <p:nvPr/>
        </p:nvSpPr>
        <p:spPr>
          <a:xfrm>
            <a:off x="3017520" y="3931920"/>
            <a:ext cx="4572000" cy="457200"/>
          </a:xfrm>
          <a:prstGeom prst="rect">
            <a:avLst/>
          </a:prstGeom>
          <a:noFill/>
        </p:spPr>
        <p:txBody>
          <a:bodyPr wrap="square" lIns="0" tIns="0" rIns="0" bIns="0" anchor="ctr">
            <a:spAutoFit/>
          </a:bodyPr>
          <a:lstStyle/>
          <a:p>
            <a:pPr algn="l"/>
            <a:r>
              <a:rPr sz="1800" b="1" i="0">
                <a:solidFill>
                  <a:srgbClr val="002D6A"/>
                </a:solidFill>
                <a:latin typeface="Arial"/>
              </a:rPr>
              <a:t>= row 3 of the heart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2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2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2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2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2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2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2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2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200"/>
                                        <p:tgtEl>
                                          <p:spTgt spid="2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200"/>
                                        <p:tgtEl>
                                          <p:spTgt spid="2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200"/>
                                        <p:tgtEl>
                                          <p:spTgt spid="2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200"/>
                                        <p:tgtEl>
                                          <p:spTgt spid="2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2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200"/>
                                        <p:tgtEl>
                                          <p:spTgt spid="2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200"/>
                                        <p:tgtEl>
                                          <p:spTgt spid="3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200"/>
                                        <p:tgtEl>
                                          <p:spTgt spid="3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200"/>
                                        <p:tgtEl>
                                          <p:spTgt spid="3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200"/>
                                        <p:tgtEl>
                                          <p:spTgt spid="3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2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Step Through: the Whole Heart</a:t>
            </a:r>
            <a:endParaRPr lang="en-US" sz="3000" dirty="0"/>
          </a:p>
        </p:txBody>
      </p:sp>
      <p:sp>
        <p:nvSpPr>
          <p:cNvPr id="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44</a:t>
            </a:fld>
            <a:endParaRPr lang="en-US"/>
          </a:p>
        </p:txBody>
      </p:sp>
      <p:sp>
        <p:nvSpPr>
          <p:cNvPr id="4" name="Text"/>
          <p:cNvSpPr txBox="1"/>
          <p:nvPr/>
        </p:nvSpPr>
        <p:spPr>
          <a:xfrm>
            <a:off x="548640" y="1005840"/>
            <a:ext cx="2834640" cy="274320"/>
          </a:xfrm>
          <a:prstGeom prst="rect">
            <a:avLst/>
          </a:prstGeom>
          <a:noFill/>
        </p:spPr>
        <p:txBody>
          <a:bodyPr wrap="square" lIns="0" tIns="0" rIns="0" bIns="0" anchor="ctr">
            <a:spAutoFit/>
          </a:bodyPr>
          <a:lstStyle/>
          <a:p>
            <a:pPr algn="l"/>
            <a:r>
              <a:rPr sz="1300" b="1" i="0">
                <a:solidFill>
                  <a:srgbClr val="5D6B80"/>
                </a:solidFill>
                <a:latin typeface="Arial"/>
              </a:rPr>
              <a:t>the picture</a:t>
            </a:r>
          </a:p>
        </p:txBody>
      </p:sp>
      <p:sp>
        <p:nvSpPr>
          <p:cNvPr id="5" name="Text"/>
          <p:cNvSpPr txBox="1"/>
          <p:nvPr/>
        </p:nvSpPr>
        <p:spPr>
          <a:xfrm>
            <a:off x="3931920" y="1005840"/>
            <a:ext cx="1828800" cy="274320"/>
          </a:xfrm>
          <a:prstGeom prst="rect">
            <a:avLst/>
          </a:prstGeom>
          <a:noFill/>
        </p:spPr>
        <p:txBody>
          <a:bodyPr wrap="square" lIns="0" tIns="0" rIns="0" bIns="0" anchor="ctr">
            <a:spAutoFit/>
          </a:bodyPr>
          <a:lstStyle/>
          <a:p>
            <a:pPr algn="l"/>
            <a:r>
              <a:rPr sz="1300" b="1" i="0">
                <a:solidFill>
                  <a:srgbClr val="5D6B80"/>
                </a:solidFill>
                <a:latin typeface="Arial"/>
              </a:rPr>
              <a:t>clue</a:t>
            </a:r>
          </a:p>
        </p:txBody>
      </p:sp>
      <p:sp>
        <p:nvSpPr>
          <p:cNvPr id="6" name="Text"/>
          <p:cNvSpPr txBox="1"/>
          <p:nvPr/>
        </p:nvSpPr>
        <p:spPr>
          <a:xfrm>
            <a:off x="6217920" y="1005840"/>
            <a:ext cx="1828800" cy="274320"/>
          </a:xfrm>
          <a:prstGeom prst="rect">
            <a:avLst/>
          </a:prstGeom>
          <a:noFill/>
        </p:spPr>
        <p:txBody>
          <a:bodyPr wrap="square" lIns="0" tIns="0" rIns="0" bIns="0" anchor="ctr">
            <a:spAutoFit/>
          </a:bodyPr>
          <a:lstStyle/>
          <a:p>
            <a:pPr algn="l"/>
            <a:r>
              <a:rPr sz="1300" b="1" i="0">
                <a:solidFill>
                  <a:srgbClr val="5D6B80"/>
                </a:solidFill>
                <a:latin typeface="Arial"/>
              </a:rPr>
              <a:t>row</a:t>
            </a:r>
          </a:p>
        </p:txBody>
      </p:sp>
      <p:sp>
        <p:nvSpPr>
          <p:cNvPr id="7" name="Cell off"/>
          <p:cNvSpPr/>
          <p:nvPr/>
        </p:nvSpPr>
        <p:spPr>
          <a:xfrm>
            <a:off x="548640"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ell off"/>
          <p:cNvSpPr/>
          <p:nvPr/>
        </p:nvSpPr>
        <p:spPr>
          <a:xfrm>
            <a:off x="1115568"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ell off"/>
          <p:cNvSpPr/>
          <p:nvPr/>
        </p:nvSpPr>
        <p:spPr>
          <a:xfrm>
            <a:off x="1682495"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ell off"/>
          <p:cNvSpPr/>
          <p:nvPr/>
        </p:nvSpPr>
        <p:spPr>
          <a:xfrm>
            <a:off x="2249424"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ell off"/>
          <p:cNvSpPr/>
          <p:nvPr/>
        </p:nvSpPr>
        <p:spPr>
          <a:xfrm>
            <a:off x="2816352" y="1371600"/>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ell off"/>
          <p:cNvSpPr/>
          <p:nvPr/>
        </p:nvSpPr>
        <p:spPr>
          <a:xfrm>
            <a:off x="548640"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ell off"/>
          <p:cNvSpPr/>
          <p:nvPr/>
        </p:nvSpPr>
        <p:spPr>
          <a:xfrm>
            <a:off x="1115568"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ell off"/>
          <p:cNvSpPr/>
          <p:nvPr/>
        </p:nvSpPr>
        <p:spPr>
          <a:xfrm>
            <a:off x="1682495"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ell off"/>
          <p:cNvSpPr/>
          <p:nvPr/>
        </p:nvSpPr>
        <p:spPr>
          <a:xfrm>
            <a:off x="2249424"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ell off"/>
          <p:cNvSpPr/>
          <p:nvPr/>
        </p:nvSpPr>
        <p:spPr>
          <a:xfrm>
            <a:off x="2816352" y="1938528"/>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ell off"/>
          <p:cNvSpPr/>
          <p:nvPr/>
        </p:nvSpPr>
        <p:spPr>
          <a:xfrm>
            <a:off x="548640"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ell off"/>
          <p:cNvSpPr/>
          <p:nvPr/>
        </p:nvSpPr>
        <p:spPr>
          <a:xfrm>
            <a:off x="1115568"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ell off"/>
          <p:cNvSpPr/>
          <p:nvPr/>
        </p:nvSpPr>
        <p:spPr>
          <a:xfrm>
            <a:off x="1682495"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ell off"/>
          <p:cNvSpPr/>
          <p:nvPr/>
        </p:nvSpPr>
        <p:spPr>
          <a:xfrm>
            <a:off x="2249424"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ell off"/>
          <p:cNvSpPr/>
          <p:nvPr/>
        </p:nvSpPr>
        <p:spPr>
          <a:xfrm>
            <a:off x="2816352" y="2505456"/>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ell off"/>
          <p:cNvSpPr/>
          <p:nvPr/>
        </p:nvSpPr>
        <p:spPr>
          <a:xfrm>
            <a:off x="548640"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ell off"/>
          <p:cNvSpPr/>
          <p:nvPr/>
        </p:nvSpPr>
        <p:spPr>
          <a:xfrm>
            <a:off x="1115568"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ell off"/>
          <p:cNvSpPr/>
          <p:nvPr/>
        </p:nvSpPr>
        <p:spPr>
          <a:xfrm>
            <a:off x="1682495"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ell off"/>
          <p:cNvSpPr/>
          <p:nvPr/>
        </p:nvSpPr>
        <p:spPr>
          <a:xfrm>
            <a:off x="2249424"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ell off"/>
          <p:cNvSpPr/>
          <p:nvPr/>
        </p:nvSpPr>
        <p:spPr>
          <a:xfrm>
            <a:off x="2816352" y="3072384"/>
            <a:ext cx="566928" cy="566928"/>
          </a:xfrm>
          <a:prstGeom prst="rect">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1 Cell on"/>
          <p:cNvSpPr/>
          <p:nvPr/>
        </p:nvSpPr>
        <p:spPr>
          <a:xfrm>
            <a:off x="1115568" y="1371600"/>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1 Cell on"/>
          <p:cNvSpPr/>
          <p:nvPr/>
        </p:nvSpPr>
        <p:spPr>
          <a:xfrm>
            <a:off x="2249424" y="1371600"/>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2 Cell on"/>
          <p:cNvSpPr/>
          <p:nvPr/>
        </p:nvSpPr>
        <p:spPr>
          <a:xfrm>
            <a:off x="548640"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2 Cell on"/>
          <p:cNvSpPr/>
          <p:nvPr/>
        </p:nvSpPr>
        <p:spPr>
          <a:xfrm>
            <a:off x="1115568"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2 Cell on"/>
          <p:cNvSpPr/>
          <p:nvPr/>
        </p:nvSpPr>
        <p:spPr>
          <a:xfrm>
            <a:off x="1682495"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2 Cell on"/>
          <p:cNvSpPr/>
          <p:nvPr/>
        </p:nvSpPr>
        <p:spPr>
          <a:xfrm>
            <a:off x="2249424"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2 Cell on"/>
          <p:cNvSpPr/>
          <p:nvPr/>
        </p:nvSpPr>
        <p:spPr>
          <a:xfrm>
            <a:off x="2816352" y="1938528"/>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3 Cell on"/>
          <p:cNvSpPr/>
          <p:nvPr/>
        </p:nvSpPr>
        <p:spPr>
          <a:xfrm>
            <a:off x="1115568" y="2505456"/>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3 Cell on"/>
          <p:cNvSpPr/>
          <p:nvPr/>
        </p:nvSpPr>
        <p:spPr>
          <a:xfrm>
            <a:off x="1682495" y="2505456"/>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3 Cell on"/>
          <p:cNvSpPr/>
          <p:nvPr/>
        </p:nvSpPr>
        <p:spPr>
          <a:xfrm>
            <a:off x="2249424" y="2505456"/>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4 Cell on"/>
          <p:cNvSpPr/>
          <p:nvPr/>
        </p:nvSpPr>
        <p:spPr>
          <a:xfrm>
            <a:off x="1682495" y="3072384"/>
            <a:ext cx="566928" cy="566928"/>
          </a:xfrm>
          <a:prstGeom prst="rect">
            <a:avLst/>
          </a:prstGeom>
          <a:solidFill>
            <a:srgbClr val="002D6A"/>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lue"/>
          <p:cNvSpPr txBox="1"/>
          <p:nvPr/>
        </p:nvSpPr>
        <p:spPr>
          <a:xfrm>
            <a:off x="3931920" y="1371600"/>
            <a:ext cx="2194560" cy="566928"/>
          </a:xfrm>
          <a:prstGeom prst="rect">
            <a:avLst/>
          </a:prstGeom>
          <a:noFill/>
        </p:spPr>
        <p:txBody>
          <a:bodyPr wrap="square" lIns="0" tIns="0" rIns="0" bIns="0" anchor="ctr">
            <a:spAutoFit/>
          </a:bodyPr>
          <a:lstStyle/>
          <a:p>
            <a:pPr algn="l"/>
            <a:r>
              <a:rPr sz="2000" b="1" i="0">
                <a:solidFill>
                  <a:srgbClr val="5D6B80"/>
                </a:solidFill>
                <a:latin typeface="Courier New"/>
              </a:rPr>
              <a:t>1, 1, 1, 1, 1</a:t>
            </a:r>
          </a:p>
        </p:txBody>
      </p:sp>
      <p:sp>
        <p:nvSpPr>
          <p:cNvPr id="39" name="@1 Row"/>
          <p:cNvSpPr txBox="1"/>
          <p:nvPr/>
        </p:nvSpPr>
        <p:spPr>
          <a:xfrm>
            <a:off x="6217920" y="1371600"/>
            <a:ext cx="2560320" cy="566928"/>
          </a:xfrm>
          <a:prstGeom prst="rect">
            <a:avLst/>
          </a:prstGeom>
          <a:noFill/>
        </p:spPr>
        <p:txBody>
          <a:bodyPr wrap="square" lIns="0" tIns="0" rIns="0" bIns="0" anchor="ctr">
            <a:spAutoFit/>
          </a:bodyPr>
          <a:lstStyle/>
          <a:p>
            <a:pPr algn="l"/>
            <a:r>
              <a:rPr sz="2000" b="1" i="0">
                <a:solidFill>
                  <a:srgbClr val="002D6A"/>
                </a:solidFill>
                <a:latin typeface="Courier New"/>
              </a:rPr>
              <a:t>[0, 1, 0, 1, 0]</a:t>
            </a:r>
          </a:p>
        </p:txBody>
      </p:sp>
      <p:sp>
        <p:nvSpPr>
          <p:cNvPr id="40" name="Clue"/>
          <p:cNvSpPr txBox="1"/>
          <p:nvPr/>
        </p:nvSpPr>
        <p:spPr>
          <a:xfrm>
            <a:off x="3931920" y="1938528"/>
            <a:ext cx="2194560" cy="566928"/>
          </a:xfrm>
          <a:prstGeom prst="rect">
            <a:avLst/>
          </a:prstGeom>
          <a:noFill/>
        </p:spPr>
        <p:txBody>
          <a:bodyPr wrap="square" lIns="0" tIns="0" rIns="0" bIns="0" anchor="ctr">
            <a:spAutoFit/>
          </a:bodyPr>
          <a:lstStyle/>
          <a:p>
            <a:pPr algn="l"/>
            <a:r>
              <a:rPr sz="2000" b="1" i="0">
                <a:solidFill>
                  <a:srgbClr val="5D6B80"/>
                </a:solidFill>
                <a:latin typeface="Courier New"/>
              </a:rPr>
              <a:t>0, 5</a:t>
            </a:r>
          </a:p>
        </p:txBody>
      </p:sp>
      <p:sp>
        <p:nvSpPr>
          <p:cNvPr id="41" name="@2 Row"/>
          <p:cNvSpPr txBox="1"/>
          <p:nvPr/>
        </p:nvSpPr>
        <p:spPr>
          <a:xfrm>
            <a:off x="6217920" y="1938528"/>
            <a:ext cx="2560320" cy="566928"/>
          </a:xfrm>
          <a:prstGeom prst="rect">
            <a:avLst/>
          </a:prstGeom>
          <a:noFill/>
        </p:spPr>
        <p:txBody>
          <a:bodyPr wrap="square" lIns="0" tIns="0" rIns="0" bIns="0" anchor="ctr">
            <a:spAutoFit/>
          </a:bodyPr>
          <a:lstStyle/>
          <a:p>
            <a:pPr algn="l"/>
            <a:r>
              <a:rPr sz="2000" b="1" i="0">
                <a:solidFill>
                  <a:srgbClr val="002D6A"/>
                </a:solidFill>
                <a:latin typeface="Courier New"/>
              </a:rPr>
              <a:t>[1, 1, 1, 1, 1]</a:t>
            </a:r>
          </a:p>
        </p:txBody>
      </p:sp>
      <p:sp>
        <p:nvSpPr>
          <p:cNvPr id="42" name="Clue"/>
          <p:cNvSpPr txBox="1"/>
          <p:nvPr/>
        </p:nvSpPr>
        <p:spPr>
          <a:xfrm>
            <a:off x="3931920" y="2505456"/>
            <a:ext cx="2194560" cy="566928"/>
          </a:xfrm>
          <a:prstGeom prst="rect">
            <a:avLst/>
          </a:prstGeom>
          <a:noFill/>
        </p:spPr>
        <p:txBody>
          <a:bodyPr wrap="square" lIns="0" tIns="0" rIns="0" bIns="0" anchor="ctr">
            <a:spAutoFit/>
          </a:bodyPr>
          <a:lstStyle/>
          <a:p>
            <a:pPr algn="l"/>
            <a:r>
              <a:rPr sz="2000" b="1" i="0">
                <a:solidFill>
                  <a:srgbClr val="5D6B80"/>
                </a:solidFill>
                <a:latin typeface="Courier New"/>
              </a:rPr>
              <a:t>1, 3, 1</a:t>
            </a:r>
          </a:p>
        </p:txBody>
      </p:sp>
      <p:sp>
        <p:nvSpPr>
          <p:cNvPr id="43" name="@3 Row"/>
          <p:cNvSpPr txBox="1"/>
          <p:nvPr/>
        </p:nvSpPr>
        <p:spPr>
          <a:xfrm>
            <a:off x="6217920" y="2505456"/>
            <a:ext cx="2560320" cy="566928"/>
          </a:xfrm>
          <a:prstGeom prst="rect">
            <a:avLst/>
          </a:prstGeom>
          <a:noFill/>
        </p:spPr>
        <p:txBody>
          <a:bodyPr wrap="square" lIns="0" tIns="0" rIns="0" bIns="0" anchor="ctr">
            <a:spAutoFit/>
          </a:bodyPr>
          <a:lstStyle/>
          <a:p>
            <a:pPr algn="l"/>
            <a:r>
              <a:rPr sz="2000" b="1" i="0">
                <a:solidFill>
                  <a:srgbClr val="002D6A"/>
                </a:solidFill>
                <a:latin typeface="Courier New"/>
              </a:rPr>
              <a:t>[0, 1, 1, 1, 0]</a:t>
            </a:r>
          </a:p>
        </p:txBody>
      </p:sp>
      <p:sp>
        <p:nvSpPr>
          <p:cNvPr id="44" name="Clue"/>
          <p:cNvSpPr txBox="1"/>
          <p:nvPr/>
        </p:nvSpPr>
        <p:spPr>
          <a:xfrm>
            <a:off x="3931920" y="3072384"/>
            <a:ext cx="2194560" cy="566928"/>
          </a:xfrm>
          <a:prstGeom prst="rect">
            <a:avLst/>
          </a:prstGeom>
          <a:noFill/>
        </p:spPr>
        <p:txBody>
          <a:bodyPr wrap="square" lIns="0" tIns="0" rIns="0" bIns="0" anchor="ctr">
            <a:spAutoFit/>
          </a:bodyPr>
          <a:lstStyle/>
          <a:p>
            <a:pPr algn="l"/>
            <a:r>
              <a:rPr sz="2000" b="1" i="0">
                <a:solidFill>
                  <a:srgbClr val="5D6B80"/>
                </a:solidFill>
                <a:latin typeface="Courier New"/>
              </a:rPr>
              <a:t>2, 1, 2</a:t>
            </a:r>
          </a:p>
        </p:txBody>
      </p:sp>
      <p:sp>
        <p:nvSpPr>
          <p:cNvPr id="45" name="@4 Row"/>
          <p:cNvSpPr txBox="1"/>
          <p:nvPr/>
        </p:nvSpPr>
        <p:spPr>
          <a:xfrm>
            <a:off x="6217920" y="3072384"/>
            <a:ext cx="2560320" cy="566928"/>
          </a:xfrm>
          <a:prstGeom prst="rect">
            <a:avLst/>
          </a:prstGeom>
          <a:noFill/>
        </p:spPr>
        <p:txBody>
          <a:bodyPr wrap="square" lIns="0" tIns="0" rIns="0" bIns="0" anchor="ctr">
            <a:spAutoFit/>
          </a:bodyPr>
          <a:lstStyle/>
          <a:p>
            <a:pPr algn="l"/>
            <a:r>
              <a:rPr sz="2000" b="1" i="0">
                <a:solidFill>
                  <a:srgbClr val="002D6A"/>
                </a:solidFill>
                <a:latin typeface="Courier New"/>
              </a:rPr>
              <a:t>[0, 0, 1, 0, 0]</a:t>
            </a:r>
          </a:p>
        </p:txBody>
      </p:sp>
      <p:sp>
        <p:nvSpPr>
          <p:cNvPr id="46" name="@5 Callout"/>
          <p:cNvSpPr/>
          <p:nvPr/>
        </p:nvSpPr>
        <p:spPr>
          <a:xfrm>
            <a:off x="457200" y="3931920"/>
            <a:ext cx="8229600" cy="640080"/>
          </a:xfrm>
          <a:prstGeom prst="roundRect">
            <a:avLst>
              <a:gd name="adj" fmla="val 12000"/>
            </a:avLst>
          </a:prstGeom>
          <a:solidFill>
            <a:srgbClr val="FFFFFF"/>
          </a:solidFill>
          <a:ln w="1587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5 Callout text"/>
          <p:cNvSpPr txBox="1"/>
          <p:nvPr/>
        </p:nvSpPr>
        <p:spPr>
          <a:xfrm>
            <a:off x="685800" y="3931920"/>
            <a:ext cx="7772400" cy="640080"/>
          </a:xfrm>
          <a:prstGeom prst="rect">
            <a:avLst/>
          </a:prstGeom>
          <a:noFill/>
        </p:spPr>
        <p:txBody>
          <a:bodyPr wrap="square" lIns="0" tIns="0" rIns="0" bIns="0" anchor="ctr">
            <a:spAutoFit/>
          </a:bodyPr>
          <a:lstStyle/>
          <a:p>
            <a:pPr algn="l"/>
            <a:r>
              <a:rPr sz="1600" b="1" i="0">
                <a:solidFill>
                  <a:srgbClr val="5D79A0"/>
                </a:solidFill>
                <a:latin typeface="Arial"/>
              </a:rPr>
              <a:t>NOTE  </a:t>
            </a:r>
            <a:r>
              <a:rPr sz="1600" b="0" i="0">
                <a:solidFill>
                  <a:srgbClr val="22262E"/>
                </a:solidFill>
                <a:latin typeface="Arial"/>
              </a:rPr>
              <a:t>Outer loop: one row at a time. Inner loop: one number at a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2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2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200"/>
                                        <p:tgtEl>
                                          <p:spTgt spid="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2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2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200"/>
                                        <p:tgtEl>
                                          <p:spTgt spid="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200"/>
                                        <p:tgtEl>
                                          <p:spTgt spid="3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200"/>
                                        <p:tgtEl>
                                          <p:spTgt spid="4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2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2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200"/>
                                        <p:tgtEl>
                                          <p:spTgt spid="3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200"/>
                                        <p:tgtEl>
                                          <p:spTgt spid="4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20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fade">
                                      <p:cBhvr>
                                        <p:cTn id="55" dur="200"/>
                                        <p:tgtEl>
                                          <p:spTgt spid="4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200"/>
                                        <p:tgtEl>
                                          <p:spTgt spid="4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2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1" grpId="0" animBg="1"/>
      <p:bldP spid="43" grpId="0" animBg="1"/>
      <p:bldP spid="45" grpId="0" animBg="1"/>
      <p:bldP spid="46" grpId="0" animBg="1"/>
      <p:bldP spid="4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Run the Starter Code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TASK 1</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Open rle_starter.py in Spyder, run it and see the heart. Booklet pages 6 to 8.</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5 min</a:t>
            </a:r>
            <a:endParaRPr lang="en-US" sz="20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1: What You Should See</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36</a:t>
            </a:fld>
            <a:endParaRPr lang="en-US"/>
          </a:p>
        </p:txBody>
      </p:sp>
      <p:pic>
        <p:nvPicPr>
          <p:cNvPr id="6" name="Picture 8" descr="A heart drawn on a 5 by 4 grid in dark squares"/>
          <p:cNvPicPr>
            <a:picLocks noChangeAspect="1"/>
          </p:cNvPicPr>
          <p:nvPr/>
        </p:nvPicPr>
        <p:blipFill>
          <a:blip r:embed="rId3"/>
          <a:stretch>
            <a:fillRect/>
          </a:stretch>
        </p:blipFill>
        <p:spPr>
          <a:xfrm>
            <a:off x="2862072" y="1188720"/>
            <a:ext cx="3419856" cy="2741537"/>
          </a:xfrm>
          <a:prstGeom prst="rect">
            <a:avLst/>
          </a:prstGeom>
        </p:spPr>
      </p:pic>
      <p:sp>
        <p:nvSpPr>
          <p:cNvPr id="7" name="Callout"/>
          <p:cNvSpPr/>
          <p:nvPr/>
        </p:nvSpPr>
        <p:spPr>
          <a:xfrm>
            <a:off x="457200" y="4023360"/>
            <a:ext cx="8229600" cy="640080"/>
          </a:xfrm>
          <a:prstGeom prst="roundRect">
            <a:avLst>
              <a:gd name="adj" fmla="val 12000"/>
            </a:avLst>
          </a:prstGeom>
          <a:solidFill>
            <a:srgbClr val="FFFFFF"/>
          </a:solidFill>
          <a:ln w="1587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llout text"/>
          <p:cNvSpPr txBox="1"/>
          <p:nvPr/>
        </p:nvSpPr>
        <p:spPr>
          <a:xfrm>
            <a:off x="685800" y="4023360"/>
            <a:ext cx="7772400" cy="640080"/>
          </a:xfrm>
          <a:prstGeom prst="rect">
            <a:avLst/>
          </a:prstGeom>
          <a:noFill/>
        </p:spPr>
        <p:txBody>
          <a:bodyPr wrap="square" lIns="0" rIns="0" tIns="0" bIns="0" anchor="ctr">
            <a:spAutoFit/>
          </a:bodyPr>
          <a:lstStyle/>
          <a:p>
            <a:pPr algn="l"/>
            <a:r>
              <a:rPr sz="1600" b="1" i="0">
                <a:solidFill>
                  <a:srgbClr val="5D79A0"/>
                </a:solidFill>
                <a:latin typeface="Arial"/>
              </a:rPr>
              <a:t>NOTE  </a:t>
            </a:r>
            <a:r>
              <a:rPr sz="1600" b="0" i="0">
                <a:solidFill>
                  <a:srgbClr val="22262E"/>
                </a:solidFill>
                <a:latin typeface="Arial"/>
              </a:rPr>
              <a:t>No heart? pictures.py must be in the same folder. Open the Plots pane: View, Panes, Plots.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Stuck? Use the Booklet</a:t>
            </a:r>
            <a:endParaRPr lang="en-US" sz="3000" dirty="0"/>
          </a:p>
        </p:txBody>
      </p:sp>
      <p:sp>
        <p:nvSpPr>
          <p:cNvPr id="3" name="Card"/>
          <p:cNvSpPr/>
          <p:nvPr/>
        </p:nvSpPr>
        <p:spPr>
          <a:xfrm>
            <a:off x="457200" y="1280160"/>
            <a:ext cx="4023360" cy="914400"/>
          </a:xfrm>
          <a:prstGeom prst="roundRect">
            <a:avLst>
              <a:gd name="adj" fmla="val 12000"/>
            </a:avLst>
          </a:prstGeom>
          <a:solidFill>
            <a:srgbClr val="FFFFFF"/>
          </a:solidFill>
          <a:ln w="9525">
            <a:solidFill>
              <a:srgbClr val="C5D1E3"/>
            </a:solidFill>
            <a:prstDash val="solid"/>
          </a:ln>
        </p:spPr>
        <p:txBody>
          <a:bodyPr/>
          <a:lstStyle/>
          <a:p>
            <a:endParaRPr lang="en-GB"/>
          </a:p>
        </p:txBody>
      </p:sp>
      <p:sp>
        <p:nvSpPr>
          <p:cNvPr id="4" name="Text 2"/>
          <p:cNvSpPr txBox="1"/>
          <p:nvPr/>
        </p:nvSpPr>
        <p:spPr>
          <a:xfrm>
            <a:off x="685800" y="1280160"/>
            <a:ext cx="1188720" cy="914400"/>
          </a:xfrm>
          <a:prstGeom prst="rect">
            <a:avLst/>
          </a:prstGeom>
          <a:noFill/>
          <a:ln/>
        </p:spPr>
        <p:txBody>
          <a:bodyPr wrap="square" lIns="0" tIns="0" rIns="0" bIns="0" rtlCol="0" anchor="ctr"/>
          <a:lstStyle/>
          <a:p>
            <a:pPr marL="0" indent="0">
              <a:buNone/>
            </a:pPr>
            <a:r>
              <a:rPr lang="en-US" sz="1600" b="1" dirty="0">
                <a:solidFill>
                  <a:srgbClr val="5D79A0"/>
                </a:solidFill>
                <a:latin typeface="Courier New" pitchFamily="34" charset="0"/>
                <a:ea typeface="Courier New" pitchFamily="34" charset="-122"/>
                <a:cs typeface="Courier New" pitchFamily="34" charset="-120"/>
              </a:rPr>
              <a:t>p6</a:t>
            </a:r>
            <a:endParaRPr lang="en-US" sz="1600" dirty="0"/>
          </a:p>
        </p:txBody>
      </p:sp>
      <p:sp>
        <p:nvSpPr>
          <p:cNvPr id="5" name="Text 3"/>
          <p:cNvSpPr txBox="1"/>
          <p:nvPr/>
        </p:nvSpPr>
        <p:spPr>
          <a:xfrm>
            <a:off x="1874520" y="1280160"/>
            <a:ext cx="2468880" cy="914400"/>
          </a:xfrm>
          <a:prstGeom prst="rect">
            <a:avLst/>
          </a:prstGeom>
          <a:noFill/>
          <a:ln/>
        </p:spPr>
        <p:txBody>
          <a:bodyPr wrap="square" lIns="0" tIns="0" rIns="0" bIns="0" rtlCol="0" anchor="ctr"/>
          <a:lstStyle/>
          <a:p>
            <a:pPr marL="0" indent="0">
              <a:buNone/>
            </a:pPr>
            <a:r>
              <a:rPr lang="en-US" sz="1600" b="1" dirty="0">
                <a:solidFill>
                  <a:srgbClr val="002D6A"/>
                </a:solidFill>
                <a:latin typeface="Arial" pitchFamily="34" charset="0"/>
                <a:ea typeface="Arial" pitchFamily="34" charset="-122"/>
                <a:cs typeface="Arial" pitchFamily="34" charset="-120"/>
              </a:rPr>
              <a:t>Get Python Ready</a:t>
            </a:r>
            <a:endParaRPr lang="en-US" sz="1600" dirty="0"/>
          </a:p>
        </p:txBody>
      </p:sp>
      <p:sp>
        <p:nvSpPr>
          <p:cNvPr id="6" name="Card"/>
          <p:cNvSpPr/>
          <p:nvPr/>
        </p:nvSpPr>
        <p:spPr>
          <a:xfrm>
            <a:off x="4663440" y="1280160"/>
            <a:ext cx="4023360" cy="914400"/>
          </a:xfrm>
          <a:prstGeom prst="roundRect">
            <a:avLst>
              <a:gd name="adj" fmla="val 12000"/>
            </a:avLst>
          </a:prstGeom>
          <a:solidFill>
            <a:srgbClr val="FFFFFF"/>
          </a:solidFill>
          <a:ln w="9525">
            <a:solidFill>
              <a:srgbClr val="C5D1E3"/>
            </a:solidFill>
            <a:prstDash val="solid"/>
          </a:ln>
        </p:spPr>
        <p:txBody>
          <a:bodyPr/>
          <a:lstStyle/>
          <a:p>
            <a:endParaRPr lang="en-GB"/>
          </a:p>
        </p:txBody>
      </p:sp>
      <p:sp>
        <p:nvSpPr>
          <p:cNvPr id="7" name="Text 5"/>
          <p:cNvSpPr txBox="1"/>
          <p:nvPr/>
        </p:nvSpPr>
        <p:spPr>
          <a:xfrm>
            <a:off x="4892040" y="1280160"/>
            <a:ext cx="1188720" cy="914400"/>
          </a:xfrm>
          <a:prstGeom prst="rect">
            <a:avLst/>
          </a:prstGeom>
          <a:noFill/>
          <a:ln/>
        </p:spPr>
        <p:txBody>
          <a:bodyPr wrap="square" lIns="0" tIns="0" rIns="0" bIns="0" rtlCol="0" anchor="ctr"/>
          <a:lstStyle/>
          <a:p>
            <a:pPr marL="0" indent="0">
              <a:buNone/>
            </a:pPr>
            <a:r>
              <a:rPr lang="en-US" sz="1600" b="1" dirty="0">
                <a:solidFill>
                  <a:srgbClr val="5D79A0"/>
                </a:solidFill>
                <a:latin typeface="Courier New" pitchFamily="34" charset="0"/>
                <a:ea typeface="Courier New" pitchFamily="34" charset="-122"/>
                <a:cs typeface="Courier New" pitchFamily="34" charset="-120"/>
              </a:rPr>
              <a:t>p7</a:t>
            </a:r>
            <a:endParaRPr lang="en-US" sz="1600" dirty="0"/>
          </a:p>
        </p:txBody>
      </p:sp>
      <p:sp>
        <p:nvSpPr>
          <p:cNvPr id="8" name="Text 6"/>
          <p:cNvSpPr txBox="1"/>
          <p:nvPr/>
        </p:nvSpPr>
        <p:spPr>
          <a:xfrm>
            <a:off x="6080760" y="1280160"/>
            <a:ext cx="2468880" cy="914400"/>
          </a:xfrm>
          <a:prstGeom prst="rect">
            <a:avLst/>
          </a:prstGeom>
          <a:noFill/>
          <a:ln/>
        </p:spPr>
        <p:txBody>
          <a:bodyPr wrap="square" lIns="0" tIns="0" rIns="0" bIns="0" rtlCol="0" anchor="ctr"/>
          <a:lstStyle/>
          <a:p>
            <a:pPr marL="0" indent="0">
              <a:buNone/>
            </a:pPr>
            <a:r>
              <a:rPr lang="en-US" sz="1600" b="1" dirty="0">
                <a:solidFill>
                  <a:srgbClr val="002D6A"/>
                </a:solidFill>
                <a:latin typeface="Arial" pitchFamily="34" charset="0"/>
                <a:ea typeface="Arial" pitchFamily="34" charset="-122"/>
                <a:cs typeface="Arial" pitchFamily="34" charset="-120"/>
              </a:rPr>
              <a:t>Be The Computer</a:t>
            </a:r>
            <a:endParaRPr lang="en-US" sz="1600" dirty="0"/>
          </a:p>
        </p:txBody>
      </p:sp>
      <p:sp>
        <p:nvSpPr>
          <p:cNvPr id="9" name="Card"/>
          <p:cNvSpPr/>
          <p:nvPr/>
        </p:nvSpPr>
        <p:spPr>
          <a:xfrm>
            <a:off x="457200" y="2377440"/>
            <a:ext cx="4023360" cy="914400"/>
          </a:xfrm>
          <a:prstGeom prst="roundRect">
            <a:avLst>
              <a:gd name="adj" fmla="val 12000"/>
            </a:avLst>
          </a:prstGeom>
          <a:solidFill>
            <a:srgbClr val="FFFFFF"/>
          </a:solidFill>
          <a:ln w="9525">
            <a:solidFill>
              <a:srgbClr val="C5D1E3"/>
            </a:solidFill>
            <a:prstDash val="solid"/>
          </a:ln>
        </p:spPr>
        <p:txBody>
          <a:bodyPr/>
          <a:lstStyle/>
          <a:p>
            <a:endParaRPr lang="en-GB"/>
          </a:p>
        </p:txBody>
      </p:sp>
      <p:sp>
        <p:nvSpPr>
          <p:cNvPr id="10" name="Text 8"/>
          <p:cNvSpPr txBox="1"/>
          <p:nvPr/>
        </p:nvSpPr>
        <p:spPr>
          <a:xfrm>
            <a:off x="685800" y="2377440"/>
            <a:ext cx="1188720" cy="914400"/>
          </a:xfrm>
          <a:prstGeom prst="rect">
            <a:avLst/>
          </a:prstGeom>
          <a:noFill/>
          <a:ln/>
        </p:spPr>
        <p:txBody>
          <a:bodyPr wrap="square" lIns="0" tIns="0" rIns="0" bIns="0" rtlCol="0" anchor="ctr"/>
          <a:lstStyle/>
          <a:p>
            <a:pPr marL="0" indent="0">
              <a:buNone/>
            </a:pPr>
            <a:r>
              <a:rPr lang="en-US" sz="1600" b="1" dirty="0">
                <a:solidFill>
                  <a:srgbClr val="5D79A0"/>
                </a:solidFill>
                <a:latin typeface="Courier New" pitchFamily="34" charset="0"/>
                <a:ea typeface="Courier New" pitchFamily="34" charset="-122"/>
                <a:cs typeface="Courier New" pitchFamily="34" charset="-120"/>
              </a:rPr>
              <a:t>p8</a:t>
            </a:r>
            <a:endParaRPr lang="en-US" sz="1600" dirty="0"/>
          </a:p>
        </p:txBody>
      </p:sp>
      <p:sp>
        <p:nvSpPr>
          <p:cNvPr id="11" name="Text 9"/>
          <p:cNvSpPr txBox="1"/>
          <p:nvPr/>
        </p:nvSpPr>
        <p:spPr>
          <a:xfrm>
            <a:off x="1874520" y="2377440"/>
            <a:ext cx="2468880" cy="914400"/>
          </a:xfrm>
          <a:prstGeom prst="rect">
            <a:avLst/>
          </a:prstGeom>
          <a:noFill/>
          <a:ln/>
        </p:spPr>
        <p:txBody>
          <a:bodyPr wrap="square" lIns="0" tIns="0" rIns="0" bIns="0" rtlCol="0" anchor="ctr"/>
          <a:lstStyle/>
          <a:p>
            <a:pPr marL="0" indent="0">
              <a:buNone/>
            </a:pPr>
            <a:r>
              <a:rPr lang="en-US" sz="1600" b="1" dirty="0">
                <a:solidFill>
                  <a:srgbClr val="002D6A"/>
                </a:solidFill>
                <a:latin typeface="Arial" pitchFamily="34" charset="0"/>
                <a:ea typeface="Arial" pitchFamily="34" charset="-122"/>
                <a:cs typeface="Arial" pitchFamily="34" charset="-120"/>
              </a:rPr>
              <a:t>Plan Before You Type</a:t>
            </a:r>
            <a:endParaRPr lang="en-US" sz="1600" dirty="0"/>
          </a:p>
        </p:txBody>
      </p:sp>
      <p:sp>
        <p:nvSpPr>
          <p:cNvPr id="12" name="Card"/>
          <p:cNvSpPr/>
          <p:nvPr/>
        </p:nvSpPr>
        <p:spPr>
          <a:xfrm>
            <a:off x="4663440" y="2377440"/>
            <a:ext cx="4023360" cy="914400"/>
          </a:xfrm>
          <a:prstGeom prst="roundRect">
            <a:avLst>
              <a:gd name="adj" fmla="val 12000"/>
            </a:avLst>
          </a:prstGeom>
          <a:solidFill>
            <a:srgbClr val="FFFFFF"/>
          </a:solidFill>
          <a:ln w="9525">
            <a:solidFill>
              <a:srgbClr val="C5D1E3"/>
            </a:solidFill>
            <a:prstDash val="solid"/>
          </a:ln>
        </p:spPr>
        <p:txBody>
          <a:bodyPr/>
          <a:lstStyle/>
          <a:p>
            <a:endParaRPr lang="en-GB"/>
          </a:p>
        </p:txBody>
      </p:sp>
      <p:sp>
        <p:nvSpPr>
          <p:cNvPr id="13" name="Text 11"/>
          <p:cNvSpPr txBox="1"/>
          <p:nvPr/>
        </p:nvSpPr>
        <p:spPr>
          <a:xfrm>
            <a:off x="4892040" y="2377440"/>
            <a:ext cx="1188720" cy="914400"/>
          </a:xfrm>
          <a:prstGeom prst="rect">
            <a:avLst/>
          </a:prstGeom>
          <a:noFill/>
          <a:ln/>
        </p:spPr>
        <p:txBody>
          <a:bodyPr wrap="square" lIns="0" tIns="0" rIns="0" bIns="0" rtlCol="0" anchor="ctr"/>
          <a:lstStyle/>
          <a:p>
            <a:pPr marL="0" indent="0">
              <a:buNone/>
            </a:pPr>
            <a:r>
              <a:rPr lang="en-US" sz="1600" b="1" dirty="0">
                <a:solidFill>
                  <a:srgbClr val="5D79A0"/>
                </a:solidFill>
                <a:latin typeface="Courier New" pitchFamily="34" charset="0"/>
                <a:ea typeface="Courier New" pitchFamily="34" charset="-122"/>
                <a:cs typeface="Courier New" pitchFamily="34" charset="-120"/>
              </a:rPr>
              <a:t>p9 and p10</a:t>
            </a:r>
            <a:endParaRPr lang="en-US" sz="1600" dirty="0"/>
          </a:p>
        </p:txBody>
      </p:sp>
      <p:sp>
        <p:nvSpPr>
          <p:cNvPr id="14" name="Text 12"/>
          <p:cNvSpPr txBox="1"/>
          <p:nvPr/>
        </p:nvSpPr>
        <p:spPr>
          <a:xfrm>
            <a:off x="6080760" y="2377440"/>
            <a:ext cx="2468880" cy="914400"/>
          </a:xfrm>
          <a:prstGeom prst="rect">
            <a:avLst/>
          </a:prstGeom>
          <a:noFill/>
          <a:ln/>
        </p:spPr>
        <p:txBody>
          <a:bodyPr wrap="square" lIns="0" tIns="0" rIns="0" bIns="0" rtlCol="0" anchor="ctr"/>
          <a:lstStyle/>
          <a:p>
            <a:pPr marL="0" indent="0">
              <a:buNone/>
            </a:pPr>
            <a:r>
              <a:rPr lang="en-US" sz="1600" b="1" dirty="0">
                <a:solidFill>
                  <a:srgbClr val="002D6A"/>
                </a:solidFill>
                <a:latin typeface="Arial" pitchFamily="34" charset="0"/>
                <a:ea typeface="Arial" pitchFamily="34" charset="-122"/>
                <a:cs typeface="Arial" pitchFamily="34" charset="-120"/>
              </a:rPr>
              <a:t>Hints for your code</a:t>
            </a:r>
            <a:endParaRPr lang="en-US" sz="1600" dirty="0"/>
          </a:p>
        </p:txBody>
      </p:sp>
      <p:sp>
        <p:nvSpPr>
          <p:cNvPr id="15" name="Text 13"/>
          <p:cNvSpPr txBox="1"/>
          <p:nvPr/>
        </p:nvSpPr>
        <p:spPr>
          <a:xfrm>
            <a:off x="457200" y="384048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work it out on paper first, then type it</a:t>
            </a:r>
            <a:endParaRPr lang="en-US" sz="1400" dirty="0"/>
          </a:p>
        </p:txBody>
      </p:sp>
      <p:sp>
        <p:nvSpPr>
          <p:cNvPr id="1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46</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New Trick: .append</a:t>
            </a:r>
            <a:endParaRPr lang="en-US" sz="3000" dirty="0"/>
          </a:p>
        </p:txBody>
      </p:sp>
      <p:sp>
        <p:nvSpPr>
          <p:cNvPr id="3" name="5 min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5 min</a:t>
            </a:r>
            <a:endParaRPr lang="en-US" sz="1200" dirty="0"/>
          </a:p>
        </p:txBody>
      </p:sp>
      <p:sp>
        <p:nvSpPr>
          <p:cNvPr id="5" name="Code box"/>
          <p:cNvSpPr/>
          <p:nvPr/>
        </p:nvSpPr>
        <p:spPr>
          <a:xfrm>
            <a:off x="457200" y="1188720"/>
            <a:ext cx="8229600" cy="2103120"/>
          </a:xfrm>
          <a:prstGeom prst="rect">
            <a:avLst/>
          </a:prstGeom>
          <a:solidFill>
            <a:srgbClr val="0B2A57"/>
          </a:solidFill>
          <a:ln w="12700">
            <a:solidFill>
              <a:srgbClr val="0B2A57"/>
            </a:solidFill>
            <a:prstDash val="solid"/>
          </a:ln>
        </p:spPr>
        <p:txBody>
          <a:bodyPr/>
          <a:lstStyle/>
          <a:p>
            <a:endParaRPr lang="en-GB"/>
          </a:p>
        </p:txBody>
      </p:sp>
      <p:sp>
        <p:nvSpPr>
          <p:cNvPr id="6" name="Code bar"/>
          <p:cNvSpPr/>
          <p:nvPr/>
        </p:nvSpPr>
        <p:spPr>
          <a:xfrm>
            <a:off x="457200" y="1188720"/>
            <a:ext cx="54864" cy="2103120"/>
          </a:xfrm>
          <a:prstGeom prst="rect">
            <a:avLst/>
          </a:prstGeom>
          <a:solidFill>
            <a:srgbClr val="5D79A0"/>
          </a:solidFill>
          <a:ln w="12700">
            <a:solidFill>
              <a:srgbClr val="5D79A0"/>
            </a:solidFill>
            <a:prstDash val="solid"/>
          </a:ln>
        </p:spPr>
        <p:txBody>
          <a:bodyPr/>
          <a:lstStyle/>
          <a:p>
            <a:endParaRPr lang="en-GB"/>
          </a:p>
        </p:txBody>
      </p:sp>
      <p:sp>
        <p:nvSpPr>
          <p:cNvPr id="7" name="Text 5"/>
          <p:cNvSpPr txBox="1"/>
          <p:nvPr/>
        </p:nvSpPr>
        <p:spPr>
          <a:xfrm>
            <a:off x="640080" y="1325880"/>
            <a:ext cx="7955280" cy="365760"/>
          </a:xfrm>
          <a:prstGeom prst="rect">
            <a:avLst/>
          </a:prstGeom>
          <a:noFill/>
          <a:ln/>
        </p:spPr>
        <p:txBody>
          <a:bodyPr wrap="none" lIns="0" tIns="0" rIns="0" bIns="0" rtlCol="0" anchor="ctr"/>
          <a:lstStyle/>
          <a:p>
            <a:pPr marL="0" indent="0">
              <a:buNone/>
            </a:pPr>
            <a:r>
              <a:rPr lang="en-US" sz="2000" dirty="0">
                <a:solidFill>
                  <a:srgbClr val="E6ECF5"/>
                </a:solidFill>
                <a:latin typeface="Courier New" pitchFamily="34" charset="0"/>
                <a:ea typeface="Courier New" pitchFamily="34" charset="-122"/>
                <a:cs typeface="Courier New" pitchFamily="34" charset="-120"/>
              </a:rPr>
              <a:t>&gt;&gt;&gt; row = []</a:t>
            </a:r>
            <a:endParaRPr lang="en-US" sz="2000" dirty="0"/>
          </a:p>
        </p:txBody>
      </p:sp>
      <p:sp>
        <p:nvSpPr>
          <p:cNvPr id="8" name="@1 addText"/>
          <p:cNvSpPr txBox="1"/>
          <p:nvPr/>
        </p:nvSpPr>
        <p:spPr>
          <a:xfrm>
            <a:off x="640080" y="1691640"/>
            <a:ext cx="7955280" cy="365760"/>
          </a:xfrm>
          <a:prstGeom prst="rect">
            <a:avLst/>
          </a:prstGeom>
          <a:noFill/>
          <a:ln/>
        </p:spPr>
        <p:txBody>
          <a:bodyPr wrap="none" lIns="0" tIns="0" rIns="0" bIns="0" rtlCol="0" anchor="ctr"/>
          <a:lstStyle/>
          <a:p>
            <a:pPr marL="0" indent="0">
              <a:buNone/>
            </a:pPr>
            <a:r>
              <a:rPr lang="en-US" sz="2000" dirty="0">
                <a:solidFill>
                  <a:srgbClr val="E6ECF5"/>
                </a:solidFill>
                <a:latin typeface="Courier New" pitchFamily="34" charset="0"/>
                <a:ea typeface="Courier New" pitchFamily="34" charset="-122"/>
                <a:cs typeface="Courier New" pitchFamily="34" charset="-120"/>
              </a:rPr>
              <a:t>&gt;&gt;&gt; row.append(</a:t>
            </a:r>
            <a:r>
              <a:rPr lang="en-US" sz="2000" dirty="0">
                <a:solidFill>
                  <a:srgbClr val="F2C879"/>
                </a:solidFill>
                <a:latin typeface="Courier New" pitchFamily="34" charset="0"/>
                <a:ea typeface="Courier New" pitchFamily="34" charset="-122"/>
                <a:cs typeface="Courier New" pitchFamily="34" charset="-120"/>
              </a:rPr>
              <a:t>0</a:t>
            </a:r>
            <a:r>
              <a:rPr lang="en-US" sz="2000" dirty="0">
                <a:solidFill>
                  <a:srgbClr val="E6ECF5"/>
                </a:solidFill>
                <a:latin typeface="Courier New" pitchFamily="34" charset="0"/>
                <a:ea typeface="Courier New" pitchFamily="34" charset="-122"/>
                <a:cs typeface="Courier New" pitchFamily="34" charset="-120"/>
              </a:rPr>
              <a:t>)</a:t>
            </a:r>
            <a:endParaRPr lang="en-US" sz="2000" dirty="0"/>
          </a:p>
        </p:txBody>
      </p:sp>
      <p:sp>
        <p:nvSpPr>
          <p:cNvPr id="9" name="@2 addText"/>
          <p:cNvSpPr txBox="1"/>
          <p:nvPr/>
        </p:nvSpPr>
        <p:spPr>
          <a:xfrm>
            <a:off x="640080" y="2057400"/>
            <a:ext cx="7955280" cy="365760"/>
          </a:xfrm>
          <a:prstGeom prst="rect">
            <a:avLst/>
          </a:prstGeom>
          <a:noFill/>
          <a:ln/>
        </p:spPr>
        <p:txBody>
          <a:bodyPr wrap="none" lIns="0" tIns="0" rIns="0" bIns="0" rtlCol="0" anchor="ctr"/>
          <a:lstStyle/>
          <a:p>
            <a:pPr marL="0" indent="0">
              <a:buNone/>
            </a:pPr>
            <a:r>
              <a:rPr lang="en-US" sz="2000" dirty="0">
                <a:solidFill>
                  <a:srgbClr val="E6ECF5"/>
                </a:solidFill>
                <a:latin typeface="Courier New" pitchFamily="34" charset="0"/>
                <a:ea typeface="Courier New" pitchFamily="34" charset="-122"/>
                <a:cs typeface="Courier New" pitchFamily="34" charset="-120"/>
              </a:rPr>
              <a:t>&gt;&gt;&gt; row.append(</a:t>
            </a:r>
            <a:r>
              <a:rPr lang="en-US" sz="2000" dirty="0">
                <a:solidFill>
                  <a:srgbClr val="F2C879"/>
                </a:solidFill>
                <a:latin typeface="Courier New" pitchFamily="34" charset="0"/>
                <a:ea typeface="Courier New" pitchFamily="34" charset="-122"/>
                <a:cs typeface="Courier New" pitchFamily="34" charset="-120"/>
              </a:rPr>
              <a:t>0</a:t>
            </a:r>
            <a:r>
              <a:rPr lang="en-US" sz="2000" dirty="0">
                <a:solidFill>
                  <a:srgbClr val="E6ECF5"/>
                </a:solidFill>
                <a:latin typeface="Courier New" pitchFamily="34" charset="0"/>
                <a:ea typeface="Courier New" pitchFamily="34" charset="-122"/>
                <a:cs typeface="Courier New" pitchFamily="34" charset="-120"/>
              </a:rPr>
              <a:t>)</a:t>
            </a:r>
            <a:endParaRPr lang="en-US" sz="2000" dirty="0"/>
          </a:p>
        </p:txBody>
      </p:sp>
      <p:sp>
        <p:nvSpPr>
          <p:cNvPr id="10" name="Text 8"/>
          <p:cNvSpPr txBox="1"/>
          <p:nvPr/>
        </p:nvSpPr>
        <p:spPr>
          <a:xfrm>
            <a:off x="640080" y="2423160"/>
            <a:ext cx="7955280" cy="365760"/>
          </a:xfrm>
          <a:prstGeom prst="rect">
            <a:avLst/>
          </a:prstGeom>
          <a:noFill/>
          <a:ln/>
        </p:spPr>
        <p:txBody>
          <a:bodyPr wrap="none" lIns="0" tIns="0" rIns="0" bIns="0" rtlCol="0" anchor="ctr"/>
          <a:lstStyle/>
          <a:p>
            <a:pPr marL="0" indent="0">
              <a:buNone/>
            </a:pPr>
            <a:r>
              <a:rPr lang="en-US" sz="2000" dirty="0">
                <a:solidFill>
                  <a:srgbClr val="E6ECF5"/>
                </a:solidFill>
                <a:latin typeface="Courier New" pitchFamily="34" charset="0"/>
                <a:ea typeface="Courier New" pitchFamily="34" charset="-122"/>
                <a:cs typeface="Courier New" pitchFamily="34" charset="-120"/>
              </a:rPr>
              <a:t>&gt;&gt;&gt; row</a:t>
            </a:r>
            <a:endParaRPr lang="en-US" sz="2000" dirty="0"/>
          </a:p>
        </p:txBody>
      </p:sp>
      <p:sp>
        <p:nvSpPr>
          <p:cNvPr id="11" name="@3 addText"/>
          <p:cNvSpPr txBox="1"/>
          <p:nvPr/>
        </p:nvSpPr>
        <p:spPr>
          <a:xfrm>
            <a:off x="640080" y="2788920"/>
            <a:ext cx="7955280" cy="365760"/>
          </a:xfrm>
          <a:prstGeom prst="rect">
            <a:avLst/>
          </a:prstGeom>
          <a:noFill/>
          <a:ln/>
        </p:spPr>
        <p:txBody>
          <a:bodyPr wrap="none" lIns="0" tIns="0" rIns="0" bIns="0" rtlCol="0" anchor="ctr"/>
          <a:lstStyle/>
          <a:p>
            <a:pPr marL="0" indent="0">
              <a:buNone/>
            </a:pPr>
            <a:r>
              <a:rPr lang="en-US" sz="2000" b="1" dirty="0">
                <a:solidFill>
                  <a:srgbClr val="F2C879"/>
                </a:solidFill>
                <a:latin typeface="Courier New" pitchFamily="34" charset="0"/>
                <a:ea typeface="Courier New" pitchFamily="34" charset="-122"/>
                <a:cs typeface="Courier New" pitchFamily="34" charset="-120"/>
              </a:rPr>
              <a:t>[0, 0]</a:t>
            </a:r>
            <a:endParaRPr lang="en-US" sz="2000" dirty="0"/>
          </a:p>
        </p:txBody>
      </p:sp>
      <p:sp>
        <p:nvSpPr>
          <p:cNvPr id="12" name="@3 addText"/>
          <p:cNvSpPr txBox="1"/>
          <p:nvPr/>
        </p:nvSpPr>
        <p:spPr>
          <a:xfrm>
            <a:off x="457200" y="41148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append = stick one more thing on the end of a list</a:t>
            </a:r>
            <a:endParaRPr lang="en-US" sz="1400" dirty="0"/>
          </a:p>
        </p:txBody>
      </p:sp>
      <p:sp>
        <p:nvSpPr>
          <p:cNvPr id="13"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A Loop Inside a Loop</a:t>
            </a:r>
            <a:endParaRPr lang="en-US" sz="3000" dirty="0"/>
          </a:p>
        </p:txBody>
      </p:sp>
      <p:sp>
        <p:nvSpPr>
          <p:cNvPr id="3" name="Code box"/>
          <p:cNvSpPr/>
          <p:nvPr/>
        </p:nvSpPr>
        <p:spPr>
          <a:xfrm>
            <a:off x="457200" y="1188720"/>
            <a:ext cx="8229600" cy="1371600"/>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88720"/>
            <a:ext cx="54864" cy="1371600"/>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325880"/>
            <a:ext cx="7955280" cy="365760"/>
          </a:xfrm>
          <a:prstGeom prst="rect">
            <a:avLst/>
          </a:prstGeom>
          <a:noFill/>
          <a:ln/>
        </p:spPr>
        <p:txBody>
          <a:bodyPr wrap="non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 1  </a:t>
            </a:r>
            <a:r>
              <a:rPr lang="en-US" sz="2000" b="1" dirty="0">
                <a:solidFill>
                  <a:srgbClr val="8FB8FF"/>
                </a:solidFill>
                <a:latin typeface="Courier New" pitchFamily="34" charset="0"/>
                <a:ea typeface="Courier New" pitchFamily="34" charset="-122"/>
                <a:cs typeface="Courier New" pitchFamily="34" charset="-120"/>
              </a:rPr>
              <a:t>for</a:t>
            </a:r>
            <a:r>
              <a:rPr lang="en-US" sz="2000" dirty="0">
                <a:solidFill>
                  <a:srgbClr val="E6ECF5"/>
                </a:solidFill>
                <a:latin typeface="Courier New" pitchFamily="34" charset="0"/>
                <a:ea typeface="Courier New" pitchFamily="34" charset="-122"/>
                <a:cs typeface="Courier New" pitchFamily="34" charset="-120"/>
              </a:rPr>
              <a:t> number </a:t>
            </a:r>
            <a:r>
              <a:rPr lang="en-US" sz="2000" b="1" dirty="0">
                <a:solidFill>
                  <a:srgbClr val="8FB8FF"/>
                </a:solidFill>
                <a:latin typeface="Courier New" pitchFamily="34" charset="0"/>
                <a:ea typeface="Courier New" pitchFamily="34" charset="-122"/>
                <a:cs typeface="Courier New" pitchFamily="34" charset="-120"/>
              </a:rPr>
              <a:t>in</a:t>
            </a:r>
            <a:r>
              <a:rPr lang="en-US" sz="2000" dirty="0">
                <a:solidFill>
                  <a:srgbClr val="E6ECF5"/>
                </a:solidFill>
                <a:latin typeface="Courier New" pitchFamily="34" charset="0"/>
                <a:ea typeface="Courier New" pitchFamily="34" charset="-122"/>
                <a:cs typeface="Courier New" pitchFamily="34" charset="-120"/>
              </a:rPr>
              <a:t> [</a:t>
            </a:r>
            <a:r>
              <a:rPr lang="en-US" sz="2000" dirty="0">
                <a:solidFill>
                  <a:srgbClr val="F2C879"/>
                </a:solidFill>
                <a:latin typeface="Courier New" pitchFamily="34" charset="0"/>
                <a:ea typeface="Courier New" pitchFamily="34" charset="-122"/>
                <a:cs typeface="Courier New" pitchFamily="34" charset="-120"/>
              </a:rPr>
              <a:t>2</a:t>
            </a:r>
            <a:r>
              <a:rPr lang="en-US" sz="2000" dirty="0">
                <a:solidFill>
                  <a:srgbClr val="E6ECF5"/>
                </a:solidFill>
                <a:latin typeface="Courier New" pitchFamily="34" charset="0"/>
                <a:ea typeface="Courier New" pitchFamily="34" charset="-122"/>
                <a:cs typeface="Courier New" pitchFamily="34" charset="-120"/>
              </a:rPr>
              <a:t>, </a:t>
            </a:r>
            <a:r>
              <a:rPr lang="en-US" sz="2000" dirty="0">
                <a:solidFill>
                  <a:srgbClr val="F2C879"/>
                </a:solidFill>
                <a:latin typeface="Courier New" pitchFamily="34" charset="0"/>
                <a:ea typeface="Courier New" pitchFamily="34" charset="-122"/>
                <a:cs typeface="Courier New" pitchFamily="34" charset="-120"/>
              </a:rPr>
              <a:t>3</a:t>
            </a:r>
            <a:r>
              <a:rPr lang="en-US" sz="2000" dirty="0">
                <a:solidFill>
                  <a:srgbClr val="E6ECF5"/>
                </a:solidFill>
                <a:latin typeface="Courier New" pitchFamily="34" charset="0"/>
                <a:ea typeface="Courier New" pitchFamily="34" charset="-122"/>
                <a:cs typeface="Courier New" pitchFamily="34" charset="-120"/>
              </a:rPr>
              <a:t>]:</a:t>
            </a:r>
            <a:endParaRPr lang="en-US" sz="2000" dirty="0"/>
          </a:p>
        </p:txBody>
      </p:sp>
      <p:sp>
        <p:nvSpPr>
          <p:cNvPr id="6" name="Text 4"/>
          <p:cNvSpPr txBox="1"/>
          <p:nvPr/>
        </p:nvSpPr>
        <p:spPr>
          <a:xfrm>
            <a:off x="640080" y="1691640"/>
            <a:ext cx="7955280" cy="365760"/>
          </a:xfrm>
          <a:prstGeom prst="rect">
            <a:avLst/>
          </a:prstGeom>
          <a:noFill/>
          <a:ln/>
        </p:spPr>
        <p:txBody>
          <a:bodyPr wrap="non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 2  </a:t>
            </a:r>
            <a:r>
              <a:rPr lang="en-US" sz="2000" dirty="0">
                <a:solidFill>
                  <a:srgbClr val="E6ECF5"/>
                </a:solidFill>
                <a:latin typeface="Courier New" pitchFamily="34" charset="0"/>
                <a:ea typeface="Courier New" pitchFamily="34" charset="-122"/>
                <a:cs typeface="Courier New" pitchFamily="34" charset="-120"/>
              </a:rPr>
              <a:t>    </a:t>
            </a:r>
            <a:r>
              <a:rPr lang="en-US" sz="2000" b="1" dirty="0">
                <a:solidFill>
                  <a:srgbClr val="8FB8FF"/>
                </a:solidFill>
                <a:latin typeface="Courier New" pitchFamily="34" charset="0"/>
                <a:ea typeface="Courier New" pitchFamily="34" charset="-122"/>
                <a:cs typeface="Courier New" pitchFamily="34" charset="-120"/>
              </a:rPr>
              <a:t>for</a:t>
            </a:r>
            <a:r>
              <a:rPr lang="en-US" sz="2000" dirty="0">
                <a:solidFill>
                  <a:srgbClr val="E6ECF5"/>
                </a:solidFill>
                <a:latin typeface="Courier New" pitchFamily="34" charset="0"/>
                <a:ea typeface="Courier New" pitchFamily="34" charset="-122"/>
                <a:cs typeface="Courier New" pitchFamily="34" charset="-120"/>
              </a:rPr>
              <a:t> i </a:t>
            </a:r>
            <a:r>
              <a:rPr lang="en-US" sz="2000" b="1" dirty="0">
                <a:solidFill>
                  <a:srgbClr val="8FB8FF"/>
                </a:solidFill>
                <a:latin typeface="Courier New" pitchFamily="34" charset="0"/>
                <a:ea typeface="Courier New" pitchFamily="34" charset="-122"/>
                <a:cs typeface="Courier New" pitchFamily="34" charset="-120"/>
              </a:rPr>
              <a:t>in</a:t>
            </a:r>
            <a:r>
              <a:rPr lang="en-US" sz="2000" dirty="0">
                <a:solidFill>
                  <a:srgbClr val="E6ECF5"/>
                </a:solidFill>
                <a:latin typeface="Courier New" pitchFamily="34" charset="0"/>
                <a:ea typeface="Courier New" pitchFamily="34" charset="-122"/>
                <a:cs typeface="Courier New" pitchFamily="34" charset="-120"/>
              </a:rPr>
              <a:t> </a:t>
            </a:r>
            <a:r>
              <a:rPr lang="en-US" sz="2000" b="1" dirty="0">
                <a:solidFill>
                  <a:srgbClr val="8FB8FF"/>
                </a:solidFill>
                <a:latin typeface="Courier New" pitchFamily="34" charset="0"/>
                <a:ea typeface="Courier New" pitchFamily="34" charset="-122"/>
                <a:cs typeface="Courier New" pitchFamily="34" charset="-120"/>
              </a:rPr>
              <a:t>range</a:t>
            </a:r>
            <a:r>
              <a:rPr lang="en-US" sz="2000" dirty="0">
                <a:solidFill>
                  <a:srgbClr val="E6ECF5"/>
                </a:solidFill>
                <a:latin typeface="Courier New" pitchFamily="34" charset="0"/>
                <a:ea typeface="Courier New" pitchFamily="34" charset="-122"/>
                <a:cs typeface="Courier New" pitchFamily="34" charset="-120"/>
              </a:rPr>
              <a:t>(number):</a:t>
            </a:r>
            <a:endParaRPr lang="en-US" sz="2000" dirty="0"/>
          </a:p>
        </p:txBody>
      </p:sp>
      <p:sp>
        <p:nvSpPr>
          <p:cNvPr id="7" name="Text 5"/>
          <p:cNvSpPr txBox="1"/>
          <p:nvPr/>
        </p:nvSpPr>
        <p:spPr>
          <a:xfrm>
            <a:off x="640080" y="2057400"/>
            <a:ext cx="7955280" cy="365760"/>
          </a:xfrm>
          <a:prstGeom prst="rect">
            <a:avLst/>
          </a:prstGeom>
          <a:noFill/>
          <a:ln/>
        </p:spPr>
        <p:txBody>
          <a:bodyPr wrap="none" lIns="0" tIns="0" rIns="0" bIns="0" rtlCol="0" anchor="ctr"/>
          <a:lstStyle/>
          <a:p>
            <a:pPr marL="0" indent="0">
              <a:buNone/>
            </a:pPr>
            <a:r>
              <a:rPr lang="en-US" sz="2000" dirty="0">
                <a:solidFill>
                  <a:srgbClr val="6F86A8"/>
                </a:solidFill>
                <a:latin typeface="Courier New" pitchFamily="34" charset="0"/>
                <a:ea typeface="Courier New" pitchFamily="34" charset="-122"/>
                <a:cs typeface="Courier New" pitchFamily="34" charset="-120"/>
              </a:rPr>
              <a:t> 3  </a:t>
            </a:r>
            <a:r>
              <a:rPr lang="en-US" sz="2000" dirty="0">
                <a:solidFill>
                  <a:srgbClr val="E6ECF5"/>
                </a:solidFill>
                <a:latin typeface="Courier New" pitchFamily="34" charset="0"/>
                <a:ea typeface="Courier New" pitchFamily="34" charset="-122"/>
                <a:cs typeface="Courier New" pitchFamily="34" charset="-120"/>
              </a:rPr>
              <a:t>        print(number)</a:t>
            </a:r>
            <a:endParaRPr lang="en-US" sz="2000" dirty="0"/>
          </a:p>
        </p:txBody>
      </p:sp>
      <p:sp>
        <p:nvSpPr>
          <p:cNvPr id="8" name="@1 Code box"/>
          <p:cNvSpPr/>
          <p:nvPr/>
        </p:nvSpPr>
        <p:spPr>
          <a:xfrm>
            <a:off x="457200" y="2468880"/>
            <a:ext cx="8229600" cy="1554480"/>
          </a:xfrm>
          <a:prstGeom prst="rect">
            <a:avLst/>
          </a:prstGeom>
          <a:solidFill>
            <a:srgbClr val="0B2A57"/>
          </a:solidFill>
          <a:ln w="12700">
            <a:solidFill>
              <a:srgbClr val="0B2A57"/>
            </a:solidFill>
            <a:prstDash val="solid"/>
          </a:ln>
        </p:spPr>
        <p:txBody>
          <a:bodyPr/>
          <a:lstStyle/>
          <a:p>
            <a:endParaRPr lang="en-GB"/>
          </a:p>
        </p:txBody>
      </p:sp>
      <p:sp>
        <p:nvSpPr>
          <p:cNvPr id="9" name="@1 Code bar"/>
          <p:cNvSpPr/>
          <p:nvPr/>
        </p:nvSpPr>
        <p:spPr>
          <a:xfrm>
            <a:off x="457200" y="2468880"/>
            <a:ext cx="54864" cy="1554480"/>
          </a:xfrm>
          <a:prstGeom prst="rect">
            <a:avLst/>
          </a:prstGeom>
          <a:solidFill>
            <a:srgbClr val="5D79A0"/>
          </a:solidFill>
          <a:ln w="12700">
            <a:solidFill>
              <a:srgbClr val="5D79A0"/>
            </a:solidFill>
            <a:prstDash val="solid"/>
          </a:ln>
        </p:spPr>
        <p:txBody>
          <a:bodyPr/>
          <a:lstStyle/>
          <a:p>
            <a:endParaRPr lang="en-GB"/>
          </a:p>
        </p:txBody>
      </p:sp>
      <p:sp>
        <p:nvSpPr>
          <p:cNvPr id="10" name="@1 addText"/>
          <p:cNvSpPr txBox="1"/>
          <p:nvPr/>
        </p:nvSpPr>
        <p:spPr>
          <a:xfrm>
            <a:off x="640080" y="2606040"/>
            <a:ext cx="7955280" cy="256032"/>
          </a:xfrm>
          <a:prstGeom prst="rect">
            <a:avLst/>
          </a:prstGeom>
          <a:noFill/>
          <a:ln/>
        </p:spPr>
        <p:txBody>
          <a:bodyPr wrap="none" lIns="0" tIns="0" rIns="0" bIns="0" rtlCol="0" anchor="ctr"/>
          <a:lstStyle/>
          <a:p>
            <a:pPr marL="0" indent="0">
              <a:buNone/>
            </a:pPr>
            <a:r>
              <a:rPr lang="en-US" sz="1400" b="1" dirty="0">
                <a:solidFill>
                  <a:srgbClr val="F2C879"/>
                </a:solidFill>
                <a:latin typeface="Courier New" pitchFamily="34" charset="0"/>
                <a:ea typeface="Courier New" pitchFamily="34" charset="-122"/>
                <a:cs typeface="Courier New" pitchFamily="34" charset="-120"/>
              </a:rPr>
              <a:t>2</a:t>
            </a:r>
            <a:endParaRPr lang="en-US" sz="1400" dirty="0"/>
          </a:p>
        </p:txBody>
      </p:sp>
      <p:sp>
        <p:nvSpPr>
          <p:cNvPr id="11" name="@1 addText"/>
          <p:cNvSpPr txBox="1"/>
          <p:nvPr/>
        </p:nvSpPr>
        <p:spPr>
          <a:xfrm>
            <a:off x="640080" y="2862072"/>
            <a:ext cx="7955280" cy="256032"/>
          </a:xfrm>
          <a:prstGeom prst="rect">
            <a:avLst/>
          </a:prstGeom>
          <a:noFill/>
          <a:ln/>
        </p:spPr>
        <p:txBody>
          <a:bodyPr wrap="none" lIns="0" tIns="0" rIns="0" bIns="0" rtlCol="0" anchor="ctr"/>
          <a:lstStyle/>
          <a:p>
            <a:pPr marL="0" indent="0">
              <a:buNone/>
            </a:pPr>
            <a:r>
              <a:rPr lang="en-US" sz="1400" b="1" dirty="0">
                <a:solidFill>
                  <a:srgbClr val="F2C879"/>
                </a:solidFill>
                <a:latin typeface="Courier New" pitchFamily="34" charset="0"/>
                <a:ea typeface="Courier New" pitchFamily="34" charset="-122"/>
                <a:cs typeface="Courier New" pitchFamily="34" charset="-120"/>
              </a:rPr>
              <a:t>2</a:t>
            </a:r>
            <a:endParaRPr lang="en-US" sz="1400" dirty="0"/>
          </a:p>
        </p:txBody>
      </p:sp>
      <p:sp>
        <p:nvSpPr>
          <p:cNvPr id="12" name="@1 addText"/>
          <p:cNvSpPr txBox="1"/>
          <p:nvPr/>
        </p:nvSpPr>
        <p:spPr>
          <a:xfrm>
            <a:off x="640080" y="3118104"/>
            <a:ext cx="7955280" cy="256032"/>
          </a:xfrm>
          <a:prstGeom prst="rect">
            <a:avLst/>
          </a:prstGeom>
          <a:noFill/>
          <a:ln/>
        </p:spPr>
        <p:txBody>
          <a:bodyPr wrap="none" lIns="0" tIns="0" rIns="0" bIns="0" rtlCol="0" anchor="ctr"/>
          <a:lstStyle/>
          <a:p>
            <a:pPr marL="0" indent="0">
              <a:buNone/>
            </a:pPr>
            <a:r>
              <a:rPr lang="en-US" sz="1400" b="1" dirty="0">
                <a:solidFill>
                  <a:srgbClr val="F2C879"/>
                </a:solidFill>
                <a:latin typeface="Courier New" pitchFamily="34" charset="0"/>
                <a:ea typeface="Courier New" pitchFamily="34" charset="-122"/>
                <a:cs typeface="Courier New" pitchFamily="34" charset="-120"/>
              </a:rPr>
              <a:t>3</a:t>
            </a:r>
            <a:endParaRPr lang="en-US" sz="1400" dirty="0"/>
          </a:p>
        </p:txBody>
      </p:sp>
      <p:sp>
        <p:nvSpPr>
          <p:cNvPr id="13" name="@1 addText"/>
          <p:cNvSpPr txBox="1"/>
          <p:nvPr/>
        </p:nvSpPr>
        <p:spPr>
          <a:xfrm>
            <a:off x="640080" y="3374136"/>
            <a:ext cx="7955280" cy="256032"/>
          </a:xfrm>
          <a:prstGeom prst="rect">
            <a:avLst/>
          </a:prstGeom>
          <a:noFill/>
          <a:ln/>
        </p:spPr>
        <p:txBody>
          <a:bodyPr wrap="none" lIns="0" tIns="0" rIns="0" bIns="0" rtlCol="0" anchor="ctr"/>
          <a:lstStyle/>
          <a:p>
            <a:pPr marL="0" indent="0">
              <a:buNone/>
            </a:pPr>
            <a:r>
              <a:rPr lang="en-US" sz="1400" b="1" dirty="0">
                <a:solidFill>
                  <a:srgbClr val="F2C879"/>
                </a:solidFill>
                <a:latin typeface="Courier New" pitchFamily="34" charset="0"/>
                <a:ea typeface="Courier New" pitchFamily="34" charset="-122"/>
                <a:cs typeface="Courier New" pitchFamily="34" charset="-120"/>
              </a:rPr>
              <a:t>3</a:t>
            </a:r>
            <a:endParaRPr lang="en-US" sz="1400" dirty="0"/>
          </a:p>
        </p:txBody>
      </p:sp>
      <p:sp>
        <p:nvSpPr>
          <p:cNvPr id="14" name="@1 addText"/>
          <p:cNvSpPr txBox="1"/>
          <p:nvPr/>
        </p:nvSpPr>
        <p:spPr>
          <a:xfrm>
            <a:off x="640080" y="3630168"/>
            <a:ext cx="7955280" cy="256032"/>
          </a:xfrm>
          <a:prstGeom prst="rect">
            <a:avLst/>
          </a:prstGeom>
          <a:noFill/>
          <a:ln/>
        </p:spPr>
        <p:txBody>
          <a:bodyPr wrap="none" lIns="0" tIns="0" rIns="0" bIns="0" rtlCol="0" anchor="ctr"/>
          <a:lstStyle/>
          <a:p>
            <a:pPr marL="0" indent="0">
              <a:buNone/>
            </a:pPr>
            <a:r>
              <a:rPr lang="en-US" sz="1400" b="1" dirty="0">
                <a:solidFill>
                  <a:srgbClr val="F2C879"/>
                </a:solidFill>
                <a:latin typeface="Courier New" pitchFamily="34" charset="0"/>
                <a:ea typeface="Courier New" pitchFamily="34" charset="-122"/>
                <a:cs typeface="Courier New" pitchFamily="34" charset="-120"/>
              </a:rPr>
              <a:t>3</a:t>
            </a:r>
            <a:endParaRPr lang="en-US" sz="1400" dirty="0"/>
          </a:p>
        </p:txBody>
      </p:sp>
      <p:sp>
        <p:nvSpPr>
          <p:cNvPr id="15" name="@1 addText"/>
          <p:cNvSpPr txBox="1"/>
          <p:nvPr/>
        </p:nvSpPr>
        <p:spPr>
          <a:xfrm>
            <a:off x="457200" y="429768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the outer loop picks each number. The inner loop repeats that many times.</a:t>
            </a:r>
            <a:endParaRPr lang="en-US" sz="1400" dirty="0"/>
          </a:p>
        </p:txBody>
      </p:sp>
      <p:sp>
        <p:nvSpPr>
          <p:cNvPr id="1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2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2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2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Your decode_row</a:t>
            </a:r>
            <a:endParaRPr lang="en-US" sz="3000" dirty="0"/>
          </a:p>
        </p:txBody>
      </p:sp>
      <p:sp>
        <p:nvSpPr>
          <p:cNvPr id="3" name="Code box"/>
          <p:cNvSpPr/>
          <p:nvPr/>
        </p:nvSpPr>
        <p:spPr>
          <a:xfrm>
            <a:off x="457200" y="1188720"/>
            <a:ext cx="8229600" cy="2578608"/>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88720"/>
            <a:ext cx="54864" cy="2578608"/>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325880"/>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1  </a:t>
            </a:r>
            <a:r>
              <a:rPr lang="en-US" sz="1800" b="1" dirty="0">
                <a:solidFill>
                  <a:srgbClr val="8FB8FF"/>
                </a:solidFill>
                <a:latin typeface="Courier New" pitchFamily="34" charset="0"/>
                <a:ea typeface="Courier New" pitchFamily="34" charset="-122"/>
                <a:cs typeface="Courier New" pitchFamily="34" charset="-120"/>
              </a:rPr>
              <a:t>def</a:t>
            </a:r>
            <a:r>
              <a:rPr lang="en-US" sz="1800" dirty="0">
                <a:solidFill>
                  <a:srgbClr val="E6ECF5"/>
                </a:solidFill>
                <a:latin typeface="Courier New" pitchFamily="34" charset="0"/>
                <a:ea typeface="Courier New" pitchFamily="34" charset="-122"/>
                <a:cs typeface="Courier New" pitchFamily="34" charset="-120"/>
              </a:rPr>
              <a:t> decode_row(clue):</a:t>
            </a:r>
            <a:endParaRPr lang="en-US" sz="1800" dirty="0"/>
          </a:p>
        </p:txBody>
      </p:sp>
      <p:sp>
        <p:nvSpPr>
          <p:cNvPr id="6" name="Text 4"/>
          <p:cNvSpPr txBox="1"/>
          <p:nvPr/>
        </p:nvSpPr>
        <p:spPr>
          <a:xfrm>
            <a:off x="640080" y="1655064"/>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2  </a:t>
            </a:r>
            <a:r>
              <a:rPr lang="en-US" sz="1800" dirty="0">
                <a:solidFill>
                  <a:srgbClr val="E6ECF5"/>
                </a:solidFill>
                <a:latin typeface="Courier New" pitchFamily="34" charset="0"/>
                <a:ea typeface="Courier New" pitchFamily="34" charset="-122"/>
                <a:cs typeface="Courier New" pitchFamily="34" charset="-120"/>
              </a:rPr>
              <a:t>    row = []</a:t>
            </a:r>
            <a:endParaRPr lang="en-US" sz="1800" dirty="0"/>
          </a:p>
        </p:txBody>
      </p:sp>
      <p:sp>
        <p:nvSpPr>
          <p:cNvPr id="7" name="Text 5"/>
          <p:cNvSpPr txBox="1"/>
          <p:nvPr/>
        </p:nvSpPr>
        <p:spPr>
          <a:xfrm>
            <a:off x="640080" y="1984248"/>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3  </a:t>
            </a:r>
            <a:r>
              <a:rPr lang="en-US" sz="1800" dirty="0">
                <a:solidFill>
                  <a:srgbClr val="E6ECF5"/>
                </a:solidFill>
                <a:latin typeface="Courier New" pitchFamily="34" charset="0"/>
                <a:ea typeface="Courier New" pitchFamily="34" charset="-122"/>
                <a:cs typeface="Courier New" pitchFamily="34" charset="-120"/>
              </a:rPr>
              <a:t>    colour = </a:t>
            </a:r>
            <a:r>
              <a:rPr lang="en-US" sz="1800" dirty="0">
                <a:solidFill>
                  <a:srgbClr val="F2C879"/>
                </a:solidFill>
                <a:latin typeface="Courier New" pitchFamily="34" charset="0"/>
                <a:ea typeface="Courier New" pitchFamily="34" charset="-122"/>
                <a:cs typeface="Courier New" pitchFamily="34" charset="-120"/>
              </a:rPr>
              <a:t>0</a:t>
            </a:r>
            <a:endParaRPr lang="en-US" sz="1800" dirty="0"/>
          </a:p>
        </p:txBody>
      </p:sp>
      <p:sp>
        <p:nvSpPr>
          <p:cNvPr id="8" name="Text 6"/>
          <p:cNvSpPr txBox="1"/>
          <p:nvPr/>
        </p:nvSpPr>
        <p:spPr>
          <a:xfrm>
            <a:off x="640080" y="2313432"/>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4  </a:t>
            </a:r>
            <a:r>
              <a:rPr lang="en-US" sz="1800" dirty="0">
                <a:solidFill>
                  <a:srgbClr val="E6ECF5"/>
                </a:solidFill>
                <a:latin typeface="Courier New" pitchFamily="34" charset="0"/>
                <a:ea typeface="Courier New" pitchFamily="34" charset="-122"/>
                <a:cs typeface="Courier New" pitchFamily="34" charset="-120"/>
              </a:rPr>
              <a:t>    </a:t>
            </a:r>
            <a:r>
              <a:rPr lang="en-US" sz="1800" i="1" dirty="0">
                <a:solidFill>
                  <a:srgbClr val="8EA3C0"/>
                </a:solidFill>
                <a:latin typeface="Courier New" pitchFamily="34" charset="0"/>
                <a:ea typeface="Courier New" pitchFamily="34" charset="-122"/>
                <a:cs typeface="Courier New" pitchFamily="34" charset="-120"/>
              </a:rPr>
              <a:t># for each number in the clue:</a:t>
            </a:r>
            <a:endParaRPr lang="en-US" sz="1800" dirty="0"/>
          </a:p>
        </p:txBody>
      </p:sp>
      <p:sp>
        <p:nvSpPr>
          <p:cNvPr id="9" name="Text 7"/>
          <p:cNvSpPr txBox="1"/>
          <p:nvPr/>
        </p:nvSpPr>
        <p:spPr>
          <a:xfrm>
            <a:off x="640080" y="2642616"/>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5  </a:t>
            </a:r>
            <a:r>
              <a:rPr lang="en-US" sz="1800" dirty="0">
                <a:solidFill>
                  <a:srgbClr val="E6ECF5"/>
                </a:solidFill>
                <a:latin typeface="Courier New" pitchFamily="34" charset="0"/>
                <a:ea typeface="Courier New" pitchFamily="34" charset="-122"/>
                <a:cs typeface="Courier New" pitchFamily="34" charset="-120"/>
              </a:rPr>
              <a:t>    </a:t>
            </a:r>
            <a:r>
              <a:rPr lang="en-US" sz="1800" i="1" dirty="0">
                <a:solidFill>
                  <a:srgbClr val="8EA3C0"/>
                </a:solidFill>
                <a:latin typeface="Courier New" pitchFamily="34" charset="0"/>
                <a:ea typeface="Courier New" pitchFamily="34" charset="-122"/>
                <a:cs typeface="Courier New" pitchFamily="34" charset="-120"/>
              </a:rPr>
              <a:t>#   add that many colour: a loop inside a loop</a:t>
            </a:r>
            <a:endParaRPr lang="en-US" sz="1800" dirty="0"/>
          </a:p>
        </p:txBody>
      </p:sp>
      <p:sp>
        <p:nvSpPr>
          <p:cNvPr id="10" name="Text 8"/>
          <p:cNvSpPr txBox="1"/>
          <p:nvPr/>
        </p:nvSpPr>
        <p:spPr>
          <a:xfrm>
            <a:off x="640080" y="2971800"/>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6  </a:t>
            </a:r>
            <a:r>
              <a:rPr lang="en-US" sz="1800" dirty="0">
                <a:solidFill>
                  <a:srgbClr val="E6ECF5"/>
                </a:solidFill>
                <a:latin typeface="Courier New" pitchFamily="34" charset="0"/>
                <a:ea typeface="Courier New" pitchFamily="34" charset="-122"/>
                <a:cs typeface="Courier New" pitchFamily="34" charset="-120"/>
              </a:rPr>
              <a:t>    </a:t>
            </a:r>
            <a:r>
              <a:rPr lang="en-US" sz="1800" i="1" dirty="0">
                <a:solidFill>
                  <a:srgbClr val="8EA3C0"/>
                </a:solidFill>
                <a:latin typeface="Courier New" pitchFamily="34" charset="0"/>
                <a:ea typeface="Courier New" pitchFamily="34" charset="-122"/>
                <a:cs typeface="Courier New" pitchFamily="34" charset="-120"/>
              </a:rPr>
              <a:t>#   swap colour: if / else, or colour = 1 - colour</a:t>
            </a:r>
            <a:endParaRPr lang="en-US" sz="1800" dirty="0"/>
          </a:p>
        </p:txBody>
      </p:sp>
      <p:sp>
        <p:nvSpPr>
          <p:cNvPr id="11" name="Text 9"/>
          <p:cNvSpPr txBox="1"/>
          <p:nvPr/>
        </p:nvSpPr>
        <p:spPr>
          <a:xfrm>
            <a:off x="640080" y="3300984"/>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7  </a:t>
            </a:r>
            <a:r>
              <a:rPr lang="en-US" sz="1800" dirty="0">
                <a:solidFill>
                  <a:srgbClr val="E6ECF5"/>
                </a:solidFill>
                <a:latin typeface="Courier New" pitchFamily="34" charset="0"/>
                <a:ea typeface="Courier New" pitchFamily="34" charset="-122"/>
                <a:cs typeface="Courier New" pitchFamily="34" charset="-120"/>
              </a:rPr>
              <a:t>    </a:t>
            </a:r>
            <a:r>
              <a:rPr lang="en-US" sz="1800" b="1" dirty="0">
                <a:solidFill>
                  <a:srgbClr val="8FB8FF"/>
                </a:solidFill>
                <a:latin typeface="Courier New" pitchFamily="34" charset="0"/>
                <a:ea typeface="Courier New" pitchFamily="34" charset="-122"/>
                <a:cs typeface="Courier New" pitchFamily="34" charset="-120"/>
              </a:rPr>
              <a:t>return</a:t>
            </a:r>
            <a:r>
              <a:rPr lang="en-US" sz="1800" dirty="0">
                <a:solidFill>
                  <a:srgbClr val="E6ECF5"/>
                </a:solidFill>
                <a:latin typeface="Courier New" pitchFamily="34" charset="0"/>
                <a:ea typeface="Courier New" pitchFamily="34" charset="-122"/>
                <a:cs typeface="Courier New" pitchFamily="34" charset="-120"/>
              </a:rPr>
              <a:t> row</a:t>
            </a:r>
            <a:endParaRPr lang="en-US" sz="18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49</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Test It</a:t>
            </a:r>
            <a:endParaRPr lang="en-US" sz="3000" dirty="0"/>
          </a:p>
        </p:txBody>
      </p:sp>
      <p:sp>
        <p:nvSpPr>
          <p:cNvPr id="3" name="Code box"/>
          <p:cNvSpPr/>
          <p:nvPr/>
        </p:nvSpPr>
        <p:spPr>
          <a:xfrm>
            <a:off x="457200" y="1280160"/>
            <a:ext cx="8229600" cy="676656"/>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280160"/>
            <a:ext cx="54864" cy="676656"/>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417320"/>
            <a:ext cx="7955280" cy="402336"/>
          </a:xfrm>
          <a:prstGeom prst="rect">
            <a:avLst/>
          </a:prstGeom>
          <a:noFill/>
          <a:ln/>
        </p:spPr>
        <p:txBody>
          <a:bodyPr wrap="non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 1  </a:t>
            </a:r>
            <a:r>
              <a:rPr lang="en-US" sz="2200" dirty="0">
                <a:solidFill>
                  <a:srgbClr val="E6ECF5"/>
                </a:solidFill>
                <a:latin typeface="Courier New" pitchFamily="34" charset="0"/>
                <a:ea typeface="Courier New" pitchFamily="34" charset="-122"/>
                <a:cs typeface="Courier New" pitchFamily="34" charset="-120"/>
              </a:rPr>
              <a:t>print(decode_row([</a:t>
            </a:r>
            <a:r>
              <a:rPr lang="en-US" sz="2200" dirty="0">
                <a:solidFill>
                  <a:srgbClr val="F2C879"/>
                </a:solidFill>
                <a:latin typeface="Courier New" pitchFamily="34" charset="0"/>
                <a:ea typeface="Courier New" pitchFamily="34" charset="-122"/>
                <a:cs typeface="Courier New" pitchFamily="34" charset="-120"/>
              </a:rPr>
              <a:t>2</a:t>
            </a:r>
            <a:r>
              <a:rPr lang="en-US" sz="2200" dirty="0">
                <a:solidFill>
                  <a:srgbClr val="E6ECF5"/>
                </a:solidFill>
                <a:latin typeface="Courier New" pitchFamily="34" charset="0"/>
                <a:ea typeface="Courier New" pitchFamily="34" charset="-122"/>
                <a:cs typeface="Courier New" pitchFamily="34" charset="-120"/>
              </a:rPr>
              <a:t>, </a:t>
            </a:r>
            <a:r>
              <a:rPr lang="en-US" sz="2200" dirty="0">
                <a:solidFill>
                  <a:srgbClr val="F2C879"/>
                </a:solidFill>
                <a:latin typeface="Courier New" pitchFamily="34" charset="0"/>
                <a:ea typeface="Courier New" pitchFamily="34" charset="-122"/>
                <a:cs typeface="Courier New" pitchFamily="34" charset="-120"/>
              </a:rPr>
              <a:t>7</a:t>
            </a:r>
            <a:r>
              <a:rPr lang="en-US" sz="2200" dirty="0">
                <a:solidFill>
                  <a:srgbClr val="E6ECF5"/>
                </a:solidFill>
                <a:latin typeface="Courier New" pitchFamily="34" charset="0"/>
                <a:ea typeface="Courier New" pitchFamily="34" charset="-122"/>
                <a:cs typeface="Courier New" pitchFamily="34" charset="-120"/>
              </a:rPr>
              <a:t>, </a:t>
            </a:r>
            <a:r>
              <a:rPr lang="en-US" sz="2200" dirty="0">
                <a:solidFill>
                  <a:srgbClr val="F2C879"/>
                </a:solidFill>
                <a:latin typeface="Courier New" pitchFamily="34" charset="0"/>
                <a:ea typeface="Courier New" pitchFamily="34" charset="-122"/>
                <a:cs typeface="Courier New" pitchFamily="34" charset="-120"/>
              </a:rPr>
              <a:t>3</a:t>
            </a:r>
            <a:r>
              <a:rPr lang="en-US" sz="2200" dirty="0">
                <a:solidFill>
                  <a:srgbClr val="E6ECF5"/>
                </a:solidFill>
                <a:latin typeface="Courier New" pitchFamily="34" charset="0"/>
                <a:ea typeface="Courier New" pitchFamily="34" charset="-122"/>
                <a:cs typeface="Courier New" pitchFamily="34" charset="-120"/>
              </a:rPr>
              <a:t>]))</a:t>
            </a:r>
            <a:endParaRPr lang="en-US" sz="2200" dirty="0"/>
          </a:p>
        </p:txBody>
      </p:sp>
      <p:sp>
        <p:nvSpPr>
          <p:cNvPr id="6" name="@1 Code box"/>
          <p:cNvSpPr/>
          <p:nvPr/>
        </p:nvSpPr>
        <p:spPr>
          <a:xfrm>
            <a:off x="457200" y="2377440"/>
            <a:ext cx="8229600" cy="640080"/>
          </a:xfrm>
          <a:prstGeom prst="rect">
            <a:avLst/>
          </a:prstGeom>
          <a:solidFill>
            <a:srgbClr val="0B2A57"/>
          </a:solidFill>
          <a:ln w="12700">
            <a:solidFill>
              <a:srgbClr val="0B2A57"/>
            </a:solidFill>
            <a:prstDash val="solid"/>
          </a:ln>
        </p:spPr>
        <p:txBody>
          <a:bodyPr/>
          <a:lstStyle/>
          <a:p>
            <a:endParaRPr lang="en-GB"/>
          </a:p>
        </p:txBody>
      </p:sp>
      <p:sp>
        <p:nvSpPr>
          <p:cNvPr id="7" name="@1 Code bar"/>
          <p:cNvSpPr/>
          <p:nvPr/>
        </p:nvSpPr>
        <p:spPr>
          <a:xfrm>
            <a:off x="457200" y="2377440"/>
            <a:ext cx="54864" cy="640080"/>
          </a:xfrm>
          <a:prstGeom prst="rect">
            <a:avLst/>
          </a:prstGeom>
          <a:solidFill>
            <a:srgbClr val="5D79A0"/>
          </a:solidFill>
          <a:ln w="12700">
            <a:solidFill>
              <a:srgbClr val="5D79A0"/>
            </a:solidFill>
            <a:prstDash val="solid"/>
          </a:ln>
        </p:spPr>
        <p:txBody>
          <a:bodyPr/>
          <a:lstStyle/>
          <a:p>
            <a:endParaRPr lang="en-GB"/>
          </a:p>
        </p:txBody>
      </p:sp>
      <p:sp>
        <p:nvSpPr>
          <p:cNvPr id="8" name="@1 addText"/>
          <p:cNvSpPr txBox="1"/>
          <p:nvPr/>
        </p:nvSpPr>
        <p:spPr>
          <a:xfrm>
            <a:off x="640080" y="2514600"/>
            <a:ext cx="7955280" cy="365760"/>
          </a:xfrm>
          <a:prstGeom prst="rect">
            <a:avLst/>
          </a:prstGeom>
          <a:noFill/>
          <a:ln/>
        </p:spPr>
        <p:txBody>
          <a:bodyPr wrap="none" lIns="0" tIns="0" rIns="0" bIns="0" rtlCol="0" anchor="ctr"/>
          <a:lstStyle/>
          <a:p>
            <a:pPr marL="0" indent="0">
              <a:buNone/>
            </a:pPr>
            <a:r>
              <a:rPr lang="en-US" sz="2000" b="1" dirty="0">
                <a:solidFill>
                  <a:srgbClr val="F2C879"/>
                </a:solidFill>
                <a:latin typeface="Courier New" pitchFamily="34" charset="0"/>
                <a:ea typeface="Courier New" pitchFamily="34" charset="-122"/>
                <a:cs typeface="Courier New" pitchFamily="34" charset="-120"/>
              </a:rPr>
              <a:t>[0, 0, 1, 1, 1, 1, 1, 1, 1, 0, 0, 0]</a:t>
            </a:r>
            <a:endParaRPr lang="en-US" sz="2000" dirty="0"/>
          </a:p>
        </p:txBody>
      </p:sp>
      <p:sp>
        <p:nvSpPr>
          <p:cNvPr id="9" name="@1 addText"/>
          <p:cNvSpPr txBox="1"/>
          <p:nvPr/>
        </p:nvSpPr>
        <p:spPr>
          <a:xfrm>
            <a:off x="457200" y="338328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if yours matches, it works</a:t>
            </a:r>
            <a:endParaRPr lang="en-US" sz="1400" dirty="0"/>
          </a:p>
        </p:txBody>
      </p:sp>
      <p:sp>
        <p:nvSpPr>
          <p:cNvPr id="10"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Write decode_row</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TASK 2</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Finish decode_row and test it on [2, 7, 3]. Booklet page 9.</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15 min</a:t>
            </a:r>
            <a:endParaRPr lang="en-US" sz="2000" dirty="0"/>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2: decode_row (solution)</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36</a:t>
            </a:fld>
            <a:endParaRPr lang="en-US"/>
          </a:p>
        </p:txBody>
      </p:sp>
      <p:sp>
        <p:nvSpPr>
          <p:cNvPr id="6" name="Code box"/>
          <p:cNvSpPr/>
          <p:nvPr/>
        </p:nvSpPr>
        <p:spPr>
          <a:xfrm>
            <a:off x="457200" y="1097280"/>
            <a:ext cx="8229600" cy="3493008"/>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de bar"/>
          <p:cNvSpPr/>
          <p:nvPr/>
        </p:nvSpPr>
        <p:spPr>
          <a:xfrm>
            <a:off x="457200" y="1097280"/>
            <a:ext cx="54864" cy="3493008"/>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 line"/>
          <p:cNvSpPr txBox="1"/>
          <p:nvPr/>
        </p:nvSpPr>
        <p:spPr>
          <a:xfrm>
            <a:off x="640080" y="1234439"/>
            <a:ext cx="7955279" cy="292608"/>
          </a:xfrm>
          <a:prstGeom prst="rect">
            <a:avLst/>
          </a:prstGeom>
          <a:noFill/>
        </p:spPr>
        <p:txBody>
          <a:bodyPr wrap="square" lIns="0" rIns="0" tIns="0" bIns="0" anchor="ctr">
            <a:spAutoFit/>
          </a:bodyPr>
          <a:lstStyle/>
          <a:p>
            <a:pPr algn="l"/>
            <a:r>
              <a:rPr sz="1600" b="1" i="0">
                <a:solidFill>
                  <a:srgbClr val="8FB8FF"/>
                </a:solidFill>
                <a:latin typeface="Courier New"/>
              </a:rPr>
              <a:t>def</a:t>
            </a:r>
            <a:r>
              <a:rPr sz="1600" b="0" i="0">
                <a:solidFill>
                  <a:srgbClr val="E6ECF5"/>
                </a:solidFill>
                <a:latin typeface="Courier New"/>
              </a:rPr>
              <a:t> </a:t>
            </a:r>
            <a:r>
              <a:rPr sz="1600" b="0" i="0">
                <a:solidFill>
                  <a:srgbClr val="E6ECF5"/>
                </a:solidFill>
                <a:latin typeface="Courier New"/>
              </a:rPr>
              <a:t>decode_row</a:t>
            </a:r>
            <a:r>
              <a:rPr sz="1600" b="0" i="0">
                <a:solidFill>
                  <a:srgbClr val="E6ECF5"/>
                </a:solidFill>
                <a:latin typeface="Courier New"/>
              </a:rPr>
              <a:t>(</a:t>
            </a:r>
            <a:r>
              <a:rPr sz="1600" b="0" i="0">
                <a:solidFill>
                  <a:srgbClr val="E6ECF5"/>
                </a:solidFill>
                <a:latin typeface="Courier New"/>
              </a:rPr>
              <a:t>clue</a:t>
            </a:r>
            <a:r>
              <a:rPr sz="1600" b="0" i="0">
                <a:solidFill>
                  <a:srgbClr val="E6ECF5"/>
                </a:solidFill>
                <a:latin typeface="Courier New"/>
              </a:rPr>
              <a:t>)</a:t>
            </a:r>
            <a:r>
              <a:rPr sz="1600" b="0" i="0">
                <a:solidFill>
                  <a:srgbClr val="E6ECF5"/>
                </a:solidFill>
                <a:latin typeface="Courier New"/>
              </a:rPr>
              <a:t>:</a:t>
            </a:r>
          </a:p>
        </p:txBody>
      </p:sp>
      <p:sp>
        <p:nvSpPr>
          <p:cNvPr id="9" name="Code line"/>
          <p:cNvSpPr txBox="1"/>
          <p:nvPr/>
        </p:nvSpPr>
        <p:spPr>
          <a:xfrm>
            <a:off x="640080" y="1527048"/>
            <a:ext cx="7955279" cy="292608"/>
          </a:xfrm>
          <a:prstGeom prst="rect">
            <a:avLst/>
          </a:prstGeom>
          <a:noFill/>
        </p:spPr>
        <p:txBody>
          <a:bodyPr wrap="square" lIns="0" rIns="0" tIns="0" bIns="0" anchor="ctr">
            <a:spAutoFit/>
          </a:bodyPr>
          <a:lstStyle/>
          <a:p>
            <a:pPr algn="l"/>
            <a:r>
              <a:rPr sz="1600" b="0" i="0">
                <a:solidFill>
                  <a:srgbClr val="E6ECF5"/>
                </a:solidFill>
                <a:latin typeface="Courier New"/>
              </a:rPr>
              <a:t>    </a:t>
            </a:r>
            <a:r>
              <a:rPr sz="1600" b="0" i="0">
                <a:solidFill>
                  <a:srgbClr val="E6ECF5"/>
                </a:solidFill>
                <a:latin typeface="Courier New"/>
              </a:rPr>
              <a:t>row</a:t>
            </a:r>
            <a:r>
              <a:rPr sz="1600" b="0" i="0">
                <a:solidFill>
                  <a:srgbClr val="E6ECF5"/>
                </a:solidFill>
                <a:latin typeface="Courier New"/>
              </a:rPr>
              <a:t> </a:t>
            </a:r>
            <a:r>
              <a:rPr sz="1600" b="0" i="0">
                <a:solidFill>
                  <a:srgbClr val="E6ECF5"/>
                </a:solidFill>
                <a:latin typeface="Courier New"/>
              </a:rPr>
              <a:t>=</a:t>
            </a:r>
            <a:r>
              <a:rPr sz="1600" b="0" i="0">
                <a:solidFill>
                  <a:srgbClr val="E6ECF5"/>
                </a:solidFill>
                <a:latin typeface="Courier New"/>
              </a:rPr>
              <a:t> </a:t>
            </a:r>
            <a:r>
              <a:rPr sz="1600" b="0" i="0">
                <a:solidFill>
                  <a:srgbClr val="E6ECF5"/>
                </a:solidFill>
                <a:latin typeface="Courier New"/>
              </a:rPr>
              <a:t>[</a:t>
            </a:r>
            <a:r>
              <a:rPr sz="1600" b="0" i="0">
                <a:solidFill>
                  <a:srgbClr val="E6ECF5"/>
                </a:solidFill>
                <a:latin typeface="Courier New"/>
              </a:rPr>
              <a:t>]</a:t>
            </a:r>
          </a:p>
        </p:txBody>
      </p:sp>
      <p:sp>
        <p:nvSpPr>
          <p:cNvPr id="10" name="Code line"/>
          <p:cNvSpPr txBox="1"/>
          <p:nvPr/>
        </p:nvSpPr>
        <p:spPr>
          <a:xfrm>
            <a:off x="640080" y="1819655"/>
            <a:ext cx="7955279" cy="292608"/>
          </a:xfrm>
          <a:prstGeom prst="rect">
            <a:avLst/>
          </a:prstGeom>
          <a:noFill/>
        </p:spPr>
        <p:txBody>
          <a:bodyPr wrap="square" lIns="0" rIns="0" tIns="0" bIns="0" anchor="ctr">
            <a:spAutoFit/>
          </a:bodyPr>
          <a:lstStyle/>
          <a:p>
            <a:pPr algn="l"/>
            <a:r>
              <a:rPr sz="1600" b="0" i="0">
                <a:solidFill>
                  <a:srgbClr val="E6ECF5"/>
                </a:solidFill>
                <a:latin typeface="Courier New"/>
              </a:rPr>
              <a:t>    </a:t>
            </a:r>
            <a:r>
              <a:rPr sz="1600" b="0" i="0">
                <a:solidFill>
                  <a:srgbClr val="E6ECF5"/>
                </a:solidFill>
                <a:latin typeface="Courier New"/>
              </a:rPr>
              <a:t>colour</a:t>
            </a:r>
            <a:r>
              <a:rPr sz="1600" b="0" i="0">
                <a:solidFill>
                  <a:srgbClr val="E6ECF5"/>
                </a:solidFill>
                <a:latin typeface="Courier New"/>
              </a:rPr>
              <a:t> </a:t>
            </a:r>
            <a:r>
              <a:rPr sz="1600" b="0" i="0">
                <a:solidFill>
                  <a:srgbClr val="E6ECF5"/>
                </a:solidFill>
                <a:latin typeface="Courier New"/>
              </a:rPr>
              <a:t>=</a:t>
            </a:r>
            <a:r>
              <a:rPr sz="1600" b="0" i="0">
                <a:solidFill>
                  <a:srgbClr val="E6ECF5"/>
                </a:solidFill>
                <a:latin typeface="Courier New"/>
              </a:rPr>
              <a:t> </a:t>
            </a:r>
            <a:r>
              <a:rPr sz="1600" b="0" i="0">
                <a:solidFill>
                  <a:srgbClr val="F2C879"/>
                </a:solidFill>
                <a:latin typeface="Courier New"/>
              </a:rPr>
              <a:t>0</a:t>
            </a:r>
          </a:p>
        </p:txBody>
      </p:sp>
      <p:sp>
        <p:nvSpPr>
          <p:cNvPr id="11" name="Code line"/>
          <p:cNvSpPr txBox="1"/>
          <p:nvPr/>
        </p:nvSpPr>
        <p:spPr>
          <a:xfrm>
            <a:off x="640080" y="2112263"/>
            <a:ext cx="7955279" cy="292608"/>
          </a:xfrm>
          <a:prstGeom prst="rect">
            <a:avLst/>
          </a:prstGeom>
          <a:noFill/>
        </p:spPr>
        <p:txBody>
          <a:bodyPr wrap="square" lIns="0" rIns="0" tIns="0" bIns="0" anchor="ctr">
            <a:spAutoFit/>
          </a:bodyPr>
          <a:lstStyle/>
          <a:p>
            <a:pPr algn="l"/>
            <a:r>
              <a:rPr sz="1600" b="0" i="0">
                <a:solidFill>
                  <a:srgbClr val="E6ECF5"/>
                </a:solidFill>
                <a:latin typeface="Courier New"/>
              </a:rPr>
              <a:t>    </a:t>
            </a:r>
            <a:r>
              <a:rPr sz="1600" b="1" i="0">
                <a:solidFill>
                  <a:srgbClr val="8FB8FF"/>
                </a:solidFill>
                <a:latin typeface="Courier New"/>
              </a:rPr>
              <a:t>for</a:t>
            </a:r>
            <a:r>
              <a:rPr sz="1600" b="0" i="0">
                <a:solidFill>
                  <a:srgbClr val="E6ECF5"/>
                </a:solidFill>
                <a:latin typeface="Courier New"/>
              </a:rPr>
              <a:t> </a:t>
            </a:r>
            <a:r>
              <a:rPr sz="1600" b="0" i="0">
                <a:solidFill>
                  <a:srgbClr val="E6ECF5"/>
                </a:solidFill>
                <a:latin typeface="Courier New"/>
              </a:rPr>
              <a:t>number</a:t>
            </a:r>
            <a:r>
              <a:rPr sz="1600" b="0" i="0">
                <a:solidFill>
                  <a:srgbClr val="E6ECF5"/>
                </a:solidFill>
                <a:latin typeface="Courier New"/>
              </a:rPr>
              <a:t> </a:t>
            </a:r>
            <a:r>
              <a:rPr sz="1600" b="1" i="0">
                <a:solidFill>
                  <a:srgbClr val="8FB8FF"/>
                </a:solidFill>
                <a:latin typeface="Courier New"/>
              </a:rPr>
              <a:t>in</a:t>
            </a:r>
            <a:r>
              <a:rPr sz="1600" b="0" i="0">
                <a:solidFill>
                  <a:srgbClr val="E6ECF5"/>
                </a:solidFill>
                <a:latin typeface="Courier New"/>
              </a:rPr>
              <a:t> </a:t>
            </a:r>
            <a:r>
              <a:rPr sz="1600" b="0" i="0">
                <a:solidFill>
                  <a:srgbClr val="E6ECF5"/>
                </a:solidFill>
                <a:latin typeface="Courier New"/>
              </a:rPr>
              <a:t>clue</a:t>
            </a:r>
            <a:r>
              <a:rPr sz="1600" b="0" i="0">
                <a:solidFill>
                  <a:srgbClr val="E6ECF5"/>
                </a:solidFill>
                <a:latin typeface="Courier New"/>
              </a:rPr>
              <a:t>:</a:t>
            </a:r>
          </a:p>
        </p:txBody>
      </p:sp>
      <p:sp>
        <p:nvSpPr>
          <p:cNvPr id="12" name="Code line"/>
          <p:cNvSpPr txBox="1"/>
          <p:nvPr/>
        </p:nvSpPr>
        <p:spPr>
          <a:xfrm>
            <a:off x="640080" y="2404872"/>
            <a:ext cx="7955279" cy="292608"/>
          </a:xfrm>
          <a:prstGeom prst="rect">
            <a:avLst/>
          </a:prstGeom>
          <a:noFill/>
        </p:spPr>
        <p:txBody>
          <a:bodyPr wrap="square" lIns="0" rIns="0" tIns="0" bIns="0" anchor="ctr">
            <a:spAutoFit/>
          </a:bodyPr>
          <a:lstStyle/>
          <a:p>
            <a:pPr algn="l"/>
            <a:r>
              <a:rPr sz="1600" b="0" i="0">
                <a:solidFill>
                  <a:srgbClr val="E6ECF5"/>
                </a:solidFill>
                <a:latin typeface="Courier New"/>
              </a:rPr>
              <a:t>        </a:t>
            </a:r>
            <a:r>
              <a:rPr sz="1600" b="1" i="0">
                <a:solidFill>
                  <a:srgbClr val="8FB8FF"/>
                </a:solidFill>
                <a:latin typeface="Courier New"/>
              </a:rPr>
              <a:t>for</a:t>
            </a:r>
            <a:r>
              <a:rPr sz="1600" b="0" i="0">
                <a:solidFill>
                  <a:srgbClr val="E6ECF5"/>
                </a:solidFill>
                <a:latin typeface="Courier New"/>
              </a:rPr>
              <a:t> </a:t>
            </a:r>
            <a:r>
              <a:rPr sz="1600" b="0" i="0">
                <a:solidFill>
                  <a:srgbClr val="E6ECF5"/>
                </a:solidFill>
                <a:latin typeface="Courier New"/>
              </a:rPr>
              <a:t>i</a:t>
            </a:r>
            <a:r>
              <a:rPr sz="1600" b="0" i="0">
                <a:solidFill>
                  <a:srgbClr val="E6ECF5"/>
                </a:solidFill>
                <a:latin typeface="Courier New"/>
              </a:rPr>
              <a:t> </a:t>
            </a:r>
            <a:r>
              <a:rPr sz="1600" b="1" i="0">
                <a:solidFill>
                  <a:srgbClr val="8FB8FF"/>
                </a:solidFill>
                <a:latin typeface="Courier New"/>
              </a:rPr>
              <a:t>in</a:t>
            </a:r>
            <a:r>
              <a:rPr sz="1600" b="0" i="0">
                <a:solidFill>
                  <a:srgbClr val="E6ECF5"/>
                </a:solidFill>
                <a:latin typeface="Courier New"/>
              </a:rPr>
              <a:t> </a:t>
            </a:r>
            <a:r>
              <a:rPr sz="1600" b="1" i="0">
                <a:solidFill>
                  <a:srgbClr val="8FB8FF"/>
                </a:solidFill>
                <a:latin typeface="Courier New"/>
              </a:rPr>
              <a:t>range</a:t>
            </a:r>
            <a:r>
              <a:rPr sz="1600" b="0" i="0">
                <a:solidFill>
                  <a:srgbClr val="E6ECF5"/>
                </a:solidFill>
                <a:latin typeface="Courier New"/>
              </a:rPr>
              <a:t>(</a:t>
            </a:r>
            <a:r>
              <a:rPr sz="1600" b="0" i="0">
                <a:solidFill>
                  <a:srgbClr val="E6ECF5"/>
                </a:solidFill>
                <a:latin typeface="Courier New"/>
              </a:rPr>
              <a:t>number</a:t>
            </a:r>
            <a:r>
              <a:rPr sz="1600" b="0" i="0">
                <a:solidFill>
                  <a:srgbClr val="E6ECF5"/>
                </a:solidFill>
                <a:latin typeface="Courier New"/>
              </a:rPr>
              <a:t>)</a:t>
            </a:r>
            <a:r>
              <a:rPr sz="1600" b="0" i="0">
                <a:solidFill>
                  <a:srgbClr val="E6ECF5"/>
                </a:solidFill>
                <a:latin typeface="Courier New"/>
              </a:rPr>
              <a:t>:</a:t>
            </a:r>
          </a:p>
        </p:txBody>
      </p:sp>
      <p:sp>
        <p:nvSpPr>
          <p:cNvPr id="13" name="Code line"/>
          <p:cNvSpPr txBox="1"/>
          <p:nvPr/>
        </p:nvSpPr>
        <p:spPr>
          <a:xfrm>
            <a:off x="640080" y="2697480"/>
            <a:ext cx="7955279" cy="292608"/>
          </a:xfrm>
          <a:prstGeom prst="rect">
            <a:avLst/>
          </a:prstGeom>
          <a:noFill/>
        </p:spPr>
        <p:txBody>
          <a:bodyPr wrap="square" lIns="0" rIns="0" tIns="0" bIns="0" anchor="ctr">
            <a:spAutoFit/>
          </a:bodyPr>
          <a:lstStyle/>
          <a:p>
            <a:pPr algn="l"/>
            <a:r>
              <a:rPr sz="1600" b="0" i="0">
                <a:solidFill>
                  <a:srgbClr val="E6ECF5"/>
                </a:solidFill>
                <a:latin typeface="Courier New"/>
              </a:rPr>
              <a:t>            </a:t>
            </a:r>
            <a:r>
              <a:rPr sz="1600" b="0" i="0">
                <a:solidFill>
                  <a:srgbClr val="E6ECF5"/>
                </a:solidFill>
                <a:latin typeface="Courier New"/>
              </a:rPr>
              <a:t>row</a:t>
            </a:r>
            <a:r>
              <a:rPr sz="1600" b="0" i="0">
                <a:solidFill>
                  <a:srgbClr val="E6ECF5"/>
                </a:solidFill>
                <a:latin typeface="Courier New"/>
              </a:rPr>
              <a:t>.</a:t>
            </a:r>
            <a:r>
              <a:rPr sz="1600" b="0" i="0">
                <a:solidFill>
                  <a:srgbClr val="E6ECF5"/>
                </a:solidFill>
                <a:latin typeface="Courier New"/>
              </a:rPr>
              <a:t>append</a:t>
            </a:r>
            <a:r>
              <a:rPr sz="1600" b="0" i="0">
                <a:solidFill>
                  <a:srgbClr val="E6ECF5"/>
                </a:solidFill>
                <a:latin typeface="Courier New"/>
              </a:rPr>
              <a:t>(</a:t>
            </a:r>
            <a:r>
              <a:rPr sz="1600" b="0" i="0">
                <a:solidFill>
                  <a:srgbClr val="E6ECF5"/>
                </a:solidFill>
                <a:latin typeface="Courier New"/>
              </a:rPr>
              <a:t>colour</a:t>
            </a:r>
            <a:r>
              <a:rPr sz="1600" b="0" i="0">
                <a:solidFill>
                  <a:srgbClr val="E6ECF5"/>
                </a:solidFill>
                <a:latin typeface="Courier New"/>
              </a:rPr>
              <a:t>)</a:t>
            </a:r>
          </a:p>
        </p:txBody>
      </p:sp>
      <p:sp>
        <p:nvSpPr>
          <p:cNvPr id="14" name="Code line"/>
          <p:cNvSpPr txBox="1"/>
          <p:nvPr/>
        </p:nvSpPr>
        <p:spPr>
          <a:xfrm>
            <a:off x="640080" y="2990087"/>
            <a:ext cx="7955279" cy="292608"/>
          </a:xfrm>
          <a:prstGeom prst="rect">
            <a:avLst/>
          </a:prstGeom>
          <a:noFill/>
        </p:spPr>
        <p:txBody>
          <a:bodyPr wrap="square" lIns="0" rIns="0" tIns="0" bIns="0" anchor="ctr">
            <a:spAutoFit/>
          </a:bodyPr>
          <a:lstStyle/>
          <a:p>
            <a:pPr algn="l"/>
            <a:r>
              <a:rPr sz="1600" b="0" i="0">
                <a:solidFill>
                  <a:srgbClr val="E6ECF5"/>
                </a:solidFill>
                <a:latin typeface="Courier New"/>
              </a:rPr>
              <a:t>        </a:t>
            </a:r>
            <a:r>
              <a:rPr sz="1600" b="0" i="0">
                <a:solidFill>
                  <a:srgbClr val="E6ECF5"/>
                </a:solidFill>
                <a:latin typeface="Courier New"/>
              </a:rPr>
              <a:t>colour</a:t>
            </a:r>
            <a:r>
              <a:rPr sz="1600" b="0" i="0">
                <a:solidFill>
                  <a:srgbClr val="E6ECF5"/>
                </a:solidFill>
                <a:latin typeface="Courier New"/>
              </a:rPr>
              <a:t> </a:t>
            </a:r>
            <a:r>
              <a:rPr sz="1600" b="0" i="0">
                <a:solidFill>
                  <a:srgbClr val="E6ECF5"/>
                </a:solidFill>
                <a:latin typeface="Courier New"/>
              </a:rPr>
              <a:t>=</a:t>
            </a:r>
            <a:r>
              <a:rPr sz="1600" b="0" i="0">
                <a:solidFill>
                  <a:srgbClr val="E6ECF5"/>
                </a:solidFill>
                <a:latin typeface="Courier New"/>
              </a:rPr>
              <a:t> </a:t>
            </a:r>
            <a:r>
              <a:rPr sz="1600" b="0" i="0">
                <a:solidFill>
                  <a:srgbClr val="F2C879"/>
                </a:solidFill>
                <a:latin typeface="Courier New"/>
              </a:rPr>
              <a:t>1</a:t>
            </a:r>
            <a:r>
              <a:rPr sz="1600" b="0" i="0">
                <a:solidFill>
                  <a:srgbClr val="E6ECF5"/>
                </a:solidFill>
                <a:latin typeface="Courier New"/>
              </a:rPr>
              <a:t> </a:t>
            </a:r>
            <a:r>
              <a:rPr sz="1600" b="0" i="0">
                <a:solidFill>
                  <a:srgbClr val="E6ECF5"/>
                </a:solidFill>
                <a:latin typeface="Courier New"/>
              </a:rPr>
              <a:t>-</a:t>
            </a:r>
            <a:r>
              <a:rPr sz="1600" b="0" i="0">
                <a:solidFill>
                  <a:srgbClr val="E6ECF5"/>
                </a:solidFill>
                <a:latin typeface="Courier New"/>
              </a:rPr>
              <a:t> </a:t>
            </a:r>
            <a:r>
              <a:rPr sz="1600" b="0" i="0">
                <a:solidFill>
                  <a:srgbClr val="E6ECF5"/>
                </a:solidFill>
                <a:latin typeface="Courier New"/>
              </a:rPr>
              <a:t>colour</a:t>
            </a:r>
            <a:r>
              <a:rPr sz="1600" b="0" i="0">
                <a:solidFill>
                  <a:srgbClr val="E6ECF5"/>
                </a:solidFill>
                <a:latin typeface="Courier New"/>
              </a:rPr>
              <a:t>   </a:t>
            </a:r>
            <a:r>
              <a:rPr sz="1600" b="0" i="0">
                <a:solidFill>
                  <a:srgbClr val="8EA3C0"/>
                </a:solidFill>
                <a:latin typeface="Courier New"/>
              </a:rPr>
              <a:t># or if / else</a:t>
            </a:r>
          </a:p>
        </p:txBody>
      </p:sp>
      <p:sp>
        <p:nvSpPr>
          <p:cNvPr id="15" name="Code line"/>
          <p:cNvSpPr txBox="1"/>
          <p:nvPr/>
        </p:nvSpPr>
        <p:spPr>
          <a:xfrm>
            <a:off x="640080" y="3282696"/>
            <a:ext cx="7955279" cy="292608"/>
          </a:xfrm>
          <a:prstGeom prst="rect">
            <a:avLst/>
          </a:prstGeom>
          <a:noFill/>
        </p:spPr>
        <p:txBody>
          <a:bodyPr wrap="square" lIns="0" rIns="0" tIns="0" bIns="0" anchor="ctr">
            <a:spAutoFit/>
          </a:bodyPr>
          <a:lstStyle/>
          <a:p>
            <a:pPr algn="l"/>
            <a:r>
              <a:rPr sz="1600" b="0" i="0">
                <a:solidFill>
                  <a:srgbClr val="E6ECF5"/>
                </a:solidFill>
                <a:latin typeface="Courier New"/>
              </a:rPr>
              <a:t>    </a:t>
            </a:r>
            <a:r>
              <a:rPr sz="1600" b="1" i="0">
                <a:solidFill>
                  <a:srgbClr val="8FB8FF"/>
                </a:solidFill>
                <a:latin typeface="Courier New"/>
              </a:rPr>
              <a:t>return</a:t>
            </a:r>
            <a:r>
              <a:rPr sz="1600" b="0" i="0">
                <a:solidFill>
                  <a:srgbClr val="E6ECF5"/>
                </a:solidFill>
                <a:latin typeface="Courier New"/>
              </a:rPr>
              <a:t> </a:t>
            </a:r>
            <a:r>
              <a:rPr sz="1600" b="0" i="0">
                <a:solidFill>
                  <a:srgbClr val="E6ECF5"/>
                </a:solidFill>
                <a:latin typeface="Courier New"/>
              </a:rPr>
              <a:t>row</a:t>
            </a:r>
          </a:p>
        </p:txBody>
      </p:sp>
      <p:sp>
        <p:nvSpPr>
          <p:cNvPr id="16" name="Code line"/>
          <p:cNvSpPr txBox="1"/>
          <p:nvPr/>
        </p:nvSpPr>
        <p:spPr>
          <a:xfrm>
            <a:off x="640080" y="3867911"/>
            <a:ext cx="7955279" cy="292608"/>
          </a:xfrm>
          <a:prstGeom prst="rect">
            <a:avLst/>
          </a:prstGeom>
          <a:noFill/>
        </p:spPr>
        <p:txBody>
          <a:bodyPr wrap="square" lIns="0" rIns="0" tIns="0" bIns="0" anchor="ctr">
            <a:spAutoFit/>
          </a:bodyPr>
          <a:lstStyle/>
          <a:p>
            <a:pPr algn="l"/>
            <a:r>
              <a:rPr sz="1600" b="0" i="0">
                <a:solidFill>
                  <a:srgbClr val="E6ECF5"/>
                </a:solidFill>
                <a:latin typeface="Courier New"/>
              </a:rPr>
              <a:t>print</a:t>
            </a:r>
            <a:r>
              <a:rPr sz="1600" b="0" i="0">
                <a:solidFill>
                  <a:srgbClr val="E6ECF5"/>
                </a:solidFill>
                <a:latin typeface="Courier New"/>
              </a:rPr>
              <a:t>(</a:t>
            </a:r>
            <a:r>
              <a:rPr sz="1600" b="0" i="0">
                <a:solidFill>
                  <a:srgbClr val="E6ECF5"/>
                </a:solidFill>
                <a:latin typeface="Courier New"/>
              </a:rPr>
              <a:t>decode_row</a:t>
            </a:r>
            <a:r>
              <a:rPr sz="1600" b="0" i="0">
                <a:solidFill>
                  <a:srgbClr val="E6ECF5"/>
                </a:solidFill>
                <a:latin typeface="Courier New"/>
              </a:rPr>
              <a:t>(</a:t>
            </a:r>
            <a:r>
              <a:rPr sz="1600" b="0" i="0">
                <a:solidFill>
                  <a:srgbClr val="E6ECF5"/>
                </a:solidFill>
                <a:latin typeface="Courier New"/>
              </a:rPr>
              <a:t>[</a:t>
            </a:r>
            <a:r>
              <a:rPr sz="1600" b="0" i="0">
                <a:solidFill>
                  <a:srgbClr val="F2C879"/>
                </a:solidFill>
                <a:latin typeface="Courier New"/>
              </a:rPr>
              <a:t>2</a:t>
            </a:r>
            <a:r>
              <a:rPr sz="1600" b="0" i="0">
                <a:solidFill>
                  <a:srgbClr val="E6ECF5"/>
                </a:solidFill>
                <a:latin typeface="Courier New"/>
              </a:rPr>
              <a:t>,</a:t>
            </a:r>
            <a:r>
              <a:rPr sz="1600" b="0" i="0">
                <a:solidFill>
                  <a:srgbClr val="E6ECF5"/>
                </a:solidFill>
                <a:latin typeface="Courier New"/>
              </a:rPr>
              <a:t> </a:t>
            </a:r>
            <a:r>
              <a:rPr sz="1600" b="0" i="0">
                <a:solidFill>
                  <a:srgbClr val="F2C879"/>
                </a:solidFill>
                <a:latin typeface="Courier New"/>
              </a:rPr>
              <a:t>7</a:t>
            </a:r>
            <a:r>
              <a:rPr sz="1600" b="0" i="0">
                <a:solidFill>
                  <a:srgbClr val="E6ECF5"/>
                </a:solidFill>
                <a:latin typeface="Courier New"/>
              </a:rPr>
              <a:t>,</a:t>
            </a:r>
            <a:r>
              <a:rPr sz="1600" b="0" i="0">
                <a:solidFill>
                  <a:srgbClr val="E6ECF5"/>
                </a:solidFill>
                <a:latin typeface="Courier New"/>
              </a:rPr>
              <a:t> </a:t>
            </a:r>
            <a:r>
              <a:rPr sz="1600" b="0" i="0">
                <a:solidFill>
                  <a:srgbClr val="F2C879"/>
                </a:solidFill>
                <a:latin typeface="Courier New"/>
              </a:rPr>
              <a:t>3</a:t>
            </a:r>
            <a:r>
              <a:rPr sz="1600" b="0" i="0">
                <a:solidFill>
                  <a:srgbClr val="E6ECF5"/>
                </a:solidFill>
                <a:latin typeface="Courier New"/>
              </a:rPr>
              <a:t>]</a:t>
            </a:r>
            <a:r>
              <a:rPr sz="1600" b="0" i="0">
                <a:solidFill>
                  <a:srgbClr val="E6ECF5"/>
                </a:solidFill>
                <a:latin typeface="Courier New"/>
              </a:rPr>
              <a:t>)</a:t>
            </a:r>
            <a:r>
              <a:rPr sz="1600" b="0" i="0">
                <a:solidFill>
                  <a:srgbClr val="E6ECF5"/>
                </a:solidFill>
                <a:latin typeface="Courier New"/>
              </a:rPr>
              <a:t>)</a:t>
            </a:r>
          </a:p>
        </p:txBody>
      </p:sp>
      <p:sp>
        <p:nvSpPr>
          <p:cNvPr id="17" name="Code line"/>
          <p:cNvSpPr txBox="1"/>
          <p:nvPr/>
        </p:nvSpPr>
        <p:spPr>
          <a:xfrm>
            <a:off x="640080" y="4160520"/>
            <a:ext cx="7955279" cy="292608"/>
          </a:xfrm>
          <a:prstGeom prst="rect">
            <a:avLst/>
          </a:prstGeom>
          <a:noFill/>
        </p:spPr>
        <p:txBody>
          <a:bodyPr wrap="square" lIns="0" rIns="0" tIns="0" bIns="0" anchor="ctr">
            <a:spAutoFit/>
          </a:bodyPr>
          <a:lstStyle/>
          <a:p>
            <a:pPr algn="l"/>
            <a:r>
              <a:rPr sz="1600" b="0" i="0">
                <a:solidFill>
                  <a:srgbClr val="8EA3C0"/>
                </a:solidFill>
                <a:latin typeface="Courier New"/>
              </a:rPr>
              <a:t># [0, 0, 1, 1, 1, 1, 1, 1, 1, 0, 0, 0]</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Now a Whole Picture</a:t>
            </a:r>
            <a:endParaRPr lang="en-US" sz="3000" dirty="0"/>
          </a:p>
        </p:txBody>
      </p:sp>
      <p:sp>
        <p:nvSpPr>
          <p:cNvPr id="3" name="3 min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3 min</a:t>
            </a:r>
            <a:endParaRPr lang="en-US" sz="1200" dirty="0"/>
          </a:p>
        </p:txBody>
      </p:sp>
      <p:sp>
        <p:nvSpPr>
          <p:cNvPr id="5" name="Text 3"/>
          <p:cNvSpPr txBox="1"/>
          <p:nvPr/>
        </p:nvSpPr>
        <p:spPr>
          <a:xfrm>
            <a:off x="457200" y="137160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A picture is many rows. Decode each row, one by one.</a:t>
            </a:r>
            <a:endParaRPr lang="en-US" sz="1800" dirty="0"/>
          </a:p>
        </p:txBody>
      </p:sp>
      <p:sp>
        <p:nvSpPr>
          <p:cNvPr id="6" name="@1 Callout"/>
          <p:cNvSpPr/>
          <p:nvPr/>
        </p:nvSpPr>
        <p:spPr>
          <a:xfrm>
            <a:off x="457200" y="2377440"/>
            <a:ext cx="8229600" cy="822960"/>
          </a:xfrm>
          <a:prstGeom prst="roundRect">
            <a:avLst>
              <a:gd name="adj" fmla="val 11111"/>
            </a:avLst>
          </a:prstGeom>
          <a:solidFill>
            <a:srgbClr val="FFFFFF"/>
          </a:solidFill>
          <a:ln w="15875">
            <a:solidFill>
              <a:srgbClr val="002D6A"/>
            </a:solidFill>
            <a:prstDash val="solid"/>
          </a:ln>
        </p:spPr>
        <p:txBody>
          <a:bodyPr/>
          <a:lstStyle/>
          <a:p>
            <a:endParaRPr lang="en-GB"/>
          </a:p>
        </p:txBody>
      </p:sp>
      <p:sp>
        <p:nvSpPr>
          <p:cNvPr id="7" name="@1 addText"/>
          <p:cNvSpPr txBox="1"/>
          <p:nvPr/>
        </p:nvSpPr>
        <p:spPr>
          <a:xfrm>
            <a:off x="685800" y="2377440"/>
            <a:ext cx="7772400" cy="82296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You already wrote the row decoder. Reuse it!</a:t>
            </a:r>
            <a:endParaRPr lang="en-US" sz="1200" dirty="0"/>
          </a:p>
        </p:txBody>
      </p:sp>
      <p:sp>
        <p:nvSpPr>
          <p:cNvPr id="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Your decode_picture</a:t>
            </a:r>
            <a:endParaRPr lang="en-US" sz="3000" dirty="0"/>
          </a:p>
        </p:txBody>
      </p:sp>
      <p:sp>
        <p:nvSpPr>
          <p:cNvPr id="3" name="Code box"/>
          <p:cNvSpPr/>
          <p:nvPr/>
        </p:nvSpPr>
        <p:spPr>
          <a:xfrm>
            <a:off x="457200" y="1188720"/>
            <a:ext cx="8229600" cy="2249424"/>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88720"/>
            <a:ext cx="54864" cy="2249424"/>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325880"/>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1  </a:t>
            </a:r>
            <a:r>
              <a:rPr lang="en-US" sz="1800" b="1" dirty="0">
                <a:solidFill>
                  <a:srgbClr val="8FB8FF"/>
                </a:solidFill>
                <a:latin typeface="Courier New" pitchFamily="34" charset="0"/>
                <a:ea typeface="Courier New" pitchFamily="34" charset="-122"/>
                <a:cs typeface="Courier New" pitchFamily="34" charset="-120"/>
              </a:rPr>
              <a:t>def</a:t>
            </a:r>
            <a:r>
              <a:rPr lang="en-US" sz="1800" dirty="0">
                <a:solidFill>
                  <a:srgbClr val="E6ECF5"/>
                </a:solidFill>
                <a:latin typeface="Courier New" pitchFamily="34" charset="0"/>
                <a:ea typeface="Courier New" pitchFamily="34" charset="-122"/>
                <a:cs typeface="Courier New" pitchFamily="34" charset="-120"/>
              </a:rPr>
              <a:t> decode_picture(clues):</a:t>
            </a:r>
            <a:endParaRPr lang="en-US" sz="1800" dirty="0"/>
          </a:p>
        </p:txBody>
      </p:sp>
      <p:sp>
        <p:nvSpPr>
          <p:cNvPr id="6" name="Text 4"/>
          <p:cNvSpPr txBox="1"/>
          <p:nvPr/>
        </p:nvSpPr>
        <p:spPr>
          <a:xfrm>
            <a:off x="640080" y="1655064"/>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2  </a:t>
            </a:r>
            <a:r>
              <a:rPr lang="en-US" sz="1800" dirty="0">
                <a:solidFill>
                  <a:srgbClr val="E6ECF5"/>
                </a:solidFill>
                <a:latin typeface="Courier New" pitchFamily="34" charset="0"/>
                <a:ea typeface="Courier New" pitchFamily="34" charset="-122"/>
                <a:cs typeface="Courier New" pitchFamily="34" charset="-120"/>
              </a:rPr>
              <a:t>    picture = []</a:t>
            </a:r>
            <a:endParaRPr lang="en-US" sz="1800" dirty="0"/>
          </a:p>
        </p:txBody>
      </p:sp>
      <p:sp>
        <p:nvSpPr>
          <p:cNvPr id="7" name="Text 5"/>
          <p:cNvSpPr txBox="1"/>
          <p:nvPr/>
        </p:nvSpPr>
        <p:spPr>
          <a:xfrm>
            <a:off x="640080" y="1984248"/>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3  </a:t>
            </a:r>
            <a:r>
              <a:rPr lang="en-US" sz="1800" dirty="0">
                <a:solidFill>
                  <a:srgbClr val="E6ECF5"/>
                </a:solidFill>
                <a:latin typeface="Courier New" pitchFamily="34" charset="0"/>
                <a:ea typeface="Courier New" pitchFamily="34" charset="-122"/>
                <a:cs typeface="Courier New" pitchFamily="34" charset="-120"/>
              </a:rPr>
              <a:t>    </a:t>
            </a:r>
            <a:r>
              <a:rPr lang="en-US" sz="1800" i="1" dirty="0">
                <a:solidFill>
                  <a:srgbClr val="8EA3C0"/>
                </a:solidFill>
                <a:latin typeface="Courier New" pitchFamily="34" charset="0"/>
                <a:ea typeface="Courier New" pitchFamily="34" charset="-122"/>
                <a:cs typeface="Courier New" pitchFamily="34" charset="-120"/>
              </a:rPr>
              <a:t># for each clue in clues:</a:t>
            </a:r>
            <a:endParaRPr lang="en-US" sz="1800" dirty="0"/>
          </a:p>
        </p:txBody>
      </p:sp>
      <p:sp>
        <p:nvSpPr>
          <p:cNvPr id="8" name="Text 6"/>
          <p:cNvSpPr txBox="1"/>
          <p:nvPr/>
        </p:nvSpPr>
        <p:spPr>
          <a:xfrm>
            <a:off x="640080" y="2313432"/>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4  </a:t>
            </a:r>
            <a:r>
              <a:rPr lang="en-US" sz="1800" dirty="0">
                <a:solidFill>
                  <a:srgbClr val="E6ECF5"/>
                </a:solidFill>
                <a:latin typeface="Courier New" pitchFamily="34" charset="0"/>
                <a:ea typeface="Courier New" pitchFamily="34" charset="-122"/>
                <a:cs typeface="Courier New" pitchFamily="34" charset="-120"/>
              </a:rPr>
              <a:t>    </a:t>
            </a:r>
            <a:r>
              <a:rPr lang="en-US" sz="1800" i="1" dirty="0">
                <a:solidFill>
                  <a:srgbClr val="8EA3C0"/>
                </a:solidFill>
                <a:latin typeface="Courier New" pitchFamily="34" charset="0"/>
                <a:ea typeface="Courier New" pitchFamily="34" charset="-122"/>
                <a:cs typeface="Courier New" pitchFamily="34" charset="-120"/>
              </a:rPr>
              <a:t>#   row = decode_row(clue)</a:t>
            </a:r>
            <a:endParaRPr lang="en-US" sz="1800" dirty="0"/>
          </a:p>
        </p:txBody>
      </p:sp>
      <p:sp>
        <p:nvSpPr>
          <p:cNvPr id="9" name="Text 7"/>
          <p:cNvSpPr txBox="1"/>
          <p:nvPr/>
        </p:nvSpPr>
        <p:spPr>
          <a:xfrm>
            <a:off x="640080" y="2642616"/>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5  </a:t>
            </a:r>
            <a:r>
              <a:rPr lang="en-US" sz="1800" dirty="0">
                <a:solidFill>
                  <a:srgbClr val="E6ECF5"/>
                </a:solidFill>
                <a:latin typeface="Courier New" pitchFamily="34" charset="0"/>
                <a:ea typeface="Courier New" pitchFamily="34" charset="-122"/>
                <a:cs typeface="Courier New" pitchFamily="34" charset="-120"/>
              </a:rPr>
              <a:t>    </a:t>
            </a:r>
            <a:r>
              <a:rPr lang="en-US" sz="1800" i="1" dirty="0">
                <a:solidFill>
                  <a:srgbClr val="8EA3C0"/>
                </a:solidFill>
                <a:latin typeface="Courier New" pitchFamily="34" charset="0"/>
                <a:ea typeface="Courier New" pitchFamily="34" charset="-122"/>
                <a:cs typeface="Courier New" pitchFamily="34" charset="-120"/>
              </a:rPr>
              <a:t>#   picture.append(row)</a:t>
            </a:r>
            <a:endParaRPr lang="en-US" sz="1800" dirty="0"/>
          </a:p>
        </p:txBody>
      </p:sp>
      <p:sp>
        <p:nvSpPr>
          <p:cNvPr id="10" name="Text 8"/>
          <p:cNvSpPr txBox="1"/>
          <p:nvPr/>
        </p:nvSpPr>
        <p:spPr>
          <a:xfrm>
            <a:off x="640080" y="2971800"/>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6  </a:t>
            </a:r>
            <a:r>
              <a:rPr lang="en-US" sz="1800" dirty="0">
                <a:solidFill>
                  <a:srgbClr val="E6ECF5"/>
                </a:solidFill>
                <a:latin typeface="Courier New" pitchFamily="34" charset="0"/>
                <a:ea typeface="Courier New" pitchFamily="34" charset="-122"/>
                <a:cs typeface="Courier New" pitchFamily="34" charset="-120"/>
              </a:rPr>
              <a:t>    </a:t>
            </a:r>
            <a:r>
              <a:rPr lang="en-US" sz="1800" b="1" dirty="0">
                <a:solidFill>
                  <a:srgbClr val="8FB8FF"/>
                </a:solidFill>
                <a:latin typeface="Courier New" pitchFamily="34" charset="0"/>
                <a:ea typeface="Courier New" pitchFamily="34" charset="-122"/>
                <a:cs typeface="Courier New" pitchFamily="34" charset="-120"/>
              </a:rPr>
              <a:t>return</a:t>
            </a:r>
            <a:r>
              <a:rPr lang="en-US" sz="1800" dirty="0">
                <a:solidFill>
                  <a:srgbClr val="E6ECF5"/>
                </a:solidFill>
                <a:latin typeface="Courier New" pitchFamily="34" charset="0"/>
                <a:ea typeface="Courier New" pitchFamily="34" charset="-122"/>
                <a:cs typeface="Courier New" pitchFamily="34" charset="-120"/>
              </a:rPr>
              <a:t> picture</a:t>
            </a:r>
            <a:endParaRPr lang="en-US" sz="1800" dirty="0"/>
          </a:p>
        </p:txBody>
      </p:sp>
      <p:sp>
        <p:nvSpPr>
          <p:cNvPr id="11" name="Text 9"/>
          <p:cNvSpPr txBox="1"/>
          <p:nvPr/>
        </p:nvSpPr>
        <p:spPr>
          <a:xfrm>
            <a:off x="457200" y="384048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write once, reuse: same idea as add(10, 20), add(100, 1)</a:t>
            </a:r>
            <a:endParaRPr lang="en-US" sz="14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53</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The Big Moment</a:t>
            </a:r>
            <a:endParaRPr lang="en-US" sz="3000" dirty="0"/>
          </a:p>
        </p:txBody>
      </p:sp>
      <p:sp>
        <p:nvSpPr>
          <p:cNvPr id="3" name="Code box"/>
          <p:cNvSpPr/>
          <p:nvPr/>
        </p:nvSpPr>
        <p:spPr>
          <a:xfrm>
            <a:off x="457200" y="1188720"/>
            <a:ext cx="8229600" cy="676656"/>
          </a:xfrm>
          <a:prstGeom prst="rect">
            <a:avLst/>
          </a:prstGeom>
          <a:solidFill>
            <a:srgbClr val="0B2A57"/>
          </a:solidFill>
          <a:ln w="12700">
            <a:solidFill>
              <a:srgbClr val="0B2A57"/>
            </a:solidFill>
            <a:prstDash val="solid"/>
          </a:ln>
        </p:spPr>
        <p:txBody>
          <a:bodyPr/>
          <a:lstStyle/>
          <a:p>
            <a:endParaRPr lang="en-GB"/>
          </a:p>
        </p:txBody>
      </p:sp>
      <p:sp>
        <p:nvSpPr>
          <p:cNvPr id="4" name="Code bar"/>
          <p:cNvSpPr/>
          <p:nvPr/>
        </p:nvSpPr>
        <p:spPr>
          <a:xfrm>
            <a:off x="457200" y="1188720"/>
            <a:ext cx="54864" cy="676656"/>
          </a:xfrm>
          <a:prstGeom prst="rect">
            <a:avLst/>
          </a:prstGeom>
          <a:solidFill>
            <a:srgbClr val="5D79A0"/>
          </a:solidFill>
          <a:ln w="12700">
            <a:solidFill>
              <a:srgbClr val="5D79A0"/>
            </a:solidFill>
            <a:prstDash val="solid"/>
          </a:ln>
        </p:spPr>
        <p:txBody>
          <a:bodyPr/>
          <a:lstStyle/>
          <a:p>
            <a:endParaRPr lang="en-GB"/>
          </a:p>
        </p:txBody>
      </p:sp>
      <p:sp>
        <p:nvSpPr>
          <p:cNvPr id="5" name="Text 3"/>
          <p:cNvSpPr txBox="1"/>
          <p:nvPr/>
        </p:nvSpPr>
        <p:spPr>
          <a:xfrm>
            <a:off x="640080" y="1325880"/>
            <a:ext cx="7955280" cy="402336"/>
          </a:xfrm>
          <a:prstGeom prst="rect">
            <a:avLst/>
          </a:prstGeom>
          <a:noFill/>
          <a:ln/>
        </p:spPr>
        <p:txBody>
          <a:bodyPr wrap="none" lIns="0" tIns="0" rIns="0" bIns="0" rtlCol="0" anchor="ctr"/>
          <a:lstStyle/>
          <a:p>
            <a:pPr marL="0" indent="0">
              <a:buNone/>
            </a:pPr>
            <a:r>
              <a:rPr lang="en-US" sz="2200" dirty="0">
                <a:solidFill>
                  <a:srgbClr val="6F86A8"/>
                </a:solidFill>
                <a:latin typeface="Courier New" pitchFamily="34" charset="0"/>
                <a:ea typeface="Courier New" pitchFamily="34" charset="-122"/>
                <a:cs typeface="Courier New" pitchFamily="34" charset="-120"/>
              </a:rPr>
              <a:t> 1  </a:t>
            </a:r>
            <a:r>
              <a:rPr lang="en-US" sz="2200" dirty="0">
                <a:solidFill>
                  <a:srgbClr val="E6ECF5"/>
                </a:solidFill>
                <a:latin typeface="Courier New" pitchFamily="34" charset="0"/>
                <a:ea typeface="Courier New" pitchFamily="34" charset="-122"/>
                <a:cs typeface="Courier New" pitchFamily="34" charset="-120"/>
              </a:rPr>
              <a:t>show_picture(decode_picture(mystery_image_1))</a:t>
            </a:r>
            <a:endParaRPr lang="en-US" sz="2200" dirty="0"/>
          </a:p>
        </p:txBody>
      </p:sp>
      <p:sp>
        <p:nvSpPr>
          <p:cNvPr id="6" name="@1 Card"/>
          <p:cNvSpPr/>
          <p:nvPr/>
        </p:nvSpPr>
        <p:spPr>
          <a:xfrm>
            <a:off x="457200" y="2468880"/>
            <a:ext cx="2651760" cy="822960"/>
          </a:xfrm>
          <a:prstGeom prst="roundRect">
            <a:avLst>
              <a:gd name="adj" fmla="val 13333"/>
            </a:avLst>
          </a:prstGeom>
          <a:solidFill>
            <a:srgbClr val="FFFFFF"/>
          </a:solidFill>
          <a:ln w="9525">
            <a:solidFill>
              <a:srgbClr val="C5D1E3"/>
            </a:solidFill>
            <a:prstDash val="solid"/>
          </a:ln>
        </p:spPr>
        <p:txBody>
          <a:bodyPr/>
          <a:lstStyle/>
          <a:p>
            <a:endParaRPr lang="en-GB"/>
          </a:p>
        </p:txBody>
      </p:sp>
      <p:sp>
        <p:nvSpPr>
          <p:cNvPr id="7" name="@1 addText"/>
          <p:cNvSpPr txBox="1"/>
          <p:nvPr/>
        </p:nvSpPr>
        <p:spPr>
          <a:xfrm>
            <a:off x="457200" y="2468880"/>
            <a:ext cx="2651760" cy="822960"/>
          </a:xfrm>
          <a:prstGeom prst="rect">
            <a:avLst/>
          </a:prstGeom>
          <a:noFill/>
          <a:ln/>
        </p:spPr>
        <p:txBody>
          <a:bodyPr wrap="square" lIns="0" tIns="0" rIns="0" bIns="0" rtlCol="0" anchor="ctr"/>
          <a:lstStyle/>
          <a:p>
            <a:pPr marL="0" indent="0" algn="ctr">
              <a:buNone/>
            </a:pPr>
            <a:r>
              <a:rPr lang="en-US" sz="1400" b="1" dirty="0">
                <a:solidFill>
                  <a:srgbClr val="002D6A"/>
                </a:solidFill>
                <a:latin typeface="Courier New" pitchFamily="34" charset="0"/>
                <a:ea typeface="Courier New" pitchFamily="34" charset="-122"/>
                <a:cs typeface="Courier New" pitchFamily="34" charset="-120"/>
              </a:rPr>
              <a:t>mystery_image_1: clues</a:t>
            </a:r>
            <a:endParaRPr lang="en-US" sz="1400" dirty="0"/>
          </a:p>
        </p:txBody>
      </p:sp>
      <p:sp>
        <p:nvSpPr>
          <p:cNvPr id="8" name="@2 Card"/>
          <p:cNvSpPr/>
          <p:nvPr/>
        </p:nvSpPr>
        <p:spPr>
          <a:xfrm>
            <a:off x="3291840" y="2468880"/>
            <a:ext cx="2651760" cy="822960"/>
          </a:xfrm>
          <a:prstGeom prst="roundRect">
            <a:avLst>
              <a:gd name="adj" fmla="val 13333"/>
            </a:avLst>
          </a:prstGeom>
          <a:solidFill>
            <a:srgbClr val="FFFFFF"/>
          </a:solidFill>
          <a:ln w="9525">
            <a:solidFill>
              <a:srgbClr val="C5D1E3"/>
            </a:solidFill>
            <a:prstDash val="solid"/>
          </a:ln>
        </p:spPr>
        <p:txBody>
          <a:bodyPr/>
          <a:lstStyle/>
          <a:p>
            <a:endParaRPr lang="en-GB"/>
          </a:p>
        </p:txBody>
      </p:sp>
      <p:sp>
        <p:nvSpPr>
          <p:cNvPr id="9" name="@2 addText"/>
          <p:cNvSpPr txBox="1"/>
          <p:nvPr/>
        </p:nvSpPr>
        <p:spPr>
          <a:xfrm>
            <a:off x="3291840" y="2468880"/>
            <a:ext cx="2651760" cy="822960"/>
          </a:xfrm>
          <a:prstGeom prst="rect">
            <a:avLst/>
          </a:prstGeom>
          <a:noFill/>
          <a:ln/>
        </p:spPr>
        <p:txBody>
          <a:bodyPr wrap="square" lIns="0" tIns="0" rIns="0" bIns="0" rtlCol="0" anchor="ctr"/>
          <a:lstStyle/>
          <a:p>
            <a:pPr marL="0" indent="0" algn="ctr">
              <a:buNone/>
            </a:pPr>
            <a:r>
              <a:rPr lang="en-US" sz="1400" b="1" dirty="0">
                <a:solidFill>
                  <a:srgbClr val="002D6A"/>
                </a:solidFill>
                <a:latin typeface="Courier New" pitchFamily="34" charset="0"/>
                <a:ea typeface="Courier New" pitchFamily="34" charset="-122"/>
                <a:cs typeface="Courier New" pitchFamily="34" charset="-120"/>
              </a:rPr>
              <a:t>decode_picture: rows</a:t>
            </a:r>
            <a:endParaRPr lang="en-US" sz="1400" dirty="0"/>
          </a:p>
        </p:txBody>
      </p:sp>
      <p:sp>
        <p:nvSpPr>
          <p:cNvPr id="10" name="@3 Card"/>
          <p:cNvSpPr/>
          <p:nvPr/>
        </p:nvSpPr>
        <p:spPr>
          <a:xfrm>
            <a:off x="6126480" y="2468880"/>
            <a:ext cx="2651760" cy="822960"/>
          </a:xfrm>
          <a:prstGeom prst="roundRect">
            <a:avLst>
              <a:gd name="adj" fmla="val 13333"/>
            </a:avLst>
          </a:prstGeom>
          <a:solidFill>
            <a:srgbClr val="FFFFFF"/>
          </a:solidFill>
          <a:ln w="9525">
            <a:solidFill>
              <a:srgbClr val="C5D1E3"/>
            </a:solidFill>
            <a:prstDash val="solid"/>
          </a:ln>
        </p:spPr>
        <p:txBody>
          <a:bodyPr/>
          <a:lstStyle/>
          <a:p>
            <a:endParaRPr lang="en-GB"/>
          </a:p>
        </p:txBody>
      </p:sp>
      <p:sp>
        <p:nvSpPr>
          <p:cNvPr id="11" name="@3 addText"/>
          <p:cNvSpPr txBox="1"/>
          <p:nvPr/>
        </p:nvSpPr>
        <p:spPr>
          <a:xfrm>
            <a:off x="6126480" y="2468880"/>
            <a:ext cx="2651760" cy="822960"/>
          </a:xfrm>
          <a:prstGeom prst="rect">
            <a:avLst/>
          </a:prstGeom>
          <a:noFill/>
          <a:ln/>
        </p:spPr>
        <p:txBody>
          <a:bodyPr wrap="square" lIns="0" tIns="0" rIns="0" bIns="0" rtlCol="0" anchor="ctr"/>
          <a:lstStyle/>
          <a:p>
            <a:pPr marL="0" indent="0" algn="ctr">
              <a:buNone/>
            </a:pPr>
            <a:r>
              <a:rPr lang="en-US" sz="1400" b="1" dirty="0">
                <a:solidFill>
                  <a:srgbClr val="002D6A"/>
                </a:solidFill>
                <a:latin typeface="Courier New" pitchFamily="34" charset="0"/>
                <a:ea typeface="Courier New" pitchFamily="34" charset="-122"/>
                <a:cs typeface="Courier New" pitchFamily="34" charset="-120"/>
              </a:rPr>
              <a:t>show_picture: draw</a:t>
            </a:r>
            <a:endParaRPr lang="en-US" sz="1400" dirty="0"/>
          </a:p>
        </p:txBody>
      </p:sp>
      <p:sp>
        <p:nvSpPr>
          <p:cNvPr id="12" name="@4 Bar"/>
          <p:cNvSpPr/>
          <p:nvPr/>
        </p:nvSpPr>
        <p:spPr>
          <a:xfrm>
            <a:off x="457200" y="3657600"/>
            <a:ext cx="64008" cy="548640"/>
          </a:xfrm>
          <a:prstGeom prst="rect">
            <a:avLst/>
          </a:prstGeom>
          <a:solidFill>
            <a:srgbClr val="002D6A"/>
          </a:solidFill>
          <a:ln w="12700">
            <a:solidFill>
              <a:srgbClr val="002D6A"/>
            </a:solidFill>
            <a:prstDash val="solid"/>
          </a:ln>
        </p:spPr>
        <p:txBody>
          <a:bodyPr/>
          <a:lstStyle/>
          <a:p>
            <a:endParaRPr lang="en-GB"/>
          </a:p>
        </p:txBody>
      </p:sp>
      <p:sp>
        <p:nvSpPr>
          <p:cNvPr id="13" name="@4 addText"/>
          <p:cNvSpPr txBox="1"/>
          <p:nvPr/>
        </p:nvSpPr>
        <p:spPr>
          <a:xfrm>
            <a:off x="685800" y="3657600"/>
            <a:ext cx="8001000" cy="548640"/>
          </a:xfrm>
          <a:prstGeom prst="rect">
            <a:avLst/>
          </a:prstGeom>
          <a:noFill/>
          <a:ln/>
        </p:spPr>
        <p:txBody>
          <a:bodyPr wrap="square" lIns="0" tIns="0" rIns="0" bIns="0" rtlCol="0" anchor="ctr"/>
          <a:lstStyle/>
          <a:p>
            <a:pPr marL="0" indent="0">
              <a:buNone/>
            </a:pPr>
            <a:r>
              <a:rPr lang="en-US" sz="2200" b="1" dirty="0">
                <a:solidFill>
                  <a:srgbClr val="002D6A"/>
                </a:solidFill>
                <a:latin typeface="Arial" pitchFamily="34" charset="0"/>
                <a:ea typeface="Arial" pitchFamily="34" charset="-122"/>
                <a:cs typeface="Arial" pitchFamily="34" charset="-120"/>
              </a:rPr>
              <a:t>Then swap mystery_image_1 for mystery_image_7.</a:t>
            </a:r>
            <a:endParaRPr lang="en-US" sz="2200" dirty="0"/>
          </a:p>
        </p:txBody>
      </p:sp>
      <p:sp>
        <p:nvSpPr>
          <p:cNvPr id="1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2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2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Decode a Picture</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TASKS 3 AND 4</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Finish decode_picture and show the mug. Then try mystery_image_5, mystery_image_6 and mystery_image_7. Booklet pages 10 and 11.</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15 min</a:t>
            </a:r>
            <a:endParaRPr lang="en-US" sz="2000"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3: decode_picture (solution)</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36</a:t>
            </a:fld>
            <a:endParaRPr lang="en-US"/>
          </a:p>
        </p:txBody>
      </p:sp>
      <p:sp>
        <p:nvSpPr>
          <p:cNvPr id="6" name="Code box"/>
          <p:cNvSpPr/>
          <p:nvPr/>
        </p:nvSpPr>
        <p:spPr>
          <a:xfrm>
            <a:off x="457200" y="1143000"/>
            <a:ext cx="8229600" cy="3054096"/>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de bar"/>
          <p:cNvSpPr/>
          <p:nvPr/>
        </p:nvSpPr>
        <p:spPr>
          <a:xfrm>
            <a:off x="457200" y="1143000"/>
            <a:ext cx="54864" cy="3054096"/>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 line"/>
          <p:cNvSpPr txBox="1"/>
          <p:nvPr/>
        </p:nvSpPr>
        <p:spPr>
          <a:xfrm>
            <a:off x="640080" y="1280160"/>
            <a:ext cx="7955279" cy="347472"/>
          </a:xfrm>
          <a:prstGeom prst="rect">
            <a:avLst/>
          </a:prstGeom>
          <a:noFill/>
        </p:spPr>
        <p:txBody>
          <a:bodyPr wrap="square" lIns="0" rIns="0" tIns="0" bIns="0" anchor="ctr">
            <a:spAutoFit/>
          </a:bodyPr>
          <a:lstStyle/>
          <a:p>
            <a:pPr algn="l"/>
            <a:r>
              <a:rPr sz="1800" b="1" i="0">
                <a:solidFill>
                  <a:srgbClr val="8FB8FF"/>
                </a:solidFill>
                <a:latin typeface="Courier New"/>
              </a:rPr>
              <a:t>def</a:t>
            </a:r>
            <a:r>
              <a:rPr sz="1800" b="0" i="0">
                <a:solidFill>
                  <a:srgbClr val="E6ECF5"/>
                </a:solidFill>
                <a:latin typeface="Courier New"/>
              </a:rPr>
              <a:t> </a:t>
            </a:r>
            <a:r>
              <a:rPr sz="1800" b="0" i="0">
                <a:solidFill>
                  <a:srgbClr val="E6ECF5"/>
                </a:solidFill>
                <a:latin typeface="Courier New"/>
              </a:rPr>
              <a:t>decode_picture</a:t>
            </a:r>
            <a:r>
              <a:rPr sz="1800" b="0" i="0">
                <a:solidFill>
                  <a:srgbClr val="E6ECF5"/>
                </a:solidFill>
                <a:latin typeface="Courier New"/>
              </a:rPr>
              <a:t>(</a:t>
            </a:r>
            <a:r>
              <a:rPr sz="1800" b="0" i="0">
                <a:solidFill>
                  <a:srgbClr val="E6ECF5"/>
                </a:solidFill>
                <a:latin typeface="Courier New"/>
              </a:rPr>
              <a:t>clues</a:t>
            </a:r>
            <a:r>
              <a:rPr sz="1800" b="0" i="0">
                <a:solidFill>
                  <a:srgbClr val="E6ECF5"/>
                </a:solidFill>
                <a:latin typeface="Courier New"/>
              </a:rPr>
              <a:t>)</a:t>
            </a:r>
            <a:r>
              <a:rPr sz="1800" b="0" i="0">
                <a:solidFill>
                  <a:srgbClr val="E6ECF5"/>
                </a:solidFill>
                <a:latin typeface="Courier New"/>
              </a:rPr>
              <a:t>:</a:t>
            </a:r>
          </a:p>
        </p:txBody>
      </p:sp>
      <p:sp>
        <p:nvSpPr>
          <p:cNvPr id="9" name="Code line"/>
          <p:cNvSpPr txBox="1"/>
          <p:nvPr/>
        </p:nvSpPr>
        <p:spPr>
          <a:xfrm>
            <a:off x="640080" y="1627631"/>
            <a:ext cx="7955279" cy="347472"/>
          </a:xfrm>
          <a:prstGeom prst="rect">
            <a:avLst/>
          </a:prstGeom>
          <a:noFill/>
        </p:spPr>
        <p:txBody>
          <a:bodyPr wrap="square" lIns="0" rIns="0" tIns="0" bIns="0" anchor="ctr">
            <a:spAutoFit/>
          </a:bodyPr>
          <a:lstStyle/>
          <a:p>
            <a:pPr algn="l"/>
            <a:r>
              <a:rPr sz="1800" b="0" i="0">
                <a:solidFill>
                  <a:srgbClr val="E6ECF5"/>
                </a:solidFill>
                <a:latin typeface="Courier New"/>
              </a:rPr>
              <a:t>    </a:t>
            </a:r>
            <a:r>
              <a:rPr sz="1800" b="0" i="0">
                <a:solidFill>
                  <a:srgbClr val="E6ECF5"/>
                </a:solidFill>
                <a:latin typeface="Courier New"/>
              </a:rPr>
              <a:t>picture</a:t>
            </a:r>
            <a:r>
              <a:rPr sz="1800" b="0" i="0">
                <a:solidFill>
                  <a:srgbClr val="E6ECF5"/>
                </a:solidFill>
                <a:latin typeface="Courier New"/>
              </a:rPr>
              <a:t> </a:t>
            </a:r>
            <a:r>
              <a:rPr sz="1800" b="0" i="0">
                <a:solidFill>
                  <a:srgbClr val="E6ECF5"/>
                </a:solidFill>
                <a:latin typeface="Courier New"/>
              </a:rPr>
              <a:t>=</a:t>
            </a:r>
            <a:r>
              <a:rPr sz="1800" b="0" i="0">
                <a:solidFill>
                  <a:srgbClr val="E6ECF5"/>
                </a:solidFill>
                <a:latin typeface="Courier New"/>
              </a:rPr>
              <a:t> </a:t>
            </a:r>
            <a:r>
              <a:rPr sz="1800" b="0" i="0">
                <a:solidFill>
                  <a:srgbClr val="E6ECF5"/>
                </a:solidFill>
                <a:latin typeface="Courier New"/>
              </a:rPr>
              <a:t>[</a:t>
            </a:r>
            <a:r>
              <a:rPr sz="1800" b="0" i="0">
                <a:solidFill>
                  <a:srgbClr val="E6ECF5"/>
                </a:solidFill>
                <a:latin typeface="Courier New"/>
              </a:rPr>
              <a:t>]</a:t>
            </a:r>
          </a:p>
        </p:txBody>
      </p:sp>
      <p:sp>
        <p:nvSpPr>
          <p:cNvPr id="10" name="Code line"/>
          <p:cNvSpPr txBox="1"/>
          <p:nvPr/>
        </p:nvSpPr>
        <p:spPr>
          <a:xfrm>
            <a:off x="640080" y="1975104"/>
            <a:ext cx="7955279" cy="347472"/>
          </a:xfrm>
          <a:prstGeom prst="rect">
            <a:avLst/>
          </a:prstGeom>
          <a:noFill/>
        </p:spPr>
        <p:txBody>
          <a:bodyPr wrap="square" lIns="0" rIns="0" tIns="0" bIns="0" anchor="ctr">
            <a:spAutoFit/>
          </a:bodyPr>
          <a:lstStyle/>
          <a:p>
            <a:pPr algn="l"/>
            <a:r>
              <a:rPr sz="1800" b="0" i="0">
                <a:solidFill>
                  <a:srgbClr val="E6ECF5"/>
                </a:solidFill>
                <a:latin typeface="Courier New"/>
              </a:rPr>
              <a:t>    </a:t>
            </a:r>
            <a:r>
              <a:rPr sz="1800" b="1" i="0">
                <a:solidFill>
                  <a:srgbClr val="8FB8FF"/>
                </a:solidFill>
                <a:latin typeface="Courier New"/>
              </a:rPr>
              <a:t>for</a:t>
            </a:r>
            <a:r>
              <a:rPr sz="1800" b="0" i="0">
                <a:solidFill>
                  <a:srgbClr val="E6ECF5"/>
                </a:solidFill>
                <a:latin typeface="Courier New"/>
              </a:rPr>
              <a:t> </a:t>
            </a:r>
            <a:r>
              <a:rPr sz="1800" b="0" i="0">
                <a:solidFill>
                  <a:srgbClr val="E6ECF5"/>
                </a:solidFill>
                <a:latin typeface="Courier New"/>
              </a:rPr>
              <a:t>clue</a:t>
            </a:r>
            <a:r>
              <a:rPr sz="1800" b="0" i="0">
                <a:solidFill>
                  <a:srgbClr val="E6ECF5"/>
                </a:solidFill>
                <a:latin typeface="Courier New"/>
              </a:rPr>
              <a:t> </a:t>
            </a:r>
            <a:r>
              <a:rPr sz="1800" b="1" i="0">
                <a:solidFill>
                  <a:srgbClr val="8FB8FF"/>
                </a:solidFill>
                <a:latin typeface="Courier New"/>
              </a:rPr>
              <a:t>in</a:t>
            </a:r>
            <a:r>
              <a:rPr sz="1800" b="0" i="0">
                <a:solidFill>
                  <a:srgbClr val="E6ECF5"/>
                </a:solidFill>
                <a:latin typeface="Courier New"/>
              </a:rPr>
              <a:t> </a:t>
            </a:r>
            <a:r>
              <a:rPr sz="1800" b="0" i="0">
                <a:solidFill>
                  <a:srgbClr val="E6ECF5"/>
                </a:solidFill>
                <a:latin typeface="Courier New"/>
              </a:rPr>
              <a:t>clues</a:t>
            </a:r>
            <a:r>
              <a:rPr sz="1800" b="0" i="0">
                <a:solidFill>
                  <a:srgbClr val="E6ECF5"/>
                </a:solidFill>
                <a:latin typeface="Courier New"/>
              </a:rPr>
              <a:t>:</a:t>
            </a:r>
          </a:p>
        </p:txBody>
      </p:sp>
      <p:sp>
        <p:nvSpPr>
          <p:cNvPr id="11" name="Code line"/>
          <p:cNvSpPr txBox="1"/>
          <p:nvPr/>
        </p:nvSpPr>
        <p:spPr>
          <a:xfrm>
            <a:off x="640080" y="2322576"/>
            <a:ext cx="7955279" cy="347472"/>
          </a:xfrm>
          <a:prstGeom prst="rect">
            <a:avLst/>
          </a:prstGeom>
          <a:noFill/>
        </p:spPr>
        <p:txBody>
          <a:bodyPr wrap="square" lIns="0" rIns="0" tIns="0" bIns="0" anchor="ctr">
            <a:spAutoFit/>
          </a:bodyPr>
          <a:lstStyle/>
          <a:p>
            <a:pPr algn="l"/>
            <a:r>
              <a:rPr sz="1800" b="0" i="0">
                <a:solidFill>
                  <a:srgbClr val="E6ECF5"/>
                </a:solidFill>
                <a:latin typeface="Courier New"/>
              </a:rPr>
              <a:t>        </a:t>
            </a:r>
            <a:r>
              <a:rPr sz="1800" b="0" i="0">
                <a:solidFill>
                  <a:srgbClr val="E6ECF5"/>
                </a:solidFill>
                <a:latin typeface="Courier New"/>
              </a:rPr>
              <a:t>row</a:t>
            </a:r>
            <a:r>
              <a:rPr sz="1800" b="0" i="0">
                <a:solidFill>
                  <a:srgbClr val="E6ECF5"/>
                </a:solidFill>
                <a:latin typeface="Courier New"/>
              </a:rPr>
              <a:t> </a:t>
            </a:r>
            <a:r>
              <a:rPr sz="1800" b="0" i="0">
                <a:solidFill>
                  <a:srgbClr val="E6ECF5"/>
                </a:solidFill>
                <a:latin typeface="Courier New"/>
              </a:rPr>
              <a:t>=</a:t>
            </a:r>
            <a:r>
              <a:rPr sz="1800" b="0" i="0">
                <a:solidFill>
                  <a:srgbClr val="E6ECF5"/>
                </a:solidFill>
                <a:latin typeface="Courier New"/>
              </a:rPr>
              <a:t> </a:t>
            </a:r>
            <a:r>
              <a:rPr sz="1800" b="0" i="0">
                <a:solidFill>
                  <a:srgbClr val="E6ECF5"/>
                </a:solidFill>
                <a:latin typeface="Courier New"/>
              </a:rPr>
              <a:t>decode_row</a:t>
            </a:r>
            <a:r>
              <a:rPr sz="1800" b="0" i="0">
                <a:solidFill>
                  <a:srgbClr val="E6ECF5"/>
                </a:solidFill>
                <a:latin typeface="Courier New"/>
              </a:rPr>
              <a:t>(</a:t>
            </a:r>
            <a:r>
              <a:rPr sz="1800" b="0" i="0">
                <a:solidFill>
                  <a:srgbClr val="E6ECF5"/>
                </a:solidFill>
                <a:latin typeface="Courier New"/>
              </a:rPr>
              <a:t>clue</a:t>
            </a:r>
            <a:r>
              <a:rPr sz="1800" b="0" i="0">
                <a:solidFill>
                  <a:srgbClr val="E6ECF5"/>
                </a:solidFill>
                <a:latin typeface="Courier New"/>
              </a:rPr>
              <a:t>)</a:t>
            </a:r>
          </a:p>
        </p:txBody>
      </p:sp>
      <p:sp>
        <p:nvSpPr>
          <p:cNvPr id="12" name="Code line"/>
          <p:cNvSpPr txBox="1"/>
          <p:nvPr/>
        </p:nvSpPr>
        <p:spPr>
          <a:xfrm>
            <a:off x="640080" y="2670048"/>
            <a:ext cx="7955279" cy="347472"/>
          </a:xfrm>
          <a:prstGeom prst="rect">
            <a:avLst/>
          </a:prstGeom>
          <a:noFill/>
        </p:spPr>
        <p:txBody>
          <a:bodyPr wrap="square" lIns="0" rIns="0" tIns="0" bIns="0" anchor="ctr">
            <a:spAutoFit/>
          </a:bodyPr>
          <a:lstStyle/>
          <a:p>
            <a:pPr algn="l"/>
            <a:r>
              <a:rPr sz="1800" b="0" i="0">
                <a:solidFill>
                  <a:srgbClr val="E6ECF5"/>
                </a:solidFill>
                <a:latin typeface="Courier New"/>
              </a:rPr>
              <a:t>        </a:t>
            </a:r>
            <a:r>
              <a:rPr sz="1800" b="0" i="0">
                <a:solidFill>
                  <a:srgbClr val="E6ECF5"/>
                </a:solidFill>
                <a:latin typeface="Courier New"/>
              </a:rPr>
              <a:t>picture</a:t>
            </a:r>
            <a:r>
              <a:rPr sz="1800" b="0" i="0">
                <a:solidFill>
                  <a:srgbClr val="E6ECF5"/>
                </a:solidFill>
                <a:latin typeface="Courier New"/>
              </a:rPr>
              <a:t>.</a:t>
            </a:r>
            <a:r>
              <a:rPr sz="1800" b="0" i="0">
                <a:solidFill>
                  <a:srgbClr val="E6ECF5"/>
                </a:solidFill>
                <a:latin typeface="Courier New"/>
              </a:rPr>
              <a:t>append</a:t>
            </a:r>
            <a:r>
              <a:rPr sz="1800" b="0" i="0">
                <a:solidFill>
                  <a:srgbClr val="E6ECF5"/>
                </a:solidFill>
                <a:latin typeface="Courier New"/>
              </a:rPr>
              <a:t>(</a:t>
            </a:r>
            <a:r>
              <a:rPr sz="1800" b="0" i="0">
                <a:solidFill>
                  <a:srgbClr val="E6ECF5"/>
                </a:solidFill>
                <a:latin typeface="Courier New"/>
              </a:rPr>
              <a:t>row</a:t>
            </a:r>
            <a:r>
              <a:rPr sz="1800" b="0" i="0">
                <a:solidFill>
                  <a:srgbClr val="E6ECF5"/>
                </a:solidFill>
                <a:latin typeface="Courier New"/>
              </a:rPr>
              <a:t>)</a:t>
            </a:r>
          </a:p>
        </p:txBody>
      </p:sp>
      <p:sp>
        <p:nvSpPr>
          <p:cNvPr id="13" name="Code line"/>
          <p:cNvSpPr txBox="1"/>
          <p:nvPr/>
        </p:nvSpPr>
        <p:spPr>
          <a:xfrm>
            <a:off x="640080" y="3017520"/>
            <a:ext cx="7955279" cy="347472"/>
          </a:xfrm>
          <a:prstGeom prst="rect">
            <a:avLst/>
          </a:prstGeom>
          <a:noFill/>
        </p:spPr>
        <p:txBody>
          <a:bodyPr wrap="square" lIns="0" rIns="0" tIns="0" bIns="0" anchor="ctr">
            <a:spAutoFit/>
          </a:bodyPr>
          <a:lstStyle/>
          <a:p>
            <a:pPr algn="l"/>
            <a:r>
              <a:rPr sz="1800" b="0" i="0">
                <a:solidFill>
                  <a:srgbClr val="E6ECF5"/>
                </a:solidFill>
                <a:latin typeface="Courier New"/>
              </a:rPr>
              <a:t>    </a:t>
            </a:r>
            <a:r>
              <a:rPr sz="1800" b="1" i="0">
                <a:solidFill>
                  <a:srgbClr val="8FB8FF"/>
                </a:solidFill>
                <a:latin typeface="Courier New"/>
              </a:rPr>
              <a:t>return</a:t>
            </a:r>
            <a:r>
              <a:rPr sz="1800" b="0" i="0">
                <a:solidFill>
                  <a:srgbClr val="E6ECF5"/>
                </a:solidFill>
                <a:latin typeface="Courier New"/>
              </a:rPr>
              <a:t> </a:t>
            </a:r>
            <a:r>
              <a:rPr sz="1800" b="0" i="0">
                <a:solidFill>
                  <a:srgbClr val="E6ECF5"/>
                </a:solidFill>
                <a:latin typeface="Courier New"/>
              </a:rPr>
              <a:t>picture</a:t>
            </a:r>
          </a:p>
        </p:txBody>
      </p:sp>
      <p:sp>
        <p:nvSpPr>
          <p:cNvPr id="14" name="Code line"/>
          <p:cNvSpPr txBox="1"/>
          <p:nvPr/>
        </p:nvSpPr>
        <p:spPr>
          <a:xfrm>
            <a:off x="640080" y="3712464"/>
            <a:ext cx="7955279" cy="347472"/>
          </a:xfrm>
          <a:prstGeom prst="rect">
            <a:avLst/>
          </a:prstGeom>
          <a:noFill/>
        </p:spPr>
        <p:txBody>
          <a:bodyPr wrap="square" lIns="0" rIns="0" tIns="0" bIns="0" anchor="ctr">
            <a:spAutoFit/>
          </a:bodyPr>
          <a:lstStyle/>
          <a:p>
            <a:pPr algn="l"/>
            <a:r>
              <a:rPr sz="1800" b="0" i="0">
                <a:solidFill>
                  <a:srgbClr val="E6ECF5"/>
                </a:solidFill>
                <a:latin typeface="Courier New"/>
              </a:rPr>
              <a:t>show_picture</a:t>
            </a:r>
            <a:r>
              <a:rPr sz="1800" b="0" i="0">
                <a:solidFill>
                  <a:srgbClr val="E6ECF5"/>
                </a:solidFill>
                <a:latin typeface="Courier New"/>
              </a:rPr>
              <a:t>(</a:t>
            </a:r>
            <a:r>
              <a:rPr sz="1800" b="0" i="0">
                <a:solidFill>
                  <a:srgbClr val="E6ECF5"/>
                </a:solidFill>
                <a:latin typeface="Courier New"/>
              </a:rPr>
              <a:t>decode_picture</a:t>
            </a:r>
            <a:r>
              <a:rPr sz="1800" b="0" i="0">
                <a:solidFill>
                  <a:srgbClr val="E6ECF5"/>
                </a:solidFill>
                <a:latin typeface="Courier New"/>
              </a:rPr>
              <a:t>(</a:t>
            </a:r>
            <a:r>
              <a:rPr sz="1800" b="0" i="0">
                <a:solidFill>
                  <a:srgbClr val="E6ECF5"/>
                </a:solidFill>
                <a:latin typeface="Courier New"/>
              </a:rPr>
              <a:t>mystery_image_1</a:t>
            </a:r>
            <a:r>
              <a:rPr sz="1800" b="0" i="0">
                <a:solidFill>
                  <a:srgbClr val="E6ECF5"/>
                </a:solidFill>
                <a:latin typeface="Courier New"/>
              </a:rPr>
              <a:t>)</a:t>
            </a:r>
            <a:r>
              <a:rPr sz="1800" b="0" i="0">
                <a:solidFill>
                  <a:srgbClr val="E6ECF5"/>
                </a:solidFill>
                <a:latin typeface="Courier New"/>
              </a:rP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4: the Big Pictures</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36</a:t>
            </a:fld>
            <a:endParaRPr lang="en-US"/>
          </a:p>
        </p:txBody>
      </p:sp>
      <p:sp>
        <p:nvSpPr>
          <p:cNvPr id="6" name="Code box"/>
          <p:cNvSpPr/>
          <p:nvPr/>
        </p:nvSpPr>
        <p:spPr>
          <a:xfrm>
            <a:off x="457200" y="1188720"/>
            <a:ext cx="8229600" cy="1371600"/>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de bar"/>
          <p:cNvSpPr/>
          <p:nvPr/>
        </p:nvSpPr>
        <p:spPr>
          <a:xfrm>
            <a:off x="457200" y="1188720"/>
            <a:ext cx="54864" cy="1371600"/>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 line"/>
          <p:cNvSpPr txBox="1"/>
          <p:nvPr/>
        </p:nvSpPr>
        <p:spPr>
          <a:xfrm>
            <a:off x="640080" y="1325880"/>
            <a:ext cx="7955279" cy="365760"/>
          </a:xfrm>
          <a:prstGeom prst="rect">
            <a:avLst/>
          </a:prstGeom>
          <a:noFill/>
        </p:spPr>
        <p:txBody>
          <a:bodyPr wrap="square" lIns="0" rIns="0" tIns="0" bIns="0" anchor="ctr">
            <a:spAutoFit/>
          </a:bodyPr>
          <a:lstStyle/>
          <a:p>
            <a:pPr algn="l"/>
            <a:r>
              <a:rPr sz="1800" b="0" i="0">
                <a:solidFill>
                  <a:srgbClr val="E6ECF5"/>
                </a:solidFill>
                <a:latin typeface="Courier New"/>
              </a:rPr>
              <a:t>show_picture</a:t>
            </a:r>
            <a:r>
              <a:rPr sz="1800" b="0" i="0">
                <a:solidFill>
                  <a:srgbClr val="E6ECF5"/>
                </a:solidFill>
                <a:latin typeface="Courier New"/>
              </a:rPr>
              <a:t>(</a:t>
            </a:r>
            <a:r>
              <a:rPr sz="1800" b="0" i="0">
                <a:solidFill>
                  <a:srgbClr val="E6ECF5"/>
                </a:solidFill>
                <a:latin typeface="Courier New"/>
              </a:rPr>
              <a:t>decode_picture</a:t>
            </a:r>
            <a:r>
              <a:rPr sz="1800" b="0" i="0">
                <a:solidFill>
                  <a:srgbClr val="E6ECF5"/>
                </a:solidFill>
                <a:latin typeface="Courier New"/>
              </a:rPr>
              <a:t>(</a:t>
            </a:r>
            <a:r>
              <a:rPr sz="1800" b="0" i="0">
                <a:solidFill>
                  <a:srgbClr val="E6ECF5"/>
                </a:solidFill>
                <a:latin typeface="Courier New"/>
              </a:rPr>
              <a:t>mystery_image_5</a:t>
            </a:r>
            <a:r>
              <a:rPr sz="1800" b="0" i="0">
                <a:solidFill>
                  <a:srgbClr val="E6ECF5"/>
                </a:solidFill>
                <a:latin typeface="Courier New"/>
              </a:rPr>
              <a:t>)</a:t>
            </a:r>
            <a:r>
              <a:rPr sz="1800" b="0" i="0">
                <a:solidFill>
                  <a:srgbClr val="E6ECF5"/>
                </a:solidFill>
                <a:latin typeface="Courier New"/>
              </a:rPr>
              <a:t>)</a:t>
            </a:r>
          </a:p>
        </p:txBody>
      </p:sp>
      <p:sp>
        <p:nvSpPr>
          <p:cNvPr id="9" name="Code line"/>
          <p:cNvSpPr txBox="1"/>
          <p:nvPr/>
        </p:nvSpPr>
        <p:spPr>
          <a:xfrm>
            <a:off x="640080" y="1691640"/>
            <a:ext cx="7955279" cy="365760"/>
          </a:xfrm>
          <a:prstGeom prst="rect">
            <a:avLst/>
          </a:prstGeom>
          <a:noFill/>
        </p:spPr>
        <p:txBody>
          <a:bodyPr wrap="square" lIns="0" rIns="0" tIns="0" bIns="0" anchor="ctr">
            <a:spAutoFit/>
          </a:bodyPr>
          <a:lstStyle/>
          <a:p>
            <a:pPr algn="l"/>
            <a:r>
              <a:rPr sz="1800" b="0" i="0">
                <a:solidFill>
                  <a:srgbClr val="E6ECF5"/>
                </a:solidFill>
                <a:latin typeface="Courier New"/>
              </a:rPr>
              <a:t>show_picture</a:t>
            </a:r>
            <a:r>
              <a:rPr sz="1800" b="0" i="0">
                <a:solidFill>
                  <a:srgbClr val="E6ECF5"/>
                </a:solidFill>
                <a:latin typeface="Courier New"/>
              </a:rPr>
              <a:t>(</a:t>
            </a:r>
            <a:r>
              <a:rPr sz="1800" b="0" i="0">
                <a:solidFill>
                  <a:srgbClr val="E6ECF5"/>
                </a:solidFill>
                <a:latin typeface="Courier New"/>
              </a:rPr>
              <a:t>decode_picture</a:t>
            </a:r>
            <a:r>
              <a:rPr sz="1800" b="0" i="0">
                <a:solidFill>
                  <a:srgbClr val="E6ECF5"/>
                </a:solidFill>
                <a:latin typeface="Courier New"/>
              </a:rPr>
              <a:t>(</a:t>
            </a:r>
            <a:r>
              <a:rPr sz="1800" b="0" i="0">
                <a:solidFill>
                  <a:srgbClr val="E6ECF5"/>
                </a:solidFill>
                <a:latin typeface="Courier New"/>
              </a:rPr>
              <a:t>mystery_image_6</a:t>
            </a:r>
            <a:r>
              <a:rPr sz="1800" b="0" i="0">
                <a:solidFill>
                  <a:srgbClr val="E6ECF5"/>
                </a:solidFill>
                <a:latin typeface="Courier New"/>
              </a:rPr>
              <a:t>)</a:t>
            </a:r>
            <a:r>
              <a:rPr sz="1800" b="0" i="0">
                <a:solidFill>
                  <a:srgbClr val="E6ECF5"/>
                </a:solidFill>
                <a:latin typeface="Courier New"/>
              </a:rPr>
              <a:t>)</a:t>
            </a:r>
          </a:p>
        </p:txBody>
      </p:sp>
      <p:sp>
        <p:nvSpPr>
          <p:cNvPr id="10" name="Code line"/>
          <p:cNvSpPr txBox="1"/>
          <p:nvPr/>
        </p:nvSpPr>
        <p:spPr>
          <a:xfrm>
            <a:off x="640080" y="2057400"/>
            <a:ext cx="7955279" cy="365760"/>
          </a:xfrm>
          <a:prstGeom prst="rect">
            <a:avLst/>
          </a:prstGeom>
          <a:noFill/>
        </p:spPr>
        <p:txBody>
          <a:bodyPr wrap="square" lIns="0" rIns="0" tIns="0" bIns="0" anchor="ctr">
            <a:spAutoFit/>
          </a:bodyPr>
          <a:lstStyle/>
          <a:p>
            <a:pPr algn="l"/>
            <a:r>
              <a:rPr sz="1800" b="0" i="0">
                <a:solidFill>
                  <a:srgbClr val="E6ECF5"/>
                </a:solidFill>
                <a:latin typeface="Courier New"/>
              </a:rPr>
              <a:t>show_picture</a:t>
            </a:r>
            <a:r>
              <a:rPr sz="1800" b="0" i="0">
                <a:solidFill>
                  <a:srgbClr val="E6ECF5"/>
                </a:solidFill>
                <a:latin typeface="Courier New"/>
              </a:rPr>
              <a:t>(</a:t>
            </a:r>
            <a:r>
              <a:rPr sz="1800" b="0" i="0">
                <a:solidFill>
                  <a:srgbClr val="E6ECF5"/>
                </a:solidFill>
                <a:latin typeface="Courier New"/>
              </a:rPr>
              <a:t>decode_picture</a:t>
            </a:r>
            <a:r>
              <a:rPr sz="1800" b="0" i="0">
                <a:solidFill>
                  <a:srgbClr val="E6ECF5"/>
                </a:solidFill>
                <a:latin typeface="Courier New"/>
              </a:rPr>
              <a:t>(</a:t>
            </a:r>
            <a:r>
              <a:rPr sz="1800" b="0" i="0">
                <a:solidFill>
                  <a:srgbClr val="E6ECF5"/>
                </a:solidFill>
                <a:latin typeface="Courier New"/>
              </a:rPr>
              <a:t>mystery_image_7</a:t>
            </a:r>
            <a:r>
              <a:rPr sz="1800" b="0" i="0">
                <a:solidFill>
                  <a:srgbClr val="E6ECF5"/>
                </a:solidFill>
                <a:latin typeface="Courier New"/>
              </a:rPr>
              <a:t>)</a:t>
            </a:r>
            <a:r>
              <a:rPr sz="1800" b="0" i="0">
                <a:solidFill>
                  <a:srgbClr val="E6ECF5"/>
                </a:solidFill>
                <a:latin typeface="Courier New"/>
              </a:rPr>
              <a:t>)</a:t>
            </a:r>
          </a:p>
        </p:txBody>
      </p:sp>
      <p:sp>
        <p:nvSpPr>
          <p:cNvPr id="11" name="Callout"/>
          <p:cNvSpPr/>
          <p:nvPr/>
        </p:nvSpPr>
        <p:spPr>
          <a:xfrm>
            <a:off x="457200" y="3108960"/>
            <a:ext cx="8229600" cy="731520"/>
          </a:xfrm>
          <a:prstGeom prst="roundRect">
            <a:avLst>
              <a:gd name="adj" fmla="val 12000"/>
            </a:avLst>
          </a:prstGeom>
          <a:solidFill>
            <a:srgbClr val="FFFFFF"/>
          </a:solidFill>
          <a:ln w="1587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llout text"/>
          <p:cNvSpPr txBox="1"/>
          <p:nvPr/>
        </p:nvSpPr>
        <p:spPr>
          <a:xfrm>
            <a:off x="685800" y="3108960"/>
            <a:ext cx="7772400" cy="731520"/>
          </a:xfrm>
          <a:prstGeom prst="rect">
            <a:avLst/>
          </a:prstGeom>
          <a:noFill/>
        </p:spPr>
        <p:txBody>
          <a:bodyPr wrap="square" lIns="0" rIns="0" tIns="0" bIns="0" anchor="ctr">
            <a:spAutoFit/>
          </a:bodyPr>
          <a:lstStyle/>
          <a:p>
            <a:pPr algn="l"/>
            <a:r>
              <a:rPr sz="1600" b="1" i="0">
                <a:solidFill>
                  <a:srgbClr val="5D79A0"/>
                </a:solidFill>
                <a:latin typeface="Arial"/>
              </a:rPr>
              <a:t>NOTE  </a:t>
            </a:r>
            <a:r>
              <a:rPr sz="1600" b="0" i="0">
                <a:solidFill>
                  <a:srgbClr val="22262E"/>
                </a:solidFill>
                <a:latin typeface="Arial"/>
              </a:rPr>
              <a:t>Your code does not change. Only the name of the picture does.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The Finished Product</a:t>
            </a:r>
            <a:endParaRPr lang="en-US" sz="3000" dirty="0"/>
          </a:p>
        </p:txBody>
      </p:sp>
      <p:sp>
        <p:nvSpPr>
          <p:cNvPr id="3" name="5 min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5 min</a:t>
            </a:r>
            <a:endParaRPr lang="en-US" sz="1200" dirty="0"/>
          </a:p>
        </p:txBody>
      </p:sp>
      <p:sp>
        <p:nvSpPr>
          <p:cNvPr id="5" name="Text 3"/>
          <p:cNvSpPr txBox="1"/>
          <p:nvPr/>
        </p:nvSpPr>
        <p:spPr>
          <a:xfrm>
            <a:off x="457200" y="109728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Same code. Much bigger pictures.</a:t>
            </a:r>
            <a:endParaRPr lang="en-US" sz="1800" dirty="0"/>
          </a:p>
        </p:txBody>
      </p:sp>
      <p:sp>
        <p:nvSpPr>
          <p:cNvPr id="6" name="Code box"/>
          <p:cNvSpPr/>
          <p:nvPr/>
        </p:nvSpPr>
        <p:spPr>
          <a:xfrm>
            <a:off x="457200" y="1737360"/>
            <a:ext cx="8229600" cy="1261872"/>
          </a:xfrm>
          <a:prstGeom prst="rect">
            <a:avLst/>
          </a:prstGeom>
          <a:solidFill>
            <a:srgbClr val="0B2A57"/>
          </a:solidFill>
          <a:ln w="12700">
            <a:solidFill>
              <a:srgbClr val="0B2A57"/>
            </a:solidFill>
            <a:prstDash val="solid"/>
          </a:ln>
        </p:spPr>
        <p:txBody>
          <a:bodyPr/>
          <a:lstStyle/>
          <a:p>
            <a:endParaRPr lang="en-GB"/>
          </a:p>
        </p:txBody>
      </p:sp>
      <p:sp>
        <p:nvSpPr>
          <p:cNvPr id="7" name="Code bar"/>
          <p:cNvSpPr/>
          <p:nvPr/>
        </p:nvSpPr>
        <p:spPr>
          <a:xfrm>
            <a:off x="457200" y="1737360"/>
            <a:ext cx="54864" cy="1261872"/>
          </a:xfrm>
          <a:prstGeom prst="rect">
            <a:avLst/>
          </a:prstGeom>
          <a:solidFill>
            <a:srgbClr val="5D79A0"/>
          </a:solidFill>
          <a:ln w="12700">
            <a:solidFill>
              <a:srgbClr val="5D79A0"/>
            </a:solidFill>
            <a:prstDash val="solid"/>
          </a:ln>
        </p:spPr>
        <p:txBody>
          <a:bodyPr/>
          <a:lstStyle/>
          <a:p>
            <a:endParaRPr lang="en-GB"/>
          </a:p>
        </p:txBody>
      </p:sp>
      <p:sp>
        <p:nvSpPr>
          <p:cNvPr id="8" name="Text 6"/>
          <p:cNvSpPr txBox="1"/>
          <p:nvPr/>
        </p:nvSpPr>
        <p:spPr>
          <a:xfrm>
            <a:off x="640080" y="1874520"/>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1  </a:t>
            </a:r>
            <a:r>
              <a:rPr lang="en-US" sz="1800" dirty="0">
                <a:solidFill>
                  <a:srgbClr val="E6ECF5"/>
                </a:solidFill>
                <a:latin typeface="Courier New" pitchFamily="34" charset="0"/>
                <a:ea typeface="Courier New" pitchFamily="34" charset="-122"/>
                <a:cs typeface="Courier New" pitchFamily="34" charset="-120"/>
              </a:rPr>
              <a:t>show_picture(decode_picture(mystery_image_5))</a:t>
            </a:r>
            <a:endParaRPr lang="en-US" sz="1800" dirty="0"/>
          </a:p>
        </p:txBody>
      </p:sp>
      <p:sp>
        <p:nvSpPr>
          <p:cNvPr id="9" name="Text 7"/>
          <p:cNvSpPr txBox="1"/>
          <p:nvPr/>
        </p:nvSpPr>
        <p:spPr>
          <a:xfrm>
            <a:off x="640080" y="2203704"/>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2  </a:t>
            </a:r>
            <a:r>
              <a:rPr lang="en-US" sz="1800" dirty="0">
                <a:solidFill>
                  <a:srgbClr val="E6ECF5"/>
                </a:solidFill>
                <a:latin typeface="Courier New" pitchFamily="34" charset="0"/>
                <a:ea typeface="Courier New" pitchFamily="34" charset="-122"/>
                <a:cs typeface="Courier New" pitchFamily="34" charset="-120"/>
              </a:rPr>
              <a:t>show_picture(decode_picture(mystery_image_6))</a:t>
            </a:r>
            <a:endParaRPr lang="en-US" sz="1800" dirty="0"/>
          </a:p>
        </p:txBody>
      </p:sp>
      <p:sp>
        <p:nvSpPr>
          <p:cNvPr id="10" name="Text 8"/>
          <p:cNvSpPr txBox="1"/>
          <p:nvPr/>
        </p:nvSpPr>
        <p:spPr>
          <a:xfrm>
            <a:off x="640080" y="2532888"/>
            <a:ext cx="7955280" cy="329184"/>
          </a:xfrm>
          <a:prstGeom prst="rect">
            <a:avLst/>
          </a:prstGeom>
          <a:noFill/>
          <a:ln/>
        </p:spPr>
        <p:txBody>
          <a:bodyPr wrap="none" lIns="0" tIns="0" rIns="0" bIns="0" rtlCol="0" anchor="ctr"/>
          <a:lstStyle/>
          <a:p>
            <a:pPr marL="0" indent="0">
              <a:buNone/>
            </a:pPr>
            <a:r>
              <a:rPr lang="en-US" sz="1800" dirty="0">
                <a:solidFill>
                  <a:srgbClr val="6F86A8"/>
                </a:solidFill>
                <a:latin typeface="Courier New" pitchFamily="34" charset="0"/>
                <a:ea typeface="Courier New" pitchFamily="34" charset="-122"/>
                <a:cs typeface="Courier New" pitchFamily="34" charset="-120"/>
              </a:rPr>
              <a:t> 3  </a:t>
            </a:r>
            <a:r>
              <a:rPr lang="en-US" sz="1800" dirty="0">
                <a:solidFill>
                  <a:srgbClr val="E6ECF5"/>
                </a:solidFill>
                <a:latin typeface="Courier New" pitchFamily="34" charset="0"/>
                <a:ea typeface="Courier New" pitchFamily="34" charset="-122"/>
                <a:cs typeface="Courier New" pitchFamily="34" charset="-120"/>
              </a:rPr>
              <a:t>show_picture(decode_picture(mystery_image_7))</a:t>
            </a:r>
            <a:endParaRPr lang="en-US" sz="1800" dirty="0"/>
          </a:p>
        </p:txBody>
      </p:sp>
      <p:sp>
        <p:nvSpPr>
          <p:cNvPr id="11" name="Text 9"/>
          <p:cNvSpPr txBox="1"/>
          <p:nvPr/>
        </p:nvSpPr>
        <p:spPr>
          <a:xfrm>
            <a:off x="457200" y="356616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the next slides show what your plots should look like</a:t>
            </a:r>
            <a:endParaRPr lang="en-US" sz="1400" dirty="0"/>
          </a:p>
        </p:txBody>
      </p:sp>
      <p:sp>
        <p:nvSpPr>
          <p:cNvPr id="12"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56</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#5: the clues (1 of 4)</a:t>
            </a:r>
            <a:endParaRPr lang="en-US" sz="3000" dirty="0"/>
          </a:p>
        </p:txBody>
      </p:sp>
      <p:sp>
        <p:nvSpPr>
          <p:cNvPr id="3" name="@1 Clue card"/>
          <p:cNvSpPr/>
          <p:nvPr/>
        </p:nvSpPr>
        <p:spPr>
          <a:xfrm>
            <a:off x="45720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1  </a:t>
            </a:r>
            <a:r>
              <a:rPr lang="en-US" sz="1600" b="1" dirty="0">
                <a:solidFill>
                  <a:srgbClr val="002D6A"/>
                </a:solidFill>
                <a:latin typeface="Courier New" pitchFamily="34" charset="0"/>
                <a:ea typeface="Courier New" pitchFamily="34" charset="-122"/>
                <a:cs typeface="Courier New" pitchFamily="34" charset="-120"/>
              </a:rPr>
              <a:t>27, 17, 3</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2  </a:t>
            </a:r>
            <a:r>
              <a:rPr lang="en-US" sz="1600" b="1" dirty="0">
                <a:solidFill>
                  <a:srgbClr val="002D6A"/>
                </a:solidFill>
                <a:latin typeface="Courier New" pitchFamily="34" charset="0"/>
                <a:ea typeface="Courier New" pitchFamily="34" charset="-122"/>
                <a:cs typeface="Courier New" pitchFamily="34" charset="-120"/>
              </a:rPr>
              <a:t>27, 17, 3</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3  </a:t>
            </a:r>
            <a:r>
              <a:rPr lang="en-US" sz="1600" b="1" dirty="0">
                <a:solidFill>
                  <a:srgbClr val="002D6A"/>
                </a:solidFill>
                <a:latin typeface="Courier New" pitchFamily="34" charset="0"/>
                <a:ea typeface="Courier New" pitchFamily="34" charset="-122"/>
                <a:cs typeface="Courier New" pitchFamily="34" charset="-120"/>
              </a:rPr>
              <a:t>25, 19, 3</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4  </a:t>
            </a:r>
            <a:r>
              <a:rPr lang="en-US" sz="1600" b="1" dirty="0">
                <a:solidFill>
                  <a:srgbClr val="002D6A"/>
                </a:solidFill>
                <a:latin typeface="Courier New" pitchFamily="34" charset="0"/>
                <a:ea typeface="Courier New" pitchFamily="34" charset="-122"/>
                <a:cs typeface="Courier New" pitchFamily="34" charset="-120"/>
              </a:rPr>
              <a:t>25, 19, 3</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5  </a:t>
            </a:r>
            <a:r>
              <a:rPr lang="en-US" sz="1600" b="1" dirty="0">
                <a:solidFill>
                  <a:srgbClr val="002D6A"/>
                </a:solidFill>
                <a:latin typeface="Courier New" pitchFamily="34" charset="0"/>
                <a:ea typeface="Courier New" pitchFamily="34" charset="-122"/>
                <a:cs typeface="Courier New" pitchFamily="34" charset="-120"/>
              </a:rPr>
              <a:t>25, 19, 3</a:t>
            </a:r>
            <a:endParaRPr lang="en-US" sz="1600" dirty="0"/>
          </a:p>
        </p:txBody>
      </p:sp>
      <p:sp>
        <p:nvSpPr>
          <p:cNvPr id="9" name="@1 addText"/>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6  </a:t>
            </a:r>
            <a:r>
              <a:rPr lang="en-US" sz="1600" b="1" dirty="0">
                <a:solidFill>
                  <a:srgbClr val="002D6A"/>
                </a:solidFill>
                <a:latin typeface="Courier New" pitchFamily="34" charset="0"/>
                <a:ea typeface="Courier New" pitchFamily="34" charset="-122"/>
                <a:cs typeface="Courier New" pitchFamily="34" charset="-120"/>
              </a:rPr>
              <a:t>25, 6, 4, 9, 3</a:t>
            </a:r>
            <a:endParaRPr lang="en-US" sz="1600" dirty="0"/>
          </a:p>
        </p:txBody>
      </p:sp>
      <p:sp>
        <p:nvSpPr>
          <p:cNvPr id="10" name="@2 Clue card"/>
          <p:cNvSpPr/>
          <p:nvPr/>
        </p:nvSpPr>
        <p:spPr>
          <a:xfrm>
            <a:off x="475488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11"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7  </a:t>
            </a:r>
            <a:r>
              <a:rPr lang="en-US" sz="1600" b="1" dirty="0">
                <a:solidFill>
                  <a:srgbClr val="002D6A"/>
                </a:solidFill>
                <a:latin typeface="Courier New" pitchFamily="34" charset="0"/>
                <a:ea typeface="Courier New" pitchFamily="34" charset="-122"/>
                <a:cs typeface="Courier New" pitchFamily="34" charset="-120"/>
              </a:rPr>
              <a:t>25, 6, 1, 2, 1, 9, 3</a:t>
            </a:r>
            <a:endParaRPr lang="en-US" sz="1600" dirty="0"/>
          </a:p>
        </p:txBody>
      </p:sp>
      <p:sp>
        <p:nvSpPr>
          <p:cNvPr id="12"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8  </a:t>
            </a:r>
            <a:r>
              <a:rPr lang="en-US" sz="1600" b="1" dirty="0">
                <a:solidFill>
                  <a:srgbClr val="002D6A"/>
                </a:solidFill>
                <a:latin typeface="Courier New" pitchFamily="34" charset="0"/>
                <a:ea typeface="Courier New" pitchFamily="34" charset="-122"/>
                <a:cs typeface="Courier New" pitchFamily="34" charset="-120"/>
              </a:rPr>
              <a:t>25, 6, 1, 2, 1, 9, 3</a:t>
            </a:r>
            <a:endParaRPr lang="en-US" sz="1600" dirty="0"/>
          </a:p>
        </p:txBody>
      </p:sp>
      <p:sp>
        <p:nvSpPr>
          <p:cNvPr id="13"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9  </a:t>
            </a:r>
            <a:r>
              <a:rPr lang="en-US" sz="1600" b="1" dirty="0">
                <a:solidFill>
                  <a:srgbClr val="002D6A"/>
                </a:solidFill>
                <a:latin typeface="Courier New" pitchFamily="34" charset="0"/>
                <a:ea typeface="Courier New" pitchFamily="34" charset="-122"/>
                <a:cs typeface="Courier New" pitchFamily="34" charset="-120"/>
              </a:rPr>
              <a:t>25, 6, 4, 9, 3</a:t>
            </a:r>
            <a:endParaRPr lang="en-US" sz="1600" dirty="0"/>
          </a:p>
        </p:txBody>
      </p:sp>
      <p:sp>
        <p:nvSpPr>
          <p:cNvPr id="14"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10  </a:t>
            </a:r>
            <a:r>
              <a:rPr lang="en-US" sz="1600" b="1" dirty="0">
                <a:solidFill>
                  <a:srgbClr val="002D6A"/>
                </a:solidFill>
                <a:latin typeface="Courier New" pitchFamily="34" charset="0"/>
                <a:ea typeface="Courier New" pitchFamily="34" charset="-122"/>
                <a:cs typeface="Courier New" pitchFamily="34" charset="-120"/>
              </a:rPr>
              <a:t>25, 19, 3</a:t>
            </a:r>
            <a:endParaRPr lang="en-US" sz="1600" dirty="0"/>
          </a:p>
        </p:txBody>
      </p:sp>
      <p:sp>
        <p:nvSpPr>
          <p:cNvPr id="15"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11  </a:t>
            </a:r>
            <a:r>
              <a:rPr lang="en-US" sz="1600" b="1" dirty="0">
                <a:solidFill>
                  <a:srgbClr val="002D6A"/>
                </a:solidFill>
                <a:latin typeface="Courier New" pitchFamily="34" charset="0"/>
                <a:ea typeface="Courier New" pitchFamily="34" charset="-122"/>
                <a:cs typeface="Courier New" pitchFamily="34" charset="-120"/>
              </a:rPr>
              <a:t>25, 19, 3</a:t>
            </a:r>
            <a:endParaRPr lang="en-US" sz="1600" dirty="0"/>
          </a:p>
        </p:txBody>
      </p:sp>
      <p:sp>
        <p:nvSpPr>
          <p:cNvPr id="16" name="@2 addText"/>
          <p:cNvSpPr txBox="1"/>
          <p:nvPr/>
        </p:nvSpPr>
        <p:spPr>
          <a:xfrm>
            <a:off x="502920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12  </a:t>
            </a:r>
            <a:r>
              <a:rPr lang="en-US" sz="1600" b="1" dirty="0">
                <a:solidFill>
                  <a:srgbClr val="002D6A"/>
                </a:solidFill>
                <a:latin typeface="Courier New" pitchFamily="34" charset="0"/>
                <a:ea typeface="Courier New" pitchFamily="34" charset="-122"/>
                <a:cs typeface="Courier New" pitchFamily="34" charset="-120"/>
              </a:rPr>
              <a:t>25, 19, 3</a:t>
            </a:r>
            <a:endParaRPr lang="en-US" sz="1600" dirty="0"/>
          </a:p>
        </p:txBody>
      </p:sp>
      <p:sp>
        <p:nvSpPr>
          <p:cNvPr id="17" name="Text 15"/>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rows 1 to 12</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#5: the clues (2 of 4)</a:t>
            </a:r>
            <a:endParaRPr lang="en-US" sz="3000" dirty="0"/>
          </a:p>
        </p:txBody>
      </p:sp>
      <p:sp>
        <p:nvSpPr>
          <p:cNvPr id="3" name="@1 Clue card"/>
          <p:cNvSpPr/>
          <p:nvPr/>
        </p:nvSpPr>
        <p:spPr>
          <a:xfrm>
            <a:off x="45720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13  </a:t>
            </a:r>
            <a:r>
              <a:rPr lang="en-US" sz="1600" b="1" dirty="0">
                <a:solidFill>
                  <a:srgbClr val="002D6A"/>
                </a:solidFill>
                <a:latin typeface="Courier New" pitchFamily="34" charset="0"/>
                <a:ea typeface="Courier New" pitchFamily="34" charset="-122"/>
                <a:cs typeface="Courier New" pitchFamily="34" charset="-120"/>
              </a:rPr>
              <a:t>25, 19, 3</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14  </a:t>
            </a:r>
            <a:r>
              <a:rPr lang="en-US" sz="1600" b="1" dirty="0">
                <a:solidFill>
                  <a:srgbClr val="002D6A"/>
                </a:solidFill>
                <a:latin typeface="Courier New" pitchFamily="34" charset="0"/>
                <a:ea typeface="Courier New" pitchFamily="34" charset="-122"/>
                <a:cs typeface="Courier New" pitchFamily="34" charset="-120"/>
              </a:rPr>
              <a:t>25, 19, 3</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15  </a:t>
            </a:r>
            <a:r>
              <a:rPr lang="en-US" sz="1600" b="1" dirty="0">
                <a:solidFill>
                  <a:srgbClr val="002D6A"/>
                </a:solidFill>
                <a:latin typeface="Courier New" pitchFamily="34" charset="0"/>
                <a:ea typeface="Courier New" pitchFamily="34" charset="-122"/>
                <a:cs typeface="Courier New" pitchFamily="34" charset="-120"/>
              </a:rPr>
              <a:t>25, 19, 3</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16  </a:t>
            </a:r>
            <a:r>
              <a:rPr lang="en-US" sz="1600" b="1" dirty="0">
                <a:solidFill>
                  <a:srgbClr val="002D6A"/>
                </a:solidFill>
                <a:latin typeface="Courier New" pitchFamily="34" charset="0"/>
                <a:ea typeface="Courier New" pitchFamily="34" charset="-122"/>
                <a:cs typeface="Courier New" pitchFamily="34" charset="-120"/>
              </a:rPr>
              <a:t>7, 4, 12, 21, 3</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17  </a:t>
            </a:r>
            <a:r>
              <a:rPr lang="en-US" sz="1600" b="1" dirty="0">
                <a:solidFill>
                  <a:srgbClr val="002D6A"/>
                </a:solidFill>
                <a:latin typeface="Courier New" pitchFamily="34" charset="0"/>
                <a:ea typeface="Courier New" pitchFamily="34" charset="-122"/>
                <a:cs typeface="Courier New" pitchFamily="34" charset="-120"/>
              </a:rPr>
              <a:t>7, 4, 12, 21, 3</a:t>
            </a:r>
            <a:endParaRPr lang="en-US" sz="1600" dirty="0"/>
          </a:p>
        </p:txBody>
      </p:sp>
      <p:sp>
        <p:nvSpPr>
          <p:cNvPr id="9" name="@1 addText"/>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18  </a:t>
            </a:r>
            <a:r>
              <a:rPr lang="en-US" sz="1600" b="1" dirty="0">
                <a:solidFill>
                  <a:srgbClr val="002D6A"/>
                </a:solidFill>
                <a:latin typeface="Courier New" pitchFamily="34" charset="0"/>
                <a:ea typeface="Courier New" pitchFamily="34" charset="-122"/>
                <a:cs typeface="Courier New" pitchFamily="34" charset="-120"/>
              </a:rPr>
              <a:t>5, 6, 9, 24, 3</a:t>
            </a:r>
            <a:endParaRPr lang="en-US" sz="1600" dirty="0"/>
          </a:p>
        </p:txBody>
      </p:sp>
      <p:sp>
        <p:nvSpPr>
          <p:cNvPr id="10" name="@2 Clue card"/>
          <p:cNvSpPr/>
          <p:nvPr/>
        </p:nvSpPr>
        <p:spPr>
          <a:xfrm>
            <a:off x="475488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11"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19  </a:t>
            </a:r>
            <a:r>
              <a:rPr lang="en-US" sz="1600" b="1" dirty="0">
                <a:solidFill>
                  <a:srgbClr val="002D6A"/>
                </a:solidFill>
                <a:latin typeface="Courier New" pitchFamily="34" charset="0"/>
                <a:ea typeface="Courier New" pitchFamily="34" charset="-122"/>
                <a:cs typeface="Courier New" pitchFamily="34" charset="-120"/>
              </a:rPr>
              <a:t>5, 6, 9, 24, 3</a:t>
            </a:r>
            <a:endParaRPr lang="en-US" sz="1600" dirty="0"/>
          </a:p>
        </p:txBody>
      </p:sp>
      <p:sp>
        <p:nvSpPr>
          <p:cNvPr id="12"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20  </a:t>
            </a:r>
            <a:r>
              <a:rPr lang="en-US" sz="1600" b="1" dirty="0">
                <a:solidFill>
                  <a:srgbClr val="002D6A"/>
                </a:solidFill>
                <a:latin typeface="Courier New" pitchFamily="34" charset="0"/>
                <a:ea typeface="Courier New" pitchFamily="34" charset="-122"/>
                <a:cs typeface="Courier New" pitchFamily="34" charset="-120"/>
              </a:rPr>
              <a:t>3, 8, 6, 24, 6</a:t>
            </a:r>
            <a:endParaRPr lang="en-US" sz="1600" dirty="0"/>
          </a:p>
        </p:txBody>
      </p:sp>
      <p:sp>
        <p:nvSpPr>
          <p:cNvPr id="13"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21  </a:t>
            </a:r>
            <a:r>
              <a:rPr lang="en-US" sz="1600" b="1" dirty="0">
                <a:solidFill>
                  <a:srgbClr val="002D6A"/>
                </a:solidFill>
                <a:latin typeface="Courier New" pitchFamily="34" charset="0"/>
                <a:ea typeface="Courier New" pitchFamily="34" charset="-122"/>
                <a:cs typeface="Courier New" pitchFamily="34" charset="-120"/>
              </a:rPr>
              <a:t>3, 1, 1, 6, 6, 24, 6</a:t>
            </a:r>
            <a:endParaRPr lang="en-US" sz="1600" dirty="0"/>
          </a:p>
        </p:txBody>
      </p:sp>
      <p:sp>
        <p:nvSpPr>
          <p:cNvPr id="14"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22  </a:t>
            </a:r>
            <a:r>
              <a:rPr lang="en-US" sz="1600" b="1" dirty="0">
                <a:solidFill>
                  <a:srgbClr val="002D6A"/>
                </a:solidFill>
                <a:latin typeface="Courier New" pitchFamily="34" charset="0"/>
                <a:ea typeface="Courier New" pitchFamily="34" charset="-122"/>
                <a:cs typeface="Courier New" pitchFamily="34" charset="-120"/>
              </a:rPr>
              <a:t>5, 36, 6</a:t>
            </a:r>
            <a:endParaRPr lang="en-US" sz="1600" dirty="0"/>
          </a:p>
        </p:txBody>
      </p:sp>
      <p:sp>
        <p:nvSpPr>
          <p:cNvPr id="15"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23  </a:t>
            </a:r>
            <a:r>
              <a:rPr lang="en-US" sz="1600" b="1" dirty="0">
                <a:solidFill>
                  <a:srgbClr val="002D6A"/>
                </a:solidFill>
                <a:latin typeface="Courier New" pitchFamily="34" charset="0"/>
                <a:ea typeface="Courier New" pitchFamily="34" charset="-122"/>
                <a:cs typeface="Courier New" pitchFamily="34" charset="-120"/>
              </a:rPr>
              <a:t>5, 36, 6</a:t>
            </a:r>
            <a:endParaRPr lang="en-US" sz="1600" dirty="0"/>
          </a:p>
        </p:txBody>
      </p:sp>
      <p:sp>
        <p:nvSpPr>
          <p:cNvPr id="16" name="@2 addText"/>
          <p:cNvSpPr txBox="1"/>
          <p:nvPr/>
        </p:nvSpPr>
        <p:spPr>
          <a:xfrm>
            <a:off x="502920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24  </a:t>
            </a:r>
            <a:r>
              <a:rPr lang="en-US" sz="1600" b="1" dirty="0">
                <a:solidFill>
                  <a:srgbClr val="002D6A"/>
                </a:solidFill>
                <a:latin typeface="Courier New" pitchFamily="34" charset="0"/>
                <a:ea typeface="Courier New" pitchFamily="34" charset="-122"/>
                <a:cs typeface="Courier New" pitchFamily="34" charset="-120"/>
              </a:rPr>
              <a:t>5, 36, 6</a:t>
            </a:r>
            <a:endParaRPr lang="en-US" sz="1600" dirty="0"/>
          </a:p>
        </p:txBody>
      </p:sp>
      <p:sp>
        <p:nvSpPr>
          <p:cNvPr id="17" name="Text 15"/>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rows 13 to 24</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#5: the clues (3 of 4)</a:t>
            </a:r>
            <a:endParaRPr lang="en-US" sz="3000" dirty="0"/>
          </a:p>
        </p:txBody>
      </p:sp>
      <p:sp>
        <p:nvSpPr>
          <p:cNvPr id="3" name="@1 Clue card"/>
          <p:cNvSpPr/>
          <p:nvPr/>
        </p:nvSpPr>
        <p:spPr>
          <a:xfrm>
            <a:off x="45720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25  </a:t>
            </a:r>
            <a:r>
              <a:rPr lang="en-US" sz="1600" b="1" dirty="0">
                <a:solidFill>
                  <a:srgbClr val="002D6A"/>
                </a:solidFill>
                <a:latin typeface="Courier New" pitchFamily="34" charset="0"/>
                <a:ea typeface="Courier New" pitchFamily="34" charset="-122"/>
                <a:cs typeface="Courier New" pitchFamily="34" charset="-120"/>
              </a:rPr>
              <a:t>5, 36, 6</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26  </a:t>
            </a:r>
            <a:r>
              <a:rPr lang="en-US" sz="1600" b="1" dirty="0">
                <a:solidFill>
                  <a:srgbClr val="002D6A"/>
                </a:solidFill>
                <a:latin typeface="Courier New" pitchFamily="34" charset="0"/>
                <a:ea typeface="Courier New" pitchFamily="34" charset="-122"/>
                <a:cs typeface="Courier New" pitchFamily="34" charset="-120"/>
              </a:rPr>
              <a:t>5, 36, 6</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27  </a:t>
            </a:r>
            <a:r>
              <a:rPr lang="en-US" sz="1600" b="1" dirty="0">
                <a:solidFill>
                  <a:srgbClr val="002D6A"/>
                </a:solidFill>
                <a:latin typeface="Courier New" pitchFamily="34" charset="0"/>
                <a:ea typeface="Courier New" pitchFamily="34" charset="-122"/>
                <a:cs typeface="Courier New" pitchFamily="34" charset="-120"/>
              </a:rPr>
              <a:t>5, 36, 6</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28  </a:t>
            </a:r>
            <a:r>
              <a:rPr lang="en-US" sz="1600" b="1" dirty="0">
                <a:solidFill>
                  <a:srgbClr val="002D6A"/>
                </a:solidFill>
                <a:latin typeface="Courier New" pitchFamily="34" charset="0"/>
                <a:ea typeface="Courier New" pitchFamily="34" charset="-122"/>
                <a:cs typeface="Courier New" pitchFamily="34" charset="-120"/>
              </a:rPr>
              <a:t>5, 32, 10</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29  </a:t>
            </a:r>
            <a:r>
              <a:rPr lang="en-US" sz="1600" b="1" dirty="0">
                <a:solidFill>
                  <a:srgbClr val="002D6A"/>
                </a:solidFill>
                <a:latin typeface="Courier New" pitchFamily="34" charset="0"/>
                <a:ea typeface="Courier New" pitchFamily="34" charset="-122"/>
                <a:cs typeface="Courier New" pitchFamily="34" charset="-120"/>
              </a:rPr>
              <a:t>5, 32, 10</a:t>
            </a:r>
            <a:endParaRPr lang="en-US" sz="1600" dirty="0"/>
          </a:p>
        </p:txBody>
      </p:sp>
      <p:sp>
        <p:nvSpPr>
          <p:cNvPr id="9" name="@1 addText"/>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30  </a:t>
            </a:r>
            <a:r>
              <a:rPr lang="en-US" sz="1600" b="1" dirty="0">
                <a:solidFill>
                  <a:srgbClr val="002D6A"/>
                </a:solidFill>
                <a:latin typeface="Courier New" pitchFamily="34" charset="0"/>
                <a:ea typeface="Courier New" pitchFamily="34" charset="-122"/>
                <a:cs typeface="Courier New" pitchFamily="34" charset="-120"/>
              </a:rPr>
              <a:t>7, 30, 10</a:t>
            </a:r>
            <a:endParaRPr lang="en-US" sz="1600" dirty="0"/>
          </a:p>
        </p:txBody>
      </p:sp>
      <p:sp>
        <p:nvSpPr>
          <p:cNvPr id="10" name="@2 Clue card"/>
          <p:cNvSpPr/>
          <p:nvPr/>
        </p:nvSpPr>
        <p:spPr>
          <a:xfrm>
            <a:off x="475488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11"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31  </a:t>
            </a:r>
            <a:r>
              <a:rPr lang="en-US" sz="1600" b="1" dirty="0">
                <a:solidFill>
                  <a:srgbClr val="002D6A"/>
                </a:solidFill>
                <a:latin typeface="Courier New" pitchFamily="34" charset="0"/>
                <a:ea typeface="Courier New" pitchFamily="34" charset="-122"/>
                <a:cs typeface="Courier New" pitchFamily="34" charset="-120"/>
              </a:rPr>
              <a:t>7, 28, 12</a:t>
            </a:r>
            <a:endParaRPr lang="en-US" sz="1600" dirty="0"/>
          </a:p>
        </p:txBody>
      </p:sp>
      <p:sp>
        <p:nvSpPr>
          <p:cNvPr id="12"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32  </a:t>
            </a:r>
            <a:r>
              <a:rPr lang="en-US" sz="1600" b="1" dirty="0">
                <a:solidFill>
                  <a:srgbClr val="002D6A"/>
                </a:solidFill>
                <a:latin typeface="Courier New" pitchFamily="34" charset="0"/>
                <a:ea typeface="Courier New" pitchFamily="34" charset="-122"/>
                <a:cs typeface="Courier New" pitchFamily="34" charset="-120"/>
              </a:rPr>
              <a:t>9, 26, 12</a:t>
            </a:r>
            <a:endParaRPr lang="en-US" sz="1600" dirty="0"/>
          </a:p>
        </p:txBody>
      </p:sp>
      <p:sp>
        <p:nvSpPr>
          <p:cNvPr id="13"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33  </a:t>
            </a:r>
            <a:r>
              <a:rPr lang="en-US" sz="1600" b="1" dirty="0">
                <a:solidFill>
                  <a:srgbClr val="002D6A"/>
                </a:solidFill>
                <a:latin typeface="Courier New" pitchFamily="34" charset="0"/>
                <a:ea typeface="Courier New" pitchFamily="34" charset="-122"/>
                <a:cs typeface="Courier New" pitchFamily="34" charset="-120"/>
              </a:rPr>
              <a:t>9, 26, 12</a:t>
            </a:r>
            <a:endParaRPr lang="en-US" sz="1600" dirty="0"/>
          </a:p>
        </p:txBody>
      </p:sp>
      <p:sp>
        <p:nvSpPr>
          <p:cNvPr id="14"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34  </a:t>
            </a:r>
            <a:r>
              <a:rPr lang="en-US" sz="1600" b="1" dirty="0">
                <a:solidFill>
                  <a:srgbClr val="002D6A"/>
                </a:solidFill>
                <a:latin typeface="Courier New" pitchFamily="34" charset="0"/>
                <a:ea typeface="Courier New" pitchFamily="34" charset="-122"/>
                <a:cs typeface="Courier New" pitchFamily="34" charset="-120"/>
              </a:rPr>
              <a:t>11, 24, 12</a:t>
            </a:r>
            <a:endParaRPr lang="en-US" sz="1600" dirty="0"/>
          </a:p>
        </p:txBody>
      </p:sp>
      <p:sp>
        <p:nvSpPr>
          <p:cNvPr id="15"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35  </a:t>
            </a:r>
            <a:r>
              <a:rPr lang="en-US" sz="1600" b="1" dirty="0">
                <a:solidFill>
                  <a:srgbClr val="002D6A"/>
                </a:solidFill>
                <a:latin typeface="Courier New" pitchFamily="34" charset="0"/>
                <a:ea typeface="Courier New" pitchFamily="34" charset="-122"/>
                <a:cs typeface="Courier New" pitchFamily="34" charset="-120"/>
              </a:rPr>
              <a:t>11, 24, 12</a:t>
            </a:r>
            <a:endParaRPr lang="en-US" sz="1600" dirty="0"/>
          </a:p>
        </p:txBody>
      </p:sp>
      <p:sp>
        <p:nvSpPr>
          <p:cNvPr id="16" name="@2 addText"/>
          <p:cNvSpPr txBox="1"/>
          <p:nvPr/>
        </p:nvSpPr>
        <p:spPr>
          <a:xfrm>
            <a:off x="502920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36  </a:t>
            </a:r>
            <a:r>
              <a:rPr lang="en-US" sz="1600" b="1" dirty="0">
                <a:solidFill>
                  <a:srgbClr val="002D6A"/>
                </a:solidFill>
                <a:latin typeface="Courier New" pitchFamily="34" charset="0"/>
                <a:ea typeface="Courier New" pitchFamily="34" charset="-122"/>
                <a:cs typeface="Courier New" pitchFamily="34" charset="-120"/>
              </a:rPr>
              <a:t>13, 20, 14</a:t>
            </a:r>
            <a:endParaRPr lang="en-US" sz="1600" dirty="0"/>
          </a:p>
        </p:txBody>
      </p:sp>
      <p:sp>
        <p:nvSpPr>
          <p:cNvPr id="17" name="Text 15"/>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rows 25 to 36</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59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#5: the clues (4 of 4)</a:t>
            </a:r>
            <a:endParaRPr lang="en-US" sz="3000" dirty="0"/>
          </a:p>
        </p:txBody>
      </p:sp>
      <p:sp>
        <p:nvSpPr>
          <p:cNvPr id="3" name="@1 Clue card"/>
          <p:cNvSpPr/>
          <p:nvPr/>
        </p:nvSpPr>
        <p:spPr>
          <a:xfrm>
            <a:off x="45720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37  </a:t>
            </a:r>
            <a:r>
              <a:rPr lang="en-US" sz="1600" b="1" dirty="0">
                <a:solidFill>
                  <a:srgbClr val="002D6A"/>
                </a:solidFill>
                <a:latin typeface="Courier New" pitchFamily="34" charset="0"/>
                <a:ea typeface="Courier New" pitchFamily="34" charset="-122"/>
                <a:cs typeface="Courier New" pitchFamily="34" charset="-120"/>
              </a:rPr>
              <a:t>13, 20, 14</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38  </a:t>
            </a:r>
            <a:r>
              <a:rPr lang="en-US" sz="1600" b="1" dirty="0">
                <a:solidFill>
                  <a:srgbClr val="002D6A"/>
                </a:solidFill>
                <a:latin typeface="Courier New" pitchFamily="34" charset="0"/>
                <a:ea typeface="Courier New" pitchFamily="34" charset="-122"/>
                <a:cs typeface="Courier New" pitchFamily="34" charset="-120"/>
              </a:rPr>
              <a:t>13, 20, 14</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39  </a:t>
            </a:r>
            <a:r>
              <a:rPr lang="en-US" sz="1600" b="1" dirty="0">
                <a:solidFill>
                  <a:srgbClr val="002D6A"/>
                </a:solidFill>
                <a:latin typeface="Courier New" pitchFamily="34" charset="0"/>
                <a:ea typeface="Courier New" pitchFamily="34" charset="-122"/>
                <a:cs typeface="Courier New" pitchFamily="34" charset="-120"/>
              </a:rPr>
              <a:t>13, 20, 14</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40  </a:t>
            </a:r>
            <a:r>
              <a:rPr lang="en-US" sz="1600" b="1" dirty="0">
                <a:solidFill>
                  <a:srgbClr val="002D6A"/>
                </a:solidFill>
                <a:latin typeface="Courier New" pitchFamily="34" charset="0"/>
                <a:ea typeface="Courier New" pitchFamily="34" charset="-122"/>
                <a:cs typeface="Courier New" pitchFamily="34" charset="-120"/>
              </a:rPr>
              <a:t>15, 8, 2, 6, 16</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41  </a:t>
            </a:r>
            <a:r>
              <a:rPr lang="en-US" sz="1600" b="1" dirty="0">
                <a:solidFill>
                  <a:srgbClr val="002D6A"/>
                </a:solidFill>
                <a:latin typeface="Courier New" pitchFamily="34" charset="0"/>
                <a:ea typeface="Courier New" pitchFamily="34" charset="-122"/>
                <a:cs typeface="Courier New" pitchFamily="34" charset="-120"/>
              </a:rPr>
              <a:t>15, 8, 2, 6, 16</a:t>
            </a:r>
            <a:endParaRPr lang="en-US" sz="1600" dirty="0"/>
          </a:p>
        </p:txBody>
      </p:sp>
      <p:sp>
        <p:nvSpPr>
          <p:cNvPr id="9" name="@1 addText"/>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42  </a:t>
            </a:r>
            <a:r>
              <a:rPr lang="en-US" sz="1600" b="1" dirty="0">
                <a:solidFill>
                  <a:srgbClr val="002D6A"/>
                </a:solidFill>
                <a:latin typeface="Courier New" pitchFamily="34" charset="0"/>
                <a:ea typeface="Courier New" pitchFamily="34" charset="-122"/>
                <a:cs typeface="Courier New" pitchFamily="34" charset="-120"/>
              </a:rPr>
              <a:t>15, 6, 4, 6, 16</a:t>
            </a:r>
            <a:endParaRPr lang="en-US" sz="1600" dirty="0"/>
          </a:p>
        </p:txBody>
      </p:sp>
      <p:sp>
        <p:nvSpPr>
          <p:cNvPr id="10" name="@2 Clue card"/>
          <p:cNvSpPr/>
          <p:nvPr/>
        </p:nvSpPr>
        <p:spPr>
          <a:xfrm>
            <a:off x="475488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11"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43  </a:t>
            </a:r>
            <a:r>
              <a:rPr lang="en-US" sz="1600" b="1" dirty="0">
                <a:solidFill>
                  <a:srgbClr val="002D6A"/>
                </a:solidFill>
                <a:latin typeface="Courier New" pitchFamily="34" charset="0"/>
                <a:ea typeface="Courier New" pitchFamily="34" charset="-122"/>
                <a:cs typeface="Courier New" pitchFamily="34" charset="-120"/>
              </a:rPr>
              <a:t>15, 6, 4, 6, 16</a:t>
            </a:r>
            <a:endParaRPr lang="en-US" sz="1600" dirty="0"/>
          </a:p>
        </p:txBody>
      </p:sp>
      <p:sp>
        <p:nvSpPr>
          <p:cNvPr id="12"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44  </a:t>
            </a:r>
            <a:r>
              <a:rPr lang="en-US" sz="1600" b="1" dirty="0">
                <a:solidFill>
                  <a:srgbClr val="002D6A"/>
                </a:solidFill>
                <a:latin typeface="Courier New" pitchFamily="34" charset="0"/>
                <a:ea typeface="Courier New" pitchFamily="34" charset="-122"/>
                <a:cs typeface="Courier New" pitchFamily="34" charset="-120"/>
              </a:rPr>
              <a:t>15, 8, 2, 8, 14</a:t>
            </a:r>
            <a:endParaRPr lang="en-US" sz="1600" dirty="0"/>
          </a:p>
        </p:txBody>
      </p:sp>
      <p:sp>
        <p:nvSpPr>
          <p:cNvPr id="13"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45  </a:t>
            </a:r>
            <a:r>
              <a:rPr lang="en-US" sz="1600" b="1" dirty="0">
                <a:solidFill>
                  <a:srgbClr val="002D6A"/>
                </a:solidFill>
                <a:latin typeface="Courier New" pitchFamily="34" charset="0"/>
                <a:ea typeface="Courier New" pitchFamily="34" charset="-122"/>
                <a:cs typeface="Courier New" pitchFamily="34" charset="-120"/>
              </a:rPr>
              <a:t>15, 8, 2, 8, 14</a:t>
            </a:r>
            <a:endParaRPr lang="en-US" sz="1600" dirty="0"/>
          </a:p>
        </p:txBody>
      </p:sp>
      <p:sp>
        <p:nvSpPr>
          <p:cNvPr id="14"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46  </a:t>
            </a:r>
            <a:r>
              <a:rPr lang="en-US" sz="1600" b="1" dirty="0">
                <a:solidFill>
                  <a:srgbClr val="002D6A"/>
                </a:solidFill>
                <a:latin typeface="Courier New" pitchFamily="34" charset="0"/>
                <a:ea typeface="Courier New" pitchFamily="34" charset="-122"/>
                <a:cs typeface="Courier New" pitchFamily="34" charset="-120"/>
              </a:rPr>
              <a:t>15, 8, 2, 8, 14</a:t>
            </a:r>
            <a:endParaRPr lang="en-US" sz="1600" dirty="0"/>
          </a:p>
        </p:txBody>
      </p:sp>
      <p:sp>
        <p:nvSpPr>
          <p:cNvPr id="15"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47  </a:t>
            </a:r>
            <a:r>
              <a:rPr lang="en-US" sz="1600" b="1" dirty="0">
                <a:solidFill>
                  <a:srgbClr val="002D6A"/>
                </a:solidFill>
                <a:latin typeface="Courier New" pitchFamily="34" charset="0"/>
                <a:ea typeface="Courier New" pitchFamily="34" charset="-122"/>
                <a:cs typeface="Courier New" pitchFamily="34" charset="-120"/>
              </a:rPr>
              <a:t>15, 8, 2, 8, 14</a:t>
            </a:r>
            <a:endParaRPr lang="en-US" sz="1600" dirty="0"/>
          </a:p>
        </p:txBody>
      </p:sp>
      <p:sp>
        <p:nvSpPr>
          <p:cNvPr id="16" name="Text 14"/>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next slide: the decoded picture</a:t>
            </a:r>
            <a:endParaRPr lang="en-US" sz="1400" dirty="0"/>
          </a:p>
        </p:txBody>
      </p:sp>
      <p:sp>
        <p:nvSpPr>
          <p:cNvPr id="1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Decoding messages #5: decoded</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A dinosaur on a 47 by 47 grid, decoded from the clues"/>
          <p:cNvPicPr>
            <a:picLocks noChangeAspect="1"/>
          </p:cNvPicPr>
          <p:nvPr/>
        </p:nvPicPr>
        <p:blipFill>
          <a:blip r:embed="rId3"/>
          <a:stretch>
            <a:fillRect/>
          </a:stretch>
        </p:blipFill>
        <p:spPr>
          <a:xfrm>
            <a:off x="2743200" y="1051560"/>
            <a:ext cx="3657600" cy="3657600"/>
          </a:xfrm>
          <a:prstGeom prst="rect">
            <a:avLst/>
          </a:prstGeom>
        </p:spPr>
      </p:pic>
      <p:sp>
        <p:nvSpPr>
          <p:cNvPr id="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61</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#6: the clues (1 of 3)</a:t>
            </a:r>
            <a:endParaRPr lang="en-US" sz="3000" dirty="0"/>
          </a:p>
        </p:txBody>
      </p:sp>
      <p:sp>
        <p:nvSpPr>
          <p:cNvPr id="3" name="@1 Clue card"/>
          <p:cNvSpPr/>
          <p:nvPr/>
        </p:nvSpPr>
        <p:spPr>
          <a:xfrm>
            <a:off x="45720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1  </a:t>
            </a:r>
            <a:r>
              <a:rPr lang="en-US" sz="1600" b="1" dirty="0">
                <a:solidFill>
                  <a:srgbClr val="002D6A"/>
                </a:solidFill>
                <a:latin typeface="Courier New" pitchFamily="34" charset="0"/>
                <a:ea typeface="Courier New" pitchFamily="34" charset="-122"/>
                <a:cs typeface="Courier New" pitchFamily="34" charset="-120"/>
              </a:rPr>
              <a:t>6, 5, 5</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2  </a:t>
            </a:r>
            <a:r>
              <a:rPr lang="en-US" sz="1600" b="1" dirty="0">
                <a:solidFill>
                  <a:srgbClr val="002D6A"/>
                </a:solidFill>
                <a:latin typeface="Courier New" pitchFamily="34" charset="0"/>
                <a:ea typeface="Courier New" pitchFamily="34" charset="-122"/>
                <a:cs typeface="Courier New" pitchFamily="34" charset="-120"/>
              </a:rPr>
              <a:t>4, 7, 5</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3  </a:t>
            </a:r>
            <a:r>
              <a:rPr lang="en-US" sz="1600" b="1" dirty="0">
                <a:solidFill>
                  <a:srgbClr val="002D6A"/>
                </a:solidFill>
                <a:latin typeface="Courier New" pitchFamily="34" charset="0"/>
                <a:ea typeface="Courier New" pitchFamily="34" charset="-122"/>
                <a:cs typeface="Courier New" pitchFamily="34" charset="-120"/>
              </a:rPr>
              <a:t>3, 8, 5</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4  </a:t>
            </a:r>
            <a:r>
              <a:rPr lang="en-US" sz="1600" b="1" dirty="0">
                <a:solidFill>
                  <a:srgbClr val="002D6A"/>
                </a:solidFill>
                <a:latin typeface="Courier New" pitchFamily="34" charset="0"/>
                <a:ea typeface="Courier New" pitchFamily="34" charset="-122"/>
                <a:cs typeface="Courier New" pitchFamily="34" charset="-120"/>
              </a:rPr>
              <a:t>3, 11, 2</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5  </a:t>
            </a:r>
            <a:r>
              <a:rPr lang="en-US" sz="1600" b="1" dirty="0">
                <a:solidFill>
                  <a:srgbClr val="002D6A"/>
                </a:solidFill>
                <a:latin typeface="Courier New" pitchFamily="34" charset="0"/>
                <a:ea typeface="Courier New" pitchFamily="34" charset="-122"/>
                <a:cs typeface="Courier New" pitchFamily="34" charset="-120"/>
              </a:rPr>
              <a:t>3, 9, 4</a:t>
            </a:r>
            <a:endParaRPr lang="en-US" sz="1600" dirty="0"/>
          </a:p>
        </p:txBody>
      </p:sp>
      <p:sp>
        <p:nvSpPr>
          <p:cNvPr id="9" name="@1 addText"/>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6  </a:t>
            </a:r>
            <a:r>
              <a:rPr lang="en-US" sz="1600" b="1" dirty="0">
                <a:solidFill>
                  <a:srgbClr val="002D6A"/>
                </a:solidFill>
                <a:latin typeface="Courier New" pitchFamily="34" charset="0"/>
                <a:ea typeface="Courier New" pitchFamily="34" charset="-122"/>
                <a:cs typeface="Courier New" pitchFamily="34" charset="-120"/>
              </a:rPr>
              <a:t>2, 12, 2</a:t>
            </a:r>
            <a:endParaRPr lang="en-US" sz="1600" dirty="0"/>
          </a:p>
        </p:txBody>
      </p:sp>
      <p:sp>
        <p:nvSpPr>
          <p:cNvPr id="10" name="@2 Clue card"/>
          <p:cNvSpPr/>
          <p:nvPr/>
        </p:nvSpPr>
        <p:spPr>
          <a:xfrm>
            <a:off x="475488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11"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7  </a:t>
            </a:r>
            <a:r>
              <a:rPr lang="en-US" sz="1600" b="1" dirty="0">
                <a:solidFill>
                  <a:srgbClr val="002D6A"/>
                </a:solidFill>
                <a:latin typeface="Courier New" pitchFamily="34" charset="0"/>
                <a:ea typeface="Courier New" pitchFamily="34" charset="-122"/>
                <a:cs typeface="Courier New" pitchFamily="34" charset="-120"/>
              </a:rPr>
              <a:t>2, 13, 1</a:t>
            </a:r>
            <a:endParaRPr lang="en-US" sz="1600" dirty="0"/>
          </a:p>
        </p:txBody>
      </p:sp>
      <p:sp>
        <p:nvSpPr>
          <p:cNvPr id="12"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8  </a:t>
            </a:r>
            <a:r>
              <a:rPr lang="en-US" sz="1600" b="1" dirty="0">
                <a:solidFill>
                  <a:srgbClr val="002D6A"/>
                </a:solidFill>
                <a:latin typeface="Courier New" pitchFamily="34" charset="0"/>
                <a:ea typeface="Courier New" pitchFamily="34" charset="-122"/>
                <a:cs typeface="Courier New" pitchFamily="34" charset="-120"/>
              </a:rPr>
              <a:t>1, 14, 1</a:t>
            </a:r>
            <a:endParaRPr lang="en-US" sz="1600" dirty="0"/>
          </a:p>
        </p:txBody>
      </p:sp>
      <p:sp>
        <p:nvSpPr>
          <p:cNvPr id="13"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9  </a:t>
            </a:r>
            <a:r>
              <a:rPr lang="en-US" sz="1600" b="1" dirty="0">
                <a:solidFill>
                  <a:srgbClr val="002D6A"/>
                </a:solidFill>
                <a:latin typeface="Courier New" pitchFamily="34" charset="0"/>
                <a:ea typeface="Courier New" pitchFamily="34" charset="-122"/>
                <a:cs typeface="Courier New" pitchFamily="34" charset="-120"/>
              </a:rPr>
              <a:t>1, 13, 2</a:t>
            </a:r>
            <a:endParaRPr lang="en-US" sz="1600" dirty="0"/>
          </a:p>
        </p:txBody>
      </p:sp>
      <p:sp>
        <p:nvSpPr>
          <p:cNvPr id="14"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10  </a:t>
            </a:r>
            <a:r>
              <a:rPr lang="en-US" sz="1600" b="1" dirty="0">
                <a:solidFill>
                  <a:srgbClr val="002D6A"/>
                </a:solidFill>
                <a:latin typeface="Courier New" pitchFamily="34" charset="0"/>
                <a:ea typeface="Courier New" pitchFamily="34" charset="-122"/>
                <a:cs typeface="Courier New" pitchFamily="34" charset="-120"/>
              </a:rPr>
              <a:t>1, 13, 2</a:t>
            </a:r>
            <a:endParaRPr lang="en-US" sz="1600" dirty="0"/>
          </a:p>
        </p:txBody>
      </p:sp>
      <p:sp>
        <p:nvSpPr>
          <p:cNvPr id="15"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11  </a:t>
            </a:r>
            <a:r>
              <a:rPr lang="en-US" sz="1600" b="1" dirty="0">
                <a:solidFill>
                  <a:srgbClr val="002D6A"/>
                </a:solidFill>
                <a:latin typeface="Courier New" pitchFamily="34" charset="0"/>
                <a:ea typeface="Courier New" pitchFamily="34" charset="-122"/>
                <a:cs typeface="Courier New" pitchFamily="34" charset="-120"/>
              </a:rPr>
              <a:t>3, 10, 3</a:t>
            </a:r>
            <a:endParaRPr lang="en-US" sz="1600" dirty="0"/>
          </a:p>
        </p:txBody>
      </p:sp>
      <p:sp>
        <p:nvSpPr>
          <p:cNvPr id="16" name="@2 addText"/>
          <p:cNvSpPr txBox="1"/>
          <p:nvPr/>
        </p:nvSpPr>
        <p:spPr>
          <a:xfrm>
            <a:off x="502920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12  </a:t>
            </a:r>
            <a:r>
              <a:rPr lang="en-US" sz="1600" b="1" dirty="0">
                <a:solidFill>
                  <a:srgbClr val="002D6A"/>
                </a:solidFill>
                <a:latin typeface="Courier New" pitchFamily="34" charset="0"/>
                <a:ea typeface="Courier New" pitchFamily="34" charset="-122"/>
                <a:cs typeface="Courier New" pitchFamily="34" charset="-120"/>
              </a:rPr>
              <a:t>4, 7, 5</a:t>
            </a:r>
            <a:endParaRPr lang="en-US" sz="1600" dirty="0"/>
          </a:p>
        </p:txBody>
      </p:sp>
      <p:sp>
        <p:nvSpPr>
          <p:cNvPr id="17" name="Text 15"/>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rows 1 to 12</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#6: the clues (2 of 3)</a:t>
            </a:r>
            <a:endParaRPr lang="en-US" sz="3000" dirty="0"/>
          </a:p>
        </p:txBody>
      </p:sp>
      <p:sp>
        <p:nvSpPr>
          <p:cNvPr id="3" name="@1 Clue card"/>
          <p:cNvSpPr/>
          <p:nvPr/>
        </p:nvSpPr>
        <p:spPr>
          <a:xfrm>
            <a:off x="45720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13  </a:t>
            </a:r>
            <a:r>
              <a:rPr lang="en-US" sz="1600" b="1" dirty="0">
                <a:solidFill>
                  <a:srgbClr val="002D6A"/>
                </a:solidFill>
                <a:latin typeface="Courier New" pitchFamily="34" charset="0"/>
                <a:ea typeface="Courier New" pitchFamily="34" charset="-122"/>
                <a:cs typeface="Courier New" pitchFamily="34" charset="-120"/>
              </a:rPr>
              <a:t>4, 8, 4</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14  </a:t>
            </a:r>
            <a:r>
              <a:rPr lang="en-US" sz="1600" b="1" dirty="0">
                <a:solidFill>
                  <a:srgbClr val="002D6A"/>
                </a:solidFill>
                <a:latin typeface="Courier New" pitchFamily="34" charset="0"/>
                <a:ea typeface="Courier New" pitchFamily="34" charset="-122"/>
                <a:cs typeface="Courier New" pitchFamily="34" charset="-120"/>
              </a:rPr>
              <a:t>3, 10, 3</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15  </a:t>
            </a:r>
            <a:r>
              <a:rPr lang="en-US" sz="1600" b="1" dirty="0">
                <a:solidFill>
                  <a:srgbClr val="002D6A"/>
                </a:solidFill>
                <a:latin typeface="Courier New" pitchFamily="34" charset="0"/>
                <a:ea typeface="Courier New" pitchFamily="34" charset="-122"/>
                <a:cs typeface="Courier New" pitchFamily="34" charset="-120"/>
              </a:rPr>
              <a:t>2, 12, 2</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16  </a:t>
            </a:r>
            <a:r>
              <a:rPr lang="en-US" sz="1600" b="1" dirty="0">
                <a:solidFill>
                  <a:srgbClr val="002D6A"/>
                </a:solidFill>
                <a:latin typeface="Courier New" pitchFamily="34" charset="0"/>
                <a:ea typeface="Courier New" pitchFamily="34" charset="-122"/>
                <a:cs typeface="Courier New" pitchFamily="34" charset="-120"/>
              </a:rPr>
              <a:t>1, 14, 1</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17  </a:t>
            </a:r>
            <a:r>
              <a:rPr lang="en-US" sz="1600" b="1" dirty="0">
                <a:solidFill>
                  <a:srgbClr val="002D6A"/>
                </a:solidFill>
                <a:latin typeface="Courier New" pitchFamily="34" charset="0"/>
                <a:ea typeface="Courier New" pitchFamily="34" charset="-122"/>
                <a:cs typeface="Courier New" pitchFamily="34" charset="-120"/>
              </a:rPr>
              <a:t>1, 14, 1</a:t>
            </a:r>
            <a:endParaRPr lang="en-US" sz="1600" dirty="0"/>
          </a:p>
        </p:txBody>
      </p:sp>
      <p:sp>
        <p:nvSpPr>
          <p:cNvPr id="9" name="@1 addText"/>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18  </a:t>
            </a:r>
            <a:r>
              <a:rPr lang="en-US" sz="1600" b="1" dirty="0">
                <a:solidFill>
                  <a:srgbClr val="002D6A"/>
                </a:solidFill>
                <a:latin typeface="Courier New" pitchFamily="34" charset="0"/>
                <a:ea typeface="Courier New" pitchFamily="34" charset="-122"/>
                <a:cs typeface="Courier New" pitchFamily="34" charset="-120"/>
              </a:rPr>
              <a:t>0, 16</a:t>
            </a:r>
            <a:endParaRPr lang="en-US" sz="1600" dirty="0"/>
          </a:p>
        </p:txBody>
      </p:sp>
      <p:sp>
        <p:nvSpPr>
          <p:cNvPr id="10" name="@2 Clue card"/>
          <p:cNvSpPr/>
          <p:nvPr/>
        </p:nvSpPr>
        <p:spPr>
          <a:xfrm>
            <a:off x="475488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11"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19  </a:t>
            </a:r>
            <a:r>
              <a:rPr lang="en-US" sz="1600" b="1" dirty="0">
                <a:solidFill>
                  <a:srgbClr val="002D6A"/>
                </a:solidFill>
                <a:latin typeface="Courier New" pitchFamily="34" charset="0"/>
                <a:ea typeface="Courier New" pitchFamily="34" charset="-122"/>
                <a:cs typeface="Courier New" pitchFamily="34" charset="-120"/>
              </a:rPr>
              <a:t>0, 16</a:t>
            </a:r>
            <a:endParaRPr lang="en-US" sz="1600" dirty="0"/>
          </a:p>
        </p:txBody>
      </p:sp>
      <p:sp>
        <p:nvSpPr>
          <p:cNvPr id="12"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20  </a:t>
            </a:r>
            <a:r>
              <a:rPr lang="en-US" sz="1600" b="1" dirty="0">
                <a:solidFill>
                  <a:srgbClr val="002D6A"/>
                </a:solidFill>
                <a:latin typeface="Courier New" pitchFamily="34" charset="0"/>
                <a:ea typeface="Courier New" pitchFamily="34" charset="-122"/>
                <a:cs typeface="Courier New" pitchFamily="34" charset="-120"/>
              </a:rPr>
              <a:t>0, 16</a:t>
            </a:r>
            <a:endParaRPr lang="en-US" sz="1600" dirty="0"/>
          </a:p>
        </p:txBody>
      </p:sp>
      <p:sp>
        <p:nvSpPr>
          <p:cNvPr id="13"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21  </a:t>
            </a:r>
            <a:r>
              <a:rPr lang="en-US" sz="1600" b="1" dirty="0">
                <a:solidFill>
                  <a:srgbClr val="002D6A"/>
                </a:solidFill>
                <a:latin typeface="Courier New" pitchFamily="34" charset="0"/>
                <a:ea typeface="Courier New" pitchFamily="34" charset="-122"/>
                <a:cs typeface="Courier New" pitchFamily="34" charset="-120"/>
              </a:rPr>
              <a:t>0, 16</a:t>
            </a:r>
            <a:endParaRPr lang="en-US" sz="1600" dirty="0"/>
          </a:p>
        </p:txBody>
      </p:sp>
      <p:sp>
        <p:nvSpPr>
          <p:cNvPr id="14"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22  </a:t>
            </a:r>
            <a:r>
              <a:rPr lang="en-US" sz="1600" b="1" dirty="0">
                <a:solidFill>
                  <a:srgbClr val="002D6A"/>
                </a:solidFill>
                <a:latin typeface="Courier New" pitchFamily="34" charset="0"/>
                <a:ea typeface="Courier New" pitchFamily="34" charset="-122"/>
                <a:cs typeface="Courier New" pitchFamily="34" charset="-120"/>
              </a:rPr>
              <a:t>0, 16</a:t>
            </a:r>
            <a:endParaRPr lang="en-US" sz="1600" dirty="0"/>
          </a:p>
        </p:txBody>
      </p:sp>
      <p:sp>
        <p:nvSpPr>
          <p:cNvPr id="15"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23  </a:t>
            </a:r>
            <a:r>
              <a:rPr lang="en-US" sz="1600" b="1" dirty="0">
                <a:solidFill>
                  <a:srgbClr val="002D6A"/>
                </a:solidFill>
                <a:latin typeface="Courier New" pitchFamily="34" charset="0"/>
                <a:ea typeface="Courier New" pitchFamily="34" charset="-122"/>
                <a:cs typeface="Courier New" pitchFamily="34" charset="-120"/>
              </a:rPr>
              <a:t>1, 14, 1</a:t>
            </a:r>
            <a:endParaRPr lang="en-US" sz="1600" dirty="0"/>
          </a:p>
        </p:txBody>
      </p:sp>
      <p:sp>
        <p:nvSpPr>
          <p:cNvPr id="16" name="@2 addText"/>
          <p:cNvSpPr txBox="1"/>
          <p:nvPr/>
        </p:nvSpPr>
        <p:spPr>
          <a:xfrm>
            <a:off x="502920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24  </a:t>
            </a:r>
            <a:r>
              <a:rPr lang="en-US" sz="1600" b="1" dirty="0">
                <a:solidFill>
                  <a:srgbClr val="002D6A"/>
                </a:solidFill>
                <a:latin typeface="Courier New" pitchFamily="34" charset="0"/>
                <a:ea typeface="Courier New" pitchFamily="34" charset="-122"/>
                <a:cs typeface="Courier New" pitchFamily="34" charset="-120"/>
              </a:rPr>
              <a:t>1, 14, 1</a:t>
            </a:r>
            <a:endParaRPr lang="en-US" sz="1600" dirty="0"/>
          </a:p>
        </p:txBody>
      </p:sp>
      <p:sp>
        <p:nvSpPr>
          <p:cNvPr id="17" name="Text 15"/>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rows 13 to 24</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Decoding messages #6: the clues (3 of 3)</a:t>
            </a:r>
            <a:endParaRPr lang="en-US" sz="3000" dirty="0"/>
          </a:p>
        </p:txBody>
      </p:sp>
      <p:sp>
        <p:nvSpPr>
          <p:cNvPr id="3" name="@1 Clue card"/>
          <p:cNvSpPr/>
          <p:nvPr/>
        </p:nvSpPr>
        <p:spPr>
          <a:xfrm>
            <a:off x="457200" y="1143000"/>
            <a:ext cx="3931920" cy="1956816"/>
          </a:xfrm>
          <a:prstGeom prst="roundRect">
            <a:avLst>
              <a:gd name="adj" fmla="val 5607"/>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25  </a:t>
            </a:r>
            <a:r>
              <a:rPr lang="en-US" sz="1600" b="1" dirty="0">
                <a:solidFill>
                  <a:srgbClr val="002D6A"/>
                </a:solidFill>
                <a:latin typeface="Courier New" pitchFamily="34" charset="0"/>
                <a:ea typeface="Courier New" pitchFamily="34" charset="-122"/>
                <a:cs typeface="Courier New" pitchFamily="34" charset="-120"/>
              </a:rPr>
              <a:t>2, 12, 2</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26  </a:t>
            </a:r>
            <a:r>
              <a:rPr lang="en-US" sz="1600" b="1" dirty="0">
                <a:solidFill>
                  <a:srgbClr val="002D6A"/>
                </a:solidFill>
                <a:latin typeface="Courier New" pitchFamily="34" charset="0"/>
                <a:ea typeface="Courier New" pitchFamily="34" charset="-122"/>
                <a:cs typeface="Courier New" pitchFamily="34" charset="-120"/>
              </a:rPr>
              <a:t>1, 6, 2, 6, 1</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27  </a:t>
            </a:r>
            <a:r>
              <a:rPr lang="en-US" sz="1600" b="1" dirty="0">
                <a:solidFill>
                  <a:srgbClr val="002D6A"/>
                </a:solidFill>
                <a:latin typeface="Courier New" pitchFamily="34" charset="0"/>
                <a:ea typeface="Courier New" pitchFamily="34" charset="-122"/>
                <a:cs typeface="Courier New" pitchFamily="34" charset="-120"/>
              </a:rPr>
              <a:t>1, 5, 4, 5, 1</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28  </a:t>
            </a:r>
            <a:r>
              <a:rPr lang="en-US" sz="1600" b="1" dirty="0">
                <a:solidFill>
                  <a:srgbClr val="002D6A"/>
                </a:solidFill>
                <a:latin typeface="Courier New" pitchFamily="34" charset="0"/>
                <a:ea typeface="Courier New" pitchFamily="34" charset="-122"/>
                <a:cs typeface="Courier New" pitchFamily="34" charset="-120"/>
              </a:rPr>
              <a:t>1, 5, 4, 5, 1</a:t>
            </a:r>
            <a:endParaRPr lang="en-US" sz="1600" dirty="0"/>
          </a:p>
        </p:txBody>
      </p:sp>
      <p:sp>
        <p:nvSpPr>
          <p:cNvPr id="8" name="@2 Clue card"/>
          <p:cNvSpPr/>
          <p:nvPr/>
        </p:nvSpPr>
        <p:spPr>
          <a:xfrm>
            <a:off x="4754880" y="1143000"/>
            <a:ext cx="3931920" cy="1956816"/>
          </a:xfrm>
          <a:prstGeom prst="roundRect">
            <a:avLst>
              <a:gd name="adj" fmla="val 5607"/>
            </a:avLst>
          </a:prstGeom>
          <a:solidFill>
            <a:srgbClr val="FFFFFF"/>
          </a:solidFill>
          <a:ln w="9525">
            <a:solidFill>
              <a:srgbClr val="C5D1E3"/>
            </a:solidFill>
            <a:prstDash val="solid"/>
          </a:ln>
        </p:spPr>
        <p:txBody>
          <a:bodyPr/>
          <a:lstStyle/>
          <a:p>
            <a:endParaRPr lang="en-GB"/>
          </a:p>
        </p:txBody>
      </p:sp>
      <p:sp>
        <p:nvSpPr>
          <p:cNvPr id="9"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29  </a:t>
            </a:r>
            <a:r>
              <a:rPr lang="en-US" sz="1600" b="1" dirty="0">
                <a:solidFill>
                  <a:srgbClr val="002D6A"/>
                </a:solidFill>
                <a:latin typeface="Courier New" pitchFamily="34" charset="0"/>
                <a:ea typeface="Courier New" pitchFamily="34" charset="-122"/>
                <a:cs typeface="Courier New" pitchFamily="34" charset="-120"/>
              </a:rPr>
              <a:t>2, 4, 4, 4, 2</a:t>
            </a:r>
            <a:endParaRPr lang="en-US" sz="1600" dirty="0"/>
          </a:p>
        </p:txBody>
      </p:sp>
      <p:sp>
        <p:nvSpPr>
          <p:cNvPr id="10"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30  </a:t>
            </a:r>
            <a:r>
              <a:rPr lang="en-US" sz="1600" b="1" dirty="0">
                <a:solidFill>
                  <a:srgbClr val="002D6A"/>
                </a:solidFill>
                <a:latin typeface="Courier New" pitchFamily="34" charset="0"/>
                <a:ea typeface="Courier New" pitchFamily="34" charset="-122"/>
                <a:cs typeface="Courier New" pitchFamily="34" charset="-120"/>
              </a:rPr>
              <a:t>2, 4, 4, 4, 2</a:t>
            </a:r>
            <a:endParaRPr lang="en-US" sz="1600" dirty="0"/>
          </a:p>
        </p:txBody>
      </p:sp>
      <p:sp>
        <p:nvSpPr>
          <p:cNvPr id="11"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31  </a:t>
            </a:r>
            <a:r>
              <a:rPr lang="en-US" sz="1600" b="1" dirty="0">
                <a:solidFill>
                  <a:srgbClr val="002D6A"/>
                </a:solidFill>
                <a:latin typeface="Courier New" pitchFamily="34" charset="0"/>
                <a:ea typeface="Courier New" pitchFamily="34" charset="-122"/>
                <a:cs typeface="Courier New" pitchFamily="34" charset="-120"/>
              </a:rPr>
              <a:t>0, 6, 4, 6</a:t>
            </a:r>
            <a:endParaRPr lang="en-US" sz="1600" dirty="0"/>
          </a:p>
        </p:txBody>
      </p:sp>
      <p:sp>
        <p:nvSpPr>
          <p:cNvPr id="12"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32  </a:t>
            </a:r>
            <a:r>
              <a:rPr lang="en-US" sz="1600" b="1" dirty="0">
                <a:solidFill>
                  <a:srgbClr val="002D6A"/>
                </a:solidFill>
                <a:latin typeface="Courier New" pitchFamily="34" charset="0"/>
                <a:ea typeface="Courier New" pitchFamily="34" charset="-122"/>
                <a:cs typeface="Courier New" pitchFamily="34" charset="-120"/>
              </a:rPr>
              <a:t>0, 6, 4, 6</a:t>
            </a:r>
            <a:endParaRPr lang="en-US" sz="1600" dirty="0"/>
          </a:p>
        </p:txBody>
      </p:sp>
      <p:sp>
        <p:nvSpPr>
          <p:cNvPr id="13" name="Text 11"/>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next slide: the decoded picture</a:t>
            </a:r>
            <a:endParaRPr lang="en-US" sz="1400" dirty="0"/>
          </a:p>
        </p:txBody>
      </p:sp>
      <p:sp>
        <p:nvSpPr>
          <p:cNvPr id="14"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Decoding messages #6: decoded</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A pixel-art character on a 16 by 32 grid, decoded from the clues"/>
          <p:cNvPicPr>
            <a:picLocks noChangeAspect="1"/>
          </p:cNvPicPr>
          <p:nvPr/>
        </p:nvPicPr>
        <p:blipFill>
          <a:blip r:embed="rId3"/>
          <a:stretch>
            <a:fillRect/>
          </a:stretch>
        </p:blipFill>
        <p:spPr>
          <a:xfrm>
            <a:off x="3656411" y="1051560"/>
            <a:ext cx="1831178" cy="3657600"/>
          </a:xfrm>
          <a:prstGeom prst="rect">
            <a:avLst/>
          </a:prstGeom>
        </p:spPr>
      </p:pic>
      <p:sp>
        <p:nvSpPr>
          <p:cNvPr id="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65</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The Big One: the clues (1 of 4)</a:t>
            </a:r>
            <a:endParaRPr lang="en-US" sz="3000" dirty="0"/>
          </a:p>
        </p:txBody>
      </p:sp>
      <p:sp>
        <p:nvSpPr>
          <p:cNvPr id="3" name="@1 Clue card"/>
          <p:cNvSpPr/>
          <p:nvPr/>
        </p:nvSpPr>
        <p:spPr>
          <a:xfrm>
            <a:off x="45720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1  </a:t>
            </a:r>
            <a:r>
              <a:rPr lang="en-US" sz="1600" b="1" dirty="0">
                <a:solidFill>
                  <a:srgbClr val="002D6A"/>
                </a:solidFill>
                <a:latin typeface="Courier New" pitchFamily="34" charset="0"/>
                <a:ea typeface="Courier New" pitchFamily="34" charset="-122"/>
                <a:cs typeface="Courier New" pitchFamily="34" charset="-120"/>
              </a:rPr>
              <a:t>38</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2  </a:t>
            </a:r>
            <a:r>
              <a:rPr lang="en-US" sz="1600" b="1" dirty="0">
                <a:solidFill>
                  <a:srgbClr val="002D6A"/>
                </a:solidFill>
                <a:latin typeface="Courier New" pitchFamily="34" charset="0"/>
                <a:ea typeface="Courier New" pitchFamily="34" charset="-122"/>
                <a:cs typeface="Courier New" pitchFamily="34" charset="-120"/>
              </a:rPr>
              <a:t>38</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3  </a:t>
            </a:r>
            <a:r>
              <a:rPr lang="en-US" sz="1600" b="1" dirty="0">
                <a:solidFill>
                  <a:srgbClr val="002D6A"/>
                </a:solidFill>
                <a:latin typeface="Courier New" pitchFamily="34" charset="0"/>
                <a:ea typeface="Courier New" pitchFamily="34" charset="-122"/>
                <a:cs typeface="Courier New" pitchFamily="34" charset="-120"/>
              </a:rPr>
              <a:t>17, 6, 15</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4  </a:t>
            </a:r>
            <a:r>
              <a:rPr lang="en-US" sz="1600" b="1" dirty="0">
                <a:solidFill>
                  <a:srgbClr val="002D6A"/>
                </a:solidFill>
                <a:latin typeface="Courier New" pitchFamily="34" charset="0"/>
                <a:ea typeface="Courier New" pitchFamily="34" charset="-122"/>
                <a:cs typeface="Courier New" pitchFamily="34" charset="-120"/>
              </a:rPr>
              <a:t>16, 6, 16</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5  </a:t>
            </a:r>
            <a:r>
              <a:rPr lang="en-US" sz="1600" b="1" dirty="0">
                <a:solidFill>
                  <a:srgbClr val="002D6A"/>
                </a:solidFill>
                <a:latin typeface="Courier New" pitchFamily="34" charset="0"/>
                <a:ea typeface="Courier New" pitchFamily="34" charset="-122"/>
                <a:cs typeface="Courier New" pitchFamily="34" charset="-120"/>
              </a:rPr>
              <a:t>16, 5, 17</a:t>
            </a:r>
            <a:endParaRPr lang="en-US" sz="1600" dirty="0"/>
          </a:p>
        </p:txBody>
      </p:sp>
      <p:sp>
        <p:nvSpPr>
          <p:cNvPr id="9" name="@1 addText"/>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6  </a:t>
            </a:r>
            <a:r>
              <a:rPr lang="en-US" sz="1600" b="1" dirty="0">
                <a:solidFill>
                  <a:srgbClr val="002D6A"/>
                </a:solidFill>
                <a:latin typeface="Courier New" pitchFamily="34" charset="0"/>
                <a:ea typeface="Courier New" pitchFamily="34" charset="-122"/>
                <a:cs typeface="Courier New" pitchFamily="34" charset="-120"/>
              </a:rPr>
              <a:t>15, 5, 18</a:t>
            </a:r>
            <a:endParaRPr lang="en-US" sz="1600" dirty="0"/>
          </a:p>
        </p:txBody>
      </p:sp>
      <p:sp>
        <p:nvSpPr>
          <p:cNvPr id="10" name="@2 Clue card"/>
          <p:cNvSpPr/>
          <p:nvPr/>
        </p:nvSpPr>
        <p:spPr>
          <a:xfrm>
            <a:off x="475488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11"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7  </a:t>
            </a:r>
            <a:r>
              <a:rPr lang="en-US" sz="1600" b="1" dirty="0">
                <a:solidFill>
                  <a:srgbClr val="002D6A"/>
                </a:solidFill>
                <a:latin typeface="Courier New" pitchFamily="34" charset="0"/>
                <a:ea typeface="Courier New" pitchFamily="34" charset="-122"/>
                <a:cs typeface="Courier New" pitchFamily="34" charset="-120"/>
              </a:rPr>
              <a:t>15, 5, 1, 5, 12</a:t>
            </a:r>
            <a:endParaRPr lang="en-US" sz="1600" dirty="0"/>
          </a:p>
        </p:txBody>
      </p:sp>
      <p:sp>
        <p:nvSpPr>
          <p:cNvPr id="12"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8  </a:t>
            </a:r>
            <a:r>
              <a:rPr lang="en-US" sz="1600" b="1" dirty="0">
                <a:solidFill>
                  <a:srgbClr val="002D6A"/>
                </a:solidFill>
                <a:latin typeface="Courier New" pitchFamily="34" charset="0"/>
                <a:ea typeface="Courier New" pitchFamily="34" charset="-122"/>
                <a:cs typeface="Courier New" pitchFamily="34" charset="-120"/>
              </a:rPr>
              <a:t>15, 11, 12</a:t>
            </a:r>
            <a:endParaRPr lang="en-US" sz="1600" dirty="0"/>
          </a:p>
        </p:txBody>
      </p:sp>
      <p:sp>
        <p:nvSpPr>
          <p:cNvPr id="13"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 9  </a:t>
            </a:r>
            <a:r>
              <a:rPr lang="en-US" sz="1600" b="1" dirty="0">
                <a:solidFill>
                  <a:srgbClr val="002D6A"/>
                </a:solidFill>
                <a:latin typeface="Courier New" pitchFamily="34" charset="0"/>
                <a:ea typeface="Courier New" pitchFamily="34" charset="-122"/>
                <a:cs typeface="Courier New" pitchFamily="34" charset="-120"/>
              </a:rPr>
              <a:t>15, 11, 12</a:t>
            </a:r>
            <a:endParaRPr lang="en-US" sz="1600" dirty="0"/>
          </a:p>
        </p:txBody>
      </p:sp>
      <p:sp>
        <p:nvSpPr>
          <p:cNvPr id="14"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10  </a:t>
            </a:r>
            <a:r>
              <a:rPr lang="en-US" sz="1600" b="1" dirty="0">
                <a:solidFill>
                  <a:srgbClr val="002D6A"/>
                </a:solidFill>
                <a:latin typeface="Courier New" pitchFamily="34" charset="0"/>
                <a:ea typeface="Courier New" pitchFamily="34" charset="-122"/>
                <a:cs typeface="Courier New" pitchFamily="34" charset="-120"/>
              </a:rPr>
              <a:t>15, 11, 12</a:t>
            </a:r>
            <a:endParaRPr lang="en-US" sz="1600" dirty="0"/>
          </a:p>
        </p:txBody>
      </p:sp>
      <p:sp>
        <p:nvSpPr>
          <p:cNvPr id="15"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11  </a:t>
            </a:r>
            <a:r>
              <a:rPr lang="en-US" sz="1600" b="1" dirty="0">
                <a:solidFill>
                  <a:srgbClr val="002D6A"/>
                </a:solidFill>
                <a:latin typeface="Courier New" pitchFamily="34" charset="0"/>
                <a:ea typeface="Courier New" pitchFamily="34" charset="-122"/>
                <a:cs typeface="Courier New" pitchFamily="34" charset="-120"/>
              </a:rPr>
              <a:t>14, 11, 13</a:t>
            </a:r>
            <a:endParaRPr lang="en-US" sz="1600" dirty="0"/>
          </a:p>
        </p:txBody>
      </p:sp>
      <p:sp>
        <p:nvSpPr>
          <p:cNvPr id="16" name="@2 addText"/>
          <p:cNvSpPr txBox="1"/>
          <p:nvPr/>
        </p:nvSpPr>
        <p:spPr>
          <a:xfrm>
            <a:off x="502920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12  </a:t>
            </a:r>
            <a:r>
              <a:rPr lang="en-US" sz="1600" b="1" dirty="0">
                <a:solidFill>
                  <a:srgbClr val="002D6A"/>
                </a:solidFill>
                <a:latin typeface="Courier New" pitchFamily="34" charset="0"/>
                <a:ea typeface="Courier New" pitchFamily="34" charset="-122"/>
                <a:cs typeface="Courier New" pitchFamily="34" charset="-120"/>
              </a:rPr>
              <a:t>14, 11, 13</a:t>
            </a:r>
            <a:endParaRPr lang="en-US" sz="1600" dirty="0"/>
          </a:p>
        </p:txBody>
      </p:sp>
      <p:sp>
        <p:nvSpPr>
          <p:cNvPr id="17" name="Text 15"/>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rows 1 to 12</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The Big One: the clues (2 of 4)</a:t>
            </a:r>
            <a:endParaRPr lang="en-US" sz="3000" dirty="0"/>
          </a:p>
        </p:txBody>
      </p:sp>
      <p:sp>
        <p:nvSpPr>
          <p:cNvPr id="3" name="@1 Clue card"/>
          <p:cNvSpPr/>
          <p:nvPr/>
        </p:nvSpPr>
        <p:spPr>
          <a:xfrm>
            <a:off x="45720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13  </a:t>
            </a:r>
            <a:r>
              <a:rPr lang="en-US" sz="1600" b="1" dirty="0">
                <a:solidFill>
                  <a:srgbClr val="002D6A"/>
                </a:solidFill>
                <a:latin typeface="Courier New" pitchFamily="34" charset="0"/>
                <a:ea typeface="Courier New" pitchFamily="34" charset="-122"/>
                <a:cs typeface="Courier New" pitchFamily="34" charset="-120"/>
              </a:rPr>
              <a:t>16, 8, 14</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14  </a:t>
            </a:r>
            <a:r>
              <a:rPr lang="en-US" sz="1600" b="1" dirty="0">
                <a:solidFill>
                  <a:srgbClr val="002D6A"/>
                </a:solidFill>
                <a:latin typeface="Courier New" pitchFamily="34" charset="0"/>
                <a:ea typeface="Courier New" pitchFamily="34" charset="-122"/>
                <a:cs typeface="Courier New" pitchFamily="34" charset="-120"/>
              </a:rPr>
              <a:t>15, 9, 14</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15  </a:t>
            </a:r>
            <a:r>
              <a:rPr lang="en-US" sz="1600" b="1" dirty="0">
                <a:solidFill>
                  <a:srgbClr val="002D6A"/>
                </a:solidFill>
                <a:latin typeface="Courier New" pitchFamily="34" charset="0"/>
                <a:ea typeface="Courier New" pitchFamily="34" charset="-122"/>
                <a:cs typeface="Courier New" pitchFamily="34" charset="-120"/>
              </a:rPr>
              <a:t>15, 9, 14</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16  </a:t>
            </a:r>
            <a:r>
              <a:rPr lang="en-US" sz="1600" b="1" dirty="0">
                <a:solidFill>
                  <a:srgbClr val="002D6A"/>
                </a:solidFill>
                <a:latin typeface="Courier New" pitchFamily="34" charset="0"/>
                <a:ea typeface="Courier New" pitchFamily="34" charset="-122"/>
                <a:cs typeface="Courier New" pitchFamily="34" charset="-120"/>
              </a:rPr>
              <a:t>15, 1, 1, 9, 12</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17  </a:t>
            </a:r>
            <a:r>
              <a:rPr lang="en-US" sz="1600" b="1" dirty="0">
                <a:solidFill>
                  <a:srgbClr val="002D6A"/>
                </a:solidFill>
                <a:latin typeface="Courier New" pitchFamily="34" charset="0"/>
                <a:ea typeface="Courier New" pitchFamily="34" charset="-122"/>
                <a:cs typeface="Courier New" pitchFamily="34" charset="-120"/>
              </a:rPr>
              <a:t>15, 1, 1, 10, 11</a:t>
            </a:r>
            <a:endParaRPr lang="en-US" sz="1600" dirty="0"/>
          </a:p>
        </p:txBody>
      </p:sp>
      <p:sp>
        <p:nvSpPr>
          <p:cNvPr id="9" name="@1 addText"/>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18  </a:t>
            </a:r>
            <a:r>
              <a:rPr lang="en-US" sz="1600" b="1" dirty="0">
                <a:solidFill>
                  <a:srgbClr val="002D6A"/>
                </a:solidFill>
                <a:latin typeface="Courier New" pitchFamily="34" charset="0"/>
                <a:ea typeface="Courier New" pitchFamily="34" charset="-122"/>
                <a:cs typeface="Courier New" pitchFamily="34" charset="-120"/>
              </a:rPr>
              <a:t>15, 1, 2, 9, 11</a:t>
            </a:r>
            <a:endParaRPr lang="en-US" sz="1600" dirty="0"/>
          </a:p>
        </p:txBody>
      </p:sp>
      <p:sp>
        <p:nvSpPr>
          <p:cNvPr id="10" name="@2 Clue card"/>
          <p:cNvSpPr/>
          <p:nvPr/>
        </p:nvSpPr>
        <p:spPr>
          <a:xfrm>
            <a:off x="475488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11"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19  </a:t>
            </a:r>
            <a:r>
              <a:rPr lang="en-US" sz="1600" b="1" dirty="0">
                <a:solidFill>
                  <a:srgbClr val="002D6A"/>
                </a:solidFill>
                <a:latin typeface="Courier New" pitchFamily="34" charset="0"/>
                <a:ea typeface="Courier New" pitchFamily="34" charset="-122"/>
                <a:cs typeface="Courier New" pitchFamily="34" charset="-120"/>
              </a:rPr>
              <a:t>9, 2, 1, 2, 3, 10, 11</a:t>
            </a:r>
            <a:endParaRPr lang="en-US" sz="1600" dirty="0"/>
          </a:p>
        </p:txBody>
      </p:sp>
      <p:sp>
        <p:nvSpPr>
          <p:cNvPr id="12"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20  </a:t>
            </a:r>
            <a:r>
              <a:rPr lang="en-US" sz="1600" b="1" dirty="0">
                <a:solidFill>
                  <a:srgbClr val="002D6A"/>
                </a:solidFill>
                <a:latin typeface="Courier New" pitchFamily="34" charset="0"/>
                <a:ea typeface="Courier New" pitchFamily="34" charset="-122"/>
                <a:cs typeface="Courier New" pitchFamily="34" charset="-120"/>
              </a:rPr>
              <a:t>7, 7, 3, 11, 10</a:t>
            </a:r>
            <a:endParaRPr lang="en-US" sz="1600" dirty="0"/>
          </a:p>
        </p:txBody>
      </p:sp>
      <p:sp>
        <p:nvSpPr>
          <p:cNvPr id="13"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21  </a:t>
            </a:r>
            <a:r>
              <a:rPr lang="en-US" sz="1600" b="1" dirty="0">
                <a:solidFill>
                  <a:srgbClr val="002D6A"/>
                </a:solidFill>
                <a:latin typeface="Courier New" pitchFamily="34" charset="0"/>
                <a:ea typeface="Courier New" pitchFamily="34" charset="-122"/>
                <a:cs typeface="Courier New" pitchFamily="34" charset="-120"/>
              </a:rPr>
              <a:t>7, 8, 2, 11, 10</a:t>
            </a:r>
            <a:endParaRPr lang="en-US" sz="1600" dirty="0"/>
          </a:p>
        </p:txBody>
      </p:sp>
      <p:sp>
        <p:nvSpPr>
          <p:cNvPr id="14"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22  </a:t>
            </a:r>
            <a:r>
              <a:rPr lang="en-US" sz="1600" b="1" dirty="0">
                <a:solidFill>
                  <a:srgbClr val="002D6A"/>
                </a:solidFill>
                <a:latin typeface="Courier New" pitchFamily="34" charset="0"/>
                <a:ea typeface="Courier New" pitchFamily="34" charset="-122"/>
                <a:cs typeface="Courier New" pitchFamily="34" charset="-120"/>
              </a:rPr>
              <a:t>6, 10, 5, 8, 9</a:t>
            </a:r>
            <a:endParaRPr lang="en-US" sz="1600" dirty="0"/>
          </a:p>
        </p:txBody>
      </p:sp>
      <p:sp>
        <p:nvSpPr>
          <p:cNvPr id="15"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23  </a:t>
            </a:r>
            <a:r>
              <a:rPr lang="en-US" sz="1600" b="1" dirty="0">
                <a:solidFill>
                  <a:srgbClr val="002D6A"/>
                </a:solidFill>
                <a:latin typeface="Courier New" pitchFamily="34" charset="0"/>
                <a:ea typeface="Courier New" pitchFamily="34" charset="-122"/>
                <a:cs typeface="Courier New" pitchFamily="34" charset="-120"/>
              </a:rPr>
              <a:t>7, 9, 5, 9, 8</a:t>
            </a:r>
            <a:endParaRPr lang="en-US" sz="1600" dirty="0"/>
          </a:p>
        </p:txBody>
      </p:sp>
      <p:sp>
        <p:nvSpPr>
          <p:cNvPr id="16" name="@2 addText"/>
          <p:cNvSpPr txBox="1"/>
          <p:nvPr/>
        </p:nvSpPr>
        <p:spPr>
          <a:xfrm>
            <a:off x="502920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24  </a:t>
            </a:r>
            <a:r>
              <a:rPr lang="en-US" sz="1600" b="1" dirty="0">
                <a:solidFill>
                  <a:srgbClr val="002D6A"/>
                </a:solidFill>
                <a:latin typeface="Courier New" pitchFamily="34" charset="0"/>
                <a:ea typeface="Courier New" pitchFamily="34" charset="-122"/>
                <a:cs typeface="Courier New" pitchFamily="34" charset="-120"/>
              </a:rPr>
              <a:t>2, 13, 7, 9, 7</a:t>
            </a:r>
            <a:endParaRPr lang="en-US" sz="1600" dirty="0"/>
          </a:p>
        </p:txBody>
      </p:sp>
      <p:sp>
        <p:nvSpPr>
          <p:cNvPr id="17" name="Text 15"/>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rows 13 to 24</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The Big One: the clues (3 of 4)</a:t>
            </a:r>
            <a:endParaRPr lang="en-US" sz="3000" dirty="0"/>
          </a:p>
        </p:txBody>
      </p:sp>
      <p:sp>
        <p:nvSpPr>
          <p:cNvPr id="3" name="@1 Clue card"/>
          <p:cNvSpPr/>
          <p:nvPr/>
        </p:nvSpPr>
        <p:spPr>
          <a:xfrm>
            <a:off x="45720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25  </a:t>
            </a:r>
            <a:r>
              <a:rPr lang="en-US" sz="1600" b="1" dirty="0">
                <a:solidFill>
                  <a:srgbClr val="002D6A"/>
                </a:solidFill>
                <a:latin typeface="Courier New" pitchFamily="34" charset="0"/>
                <a:ea typeface="Courier New" pitchFamily="34" charset="-122"/>
                <a:cs typeface="Courier New" pitchFamily="34" charset="-120"/>
              </a:rPr>
              <a:t>3, 11, 9, 8, 7</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26  </a:t>
            </a:r>
            <a:r>
              <a:rPr lang="en-US" sz="1600" b="1" dirty="0">
                <a:solidFill>
                  <a:srgbClr val="002D6A"/>
                </a:solidFill>
                <a:latin typeface="Courier New" pitchFamily="34" charset="0"/>
                <a:ea typeface="Courier New" pitchFamily="34" charset="-122"/>
                <a:cs typeface="Courier New" pitchFamily="34" charset="-120"/>
              </a:rPr>
              <a:t>3, 11, 9, 9, 6</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27  </a:t>
            </a:r>
            <a:r>
              <a:rPr lang="en-US" sz="1600" b="1" dirty="0">
                <a:solidFill>
                  <a:srgbClr val="002D6A"/>
                </a:solidFill>
                <a:latin typeface="Courier New" pitchFamily="34" charset="0"/>
                <a:ea typeface="Courier New" pitchFamily="34" charset="-122"/>
                <a:cs typeface="Courier New" pitchFamily="34" charset="-120"/>
              </a:rPr>
              <a:t>3, 11, 9, 9, 6</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28  </a:t>
            </a:r>
            <a:r>
              <a:rPr lang="en-US" sz="1600" b="1" dirty="0">
                <a:solidFill>
                  <a:srgbClr val="002D6A"/>
                </a:solidFill>
                <a:latin typeface="Courier New" pitchFamily="34" charset="0"/>
                <a:ea typeface="Courier New" pitchFamily="34" charset="-122"/>
                <a:cs typeface="Courier New" pitchFamily="34" charset="-120"/>
              </a:rPr>
              <a:t>2, 12, 8, 10, 6</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29  </a:t>
            </a:r>
            <a:r>
              <a:rPr lang="en-US" sz="1600" b="1" dirty="0">
                <a:solidFill>
                  <a:srgbClr val="002D6A"/>
                </a:solidFill>
                <a:latin typeface="Courier New" pitchFamily="34" charset="0"/>
                <a:ea typeface="Courier New" pitchFamily="34" charset="-122"/>
                <a:cs typeface="Courier New" pitchFamily="34" charset="-120"/>
              </a:rPr>
              <a:t>4, 10, 5, 14, 5</a:t>
            </a:r>
            <a:endParaRPr lang="en-US" sz="1600" dirty="0"/>
          </a:p>
        </p:txBody>
      </p:sp>
      <p:sp>
        <p:nvSpPr>
          <p:cNvPr id="9" name="@1 addText"/>
          <p:cNvSpPr txBox="1"/>
          <p:nvPr/>
        </p:nvSpPr>
        <p:spPr>
          <a:xfrm>
            <a:off x="73152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30  </a:t>
            </a:r>
            <a:r>
              <a:rPr lang="en-US" sz="1600" b="1" dirty="0">
                <a:solidFill>
                  <a:srgbClr val="002D6A"/>
                </a:solidFill>
                <a:latin typeface="Courier New" pitchFamily="34" charset="0"/>
                <a:ea typeface="Courier New" pitchFamily="34" charset="-122"/>
                <a:cs typeface="Courier New" pitchFamily="34" charset="-120"/>
              </a:rPr>
              <a:t>4, 10, 4, 14, 6</a:t>
            </a:r>
            <a:endParaRPr lang="en-US" sz="1600" dirty="0"/>
          </a:p>
        </p:txBody>
      </p:sp>
      <p:sp>
        <p:nvSpPr>
          <p:cNvPr id="10" name="@2 Clue card"/>
          <p:cNvSpPr/>
          <p:nvPr/>
        </p:nvSpPr>
        <p:spPr>
          <a:xfrm>
            <a:off x="4754880" y="1143000"/>
            <a:ext cx="3931920" cy="2798064"/>
          </a:xfrm>
          <a:prstGeom prst="roundRect">
            <a:avLst>
              <a:gd name="adj" fmla="val 3922"/>
            </a:avLst>
          </a:prstGeom>
          <a:solidFill>
            <a:srgbClr val="FFFFFF"/>
          </a:solidFill>
          <a:ln w="9525">
            <a:solidFill>
              <a:srgbClr val="C5D1E3"/>
            </a:solidFill>
            <a:prstDash val="solid"/>
          </a:ln>
        </p:spPr>
        <p:txBody>
          <a:bodyPr/>
          <a:lstStyle/>
          <a:p>
            <a:endParaRPr lang="en-GB"/>
          </a:p>
        </p:txBody>
      </p:sp>
      <p:sp>
        <p:nvSpPr>
          <p:cNvPr id="11"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31  </a:t>
            </a:r>
            <a:r>
              <a:rPr lang="en-US" sz="1600" b="1" dirty="0">
                <a:solidFill>
                  <a:srgbClr val="002D6A"/>
                </a:solidFill>
                <a:latin typeface="Courier New" pitchFamily="34" charset="0"/>
                <a:ea typeface="Courier New" pitchFamily="34" charset="-122"/>
                <a:cs typeface="Courier New" pitchFamily="34" charset="-120"/>
              </a:rPr>
              <a:t>4, 10, 5, 17, 2</a:t>
            </a:r>
            <a:endParaRPr lang="en-US" sz="1600" dirty="0"/>
          </a:p>
        </p:txBody>
      </p:sp>
      <p:sp>
        <p:nvSpPr>
          <p:cNvPr id="12"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32  </a:t>
            </a:r>
            <a:r>
              <a:rPr lang="en-US" sz="1600" b="1" dirty="0">
                <a:solidFill>
                  <a:srgbClr val="002D6A"/>
                </a:solidFill>
                <a:latin typeface="Courier New" pitchFamily="34" charset="0"/>
                <a:ea typeface="Courier New" pitchFamily="34" charset="-122"/>
                <a:cs typeface="Courier New" pitchFamily="34" charset="-120"/>
              </a:rPr>
              <a:t>3, 11, 6, 17, 1</a:t>
            </a:r>
            <a:endParaRPr lang="en-US" sz="1600" dirty="0"/>
          </a:p>
        </p:txBody>
      </p:sp>
      <p:sp>
        <p:nvSpPr>
          <p:cNvPr id="13"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33  </a:t>
            </a:r>
            <a:r>
              <a:rPr lang="en-US" sz="1600" b="1" dirty="0">
                <a:solidFill>
                  <a:srgbClr val="002D6A"/>
                </a:solidFill>
                <a:latin typeface="Courier New" pitchFamily="34" charset="0"/>
                <a:ea typeface="Courier New" pitchFamily="34" charset="-122"/>
                <a:cs typeface="Courier New" pitchFamily="34" charset="-120"/>
              </a:rPr>
              <a:t>3, 10, 6, 18, 1</a:t>
            </a:r>
            <a:endParaRPr lang="en-US" sz="1600" dirty="0"/>
          </a:p>
        </p:txBody>
      </p:sp>
      <p:sp>
        <p:nvSpPr>
          <p:cNvPr id="14"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34  </a:t>
            </a:r>
            <a:r>
              <a:rPr lang="en-US" sz="1600" b="1" dirty="0">
                <a:solidFill>
                  <a:srgbClr val="002D6A"/>
                </a:solidFill>
                <a:latin typeface="Courier New" pitchFamily="34" charset="0"/>
                <a:ea typeface="Courier New" pitchFamily="34" charset="-122"/>
                <a:cs typeface="Courier New" pitchFamily="34" charset="-120"/>
              </a:rPr>
              <a:t>2, 11, 6, 17, 2</a:t>
            </a:r>
            <a:endParaRPr lang="en-US" sz="1600" dirty="0"/>
          </a:p>
        </p:txBody>
      </p:sp>
      <p:sp>
        <p:nvSpPr>
          <p:cNvPr id="15"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35  </a:t>
            </a:r>
            <a:r>
              <a:rPr lang="en-US" sz="1600" b="1" dirty="0">
                <a:solidFill>
                  <a:srgbClr val="002D6A"/>
                </a:solidFill>
                <a:latin typeface="Courier New" pitchFamily="34" charset="0"/>
                <a:ea typeface="Courier New" pitchFamily="34" charset="-122"/>
                <a:cs typeface="Courier New" pitchFamily="34" charset="-120"/>
              </a:rPr>
              <a:t>2, 8, 7, 19, 2</a:t>
            </a:r>
            <a:endParaRPr lang="en-US" sz="1600" dirty="0"/>
          </a:p>
        </p:txBody>
      </p:sp>
      <p:sp>
        <p:nvSpPr>
          <p:cNvPr id="16" name="@2 addText"/>
          <p:cNvSpPr txBox="1"/>
          <p:nvPr/>
        </p:nvSpPr>
        <p:spPr>
          <a:xfrm>
            <a:off x="5029200" y="338328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36  </a:t>
            </a:r>
            <a:r>
              <a:rPr lang="en-US" sz="1600" b="1" dirty="0">
                <a:solidFill>
                  <a:srgbClr val="002D6A"/>
                </a:solidFill>
                <a:latin typeface="Courier New" pitchFamily="34" charset="0"/>
                <a:ea typeface="Courier New" pitchFamily="34" charset="-122"/>
                <a:cs typeface="Courier New" pitchFamily="34" charset="-120"/>
              </a:rPr>
              <a:t>2, 6, 8, 19, 3</a:t>
            </a:r>
            <a:endParaRPr lang="en-US" sz="1600" dirty="0"/>
          </a:p>
        </p:txBody>
      </p:sp>
      <p:sp>
        <p:nvSpPr>
          <p:cNvPr id="17" name="Text 15"/>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rows 25 to 36</a:t>
            </a:r>
            <a:endParaRPr lang="en-US" sz="1400" dirty="0"/>
          </a:p>
        </p:txBody>
      </p:sp>
      <p:sp>
        <p:nvSpPr>
          <p:cNvPr id="18"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2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2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The Big One: the clues (4 of 4)</a:t>
            </a:r>
            <a:endParaRPr lang="en-US" sz="3000" dirty="0"/>
          </a:p>
        </p:txBody>
      </p:sp>
      <p:sp>
        <p:nvSpPr>
          <p:cNvPr id="3" name="@1 Clue card"/>
          <p:cNvSpPr/>
          <p:nvPr/>
        </p:nvSpPr>
        <p:spPr>
          <a:xfrm>
            <a:off x="457200" y="1143000"/>
            <a:ext cx="3931920" cy="2377440"/>
          </a:xfrm>
          <a:prstGeom prst="roundRect">
            <a:avLst>
              <a:gd name="adj" fmla="val 4615"/>
            </a:avLst>
          </a:prstGeom>
          <a:solidFill>
            <a:srgbClr val="FFFFFF"/>
          </a:solidFill>
          <a:ln w="9525">
            <a:solidFill>
              <a:srgbClr val="C5D1E3"/>
            </a:solidFill>
            <a:prstDash val="solid"/>
          </a:ln>
        </p:spPr>
        <p:txBody>
          <a:bodyPr/>
          <a:lstStyle/>
          <a:p>
            <a:endParaRPr lang="en-GB"/>
          </a:p>
        </p:txBody>
      </p:sp>
      <p:sp>
        <p:nvSpPr>
          <p:cNvPr id="4" name="@1 addText"/>
          <p:cNvSpPr txBox="1"/>
          <p:nvPr/>
        </p:nvSpPr>
        <p:spPr>
          <a:xfrm>
            <a:off x="73152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37  </a:t>
            </a:r>
            <a:r>
              <a:rPr lang="en-US" sz="1600" b="1" dirty="0">
                <a:solidFill>
                  <a:srgbClr val="002D6A"/>
                </a:solidFill>
                <a:latin typeface="Courier New" pitchFamily="34" charset="0"/>
                <a:ea typeface="Courier New" pitchFamily="34" charset="-122"/>
                <a:cs typeface="Courier New" pitchFamily="34" charset="-120"/>
              </a:rPr>
              <a:t>3, 3, 13, 15, 4</a:t>
            </a:r>
            <a:endParaRPr lang="en-US" sz="1600" dirty="0"/>
          </a:p>
        </p:txBody>
      </p:sp>
      <p:sp>
        <p:nvSpPr>
          <p:cNvPr id="5" name="@1 addText"/>
          <p:cNvSpPr txBox="1"/>
          <p:nvPr/>
        </p:nvSpPr>
        <p:spPr>
          <a:xfrm>
            <a:off x="73152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38  </a:t>
            </a:r>
            <a:r>
              <a:rPr lang="en-US" sz="1600" b="1" dirty="0">
                <a:solidFill>
                  <a:srgbClr val="002D6A"/>
                </a:solidFill>
                <a:latin typeface="Courier New" pitchFamily="34" charset="0"/>
                <a:ea typeface="Courier New" pitchFamily="34" charset="-122"/>
                <a:cs typeface="Courier New" pitchFamily="34" charset="-120"/>
              </a:rPr>
              <a:t>21, 14, 3</a:t>
            </a:r>
            <a:endParaRPr lang="en-US" sz="1600" dirty="0"/>
          </a:p>
        </p:txBody>
      </p:sp>
      <p:sp>
        <p:nvSpPr>
          <p:cNvPr id="6" name="@1 addText"/>
          <p:cNvSpPr txBox="1"/>
          <p:nvPr/>
        </p:nvSpPr>
        <p:spPr>
          <a:xfrm>
            <a:off x="73152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39  </a:t>
            </a:r>
            <a:r>
              <a:rPr lang="en-US" sz="1600" b="1" dirty="0">
                <a:solidFill>
                  <a:srgbClr val="002D6A"/>
                </a:solidFill>
                <a:latin typeface="Courier New" pitchFamily="34" charset="0"/>
                <a:ea typeface="Courier New" pitchFamily="34" charset="-122"/>
                <a:cs typeface="Courier New" pitchFamily="34" charset="-120"/>
              </a:rPr>
              <a:t>19, 17, 2</a:t>
            </a:r>
            <a:endParaRPr lang="en-US" sz="1600" dirty="0"/>
          </a:p>
        </p:txBody>
      </p:sp>
      <p:sp>
        <p:nvSpPr>
          <p:cNvPr id="7" name="@1 addText"/>
          <p:cNvSpPr txBox="1"/>
          <p:nvPr/>
        </p:nvSpPr>
        <p:spPr>
          <a:xfrm>
            <a:off x="73152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40  </a:t>
            </a:r>
            <a:r>
              <a:rPr lang="en-US" sz="1600" b="1" dirty="0">
                <a:solidFill>
                  <a:srgbClr val="002D6A"/>
                </a:solidFill>
                <a:latin typeface="Courier New" pitchFamily="34" charset="0"/>
                <a:ea typeface="Courier New" pitchFamily="34" charset="-122"/>
                <a:cs typeface="Courier New" pitchFamily="34" charset="-120"/>
              </a:rPr>
              <a:t>18, 17, 3</a:t>
            </a:r>
            <a:endParaRPr lang="en-US" sz="1600" dirty="0"/>
          </a:p>
        </p:txBody>
      </p:sp>
      <p:sp>
        <p:nvSpPr>
          <p:cNvPr id="8" name="@1 addText"/>
          <p:cNvSpPr txBox="1"/>
          <p:nvPr/>
        </p:nvSpPr>
        <p:spPr>
          <a:xfrm>
            <a:off x="73152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41  </a:t>
            </a:r>
            <a:r>
              <a:rPr lang="en-US" sz="1600" b="1" dirty="0">
                <a:solidFill>
                  <a:srgbClr val="002D6A"/>
                </a:solidFill>
                <a:latin typeface="Courier New" pitchFamily="34" charset="0"/>
                <a:ea typeface="Courier New" pitchFamily="34" charset="-122"/>
                <a:cs typeface="Courier New" pitchFamily="34" charset="-120"/>
              </a:rPr>
              <a:t>18, 10, 1, 4, 5</a:t>
            </a:r>
            <a:endParaRPr lang="en-US" sz="1600" dirty="0"/>
          </a:p>
        </p:txBody>
      </p:sp>
      <p:sp>
        <p:nvSpPr>
          <p:cNvPr id="9" name="@2 Clue card"/>
          <p:cNvSpPr/>
          <p:nvPr/>
        </p:nvSpPr>
        <p:spPr>
          <a:xfrm>
            <a:off x="4754880" y="1143000"/>
            <a:ext cx="3931920" cy="2377440"/>
          </a:xfrm>
          <a:prstGeom prst="roundRect">
            <a:avLst>
              <a:gd name="adj" fmla="val 4615"/>
            </a:avLst>
          </a:prstGeom>
          <a:solidFill>
            <a:srgbClr val="FFFFFF"/>
          </a:solidFill>
          <a:ln w="9525">
            <a:solidFill>
              <a:srgbClr val="C5D1E3"/>
            </a:solidFill>
            <a:prstDash val="solid"/>
          </a:ln>
        </p:spPr>
        <p:txBody>
          <a:bodyPr/>
          <a:lstStyle/>
          <a:p>
            <a:endParaRPr lang="en-GB"/>
          </a:p>
        </p:txBody>
      </p:sp>
      <p:sp>
        <p:nvSpPr>
          <p:cNvPr id="10" name="@2 addText"/>
          <p:cNvSpPr txBox="1"/>
          <p:nvPr/>
        </p:nvSpPr>
        <p:spPr>
          <a:xfrm>
            <a:off x="5029200" y="1280160"/>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42  </a:t>
            </a:r>
            <a:r>
              <a:rPr lang="en-US" sz="1600" b="1" dirty="0">
                <a:solidFill>
                  <a:srgbClr val="002D6A"/>
                </a:solidFill>
                <a:latin typeface="Courier New" pitchFamily="34" charset="0"/>
                <a:ea typeface="Courier New" pitchFamily="34" charset="-122"/>
                <a:cs typeface="Courier New" pitchFamily="34" charset="-120"/>
              </a:rPr>
              <a:t>17, 5, 2, 1, 13</a:t>
            </a:r>
            <a:endParaRPr lang="en-US" sz="1600" dirty="0"/>
          </a:p>
        </p:txBody>
      </p:sp>
      <p:sp>
        <p:nvSpPr>
          <p:cNvPr id="11" name="@2 addText"/>
          <p:cNvSpPr txBox="1"/>
          <p:nvPr/>
        </p:nvSpPr>
        <p:spPr>
          <a:xfrm>
            <a:off x="5029200" y="1700784"/>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43  </a:t>
            </a:r>
            <a:r>
              <a:rPr lang="en-US" sz="1600" b="1" dirty="0">
                <a:solidFill>
                  <a:srgbClr val="002D6A"/>
                </a:solidFill>
                <a:latin typeface="Courier New" pitchFamily="34" charset="0"/>
                <a:ea typeface="Courier New" pitchFamily="34" charset="-122"/>
                <a:cs typeface="Courier New" pitchFamily="34" charset="-120"/>
              </a:rPr>
              <a:t>16, 5, 17</a:t>
            </a:r>
            <a:endParaRPr lang="en-US" sz="1600" dirty="0"/>
          </a:p>
        </p:txBody>
      </p:sp>
      <p:sp>
        <p:nvSpPr>
          <p:cNvPr id="12" name="@2 addText"/>
          <p:cNvSpPr txBox="1"/>
          <p:nvPr/>
        </p:nvSpPr>
        <p:spPr>
          <a:xfrm>
            <a:off x="5029200" y="2121408"/>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44  </a:t>
            </a:r>
            <a:r>
              <a:rPr lang="en-US" sz="1600" b="1" dirty="0">
                <a:solidFill>
                  <a:srgbClr val="002D6A"/>
                </a:solidFill>
                <a:latin typeface="Courier New" pitchFamily="34" charset="0"/>
                <a:ea typeface="Courier New" pitchFamily="34" charset="-122"/>
                <a:cs typeface="Courier New" pitchFamily="34" charset="-120"/>
              </a:rPr>
              <a:t>15, 2, 21</a:t>
            </a:r>
            <a:endParaRPr lang="en-US" sz="1600" dirty="0"/>
          </a:p>
        </p:txBody>
      </p:sp>
      <p:sp>
        <p:nvSpPr>
          <p:cNvPr id="13" name="@2 addText"/>
          <p:cNvSpPr txBox="1"/>
          <p:nvPr/>
        </p:nvSpPr>
        <p:spPr>
          <a:xfrm>
            <a:off x="5029200" y="2542032"/>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45  </a:t>
            </a:r>
            <a:r>
              <a:rPr lang="en-US" sz="1600" b="1" dirty="0">
                <a:solidFill>
                  <a:srgbClr val="002D6A"/>
                </a:solidFill>
                <a:latin typeface="Courier New" pitchFamily="34" charset="0"/>
                <a:ea typeface="Courier New" pitchFamily="34" charset="-122"/>
                <a:cs typeface="Courier New" pitchFamily="34" charset="-120"/>
              </a:rPr>
              <a:t>38</a:t>
            </a:r>
            <a:endParaRPr lang="en-US" sz="1600" dirty="0"/>
          </a:p>
        </p:txBody>
      </p:sp>
      <p:sp>
        <p:nvSpPr>
          <p:cNvPr id="14" name="@2 addText"/>
          <p:cNvSpPr txBox="1"/>
          <p:nvPr/>
        </p:nvSpPr>
        <p:spPr>
          <a:xfrm>
            <a:off x="5029200" y="2962656"/>
            <a:ext cx="3474720" cy="420624"/>
          </a:xfrm>
          <a:prstGeom prst="rect">
            <a:avLst/>
          </a:prstGeom>
          <a:noFill/>
          <a:ln/>
        </p:spPr>
        <p:txBody>
          <a:bodyPr wrap="none" lIns="0" tIns="0" rIns="0" bIns="0" rtlCol="0" anchor="ctr"/>
          <a:lstStyle/>
          <a:p>
            <a:pPr marL="0" indent="0">
              <a:buNone/>
            </a:pPr>
            <a:r>
              <a:rPr lang="en-US" sz="1600" dirty="0">
                <a:solidFill>
                  <a:srgbClr val="5D6B80"/>
                </a:solidFill>
                <a:latin typeface="Courier New" pitchFamily="34" charset="0"/>
                <a:ea typeface="Courier New" pitchFamily="34" charset="-122"/>
                <a:cs typeface="Courier New" pitchFamily="34" charset="-120"/>
              </a:rPr>
              <a:t>46  </a:t>
            </a:r>
            <a:r>
              <a:rPr lang="en-US" sz="1600" b="1" dirty="0">
                <a:solidFill>
                  <a:srgbClr val="002D6A"/>
                </a:solidFill>
                <a:latin typeface="Courier New" pitchFamily="34" charset="0"/>
                <a:ea typeface="Courier New" pitchFamily="34" charset="-122"/>
                <a:cs typeface="Courier New" pitchFamily="34" charset="-120"/>
              </a:rPr>
              <a:t>38</a:t>
            </a:r>
            <a:endParaRPr lang="en-US" sz="1600" dirty="0"/>
          </a:p>
        </p:txBody>
      </p:sp>
      <p:sp>
        <p:nvSpPr>
          <p:cNvPr id="15" name="Text 13"/>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rgbClr val="5D6B80"/>
                </a:solidFill>
                <a:latin typeface="Courier New" pitchFamily="34" charset="0"/>
                <a:ea typeface="Courier New" pitchFamily="34" charset="-122"/>
                <a:cs typeface="Courier New" pitchFamily="34" charset="-120"/>
              </a:rPr>
              <a:t>// next slide: the decoded picture</a:t>
            </a:r>
            <a:endParaRPr lang="en-US" sz="1400" dirty="0"/>
          </a:p>
        </p:txBody>
      </p:sp>
      <p:sp>
        <p:nvSpPr>
          <p:cNvPr id="1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69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2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The Big One: decoded</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pic>
        <p:nvPicPr>
          <p:cNvPr id="5" name="Image 0" descr="A map of the UK and Ireland on a 38 by 46 grid, decoded from the clues"/>
          <p:cNvPicPr>
            <a:picLocks noChangeAspect="1"/>
          </p:cNvPicPr>
          <p:nvPr/>
        </p:nvPicPr>
        <p:blipFill>
          <a:blip r:embed="rId3"/>
          <a:stretch>
            <a:fillRect/>
          </a:stretch>
        </p:blipFill>
        <p:spPr>
          <a:xfrm>
            <a:off x="3060889" y="1051560"/>
            <a:ext cx="3022223" cy="3657600"/>
          </a:xfrm>
          <a:prstGeom prst="rect">
            <a:avLst/>
          </a:prstGeom>
        </p:spPr>
      </p:pic>
      <p:sp>
        <p:nvSpPr>
          <p:cNvPr id="6"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70</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Time It</a:t>
            </a:r>
            <a:endParaRPr lang="en-US" sz="3400" dirty="0"/>
          </a:p>
        </p:txBody>
      </p:sp>
      <p:sp>
        <p:nvSpPr>
          <p:cNvPr id="3" name="Text 1"/>
          <p:cNvSpPr txBox="1"/>
          <p:nvPr/>
        </p:nvSpPr>
        <p:spPr>
          <a:xfrm>
            <a:off x="548640" y="640080"/>
            <a:ext cx="3657600" cy="457200"/>
          </a:xfrm>
          <a:prstGeom prst="rect">
            <a:avLst/>
          </a:prstGeom>
          <a:noFill/>
          <a:ln/>
        </p:spPr>
        <p:txBody>
          <a:bodyPr wrap="square" lIns="0" tIns="0" rIns="0" bIns="0" rtlCol="0" anchor="ctr"/>
          <a:lstStyle/>
          <a:p>
            <a:pPr marL="0" indent="0">
              <a:buNone/>
            </a:pPr>
            <a:r>
              <a:rPr lang="en-US" sz="2200" b="1" kern="0" spc="400" dirty="0">
                <a:solidFill>
                  <a:srgbClr val="A9C4E8"/>
                </a:solidFill>
                <a:latin typeface="Arial" pitchFamily="34" charset="0"/>
                <a:ea typeface="Arial" pitchFamily="34" charset="-122"/>
                <a:cs typeface="Arial" pitchFamily="34" charset="-120"/>
              </a:rPr>
              <a:t>TASK 5</a:t>
            </a:r>
            <a:endParaRPr lang="en-US" sz="2200" dirty="0"/>
          </a:p>
        </p:txBody>
      </p:sp>
      <p:sp>
        <p:nvSpPr>
          <p:cNvPr id="4" name="Text 2"/>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Time each big picture by computer, compare with by hand, and write why. Booklet pages 11 and 12.</a:t>
            </a:r>
            <a:endParaRPr lang="en-US" sz="1800" dirty="0"/>
          </a:p>
        </p:txBody>
      </p:sp>
      <p:sp>
        <p:nvSpPr>
          <p:cNvPr id="5" name="Timer pill"/>
          <p:cNvSpPr/>
          <p:nvPr/>
        </p:nvSpPr>
        <p:spPr>
          <a:xfrm>
            <a:off x="548640" y="3840480"/>
            <a:ext cx="2194560" cy="640080"/>
          </a:xfrm>
          <a:prstGeom prst="roundRect">
            <a:avLst>
              <a:gd name="adj" fmla="val 50000"/>
            </a:avLst>
          </a:prstGeom>
          <a:solidFill>
            <a:srgbClr val="A9C4E8"/>
          </a:solidFill>
          <a:ln w="12700">
            <a:solidFill>
              <a:srgbClr val="A9C4E8"/>
            </a:solidFill>
            <a:prstDash val="solid"/>
          </a:ln>
        </p:spPr>
        <p:txBody>
          <a:bodyPr/>
          <a:lstStyle/>
          <a:p>
            <a:endParaRPr lang="en-GB"/>
          </a:p>
        </p:txBody>
      </p:sp>
      <p:pic>
        <p:nvPicPr>
          <p:cNvPr id="6" name="Image 0" descr="clock"/>
          <p:cNvPicPr>
            <a:picLocks noChangeAspect="1"/>
          </p:cNvPicPr>
          <p:nvPr/>
        </p:nvPicPr>
        <p:blipFill>
          <a:blip r:embed="rId3"/>
          <a:stretch>
            <a:fillRect/>
          </a:stretch>
        </p:blipFill>
        <p:spPr>
          <a:xfrm>
            <a:off x="749808" y="3995928"/>
            <a:ext cx="329184" cy="329184"/>
          </a:xfrm>
          <a:prstGeom prst="rect">
            <a:avLst/>
          </a:prstGeom>
        </p:spPr>
      </p:pic>
      <p:sp>
        <p:nvSpPr>
          <p:cNvPr id="7" name="Text 4"/>
          <p:cNvSpPr txBox="1"/>
          <p:nvPr/>
        </p:nvSpPr>
        <p:spPr>
          <a:xfrm>
            <a:off x="1170432" y="3840480"/>
            <a:ext cx="1463040" cy="640080"/>
          </a:xfrm>
          <a:prstGeom prst="rect">
            <a:avLst/>
          </a:prstGeom>
          <a:noFill/>
          <a:ln/>
        </p:spPr>
        <p:txBody>
          <a:bodyPr wrap="square" lIns="0" tIns="0" rIns="0" bIns="0" rtlCol="0" anchor="ctr"/>
          <a:lstStyle/>
          <a:p>
            <a:pPr marL="0" indent="0">
              <a:buNone/>
            </a:pPr>
            <a:r>
              <a:rPr lang="en-US" sz="2000" b="1" dirty="0">
                <a:solidFill>
                  <a:srgbClr val="001B40"/>
                </a:solidFill>
                <a:latin typeface="Arial" pitchFamily="34" charset="0"/>
                <a:ea typeface="Arial" pitchFamily="34" charset="-122"/>
                <a:cs typeface="Arial" pitchFamily="34" charset="-120"/>
              </a:rPr>
              <a:t>8 min</a:t>
            </a:r>
            <a:endParaRPr lang="en-US" sz="2000" dirty="0"/>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Task 5: Timings</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36</a:t>
            </a:fld>
            <a:endParaRPr lang="en-US"/>
          </a:p>
        </p:txBody>
      </p:sp>
      <p:sp>
        <p:nvSpPr>
          <p:cNvPr id="6" name="Text"/>
          <p:cNvSpPr txBox="1"/>
          <p:nvPr/>
        </p:nvSpPr>
        <p:spPr>
          <a:xfrm>
            <a:off x="548640" y="1097280"/>
            <a:ext cx="2743200" cy="274320"/>
          </a:xfrm>
          <a:prstGeom prst="rect">
            <a:avLst/>
          </a:prstGeom>
          <a:noFill/>
        </p:spPr>
        <p:txBody>
          <a:bodyPr wrap="square" lIns="0" rIns="0" tIns="0" bIns="0" anchor="ctr">
            <a:spAutoFit/>
          </a:bodyPr>
          <a:lstStyle/>
          <a:p>
            <a:pPr algn="l"/>
            <a:r>
              <a:rPr sz="1300" b="1" i="0">
                <a:solidFill>
                  <a:srgbClr val="5D6B80"/>
                </a:solidFill>
                <a:latin typeface="Arial"/>
              </a:rPr>
              <a:t>picture</a:t>
            </a:r>
          </a:p>
        </p:txBody>
      </p:sp>
      <p:sp>
        <p:nvSpPr>
          <p:cNvPr id="7" name="Text"/>
          <p:cNvSpPr txBox="1"/>
          <p:nvPr/>
        </p:nvSpPr>
        <p:spPr>
          <a:xfrm>
            <a:off x="3474720" y="1097280"/>
            <a:ext cx="1097280" cy="274320"/>
          </a:xfrm>
          <a:prstGeom prst="rect">
            <a:avLst/>
          </a:prstGeom>
          <a:noFill/>
        </p:spPr>
        <p:txBody>
          <a:bodyPr wrap="square" lIns="0" rIns="0" tIns="0" bIns="0" anchor="ctr">
            <a:spAutoFit/>
          </a:bodyPr>
          <a:lstStyle/>
          <a:p>
            <a:pPr algn="l"/>
            <a:r>
              <a:rPr sz="1300" b="1" i="0">
                <a:solidFill>
                  <a:srgbClr val="5D6B80"/>
                </a:solidFill>
                <a:latin typeface="Arial"/>
              </a:rPr>
              <a:t>rows</a:t>
            </a:r>
          </a:p>
        </p:txBody>
      </p:sp>
      <p:sp>
        <p:nvSpPr>
          <p:cNvPr id="8" name="Text"/>
          <p:cNvSpPr txBox="1"/>
          <p:nvPr/>
        </p:nvSpPr>
        <p:spPr>
          <a:xfrm>
            <a:off x="4754880" y="1097280"/>
            <a:ext cx="1371600" cy="274320"/>
          </a:xfrm>
          <a:prstGeom prst="rect">
            <a:avLst/>
          </a:prstGeom>
          <a:noFill/>
        </p:spPr>
        <p:txBody>
          <a:bodyPr wrap="square" lIns="0" rIns="0" tIns="0" bIns="0" anchor="ctr">
            <a:spAutoFit/>
          </a:bodyPr>
          <a:lstStyle/>
          <a:p>
            <a:pPr algn="l"/>
            <a:r>
              <a:rPr sz="1300" b="1" i="0">
                <a:solidFill>
                  <a:srgbClr val="5D6B80"/>
                </a:solidFill>
                <a:latin typeface="Arial"/>
              </a:rPr>
              <a:t>worked?</a:t>
            </a:r>
          </a:p>
        </p:txBody>
      </p:sp>
      <p:sp>
        <p:nvSpPr>
          <p:cNvPr id="9" name="Text"/>
          <p:cNvSpPr txBox="1"/>
          <p:nvPr/>
        </p:nvSpPr>
        <p:spPr>
          <a:xfrm>
            <a:off x="6400800" y="1097280"/>
            <a:ext cx="2194560" cy="274320"/>
          </a:xfrm>
          <a:prstGeom prst="rect">
            <a:avLst/>
          </a:prstGeom>
          <a:noFill/>
        </p:spPr>
        <p:txBody>
          <a:bodyPr wrap="square" lIns="0" rIns="0" tIns="0" bIns="0" anchor="ctr">
            <a:spAutoFit/>
          </a:bodyPr>
          <a:lstStyle/>
          <a:p>
            <a:pPr algn="l"/>
            <a:r>
              <a:rPr sz="1300" b="1" i="0">
                <a:solidFill>
                  <a:srgbClr val="5D6B80"/>
                </a:solidFill>
                <a:latin typeface="Arial"/>
              </a:rPr>
              <a:t>by computer</a:t>
            </a:r>
          </a:p>
        </p:txBody>
      </p:sp>
      <p:sp>
        <p:nvSpPr>
          <p:cNvPr id="10" name="Card"/>
          <p:cNvSpPr/>
          <p:nvPr/>
        </p:nvSpPr>
        <p:spPr>
          <a:xfrm>
            <a:off x="457200" y="1417320"/>
            <a:ext cx="8229600" cy="54864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640080" y="1417320"/>
            <a:ext cx="2743200" cy="548640"/>
          </a:xfrm>
          <a:prstGeom prst="rect">
            <a:avLst/>
          </a:prstGeom>
          <a:noFill/>
        </p:spPr>
        <p:txBody>
          <a:bodyPr wrap="square" lIns="0" rIns="0" tIns="0" bIns="0" anchor="ctr">
            <a:spAutoFit/>
          </a:bodyPr>
          <a:lstStyle/>
          <a:p>
            <a:pPr algn="l"/>
            <a:r>
              <a:rPr sz="1600" b="1" i="0">
                <a:solidFill>
                  <a:srgbClr val="002D6A"/>
                </a:solidFill>
                <a:latin typeface="Courier New"/>
              </a:rPr>
              <a:t>mystery_image_5</a:t>
            </a:r>
          </a:p>
        </p:txBody>
      </p:sp>
      <p:sp>
        <p:nvSpPr>
          <p:cNvPr id="12" name="Text"/>
          <p:cNvSpPr txBox="1"/>
          <p:nvPr/>
        </p:nvSpPr>
        <p:spPr>
          <a:xfrm>
            <a:off x="3474720" y="1417320"/>
            <a:ext cx="1097280" cy="548640"/>
          </a:xfrm>
          <a:prstGeom prst="rect">
            <a:avLst/>
          </a:prstGeom>
          <a:noFill/>
        </p:spPr>
        <p:txBody>
          <a:bodyPr wrap="square" lIns="0" rIns="0" tIns="0" bIns="0" anchor="ctr">
            <a:spAutoFit/>
          </a:bodyPr>
          <a:lstStyle/>
          <a:p>
            <a:pPr algn="l"/>
            <a:r>
              <a:rPr sz="1800" b="0" i="0">
                <a:solidFill>
                  <a:srgbClr val="22262E"/>
                </a:solidFill>
                <a:latin typeface="Arial"/>
              </a:rPr>
              <a:t>47</a:t>
            </a:r>
          </a:p>
        </p:txBody>
      </p:sp>
      <p:sp>
        <p:nvSpPr>
          <p:cNvPr id="13" name="Text"/>
          <p:cNvSpPr txBox="1"/>
          <p:nvPr/>
        </p:nvSpPr>
        <p:spPr>
          <a:xfrm>
            <a:off x="4754880" y="1417320"/>
            <a:ext cx="1371600" cy="548640"/>
          </a:xfrm>
          <a:prstGeom prst="rect">
            <a:avLst/>
          </a:prstGeom>
          <a:noFill/>
        </p:spPr>
        <p:txBody>
          <a:bodyPr wrap="square" lIns="0" rIns="0" tIns="0" bIns="0" anchor="ctr">
            <a:spAutoFit/>
          </a:bodyPr>
          <a:lstStyle/>
          <a:p>
            <a:pPr algn="l"/>
            <a:r>
              <a:rPr sz="1800" b="0" i="0">
                <a:solidFill>
                  <a:srgbClr val="22262E"/>
                </a:solidFill>
                <a:latin typeface="Arial"/>
              </a:rPr>
              <a:t>yes</a:t>
            </a:r>
          </a:p>
        </p:txBody>
      </p:sp>
      <p:sp>
        <p:nvSpPr>
          <p:cNvPr id="14" name="Text"/>
          <p:cNvSpPr txBox="1"/>
          <p:nvPr/>
        </p:nvSpPr>
        <p:spPr>
          <a:xfrm>
            <a:off x="6400800" y="1417320"/>
            <a:ext cx="2194560" cy="548640"/>
          </a:xfrm>
          <a:prstGeom prst="rect">
            <a:avLst/>
          </a:prstGeom>
          <a:noFill/>
        </p:spPr>
        <p:txBody>
          <a:bodyPr wrap="square" lIns="0" rIns="0" tIns="0" bIns="0" anchor="ctr">
            <a:spAutoFit/>
          </a:bodyPr>
          <a:lstStyle/>
          <a:p>
            <a:pPr algn="l"/>
            <a:r>
              <a:rPr sz="1800" b="0" i="0">
                <a:solidFill>
                  <a:srgbClr val="22262E"/>
                </a:solidFill>
                <a:latin typeface="Arial"/>
              </a:rPr>
              <a:t>about 1 second</a:t>
            </a:r>
          </a:p>
        </p:txBody>
      </p:sp>
      <p:sp>
        <p:nvSpPr>
          <p:cNvPr id="15" name="Card"/>
          <p:cNvSpPr/>
          <p:nvPr/>
        </p:nvSpPr>
        <p:spPr>
          <a:xfrm>
            <a:off x="457200" y="2057400"/>
            <a:ext cx="8229600" cy="54864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p:cNvSpPr txBox="1"/>
          <p:nvPr/>
        </p:nvSpPr>
        <p:spPr>
          <a:xfrm>
            <a:off x="640080" y="2057400"/>
            <a:ext cx="2743200" cy="548640"/>
          </a:xfrm>
          <a:prstGeom prst="rect">
            <a:avLst/>
          </a:prstGeom>
          <a:noFill/>
        </p:spPr>
        <p:txBody>
          <a:bodyPr wrap="square" lIns="0" rIns="0" tIns="0" bIns="0" anchor="ctr">
            <a:spAutoFit/>
          </a:bodyPr>
          <a:lstStyle/>
          <a:p>
            <a:pPr algn="l"/>
            <a:r>
              <a:rPr sz="1600" b="1" i="0">
                <a:solidFill>
                  <a:srgbClr val="002D6A"/>
                </a:solidFill>
                <a:latin typeface="Courier New"/>
              </a:rPr>
              <a:t>mystery_image_6</a:t>
            </a:r>
          </a:p>
        </p:txBody>
      </p:sp>
      <p:sp>
        <p:nvSpPr>
          <p:cNvPr id="17" name="Text"/>
          <p:cNvSpPr txBox="1"/>
          <p:nvPr/>
        </p:nvSpPr>
        <p:spPr>
          <a:xfrm>
            <a:off x="3474720" y="2057400"/>
            <a:ext cx="1097280" cy="548640"/>
          </a:xfrm>
          <a:prstGeom prst="rect">
            <a:avLst/>
          </a:prstGeom>
          <a:noFill/>
        </p:spPr>
        <p:txBody>
          <a:bodyPr wrap="square" lIns="0" rIns="0" tIns="0" bIns="0" anchor="ctr">
            <a:spAutoFit/>
          </a:bodyPr>
          <a:lstStyle/>
          <a:p>
            <a:pPr algn="l"/>
            <a:r>
              <a:rPr sz="1800" b="0" i="0">
                <a:solidFill>
                  <a:srgbClr val="22262E"/>
                </a:solidFill>
                <a:latin typeface="Arial"/>
              </a:rPr>
              <a:t>32</a:t>
            </a:r>
          </a:p>
        </p:txBody>
      </p:sp>
      <p:sp>
        <p:nvSpPr>
          <p:cNvPr id="18" name="Text"/>
          <p:cNvSpPr txBox="1"/>
          <p:nvPr/>
        </p:nvSpPr>
        <p:spPr>
          <a:xfrm>
            <a:off x="4754880" y="2057400"/>
            <a:ext cx="1371600" cy="548640"/>
          </a:xfrm>
          <a:prstGeom prst="rect">
            <a:avLst/>
          </a:prstGeom>
          <a:noFill/>
        </p:spPr>
        <p:txBody>
          <a:bodyPr wrap="square" lIns="0" rIns="0" tIns="0" bIns="0" anchor="ctr">
            <a:spAutoFit/>
          </a:bodyPr>
          <a:lstStyle/>
          <a:p>
            <a:pPr algn="l"/>
            <a:r>
              <a:rPr sz="1800" b="0" i="0">
                <a:solidFill>
                  <a:srgbClr val="22262E"/>
                </a:solidFill>
                <a:latin typeface="Arial"/>
              </a:rPr>
              <a:t>yes</a:t>
            </a:r>
          </a:p>
        </p:txBody>
      </p:sp>
      <p:sp>
        <p:nvSpPr>
          <p:cNvPr id="19" name="Text"/>
          <p:cNvSpPr txBox="1"/>
          <p:nvPr/>
        </p:nvSpPr>
        <p:spPr>
          <a:xfrm>
            <a:off x="6400800" y="2057400"/>
            <a:ext cx="2194560" cy="548640"/>
          </a:xfrm>
          <a:prstGeom prst="rect">
            <a:avLst/>
          </a:prstGeom>
          <a:noFill/>
        </p:spPr>
        <p:txBody>
          <a:bodyPr wrap="square" lIns="0" rIns="0" tIns="0" bIns="0" anchor="ctr">
            <a:spAutoFit/>
          </a:bodyPr>
          <a:lstStyle/>
          <a:p>
            <a:pPr algn="l"/>
            <a:r>
              <a:rPr sz="1800" b="0" i="0">
                <a:solidFill>
                  <a:srgbClr val="22262E"/>
                </a:solidFill>
                <a:latin typeface="Arial"/>
              </a:rPr>
              <a:t>about 1 second</a:t>
            </a:r>
          </a:p>
        </p:txBody>
      </p:sp>
      <p:sp>
        <p:nvSpPr>
          <p:cNvPr id="20" name="Card"/>
          <p:cNvSpPr/>
          <p:nvPr/>
        </p:nvSpPr>
        <p:spPr>
          <a:xfrm>
            <a:off x="457200" y="2697480"/>
            <a:ext cx="8229600" cy="548640"/>
          </a:xfrm>
          <a:prstGeom prst="roundRect">
            <a:avLst>
              <a:gd name="adj" fmla="val 12000"/>
            </a:avLst>
          </a:prstGeom>
          <a:solidFill>
            <a:srgbClr val="FFFFFF"/>
          </a:solidFill>
          <a:ln w="9525">
            <a:solidFill>
              <a:srgbClr val="C5D1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p:cNvSpPr txBox="1"/>
          <p:nvPr/>
        </p:nvSpPr>
        <p:spPr>
          <a:xfrm>
            <a:off x="640080" y="2697480"/>
            <a:ext cx="2743200" cy="548640"/>
          </a:xfrm>
          <a:prstGeom prst="rect">
            <a:avLst/>
          </a:prstGeom>
          <a:noFill/>
        </p:spPr>
        <p:txBody>
          <a:bodyPr wrap="square" lIns="0" rIns="0" tIns="0" bIns="0" anchor="ctr">
            <a:spAutoFit/>
          </a:bodyPr>
          <a:lstStyle/>
          <a:p>
            <a:pPr algn="l"/>
            <a:r>
              <a:rPr sz="1600" b="1" i="0">
                <a:solidFill>
                  <a:srgbClr val="002D6A"/>
                </a:solidFill>
                <a:latin typeface="Courier New"/>
              </a:rPr>
              <a:t>mystery_image_7</a:t>
            </a:r>
          </a:p>
        </p:txBody>
      </p:sp>
      <p:sp>
        <p:nvSpPr>
          <p:cNvPr id="22" name="Text"/>
          <p:cNvSpPr txBox="1"/>
          <p:nvPr/>
        </p:nvSpPr>
        <p:spPr>
          <a:xfrm>
            <a:off x="3474720" y="2697480"/>
            <a:ext cx="1097280" cy="548640"/>
          </a:xfrm>
          <a:prstGeom prst="rect">
            <a:avLst/>
          </a:prstGeom>
          <a:noFill/>
        </p:spPr>
        <p:txBody>
          <a:bodyPr wrap="square" lIns="0" rIns="0" tIns="0" bIns="0" anchor="ctr">
            <a:spAutoFit/>
          </a:bodyPr>
          <a:lstStyle/>
          <a:p>
            <a:pPr algn="l"/>
            <a:r>
              <a:rPr sz="1800" b="0" i="0">
                <a:solidFill>
                  <a:srgbClr val="22262E"/>
                </a:solidFill>
                <a:latin typeface="Arial"/>
              </a:rPr>
              <a:t>46</a:t>
            </a:r>
          </a:p>
        </p:txBody>
      </p:sp>
      <p:sp>
        <p:nvSpPr>
          <p:cNvPr id="23" name="Text"/>
          <p:cNvSpPr txBox="1"/>
          <p:nvPr/>
        </p:nvSpPr>
        <p:spPr>
          <a:xfrm>
            <a:off x="4754880" y="2697480"/>
            <a:ext cx="1371600" cy="548640"/>
          </a:xfrm>
          <a:prstGeom prst="rect">
            <a:avLst/>
          </a:prstGeom>
          <a:noFill/>
        </p:spPr>
        <p:txBody>
          <a:bodyPr wrap="square" lIns="0" rIns="0" tIns="0" bIns="0" anchor="ctr">
            <a:spAutoFit/>
          </a:bodyPr>
          <a:lstStyle/>
          <a:p>
            <a:pPr algn="l"/>
            <a:r>
              <a:rPr sz="1800" b="0" i="0">
                <a:solidFill>
                  <a:srgbClr val="22262E"/>
                </a:solidFill>
                <a:latin typeface="Arial"/>
              </a:rPr>
              <a:t>yes</a:t>
            </a:r>
          </a:p>
        </p:txBody>
      </p:sp>
      <p:sp>
        <p:nvSpPr>
          <p:cNvPr id="24" name="Text"/>
          <p:cNvSpPr txBox="1"/>
          <p:nvPr/>
        </p:nvSpPr>
        <p:spPr>
          <a:xfrm>
            <a:off x="6400800" y="2697480"/>
            <a:ext cx="2194560" cy="548640"/>
          </a:xfrm>
          <a:prstGeom prst="rect">
            <a:avLst/>
          </a:prstGeom>
          <a:noFill/>
        </p:spPr>
        <p:txBody>
          <a:bodyPr wrap="square" lIns="0" rIns="0" tIns="0" bIns="0" anchor="ctr">
            <a:spAutoFit/>
          </a:bodyPr>
          <a:lstStyle/>
          <a:p>
            <a:pPr algn="l"/>
            <a:r>
              <a:rPr sz="1800" b="0" i="0">
                <a:solidFill>
                  <a:srgbClr val="22262E"/>
                </a:solidFill>
                <a:latin typeface="Arial"/>
              </a:rPr>
              <a:t>about 1 second</a:t>
            </a:r>
          </a:p>
        </p:txBody>
      </p:sp>
      <p:sp>
        <p:nvSpPr>
          <p:cNvPr id="25" name="Callout"/>
          <p:cNvSpPr/>
          <p:nvPr/>
        </p:nvSpPr>
        <p:spPr>
          <a:xfrm>
            <a:off x="457200" y="3566160"/>
            <a:ext cx="8229600" cy="822960"/>
          </a:xfrm>
          <a:prstGeom prst="roundRect">
            <a:avLst>
              <a:gd name="adj" fmla="val 12000"/>
            </a:avLst>
          </a:prstGeom>
          <a:solidFill>
            <a:srgbClr val="FFFFFF"/>
          </a:solidFill>
          <a:ln w="1587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allout text"/>
          <p:cNvSpPr txBox="1"/>
          <p:nvPr/>
        </p:nvSpPr>
        <p:spPr>
          <a:xfrm>
            <a:off x="685800" y="3566160"/>
            <a:ext cx="7772400" cy="822960"/>
          </a:xfrm>
          <a:prstGeom prst="rect">
            <a:avLst/>
          </a:prstGeom>
          <a:noFill/>
        </p:spPr>
        <p:txBody>
          <a:bodyPr wrap="square" lIns="0" rIns="0" tIns="0" bIns="0" anchor="ctr">
            <a:spAutoFit/>
          </a:bodyPr>
          <a:lstStyle/>
          <a:p>
            <a:pPr algn="l"/>
            <a:r>
              <a:rPr sz="1600" b="1" i="0">
                <a:solidFill>
                  <a:srgbClr val="5D79A0"/>
                </a:solidFill>
                <a:latin typeface="Arial"/>
              </a:rPr>
              <a:t>TIP  </a:t>
            </a:r>
            <a:r>
              <a:rPr sz="1600" b="0" i="0">
                <a:solidFill>
                  <a:srgbClr val="22262E"/>
                </a:solidFill>
                <a:latin typeface="Arial"/>
              </a:rPr>
              <a:t>By hand, mystery_image_7 takes at least 5 times as long as mystery 1. The computer does not get tired.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Finished Early?</a:t>
            </a:r>
            <a:endParaRPr lang="en-US" sz="3000" dirty="0"/>
          </a:p>
        </p:txBody>
      </p:sp>
      <p:sp>
        <p:nvSpPr>
          <p:cNvPr id="3" name="Callout"/>
          <p:cNvSpPr/>
          <p:nvPr/>
        </p:nvSpPr>
        <p:spPr>
          <a:xfrm>
            <a:off x="457200" y="1280160"/>
            <a:ext cx="8229600" cy="914400"/>
          </a:xfrm>
          <a:prstGeom prst="roundRect">
            <a:avLst>
              <a:gd name="adj" fmla="val 10000"/>
            </a:avLst>
          </a:prstGeom>
          <a:solidFill>
            <a:srgbClr val="FFFFFF"/>
          </a:solidFill>
          <a:ln w="15875">
            <a:solidFill>
              <a:srgbClr val="002D6A"/>
            </a:solidFill>
            <a:prstDash val="solid"/>
          </a:ln>
        </p:spPr>
        <p:txBody>
          <a:bodyPr/>
          <a:lstStyle/>
          <a:p>
            <a:endParaRPr lang="en-GB"/>
          </a:p>
        </p:txBody>
      </p:sp>
      <p:sp>
        <p:nvSpPr>
          <p:cNvPr id="4" name="Text 2"/>
          <p:cNvSpPr txBox="1"/>
          <p:nvPr/>
        </p:nvSpPr>
        <p:spPr>
          <a:xfrm>
            <a:off x="685800" y="1280160"/>
            <a:ext cx="7772400" cy="914400"/>
          </a:xfrm>
          <a:prstGeom prst="rect">
            <a:avLst/>
          </a:prstGeom>
          <a:noFill/>
          <a:ln/>
        </p:spPr>
        <p:txBody>
          <a:bodyPr wrap="square" lIns="0" tIns="0" rIns="0" bIns="0" rtlCol="0" anchor="ctr"/>
          <a:lstStyle/>
          <a:p>
            <a:pPr marL="0" indent="0">
              <a:buNone/>
            </a:pPr>
            <a:r>
              <a:rPr lang="en-US" sz="1200" b="1" kern="0" spc="200" dirty="0">
                <a:solidFill>
                  <a:srgbClr val="002D6A"/>
                </a:solidFill>
                <a:latin typeface="Arial" pitchFamily="34" charset="0"/>
                <a:ea typeface="Arial" pitchFamily="34" charset="-122"/>
                <a:cs typeface="Arial" pitchFamily="34" charset="-120"/>
              </a:rPr>
              <a:t>TIP  </a:t>
            </a:r>
            <a:r>
              <a:rPr lang="en-US" sz="1600" dirty="0">
                <a:solidFill>
                  <a:srgbClr val="22262E"/>
                </a:solidFill>
                <a:latin typeface="Arial" pitchFamily="34" charset="0"/>
                <a:ea typeface="Arial" pitchFamily="34" charset="-122"/>
                <a:cs typeface="Arial" pitchFamily="34" charset="-120"/>
              </a:rPr>
              <a:t>Stretch: write encode_row(row) and go backwards: row in, clue out.</a:t>
            </a:r>
            <a:endParaRPr lang="en-US" sz="1200" dirty="0"/>
          </a:p>
        </p:txBody>
      </p:sp>
      <p:sp>
        <p:nvSpPr>
          <p:cNvPr id="5" name="Callout"/>
          <p:cNvSpPr/>
          <p:nvPr/>
        </p:nvSpPr>
        <p:spPr>
          <a:xfrm>
            <a:off x="457200" y="2468880"/>
            <a:ext cx="8229600" cy="914400"/>
          </a:xfrm>
          <a:prstGeom prst="roundRect">
            <a:avLst>
              <a:gd name="adj" fmla="val 10000"/>
            </a:avLst>
          </a:prstGeom>
          <a:solidFill>
            <a:srgbClr val="FFFFFF"/>
          </a:solidFill>
          <a:ln w="15875">
            <a:solidFill>
              <a:srgbClr val="5D79A0"/>
            </a:solidFill>
            <a:prstDash val="solid"/>
          </a:ln>
        </p:spPr>
        <p:txBody>
          <a:bodyPr/>
          <a:lstStyle/>
          <a:p>
            <a:endParaRPr lang="en-GB"/>
          </a:p>
        </p:txBody>
      </p:sp>
      <p:sp>
        <p:nvSpPr>
          <p:cNvPr id="6" name="Text 4"/>
          <p:cNvSpPr txBox="1"/>
          <p:nvPr/>
        </p:nvSpPr>
        <p:spPr>
          <a:xfrm>
            <a:off x="685800" y="2468880"/>
            <a:ext cx="7772400" cy="914400"/>
          </a:xfrm>
          <a:prstGeom prst="rect">
            <a:avLst/>
          </a:prstGeom>
          <a:noFill/>
          <a:ln/>
        </p:spPr>
        <p:txBody>
          <a:bodyPr wrap="square" lIns="0" tIns="0" rIns="0" bIns="0" rtlCol="0" anchor="ctr"/>
          <a:lstStyle/>
          <a:p>
            <a:pPr marL="0" indent="0">
              <a:buNone/>
            </a:pPr>
            <a:r>
              <a:rPr lang="en-US" sz="1200" b="1" kern="0" spc="200" dirty="0">
                <a:solidFill>
                  <a:srgbClr val="5D79A0"/>
                </a:solidFill>
                <a:latin typeface="Arial" pitchFamily="34" charset="0"/>
                <a:ea typeface="Arial" pitchFamily="34" charset="-122"/>
                <a:cs typeface="Arial" pitchFamily="34" charset="-120"/>
              </a:rPr>
              <a:t>NOTE  </a:t>
            </a:r>
            <a:r>
              <a:rPr lang="en-US" sz="1600" dirty="0">
                <a:solidFill>
                  <a:srgbClr val="22262E"/>
                </a:solidFill>
                <a:latin typeface="Arial" pitchFamily="34" charset="0"/>
                <a:ea typeface="Arial" pitchFamily="34" charset="-122"/>
                <a:cs typeface="Arial" pitchFamily="34" charset="-120"/>
              </a:rPr>
              <a:t>Off the computer: Encode It (booklet p12), or race the computer by hand.</a:t>
            </a:r>
            <a:endParaRPr lang="en-US" sz="1200" dirty="0"/>
          </a:p>
        </p:txBody>
      </p:sp>
      <p:sp>
        <p:nvSpPr>
          <p:cNvPr id="7"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72</a:t>
            </a:fld>
            <a:endParaRPr lang="en-US"/>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457200" y="274320"/>
            <a:ext cx="6949440" cy="685800"/>
          </a:xfrm>
          <a:prstGeom prst="rect">
            <a:avLst/>
          </a:prstGeom>
          <a:noFill/>
          <a:ln/>
        </p:spPr>
        <p:txBody>
          <a:bodyPr wrap="square" lIns="0" tIns="0" rIns="0" bIns="0" rtlCol="0" anchor="ctr"/>
          <a:lstStyle/>
          <a:p>
            <a:pPr marL="0" indent="0" algn="l">
              <a:buNone/>
            </a:pPr>
            <a:r>
              <a:rPr lang="en-US" sz="2800" b="1" dirty="0">
                <a:solidFill>
                  <a:srgbClr val="001B40"/>
                </a:solidFill>
                <a:latin typeface="Arial" pitchFamily="34" charset="0"/>
                <a:ea typeface="Arial" pitchFamily="34" charset="-122"/>
                <a:cs typeface="Arial" pitchFamily="34" charset="-120"/>
              </a:rPr>
              <a:t>Stretch: encode_row (solution)</a:t>
            </a:r>
            <a:endParaRPr lang="en-US" sz="2800" dirty="0"/>
          </a:p>
        </p:txBody>
      </p:sp>
      <p:sp>
        <p:nvSpPr>
          <p:cNvPr id="3" name="ANSWERS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ANSWERS</a:t>
            </a:r>
            <a:endParaRPr lang="en-US" sz="1200" dirty="0"/>
          </a:p>
        </p:txBody>
      </p:sp>
      <p:sp>
        <p:nvSpPr>
          <p:cNvPr id="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36</a:t>
            </a:fld>
            <a:endParaRPr lang="en-US"/>
          </a:p>
        </p:txBody>
      </p:sp>
      <p:sp>
        <p:nvSpPr>
          <p:cNvPr id="6" name="Code box"/>
          <p:cNvSpPr/>
          <p:nvPr/>
        </p:nvSpPr>
        <p:spPr>
          <a:xfrm>
            <a:off x="457200" y="1051560"/>
            <a:ext cx="8229600" cy="3483864"/>
          </a:xfrm>
          <a:prstGeom prst="rect">
            <a:avLst/>
          </a:prstGeom>
          <a:solidFill>
            <a:srgbClr val="0B2A57"/>
          </a:solidFill>
          <a:ln w="9525">
            <a:solidFill>
              <a:srgbClr val="0B2A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de bar"/>
          <p:cNvSpPr/>
          <p:nvPr/>
        </p:nvSpPr>
        <p:spPr>
          <a:xfrm>
            <a:off x="457200" y="1051560"/>
            <a:ext cx="54864" cy="3483864"/>
          </a:xfrm>
          <a:prstGeom prst="rect">
            <a:avLst/>
          </a:prstGeom>
          <a:solidFill>
            <a:srgbClr val="5D79A0"/>
          </a:solidFill>
          <a:ln w="9525">
            <a:solidFill>
              <a:srgbClr val="5D79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 line"/>
          <p:cNvSpPr txBox="1"/>
          <p:nvPr/>
        </p:nvSpPr>
        <p:spPr>
          <a:xfrm>
            <a:off x="640080" y="1188719"/>
            <a:ext cx="7955279" cy="246888"/>
          </a:xfrm>
          <a:prstGeom prst="rect">
            <a:avLst/>
          </a:prstGeom>
          <a:noFill/>
        </p:spPr>
        <p:txBody>
          <a:bodyPr wrap="square" lIns="0" rIns="0" tIns="0" bIns="0" anchor="ctr">
            <a:spAutoFit/>
          </a:bodyPr>
          <a:lstStyle/>
          <a:p>
            <a:pPr algn="l"/>
            <a:r>
              <a:rPr sz="1400" b="1" i="0">
                <a:solidFill>
                  <a:srgbClr val="8FB8FF"/>
                </a:solidFill>
                <a:latin typeface="Courier New"/>
              </a:rPr>
              <a:t>def</a:t>
            </a:r>
            <a:r>
              <a:rPr sz="1400" b="0" i="0">
                <a:solidFill>
                  <a:srgbClr val="E6ECF5"/>
                </a:solidFill>
                <a:latin typeface="Courier New"/>
              </a:rPr>
              <a:t> </a:t>
            </a:r>
            <a:r>
              <a:rPr sz="1400" b="0" i="0">
                <a:solidFill>
                  <a:srgbClr val="E6ECF5"/>
                </a:solidFill>
                <a:latin typeface="Courier New"/>
              </a:rPr>
              <a:t>encode_row</a:t>
            </a:r>
            <a:r>
              <a:rPr sz="1400" b="0" i="0">
                <a:solidFill>
                  <a:srgbClr val="E6ECF5"/>
                </a:solidFill>
                <a:latin typeface="Courier New"/>
              </a:rPr>
              <a:t>(</a:t>
            </a:r>
            <a:r>
              <a:rPr sz="1400" b="0" i="0">
                <a:solidFill>
                  <a:srgbClr val="E6ECF5"/>
                </a:solidFill>
                <a:latin typeface="Courier New"/>
              </a:rPr>
              <a:t>row</a:t>
            </a:r>
            <a:r>
              <a:rPr sz="1400" b="0" i="0">
                <a:solidFill>
                  <a:srgbClr val="E6ECF5"/>
                </a:solidFill>
                <a:latin typeface="Courier New"/>
              </a:rPr>
              <a:t>)</a:t>
            </a:r>
            <a:r>
              <a:rPr sz="1400" b="0" i="0">
                <a:solidFill>
                  <a:srgbClr val="E6ECF5"/>
                </a:solidFill>
                <a:latin typeface="Courier New"/>
              </a:rPr>
              <a:t>:</a:t>
            </a:r>
          </a:p>
        </p:txBody>
      </p:sp>
      <p:sp>
        <p:nvSpPr>
          <p:cNvPr id="9" name="Code line"/>
          <p:cNvSpPr txBox="1"/>
          <p:nvPr/>
        </p:nvSpPr>
        <p:spPr>
          <a:xfrm>
            <a:off x="640080" y="1435607"/>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0" i="0">
                <a:solidFill>
                  <a:srgbClr val="E6ECF5"/>
                </a:solidFill>
                <a:latin typeface="Courier New"/>
              </a:rPr>
              <a:t>clue</a:t>
            </a:r>
            <a:r>
              <a:rPr sz="1400" b="0" i="0">
                <a:solidFill>
                  <a:srgbClr val="E6ECF5"/>
                </a:solidFill>
                <a:latin typeface="Courier New"/>
              </a:rPr>
              <a:t> </a:t>
            </a:r>
            <a:r>
              <a:rPr sz="1400" b="0" i="0">
                <a:solidFill>
                  <a:srgbClr val="E6ECF5"/>
                </a:solidFill>
                <a:latin typeface="Courier New"/>
              </a:rPr>
              <a:t>=</a:t>
            </a:r>
            <a:r>
              <a:rPr sz="1400" b="0" i="0">
                <a:solidFill>
                  <a:srgbClr val="E6ECF5"/>
                </a:solidFill>
                <a:latin typeface="Courier New"/>
              </a:rPr>
              <a:t> </a:t>
            </a:r>
            <a:r>
              <a:rPr sz="1400" b="0" i="0">
                <a:solidFill>
                  <a:srgbClr val="E6ECF5"/>
                </a:solidFill>
                <a:latin typeface="Courier New"/>
              </a:rPr>
              <a:t>[</a:t>
            </a:r>
            <a:r>
              <a:rPr sz="1400" b="0" i="0">
                <a:solidFill>
                  <a:srgbClr val="E6ECF5"/>
                </a:solidFill>
                <a:latin typeface="Courier New"/>
              </a:rPr>
              <a:t>]</a:t>
            </a:r>
          </a:p>
        </p:txBody>
      </p:sp>
      <p:sp>
        <p:nvSpPr>
          <p:cNvPr id="10" name="Code line"/>
          <p:cNvSpPr txBox="1"/>
          <p:nvPr/>
        </p:nvSpPr>
        <p:spPr>
          <a:xfrm>
            <a:off x="640080" y="1682495"/>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0" i="0">
                <a:solidFill>
                  <a:srgbClr val="E6ECF5"/>
                </a:solidFill>
                <a:latin typeface="Courier New"/>
              </a:rPr>
              <a:t>colour</a:t>
            </a:r>
            <a:r>
              <a:rPr sz="1400" b="0" i="0">
                <a:solidFill>
                  <a:srgbClr val="E6ECF5"/>
                </a:solidFill>
                <a:latin typeface="Courier New"/>
              </a:rPr>
              <a:t> </a:t>
            </a:r>
            <a:r>
              <a:rPr sz="1400" b="0" i="0">
                <a:solidFill>
                  <a:srgbClr val="E6ECF5"/>
                </a:solidFill>
                <a:latin typeface="Courier New"/>
              </a:rPr>
              <a:t>=</a:t>
            </a:r>
            <a:r>
              <a:rPr sz="1400" b="0" i="0">
                <a:solidFill>
                  <a:srgbClr val="E6ECF5"/>
                </a:solidFill>
                <a:latin typeface="Courier New"/>
              </a:rPr>
              <a:t> </a:t>
            </a:r>
            <a:r>
              <a:rPr sz="1400" b="0" i="0">
                <a:solidFill>
                  <a:srgbClr val="F2C879"/>
                </a:solidFill>
                <a:latin typeface="Courier New"/>
              </a:rPr>
              <a:t>0</a:t>
            </a:r>
          </a:p>
        </p:txBody>
      </p:sp>
      <p:sp>
        <p:nvSpPr>
          <p:cNvPr id="11" name="Code line"/>
          <p:cNvSpPr txBox="1"/>
          <p:nvPr/>
        </p:nvSpPr>
        <p:spPr>
          <a:xfrm>
            <a:off x="640080" y="1929384"/>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0" i="0">
                <a:solidFill>
                  <a:srgbClr val="E6ECF5"/>
                </a:solidFill>
                <a:latin typeface="Courier New"/>
              </a:rPr>
              <a:t>count</a:t>
            </a:r>
            <a:r>
              <a:rPr sz="1400" b="0" i="0">
                <a:solidFill>
                  <a:srgbClr val="E6ECF5"/>
                </a:solidFill>
                <a:latin typeface="Courier New"/>
              </a:rPr>
              <a:t> </a:t>
            </a:r>
            <a:r>
              <a:rPr sz="1400" b="0" i="0">
                <a:solidFill>
                  <a:srgbClr val="E6ECF5"/>
                </a:solidFill>
                <a:latin typeface="Courier New"/>
              </a:rPr>
              <a:t>=</a:t>
            </a:r>
            <a:r>
              <a:rPr sz="1400" b="0" i="0">
                <a:solidFill>
                  <a:srgbClr val="E6ECF5"/>
                </a:solidFill>
                <a:latin typeface="Courier New"/>
              </a:rPr>
              <a:t> </a:t>
            </a:r>
            <a:r>
              <a:rPr sz="1400" b="0" i="0">
                <a:solidFill>
                  <a:srgbClr val="F2C879"/>
                </a:solidFill>
                <a:latin typeface="Courier New"/>
              </a:rPr>
              <a:t>0</a:t>
            </a:r>
          </a:p>
        </p:txBody>
      </p:sp>
      <p:sp>
        <p:nvSpPr>
          <p:cNvPr id="12" name="Code line"/>
          <p:cNvSpPr txBox="1"/>
          <p:nvPr/>
        </p:nvSpPr>
        <p:spPr>
          <a:xfrm>
            <a:off x="640080" y="2176272"/>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1" i="0">
                <a:solidFill>
                  <a:srgbClr val="8FB8FF"/>
                </a:solidFill>
                <a:latin typeface="Courier New"/>
              </a:rPr>
              <a:t>for</a:t>
            </a:r>
            <a:r>
              <a:rPr sz="1400" b="0" i="0">
                <a:solidFill>
                  <a:srgbClr val="E6ECF5"/>
                </a:solidFill>
                <a:latin typeface="Courier New"/>
              </a:rPr>
              <a:t> </a:t>
            </a:r>
            <a:r>
              <a:rPr sz="1400" b="0" i="0">
                <a:solidFill>
                  <a:srgbClr val="E6ECF5"/>
                </a:solidFill>
                <a:latin typeface="Courier New"/>
              </a:rPr>
              <a:t>pixel</a:t>
            </a:r>
            <a:r>
              <a:rPr sz="1400" b="0" i="0">
                <a:solidFill>
                  <a:srgbClr val="E6ECF5"/>
                </a:solidFill>
                <a:latin typeface="Courier New"/>
              </a:rPr>
              <a:t> </a:t>
            </a:r>
            <a:r>
              <a:rPr sz="1400" b="1" i="0">
                <a:solidFill>
                  <a:srgbClr val="8FB8FF"/>
                </a:solidFill>
                <a:latin typeface="Courier New"/>
              </a:rPr>
              <a:t>in</a:t>
            </a:r>
            <a:r>
              <a:rPr sz="1400" b="0" i="0">
                <a:solidFill>
                  <a:srgbClr val="E6ECF5"/>
                </a:solidFill>
                <a:latin typeface="Courier New"/>
              </a:rPr>
              <a:t> </a:t>
            </a:r>
            <a:r>
              <a:rPr sz="1400" b="0" i="0">
                <a:solidFill>
                  <a:srgbClr val="E6ECF5"/>
                </a:solidFill>
                <a:latin typeface="Courier New"/>
              </a:rPr>
              <a:t>row</a:t>
            </a:r>
            <a:r>
              <a:rPr sz="1400" b="0" i="0">
                <a:solidFill>
                  <a:srgbClr val="E6ECF5"/>
                </a:solidFill>
                <a:latin typeface="Courier New"/>
              </a:rPr>
              <a:t>:</a:t>
            </a:r>
          </a:p>
        </p:txBody>
      </p:sp>
      <p:sp>
        <p:nvSpPr>
          <p:cNvPr id="13" name="Code line"/>
          <p:cNvSpPr txBox="1"/>
          <p:nvPr/>
        </p:nvSpPr>
        <p:spPr>
          <a:xfrm>
            <a:off x="640080" y="2423160"/>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1" i="0">
                <a:solidFill>
                  <a:srgbClr val="8FB8FF"/>
                </a:solidFill>
                <a:latin typeface="Courier New"/>
              </a:rPr>
              <a:t>if</a:t>
            </a:r>
            <a:r>
              <a:rPr sz="1400" b="0" i="0">
                <a:solidFill>
                  <a:srgbClr val="E6ECF5"/>
                </a:solidFill>
                <a:latin typeface="Courier New"/>
              </a:rPr>
              <a:t> </a:t>
            </a:r>
            <a:r>
              <a:rPr sz="1400" b="0" i="0">
                <a:solidFill>
                  <a:srgbClr val="E6ECF5"/>
                </a:solidFill>
                <a:latin typeface="Courier New"/>
              </a:rPr>
              <a:t>pixel</a:t>
            </a:r>
            <a:r>
              <a:rPr sz="1400" b="0" i="0">
                <a:solidFill>
                  <a:srgbClr val="E6ECF5"/>
                </a:solidFill>
                <a:latin typeface="Courier New"/>
              </a:rPr>
              <a:t> </a:t>
            </a:r>
            <a:r>
              <a:rPr sz="1400" b="0" i="0">
                <a:solidFill>
                  <a:srgbClr val="E6ECF5"/>
                </a:solidFill>
                <a:latin typeface="Courier New"/>
              </a:rPr>
              <a:t>=</a:t>
            </a:r>
            <a:r>
              <a:rPr sz="1400" b="0" i="0">
                <a:solidFill>
                  <a:srgbClr val="E6ECF5"/>
                </a:solidFill>
                <a:latin typeface="Courier New"/>
              </a:rPr>
              <a:t>=</a:t>
            </a:r>
            <a:r>
              <a:rPr sz="1400" b="0" i="0">
                <a:solidFill>
                  <a:srgbClr val="E6ECF5"/>
                </a:solidFill>
                <a:latin typeface="Courier New"/>
              </a:rPr>
              <a:t> </a:t>
            </a:r>
            <a:r>
              <a:rPr sz="1400" b="0" i="0">
                <a:solidFill>
                  <a:srgbClr val="E6ECF5"/>
                </a:solidFill>
                <a:latin typeface="Courier New"/>
              </a:rPr>
              <a:t>colour</a:t>
            </a:r>
            <a:r>
              <a:rPr sz="1400" b="0" i="0">
                <a:solidFill>
                  <a:srgbClr val="E6ECF5"/>
                </a:solidFill>
                <a:latin typeface="Courier New"/>
              </a:rPr>
              <a:t>:</a:t>
            </a:r>
          </a:p>
        </p:txBody>
      </p:sp>
      <p:sp>
        <p:nvSpPr>
          <p:cNvPr id="14" name="Code line"/>
          <p:cNvSpPr txBox="1"/>
          <p:nvPr/>
        </p:nvSpPr>
        <p:spPr>
          <a:xfrm>
            <a:off x="640080" y="2670048"/>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0" i="0">
                <a:solidFill>
                  <a:srgbClr val="E6ECF5"/>
                </a:solidFill>
                <a:latin typeface="Courier New"/>
              </a:rPr>
              <a:t>count</a:t>
            </a:r>
            <a:r>
              <a:rPr sz="1400" b="0" i="0">
                <a:solidFill>
                  <a:srgbClr val="E6ECF5"/>
                </a:solidFill>
                <a:latin typeface="Courier New"/>
              </a:rPr>
              <a:t> </a:t>
            </a:r>
            <a:r>
              <a:rPr sz="1400" b="0" i="0">
                <a:solidFill>
                  <a:srgbClr val="E6ECF5"/>
                </a:solidFill>
                <a:latin typeface="Courier New"/>
              </a:rPr>
              <a:t>+</a:t>
            </a:r>
            <a:r>
              <a:rPr sz="1400" b="0" i="0">
                <a:solidFill>
                  <a:srgbClr val="E6ECF5"/>
                </a:solidFill>
                <a:latin typeface="Courier New"/>
              </a:rPr>
              <a:t>=</a:t>
            </a:r>
            <a:r>
              <a:rPr sz="1400" b="0" i="0">
                <a:solidFill>
                  <a:srgbClr val="E6ECF5"/>
                </a:solidFill>
                <a:latin typeface="Courier New"/>
              </a:rPr>
              <a:t> </a:t>
            </a:r>
            <a:r>
              <a:rPr sz="1400" b="0" i="0">
                <a:solidFill>
                  <a:srgbClr val="F2C879"/>
                </a:solidFill>
                <a:latin typeface="Courier New"/>
              </a:rPr>
              <a:t>1</a:t>
            </a:r>
          </a:p>
        </p:txBody>
      </p:sp>
      <p:sp>
        <p:nvSpPr>
          <p:cNvPr id="15" name="Code line"/>
          <p:cNvSpPr txBox="1"/>
          <p:nvPr/>
        </p:nvSpPr>
        <p:spPr>
          <a:xfrm>
            <a:off x="640080" y="2916936"/>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1" i="0">
                <a:solidFill>
                  <a:srgbClr val="8FB8FF"/>
                </a:solidFill>
                <a:latin typeface="Courier New"/>
              </a:rPr>
              <a:t>else</a:t>
            </a:r>
            <a:r>
              <a:rPr sz="1400" b="0" i="0">
                <a:solidFill>
                  <a:srgbClr val="E6ECF5"/>
                </a:solidFill>
                <a:latin typeface="Courier New"/>
              </a:rPr>
              <a:t>:</a:t>
            </a:r>
          </a:p>
        </p:txBody>
      </p:sp>
      <p:sp>
        <p:nvSpPr>
          <p:cNvPr id="16" name="Code line"/>
          <p:cNvSpPr txBox="1"/>
          <p:nvPr/>
        </p:nvSpPr>
        <p:spPr>
          <a:xfrm>
            <a:off x="640080" y="3163824"/>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0" i="0">
                <a:solidFill>
                  <a:srgbClr val="E6ECF5"/>
                </a:solidFill>
                <a:latin typeface="Courier New"/>
              </a:rPr>
              <a:t>clue</a:t>
            </a:r>
            <a:r>
              <a:rPr sz="1400" b="0" i="0">
                <a:solidFill>
                  <a:srgbClr val="E6ECF5"/>
                </a:solidFill>
                <a:latin typeface="Courier New"/>
              </a:rPr>
              <a:t>.</a:t>
            </a:r>
            <a:r>
              <a:rPr sz="1400" b="0" i="0">
                <a:solidFill>
                  <a:srgbClr val="E6ECF5"/>
                </a:solidFill>
                <a:latin typeface="Courier New"/>
              </a:rPr>
              <a:t>append</a:t>
            </a:r>
            <a:r>
              <a:rPr sz="1400" b="0" i="0">
                <a:solidFill>
                  <a:srgbClr val="E6ECF5"/>
                </a:solidFill>
                <a:latin typeface="Courier New"/>
              </a:rPr>
              <a:t>(</a:t>
            </a:r>
            <a:r>
              <a:rPr sz="1400" b="0" i="0">
                <a:solidFill>
                  <a:srgbClr val="E6ECF5"/>
                </a:solidFill>
                <a:latin typeface="Courier New"/>
              </a:rPr>
              <a:t>count</a:t>
            </a:r>
            <a:r>
              <a:rPr sz="1400" b="0" i="0">
                <a:solidFill>
                  <a:srgbClr val="E6ECF5"/>
                </a:solidFill>
                <a:latin typeface="Courier New"/>
              </a:rPr>
              <a:t>)</a:t>
            </a:r>
          </a:p>
        </p:txBody>
      </p:sp>
      <p:sp>
        <p:nvSpPr>
          <p:cNvPr id="17" name="Code line"/>
          <p:cNvSpPr txBox="1"/>
          <p:nvPr/>
        </p:nvSpPr>
        <p:spPr>
          <a:xfrm>
            <a:off x="640080" y="3410712"/>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0" i="0">
                <a:solidFill>
                  <a:srgbClr val="E6ECF5"/>
                </a:solidFill>
                <a:latin typeface="Courier New"/>
              </a:rPr>
              <a:t>colour</a:t>
            </a:r>
            <a:r>
              <a:rPr sz="1400" b="0" i="0">
                <a:solidFill>
                  <a:srgbClr val="E6ECF5"/>
                </a:solidFill>
                <a:latin typeface="Courier New"/>
              </a:rPr>
              <a:t> </a:t>
            </a:r>
            <a:r>
              <a:rPr sz="1400" b="0" i="0">
                <a:solidFill>
                  <a:srgbClr val="E6ECF5"/>
                </a:solidFill>
                <a:latin typeface="Courier New"/>
              </a:rPr>
              <a:t>=</a:t>
            </a:r>
            <a:r>
              <a:rPr sz="1400" b="0" i="0">
                <a:solidFill>
                  <a:srgbClr val="E6ECF5"/>
                </a:solidFill>
                <a:latin typeface="Courier New"/>
              </a:rPr>
              <a:t> </a:t>
            </a:r>
            <a:r>
              <a:rPr sz="1400" b="0" i="0">
                <a:solidFill>
                  <a:srgbClr val="E6ECF5"/>
                </a:solidFill>
                <a:latin typeface="Courier New"/>
              </a:rPr>
              <a:t>pixel</a:t>
            </a:r>
          </a:p>
        </p:txBody>
      </p:sp>
      <p:sp>
        <p:nvSpPr>
          <p:cNvPr id="18" name="Code line"/>
          <p:cNvSpPr txBox="1"/>
          <p:nvPr/>
        </p:nvSpPr>
        <p:spPr>
          <a:xfrm>
            <a:off x="640080" y="3657600"/>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0" i="0">
                <a:solidFill>
                  <a:srgbClr val="E6ECF5"/>
                </a:solidFill>
                <a:latin typeface="Courier New"/>
              </a:rPr>
              <a:t>count</a:t>
            </a:r>
            <a:r>
              <a:rPr sz="1400" b="0" i="0">
                <a:solidFill>
                  <a:srgbClr val="E6ECF5"/>
                </a:solidFill>
                <a:latin typeface="Courier New"/>
              </a:rPr>
              <a:t> </a:t>
            </a:r>
            <a:r>
              <a:rPr sz="1400" b="0" i="0">
                <a:solidFill>
                  <a:srgbClr val="E6ECF5"/>
                </a:solidFill>
                <a:latin typeface="Courier New"/>
              </a:rPr>
              <a:t>=</a:t>
            </a:r>
            <a:r>
              <a:rPr sz="1400" b="0" i="0">
                <a:solidFill>
                  <a:srgbClr val="E6ECF5"/>
                </a:solidFill>
                <a:latin typeface="Courier New"/>
              </a:rPr>
              <a:t> </a:t>
            </a:r>
            <a:r>
              <a:rPr sz="1400" b="0" i="0">
                <a:solidFill>
                  <a:srgbClr val="F2C879"/>
                </a:solidFill>
                <a:latin typeface="Courier New"/>
              </a:rPr>
              <a:t>1</a:t>
            </a:r>
          </a:p>
        </p:txBody>
      </p:sp>
      <p:sp>
        <p:nvSpPr>
          <p:cNvPr id="19" name="Code line"/>
          <p:cNvSpPr txBox="1"/>
          <p:nvPr/>
        </p:nvSpPr>
        <p:spPr>
          <a:xfrm>
            <a:off x="640080" y="3904487"/>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0" i="0">
                <a:solidFill>
                  <a:srgbClr val="E6ECF5"/>
                </a:solidFill>
                <a:latin typeface="Courier New"/>
              </a:rPr>
              <a:t>clue</a:t>
            </a:r>
            <a:r>
              <a:rPr sz="1400" b="0" i="0">
                <a:solidFill>
                  <a:srgbClr val="E6ECF5"/>
                </a:solidFill>
                <a:latin typeface="Courier New"/>
              </a:rPr>
              <a:t>.</a:t>
            </a:r>
            <a:r>
              <a:rPr sz="1400" b="0" i="0">
                <a:solidFill>
                  <a:srgbClr val="E6ECF5"/>
                </a:solidFill>
                <a:latin typeface="Courier New"/>
              </a:rPr>
              <a:t>append</a:t>
            </a:r>
            <a:r>
              <a:rPr sz="1400" b="0" i="0">
                <a:solidFill>
                  <a:srgbClr val="E6ECF5"/>
                </a:solidFill>
                <a:latin typeface="Courier New"/>
              </a:rPr>
              <a:t>(</a:t>
            </a:r>
            <a:r>
              <a:rPr sz="1400" b="0" i="0">
                <a:solidFill>
                  <a:srgbClr val="E6ECF5"/>
                </a:solidFill>
                <a:latin typeface="Courier New"/>
              </a:rPr>
              <a:t>count</a:t>
            </a:r>
            <a:r>
              <a:rPr sz="1400" b="0" i="0">
                <a:solidFill>
                  <a:srgbClr val="E6ECF5"/>
                </a:solidFill>
                <a:latin typeface="Courier New"/>
              </a:rPr>
              <a:t>)</a:t>
            </a:r>
            <a:r>
              <a:rPr sz="1400" b="0" i="0">
                <a:solidFill>
                  <a:srgbClr val="E6ECF5"/>
                </a:solidFill>
                <a:latin typeface="Courier New"/>
              </a:rPr>
              <a:t>   </a:t>
            </a:r>
            <a:r>
              <a:rPr sz="1400" b="0" i="0">
                <a:solidFill>
                  <a:srgbClr val="8EA3C0"/>
                </a:solidFill>
                <a:latin typeface="Courier New"/>
              </a:rPr>
              <a:t># the last run</a:t>
            </a:r>
          </a:p>
        </p:txBody>
      </p:sp>
      <p:sp>
        <p:nvSpPr>
          <p:cNvPr id="20" name="Code line"/>
          <p:cNvSpPr txBox="1"/>
          <p:nvPr/>
        </p:nvSpPr>
        <p:spPr>
          <a:xfrm>
            <a:off x="640080" y="4151376"/>
            <a:ext cx="7955279" cy="246888"/>
          </a:xfrm>
          <a:prstGeom prst="rect">
            <a:avLst/>
          </a:prstGeom>
          <a:noFill/>
        </p:spPr>
        <p:txBody>
          <a:bodyPr wrap="square" lIns="0" rIns="0" tIns="0" bIns="0" anchor="ctr">
            <a:spAutoFit/>
          </a:bodyPr>
          <a:lstStyle/>
          <a:p>
            <a:pPr algn="l"/>
            <a:r>
              <a:rPr sz="1400" b="0" i="0">
                <a:solidFill>
                  <a:srgbClr val="E6ECF5"/>
                </a:solidFill>
                <a:latin typeface="Courier New"/>
              </a:rPr>
              <a:t>    </a:t>
            </a:r>
            <a:r>
              <a:rPr sz="1400" b="1" i="0">
                <a:solidFill>
                  <a:srgbClr val="8FB8FF"/>
                </a:solidFill>
                <a:latin typeface="Courier New"/>
              </a:rPr>
              <a:t>return</a:t>
            </a:r>
            <a:r>
              <a:rPr sz="1400" b="0" i="0">
                <a:solidFill>
                  <a:srgbClr val="E6ECF5"/>
                </a:solidFill>
                <a:latin typeface="Courier New"/>
              </a:rPr>
              <a:t> </a:t>
            </a:r>
            <a:r>
              <a:rPr sz="1400" b="0" i="0">
                <a:solidFill>
                  <a:srgbClr val="E6ECF5"/>
                </a:solidFill>
                <a:latin typeface="Courier New"/>
              </a:rPr>
              <a:t>clue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rgbClr val="001B40"/>
                </a:solidFill>
                <a:latin typeface="Arial" pitchFamily="34" charset="0"/>
                <a:ea typeface="Arial" pitchFamily="34" charset="-122"/>
                <a:cs typeface="Arial" pitchFamily="34" charset="-120"/>
              </a:rPr>
              <a:t>What You Learned Today</a:t>
            </a:r>
            <a:endParaRPr lang="en-US" sz="3000" dirty="0"/>
          </a:p>
        </p:txBody>
      </p:sp>
      <p:sp>
        <p:nvSpPr>
          <p:cNvPr id="3" name="2 min pill"/>
          <p:cNvSpPr/>
          <p:nvPr/>
        </p:nvSpPr>
        <p:spPr>
          <a:xfrm>
            <a:off x="7589520" y="411480"/>
            <a:ext cx="1097280" cy="365760"/>
          </a:xfrm>
          <a:prstGeom prst="roundRect">
            <a:avLst>
              <a:gd name="adj" fmla="val 50000"/>
            </a:avLst>
          </a:prstGeom>
          <a:solidFill>
            <a:srgbClr val="A9C4E8"/>
          </a:solidFill>
          <a:ln w="12700">
            <a:solidFill>
              <a:srgbClr val="A9C4E8"/>
            </a:solidFill>
            <a:prstDash val="solid"/>
          </a:ln>
        </p:spPr>
        <p:txBody>
          <a:bodyPr/>
          <a:lstStyle/>
          <a:p>
            <a:endParaRPr lang="en-GB"/>
          </a:p>
        </p:txBody>
      </p:sp>
      <p:sp>
        <p:nvSpPr>
          <p:cNvPr id="4" name="Text 2"/>
          <p:cNvSpPr txBox="1"/>
          <p:nvPr/>
        </p:nvSpPr>
        <p:spPr>
          <a:xfrm>
            <a:off x="7589520" y="411480"/>
            <a:ext cx="1097280" cy="365760"/>
          </a:xfrm>
          <a:prstGeom prst="rect">
            <a:avLst/>
          </a:prstGeom>
          <a:noFill/>
          <a:ln/>
        </p:spPr>
        <p:txBody>
          <a:bodyPr wrap="square" lIns="0" tIns="0" rIns="0" bIns="0" rtlCol="0" anchor="ctr"/>
          <a:lstStyle/>
          <a:p>
            <a:pPr marL="0" indent="0" algn="ctr">
              <a:buNone/>
            </a:pPr>
            <a:r>
              <a:rPr lang="en-US" sz="1200" b="1" kern="0" spc="200" dirty="0">
                <a:solidFill>
                  <a:srgbClr val="001B40"/>
                </a:solidFill>
                <a:latin typeface="Arial" pitchFamily="34" charset="0"/>
                <a:ea typeface="Arial" pitchFamily="34" charset="-122"/>
                <a:cs typeface="Arial" pitchFamily="34" charset="-120"/>
              </a:rPr>
              <a:t>2 min</a:t>
            </a:r>
            <a:endParaRPr lang="en-US" sz="1200" dirty="0"/>
          </a:p>
        </p:txBody>
      </p:sp>
      <p:sp>
        <p:nvSpPr>
          <p:cNvPr id="5" name="@1 addText"/>
          <p:cNvSpPr txBox="1"/>
          <p:nvPr/>
        </p:nvSpPr>
        <p:spPr>
          <a:xfrm>
            <a:off x="457200" y="118872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  encoding = writing information a different way</a:t>
            </a:r>
            <a:endParaRPr lang="en-US" sz="1800" dirty="0"/>
          </a:p>
        </p:txBody>
      </p:sp>
      <p:sp>
        <p:nvSpPr>
          <p:cNvPr id="6" name="@2 addText"/>
          <p:cNvSpPr txBox="1"/>
          <p:nvPr/>
        </p:nvSpPr>
        <p:spPr>
          <a:xfrm>
            <a:off x="457200" y="173736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  compression = encoding to use fewer symbols</a:t>
            </a:r>
            <a:endParaRPr lang="en-US" sz="1800" dirty="0"/>
          </a:p>
        </p:txBody>
      </p:sp>
      <p:sp>
        <p:nvSpPr>
          <p:cNvPr id="7" name="@3 addText"/>
          <p:cNvSpPr txBox="1"/>
          <p:nvPr/>
        </p:nvSpPr>
        <p:spPr>
          <a:xfrm>
            <a:off x="457200" y="228600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  run-length encoding: store what repeats, and how many times</a:t>
            </a:r>
            <a:endParaRPr lang="en-US" sz="1800" dirty="0"/>
          </a:p>
        </p:txBody>
      </p:sp>
      <p:sp>
        <p:nvSpPr>
          <p:cNvPr id="8" name="@4 addText"/>
          <p:cNvSpPr txBox="1"/>
          <p:nvPr/>
        </p:nvSpPr>
        <p:spPr>
          <a:xfrm>
            <a:off x="457200" y="283464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  great on repetitive data, badly on noisy data</a:t>
            </a:r>
            <a:endParaRPr lang="en-US" sz="1800" dirty="0"/>
          </a:p>
        </p:txBody>
      </p:sp>
      <p:sp>
        <p:nvSpPr>
          <p:cNvPr id="9" name="@5 addText"/>
          <p:cNvSpPr txBox="1"/>
          <p:nvPr/>
        </p:nvSpPr>
        <p:spPr>
          <a:xfrm>
            <a:off x="457200" y="338328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  you decoded small pictures by hand</a:t>
            </a:r>
            <a:endParaRPr lang="en-US" sz="1800" dirty="0"/>
          </a:p>
        </p:txBody>
      </p:sp>
      <p:sp>
        <p:nvSpPr>
          <p:cNvPr id="10" name="@6 addText"/>
          <p:cNvSpPr txBox="1"/>
          <p:nvPr/>
        </p:nvSpPr>
        <p:spPr>
          <a:xfrm>
            <a:off x="457200" y="3931920"/>
            <a:ext cx="8229600" cy="457200"/>
          </a:xfrm>
          <a:prstGeom prst="rect">
            <a:avLst/>
          </a:prstGeom>
          <a:noFill/>
          <a:ln/>
        </p:spPr>
        <p:txBody>
          <a:bodyPr wrap="square" lIns="0" tIns="0" rIns="0" bIns="0" rtlCol="0" anchor="ctr"/>
          <a:lstStyle/>
          <a:p>
            <a:pPr marL="0" indent="0">
              <a:buNone/>
            </a:pPr>
            <a:r>
              <a:rPr lang="en-US" sz="1800" dirty="0">
                <a:solidFill>
                  <a:srgbClr val="22262E"/>
                </a:solidFill>
                <a:latin typeface="Arial" pitchFamily="34" charset="0"/>
                <a:ea typeface="Arial" pitchFamily="34" charset="-122"/>
                <a:cs typeface="Arial" pitchFamily="34" charset="-120"/>
              </a:rPr>
              <a:t>+  Python decoded a dinosaur, Mario, and the UK and Ireland</a:t>
            </a:r>
            <a:endParaRPr lang="en-US" sz="1800" dirty="0"/>
          </a:p>
        </p:txBody>
      </p:sp>
      <p:sp>
        <p:nvSpPr>
          <p:cNvPr id="11"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D6B80"/>
                </a:solidFill>
                <a:latin typeface="Arial"/>
                <a:ea typeface="Arial"/>
                <a:cs typeface="Arial"/>
              </a:defRPr>
            </a:lvl1pPr>
          </a:lstStyle>
          <a:p>
            <a:pPr algn="l"/>
            <a:fld id="{F7021451-1387-4CA6-816F-3879F97B5CBC}" type="slidenum">
              <a:rPr lang="en-US" b="0"/>
              <a:t>73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6583680" cy="1371600"/>
          </a:xfrm>
          <a:prstGeom prst="rect">
            <a:avLst/>
          </a:prstGeom>
          <a:noFill/>
          <a:ln/>
        </p:spPr>
        <p:txBody>
          <a:bodyPr wrap="square" lIns="0" tIns="0" rIns="0" bIns="0" rtlCol="0" anchor="t"/>
          <a:lstStyle/>
          <a:p>
            <a:pPr marL="0" indent="0" algn="l">
              <a:buNone/>
            </a:pPr>
            <a:r>
              <a:rPr lang="en-US" sz="3400" b="1" dirty="0">
                <a:solidFill>
                  <a:srgbClr val="FFFFFF"/>
                </a:solidFill>
                <a:latin typeface="Arial" pitchFamily="34" charset="0"/>
                <a:ea typeface="Arial" pitchFamily="34" charset="-122"/>
                <a:cs typeface="Arial" pitchFamily="34" charset="-120"/>
              </a:rPr>
              <a:t>You Can Read Code Now</a:t>
            </a:r>
            <a:endParaRPr lang="en-US" sz="3400" dirty="0"/>
          </a:p>
        </p:txBody>
      </p:sp>
      <p:sp>
        <p:nvSpPr>
          <p:cNvPr id="3" name="Text 1"/>
          <p:cNvSpPr txBox="1"/>
          <p:nvPr/>
        </p:nvSpPr>
        <p:spPr>
          <a:xfrm>
            <a:off x="548640" y="2743200"/>
            <a:ext cx="5852160" cy="822960"/>
          </a:xfrm>
          <a:prstGeom prst="rect">
            <a:avLst/>
          </a:prstGeom>
          <a:noFill/>
          <a:ln/>
        </p:spPr>
        <p:txBody>
          <a:bodyPr wrap="square" lIns="0" tIns="0" rIns="0" bIns="0" rtlCol="0" anchor="t"/>
          <a:lstStyle/>
          <a:p>
            <a:pPr marL="0" indent="0">
              <a:buNone/>
            </a:pPr>
            <a:r>
              <a:rPr lang="en-US" sz="1800" dirty="0">
                <a:solidFill>
                  <a:srgbClr val="C5D1E3"/>
                </a:solidFill>
                <a:latin typeface="Arial" pitchFamily="34" charset="0"/>
                <a:ea typeface="Arial" pitchFamily="34" charset="-122"/>
                <a:cs typeface="Arial" pitchFamily="34" charset="-120"/>
              </a:rPr>
              <a:t>Every file on your phone or laptop is just numbers, encoded. You just decoded some by hand.</a:t>
            </a:r>
            <a:endParaRPr lang="en-US" sz="1800" dirty="0"/>
          </a:p>
        </p:txBody>
      </p:sp>
      <p:sp>
        <p:nvSpPr>
          <p:cNvPr id="4" name="Text 2"/>
          <p:cNvSpPr txBox="1"/>
          <p:nvPr/>
        </p:nvSpPr>
        <p:spPr>
          <a:xfrm>
            <a:off x="548640" y="3657600"/>
            <a:ext cx="6400800" cy="822960"/>
          </a:xfrm>
          <a:prstGeom prst="rect">
            <a:avLst/>
          </a:prstGeom>
          <a:noFill/>
          <a:ln/>
        </p:spPr>
        <p:txBody>
          <a:bodyPr wrap="square" lIns="0" tIns="0" rIns="0" bIns="0" rtlCol="0" anchor="t"/>
          <a:lstStyle/>
          <a:p>
            <a:pPr marL="0" indent="0">
              <a:buNone/>
            </a:pPr>
            <a:r>
              <a:rPr lang="en-US" sz="1400" dirty="0">
                <a:solidFill>
                  <a:srgbClr val="A9C4E8"/>
                </a:solidFill>
                <a:latin typeface="Arial" pitchFamily="34" charset="0"/>
                <a:ea typeface="Arial" pitchFamily="34" charset="-122"/>
                <a:cs typeface="Arial" pitchFamily="34" charset="-120"/>
              </a:rPr>
              <a:t>CHALLENGE: design your own picture on booklet page 12 as an RLE clue for a partner to decode. Stretch: write encode_row.</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6411</Words>
  <Application>Microsoft Macintosh PowerPoint</Application>
  <PresentationFormat>On-screen Show (16:9)</PresentationFormat>
  <Paragraphs>821</Paragraphs>
  <Slides>74</Slides>
  <Notes>74</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Courier New</vt:lpstr>
      <vt:lpstr>Office Theme</vt:lpstr>
      <vt:lpstr>What is this?</vt:lpstr>
      <vt:lpstr>Here's a Hint</vt:lpstr>
      <vt:lpstr>Turing's Work in Biology</vt:lpstr>
      <vt:lpstr>Turing Patterns in Nature</vt:lpstr>
      <vt:lpstr>Cryptography Challenge</vt:lpstr>
      <vt:lpstr>What Does "Encoding" Mean?</vt:lpstr>
      <vt:lpstr>You Already Do It</vt:lpstr>
      <vt:lpstr>Computers Encode Everything</vt:lpstr>
      <vt:lpstr>What About the Internet?</vt:lpstr>
      <vt:lpstr>Why Compress Data?</vt:lpstr>
      <vt:lpstr>What Is Run-Length Encoding?</vt:lpstr>
      <vt:lpstr>A Few Things Worth Knowing</vt:lpstr>
      <vt:lpstr>Compressing a Sentence</vt:lpstr>
      <vt:lpstr>...But Not Every Sentence Compresses</vt:lpstr>
      <vt:lpstr>Compressing a Picture</vt:lpstr>
      <vt:lpstr>Your Turn: Shade the Grids</vt:lpstr>
      <vt:lpstr>Decoding messages #1: the clues</vt:lpstr>
      <vt:lpstr>Decoding messages #1: decoded</vt:lpstr>
      <vt:lpstr>Decoding messages #1: decoded</vt:lpstr>
      <vt:lpstr>Decoding messages #2: the clues</vt:lpstr>
      <vt:lpstr>Decoding messages #2: decoded</vt:lpstr>
      <vt:lpstr>Decoding messages #3: the clues</vt:lpstr>
      <vt:lpstr>Decoding messages #3: decoded</vt:lpstr>
      <vt:lpstr>Decoding messages #4: the clues</vt:lpstr>
      <vt:lpstr>Decoding messages #4: decoded</vt:lpstr>
      <vt:lpstr>That took a while.</vt:lpstr>
      <vt:lpstr>How Long Did That Take?</vt:lpstr>
      <vt:lpstr>Let the Computer Do It</vt:lpstr>
      <vt:lpstr>A List Is Like a Filing Cabinet</vt:lpstr>
      <vt:lpstr>A List Can Hold Lists</vt:lpstr>
      <vt:lpstr>A Row Is a List</vt:lpstr>
      <vt:lpstr>A Picture Is a List of Rows</vt:lpstr>
      <vt:lpstr>Same Thing, Two Ways</vt:lpstr>
      <vt:lpstr>A Function We Give You</vt:lpstr>
      <vt:lpstr>Try It on a Heart</vt:lpstr>
      <vt:lpstr>The Heart</vt:lpstr>
      <vt:lpstr>One Line We Need</vt:lpstr>
      <vt:lpstr>Decode One Row</vt:lpstr>
      <vt:lpstr>What the Computer Does</vt:lpstr>
      <vt:lpstr>Follow [2, 7, 3]</vt:lpstr>
      <vt:lpstr>Worked Example: the Heart</vt:lpstr>
      <vt:lpstr>Plan It in Pseudocode</vt:lpstr>
      <vt:lpstr>Step Through: One Row</vt:lpstr>
      <vt:lpstr>Step Through: the Whole Heart</vt:lpstr>
      <vt:lpstr>Run the Starter Code</vt:lpstr>
      <vt:lpstr>Stuck? Use the Booklet</vt:lpstr>
      <vt:lpstr>New Trick: .append</vt:lpstr>
      <vt:lpstr>A Loop Inside a Loop</vt:lpstr>
      <vt:lpstr>Your decode_row</vt:lpstr>
      <vt:lpstr>Test It</vt:lpstr>
      <vt:lpstr>Write decode_row</vt:lpstr>
      <vt:lpstr>Now a Whole Picture</vt:lpstr>
      <vt:lpstr>Your decode_picture</vt:lpstr>
      <vt:lpstr>The Big Moment</vt:lpstr>
      <vt:lpstr>Decode a Picture</vt:lpstr>
      <vt:lpstr>The Finished Product</vt:lpstr>
      <vt:lpstr>Decoding messages #5: the clues (1 of 4)</vt:lpstr>
      <vt:lpstr>Decoding messages #5: the clues (2 of 4)</vt:lpstr>
      <vt:lpstr>Decoding messages #5: the clues (3 of 4)</vt:lpstr>
      <vt:lpstr>Decoding messages #5: the clues (4 of 4)</vt:lpstr>
      <vt:lpstr>Decoding messages #5: decoded</vt:lpstr>
      <vt:lpstr>Decoding messages #6: the clues (1 of 3)</vt:lpstr>
      <vt:lpstr>Decoding messages #6: the clues (2 of 3)</vt:lpstr>
      <vt:lpstr>Decoding messages #6: the clues (3 of 3)</vt:lpstr>
      <vt:lpstr>Decoding messages #6: decoded</vt:lpstr>
      <vt:lpstr>The Big One: the clues (1 of 4)</vt:lpstr>
      <vt:lpstr>The Big One: the clues (2 of 4)</vt:lpstr>
      <vt:lpstr>The Big One: the clues (3 of 4)</vt:lpstr>
      <vt:lpstr>The Big One: the clues (4 of 4)</vt:lpstr>
      <vt:lpstr>The Big One: decoded</vt:lpstr>
      <vt:lpstr>Time It</vt:lpstr>
      <vt:lpstr>Finished Early?</vt:lpstr>
      <vt:lpstr>What You Learned Today</vt:lpstr>
      <vt:lpstr>You Can Read Code Now</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Challenge</dc:title>
  <dc:subject>PptxGenJS Presentation</dc:subject>
  <dc:creator>Dr. Hughes</dc:creator>
  <cp:lastModifiedBy>AXH</cp:lastModifiedBy>
  <cp:revision>6</cp:revision>
  <dcterms:created xsi:type="dcterms:W3CDTF">2026-10-26T20:10:55Z</dcterms:created>
  <dcterms:modified xsi:type="dcterms:W3CDTF">2026-10-26T21:03:57Z</dcterms:modified>
</cp:coreProperties>
</file>