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317" r:id="rId68"/>
    <p:sldId id="318" r:id="rId69"/>
    <p:sldId id="319" r:id="rId70"/>
    <p:sldId id="320" r:id="rId7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rter" id="{9DF84CDA-AEEE-A3CC-BA8E-CE03AAD21239}">
          <p14:sldIdLst>
            <p14:sldId id="256"/>
          </p14:sldIdLst>
        </p14:section>
        <p14:section name="Default-1" id="{5A029A10-389E-7074-90F3-8BC5C7DA5620}">
          <p14:sldIdLst>
            <p14:sldId id="257"/>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71" d="100"/>
          <a:sy n="171" d="100"/>
        </p:scale>
        <p:origin x="46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231502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Pupils write answers while the register is taken (about 4 minutes), then feed back. Click to reveal each answer. Links forward: pixels and RGB (whole lesson), 0 to 255 (channels), return (total_red), % (the puzzle rule).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T+00 to T+10 (10 min): Talk. Show the cow photo. Ask: what do you see? Take two answers.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T+00 to T+10. Click through the bullets one at a time. Python has never met a cow. Ask: how many numbers do you think are in a photo? Think, pair, share, then move 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T+00 to T+10. Give 1 minute. Take a few guesses before clicking. Reveal: 320 x 320 pixels, 3 numbers each, each 0 to 255, so 307,200 numbers.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T+00 to T+10. Title: what a picture is to a computer, what we can do with it, and a puzzle at the end.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T+00 to T+10. Part 1: eight short tasks in Spyder in image_explore.py, then Part 2: the puzzle.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T+00 to T+10. Recap: variables, functions, if/else, loops. A library is code other people wrote. Show import math then math.sqrt(16).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T+00 to T+10. PIL (Pillow) opens, edits and reads images. Show the import line. from X import Y means just give me Y out of library X.</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T+00 to T+10. Open the photo and check its size. Pupils open Spyder and image_explore.py now.</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T+00 to T+10. A picture is a grid of numbers. NumPy does maths on huge grids, fast. Hand over to Task 1.</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T+10 to T+15 (5 min). Booklet Task 1. Pupils open image_explore.py with cow-demo.jpg in the same folder, predict the shape, run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(320, 320, 3) means rows x columns x 3 colour numbers.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T+15 to T+18. Rows count down, columns count across, counting starts at 0 top left. Row first, then column. pixels[0, 0] is [16 0 0]: red 16, green 0, blue 0, almost black.</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T+18 to T+21 (3 min). Booklet Task 2. Hint: pixels[row, column].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[94 50 37], a reddish brown. Red is biggest.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T+21 to T+23. Crop is a slice: [start:stop] for rows, a comma, [start:stop] for columns. It stops before the last number.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T+23 to T+26 (3 min). Booklet Task 3. Hint: change the numbers, keep the colon and the comma.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T+26 to T+30. Every pixel is three numbers: red, green, blue. Each is a brightness from 0 (none of that colour) to 255 (as much as possible).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T+26 to T+30. Real numbers from a 4 x 4 crop, pixels[100:104, 100:104]. Do not spend long here. The paper worksheet on this patch is for early finishers or homework.</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IN CLASS. The 4 x 4 patch worksheet is in the all-in-one booklet for early finishers or homework.</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T+26 to T+30. One pixel is R + G + B. Take one pixel apart: change the numbers, change the picture. That is all a photo is.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T+30 to T+33 (3 min). Try it, no booklet answer. show_colour is given: no need to read inside it. Yellow is high red and green, low blue. Grey has equal numbers.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T+33 to T+35. pixels[:, :, 0] is every row, every column, just channel 0: red. Deep red means a big number, pale a small one. The wall has lots of red, the cow almost none.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T+35 to T+38 (3 min). Booklet Task 4. Hint: show_channel(green, "Greens").</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T+35 to T+38. Reveal all three channels together if time allows. Wall is bright in red. Cow is dark in every channel. Move on at T+38.</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T+38 to T+40. .copy() makes a second picture so the original stays safe. Line 2 sets every red number to 0.</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T+40 to T+43 (3 min). Booklet Task 5. Pupils predict what each picture will look like, then make them.</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T+40 to T+43. Show the check pictures. Red + blue light = magenta. Red + green light = yellow. Move on at T+43.</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T+43 to T+45. "L" means one brightness number per pixel: 0 black, 255 white. 255 - pixels flips every number: 0 becomes 255.</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T+45 to T+48 (3 min). Booklet Task 6. Pupils predict the negative of the first pixel, then run Task 6.</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T+45 to T+48. The negative of [16 0 0] is [239 255 255]. The black cow turns light.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T+48 to T+50. mean() gives the average brightness (a fairly dark grey). grey &lt; 50 is True or False for every pixel, and .sum() counts the Trues.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T+50 to T+53 (3 min). Booklet Task 7. Hints: change the &lt; and the number, divide by grey.size.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T+50 to T+53. 34315 pixels brighter than 100, grey.size is 102400, fraction 0.335107421875. About a third.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T+53 to T+55. Not what is the average, but how many pixels are dark, how many bright, how many in between? A histogram splits brightness into buckets and counts the pixels in each.</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T+53 to T+55. .flatten() turns the grid into one long list. Left is dark, right is bright. Two humps: the dark cow and street, and the brighter wall.</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T+55 to T+58 (3 min). Booklet Task 8. Hint: plt.hist(red.flatten(), bins=16).</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T+55 to T+58. Red has a tall bar in the middle-right (the wall). Green and blue are tallest on the left. Part 1 ends here at T+58.</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IN CLASS. Stretch only. Show it to anyone who finishes Task 8 early. ::-1 means go backwards.</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IN CLASS. Stretch only. Early finishers try ::-1, then brighten by adding 60 and think about what happens above 255 (200 + 60 wraps to 4). Booklet stretch tasks.</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T+58 to T+63 (5 min). Part 2: 37 photos, one hidden letter each. Together they spell a message.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T+58 to T+63. The rule: open a photo, add up every red value, take the total % 26, use the result to pick a letter (A=0 to Z=25). Do it for every photo, in order.</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T+58 to T+63. red.sum() adds up all the red: one number, the total redness of all 102,400 pixels of cow-demo.jpg.</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T+58 to T+63. % gives the remainder: 10218857 % 26 is 25. alphabet[2] is C. So which letter is 25? Z.</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IN CLASS. 10 min of paper work. Optional for early finishers or homework: Be the computer is in the all-in-one booklet. Time yourself on a tiny 3 x 3 image: we need that number in a minute.</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T+63 to T+65 (2 min). Ask: how long would 37 big photos take by hand? Skip the paper sheet. 640 x 640 = 409,600 red numbers per photo.</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T+63 to T+65. cow-demo.jpg is 320 x 320, the puzzle photos in cow_message/ are 640 x 640. The same code works on both. Practise on the demo, then solve the puzzle.</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T+65 to T+68. You already know functions and loops. Four STEPS in image_starter.py, each uses the one before. Test each before you move on.</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T+65 to T+68. STEP 1 is done for you. Run it: it prints size, shape and first pixel, then draws a colour. Put it in the SAME folder as cow-demo.jpg and the cow_message folder.</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T+68 to T+73 (5 min). Booklet Step 2. Pupils finish total_red. Test: it should print 10218857. Prints 0? They forgot to change return 0. Leave this slide up.</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T+73 to T+75 (2 min) talk, then 5 min coding. Booklet Step 3. Test: it should print Z. Wrong letter? Test total_red again first. ALPHABET is already at the top of the file.</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T+80 to T+83. decode_message gives the sentence. It uses letter_for, once for each of the 37 photos. Does it read like English? Then it worked.</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T+80 to T+83. image_path is given to you. Do not change it. Number in, file name out. You do not need to understand the zfill line, just use it.</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T+80 to T+83. Show the empty string growing: start empty, stick one letter on the end each time.</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T+80 to T+83. The same idea in a loop. range(1, 38) counts 1 to 37: it stops before 38.</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T+83 to T+88 (5 min). Booklet Step 4. Skeleton for decode_message. Pupils code it. Does the message make sense? Gibberish: check Step 2 and Step 3.</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T+83 to T+88. Checklist slide: leave it up while pupils work. Tests: STEP 2 prints 10218857, STEP 3 prints Z. Pupils fill in the Message tracker in the booklet as they go. Teacher checks the tracker. The message should make sense in English.</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IN CLASS. Show only if pupils are stuck: the booklet has two-level hints for every STEP. Paper first: work it out, then type it. Random letters? Test total_red, then letter_for, again.</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IN CLASS. Show only for early finishers: stretch tasks are at the back of the booklet. Green or blue gives a different message. Adding 1 to the total gives the next letter; adding 26 gives the same letter.</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T+88 to T+90 (2 min). Recap: what a picture is, channels, maths on pixels, a loop to decode. Click through one at a time.</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T+88 to T+90. Reflect: how long did 3 tiny images take by hand? How long did 37 take with code? Which task was hardest and why? Challenge: green or blue channel on the puzzle.</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Context, about 5 minutes for these four slides (they add time before Part 2). Two ideas: cryptography hides what a message says, steganography hides that there is a message at all. Then the key link to this lesson: a pixel is three numbers, so a change of 1 in one number is invisible to us but a program can read it. Ask: which of the two squares is changed? Pupils cannot tell.</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Real cases of messages hidden in ordinary-looking things online. One card per click. 2010: the FBI said Russian agents living in the USA hid messages in images on public websites (the 'Illegals Program' arrests). 2017: security company ESET found the Turla group using comments under a pop star's Instagram photo to hide the address of their control server. 2022: security company Securonix found malware hidden in a picture from the James Webb Space Telescope. Point: nobody looks twice at a photo. Check these against the sources before quoting extra detail.</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How hidden messages get discovered. Steganalysis means looking for numbers that do not behave like a normal photo: a histogram (Task 8) or a comparison with the original shows the odd ones out. UK examples: Cambridge Computer Laboratory researchers (Ross Anderson, Fabien Petitcolas) wrote some of the first research papers on information hiding in the late 1990s; Steven Murdoch and Stephen Lewis at Cambridge showed in 2005 how to hide messages inside ordinary internet traffic. The National Cyber Security Centre, part of GCHQ, is the UK body that helps defend against hidden threats. History: in WWII British censors checked mail for invisible ink and hidden writing. NOTE for the teacher: I could not confirm a public, named NCSC case of image steganography, so the slide names research groups and the role of NCSC rather than inventing a case. Check before adding more.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story for Part 2. Read it out, one card per click. It is a made-up scenario, but the method is real: spot the odd thing, find the hidden rule, decode it. Then go to the next slide for the task and the rule.</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01B40"/>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rtlCol="0"/>
          <a:lstStyle>
            <a:lvl1pPr marL="0" indent="0" algn="l">
              <a:buNone/>
              <a:defRPr lang="en-US" sz="3400" b="1" dirty="0">
                <a:solidFill>
                  <a:srgbClr val="FFFFFF"/>
                </a:solidFill>
                <a:latin typeface="Arial" pitchFamily="34" charset="0"/>
                <a:ea typeface="Arial" pitchFamily="34" charset="-122"/>
                <a:cs typeface="Arial" pitchFamily="34" charset="-120"/>
              </a:defRPr>
            </a:lvl1pPr>
          </a:lstStyle>
          <a:p>
            <a:pPr marL="0" indent="0" algn="l">
              <a:buNone/>
            </a:pPr>
            <a:endParaRPr lang="en-US" sz="3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EEF2F7"/>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rtlCol="0"/>
          <a:lstStyle>
            <a:lvl1pPr marL="0" indent="0" algn="l">
              <a:buNone/>
              <a:defRPr lang="en-US" sz="3000" b="1" dirty="0">
                <a:solidFill>
                  <a:srgbClr val="001B40"/>
                </a:solidFill>
                <a:latin typeface="Arial" pitchFamily="34" charset="0"/>
                <a:ea typeface="Arial" pitchFamily="34" charset="-122"/>
                <a:cs typeface="Arial" pitchFamily="34" charset="-120"/>
              </a:defRPr>
            </a:lvl1pPr>
          </a:lstStyle>
          <a:p>
            <a:pPr marL="0" indent="0" algn="l">
              <a:buNone/>
            </a:pPr>
            <a:endParaRPr lang="en-US" sz="3000" dirty="0"/>
          </a:p>
        </p:txBody>
      </p:sp>
      <p:sp>
        <p:nvSpPr>
          <p:cNvPr id="3" name="Text 0"/>
          <p:cNvSpPr/>
          <p:nvPr/>
        </p:nvSpPr>
        <p:spPr>
          <a:xfrm>
            <a:off x="457200" y="4828032"/>
            <a:ext cx="5486400" cy="228600"/>
          </a:xfrm>
          <a:prstGeom prst="rect">
            <a:avLst/>
          </a:prstGeom>
          <a:noFill/>
          <a:ln/>
        </p:spPr>
        <p:txBody>
          <a:bodyPr wrap="square" lIns="0" tIns="0" rIns="0" bIns="0" rtlCol="0" anchor="ctr"/>
          <a:lstStyle/>
          <a:p>
            <a:pPr marL="0" indent="0">
              <a:buNone/>
            </a:pPr>
            <a:r>
              <a:rPr lang="en-US" sz="1000" dirty="0">
                <a:solidFill>
                  <a:srgbClr val="5D6B80"/>
                </a:solidFill>
                <a:latin typeface="Arial" pitchFamily="34" charset="0"/>
                <a:ea typeface="Arial" pitchFamily="34" charset="-122"/>
                <a:cs typeface="Arial" pitchFamily="34" charset="-120"/>
              </a:rPr>
              <a:t>Image Analysis  |  Dr. Hughes</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NSWER">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85800"/>
          </a:xfrm>
          <a:prstGeom prst="rect">
            <a:avLst/>
          </a:prstGeom>
          <a:noFill/>
          <a:ln/>
        </p:spPr>
        <p:txBody>
          <a:bodyPr wrap="square" rtlCol="0"/>
          <a:lstStyle>
            <a:lvl1pPr marL="0" indent="0" algn="l">
              <a:buNone/>
              <a:defRPr lang="en-US" sz="2800" b="1" dirty="0">
                <a:solidFill>
                  <a:srgbClr val="001B40"/>
                </a:solidFill>
                <a:latin typeface="Arial" pitchFamily="34" charset="0"/>
                <a:ea typeface="Arial" pitchFamily="34" charset="-122"/>
                <a:cs typeface="Arial" pitchFamily="34" charset="-120"/>
              </a:defRPr>
            </a:lvl1pPr>
          </a:lstStyle>
          <a:p>
            <a:pPr marL="0" indent="0" algn="l">
              <a:buNone/>
            </a:pPr>
            <a:endParaRPr lang="en-US" sz="2800" dirty="0"/>
          </a:p>
        </p:txBody>
      </p:sp>
      <p:sp>
        <p:nvSpPr>
          <p:cNvPr id="3" name="Text 0"/>
          <p:cNvSpPr/>
          <p:nvPr/>
        </p:nvSpPr>
        <p:spPr>
          <a:xfrm>
            <a:off x="457200" y="4828032"/>
            <a:ext cx="5486400" cy="228600"/>
          </a:xfrm>
          <a:prstGeom prst="rect">
            <a:avLst/>
          </a:prstGeom>
          <a:noFill/>
          <a:ln/>
        </p:spPr>
        <p:txBody>
          <a:bodyPr wrap="square" lIns="0" tIns="0" rIns="0" bIns="0" rtlCol="0" anchor="ctr"/>
          <a:lstStyle/>
          <a:p>
            <a:pPr marL="0" indent="0">
              <a:buNone/>
            </a:pPr>
            <a:r>
              <a:rPr lang="en-US" sz="1000" dirty="0">
                <a:solidFill>
                  <a:srgbClr val="5D6B80"/>
                </a:solidFill>
                <a:latin typeface="Arial" pitchFamily="34" charset="0"/>
                <a:ea typeface="Arial" pitchFamily="34" charset="-122"/>
                <a:cs typeface="Arial" pitchFamily="34" charset="-120"/>
              </a:rPr>
              <a:t>Image Analysis  |  Dr. Hughes</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 Id="rId3" Type="http://schemas.openxmlformats.org/officeDocument/2006/relationships/image" Target="../media/image2.jpg"/><Relationship Id="rId4" Type="http://schemas.openxmlformats.org/officeDocument/2006/relationships/image" Target="../media/image14.png"/><Relationship Id="rId5" Type="http://schemas.openxmlformats.org/officeDocument/2006/relationships/image" Target="../media/image1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 Id="rId3"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18.png"/><Relationship Id="rId4" Type="http://schemas.openxmlformats.org/officeDocument/2006/relationships/image" Target="../media/image19.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show="0">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5-A-DAY: Knowledge Recall</a:t>
            </a:r>
            <a:endParaRPr lang="en-US" sz="3000" dirty="0"/>
          </a:p>
        </p:txBody>
      </p:sp>
      <p:sp>
        <p:nvSpPr>
          <p:cNvPr id="3" name="STARTER pill"/>
          <p:cNvSpPr/>
          <p:nvPr/>
        </p:nvSpPr>
        <p:spPr>
          <a:xfrm>
            <a:off x="7132320" y="411480"/>
            <a:ext cx="15544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132320" y="411480"/>
            <a:ext cx="15544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STARTER</a:t>
            </a:r>
            <a:endParaRPr lang="en-US" sz="1200" dirty="0"/>
          </a:p>
        </p:txBody>
      </p:sp>
      <p:sp>
        <p:nvSpPr>
          <p:cNvPr id="5" name="Text 3"/>
          <p:cNvSpPr txBox="1"/>
          <p:nvPr/>
        </p:nvSpPr>
        <p:spPr>
          <a:xfrm>
            <a:off x="457200" y="960120"/>
            <a:ext cx="4206240" cy="274320"/>
          </a:xfrm>
          <a:prstGeom prst="rect">
            <a:avLst/>
          </a:prstGeom>
          <a:noFill/>
          <a:ln/>
        </p:spPr>
        <p:txBody>
          <a:bodyPr wrap="square" lIns="0" tIns="0" rIns="0" bIns="0" rtlCol="0" anchor="ctr"/>
          <a:lstStyle/>
          <a:p>
            <a:pPr marL="0" indent="0">
              <a:buNone/>
            </a:pPr>
            <a:r>
              <a:rPr lang="en-US" sz="1400" b="1" dirty="0">
                <a:solidFill>
                  <a:srgbClr val="5D6B80"/>
                </a:solidFill>
                <a:latin typeface="Arial" pitchFamily="34" charset="0"/>
                <a:ea typeface="Arial" pitchFamily="34" charset="-122"/>
                <a:cs typeface="Arial" pitchFamily="34" charset="-120"/>
              </a:rPr>
              <a:t>Question</a:t>
            </a:r>
            <a:endParaRPr lang="en-US" sz="1400" dirty="0"/>
          </a:p>
        </p:txBody>
      </p:sp>
      <p:sp>
        <p:nvSpPr>
          <p:cNvPr id="6" name="Text 4"/>
          <p:cNvSpPr txBox="1"/>
          <p:nvPr/>
        </p:nvSpPr>
        <p:spPr>
          <a:xfrm>
            <a:off x="4663440" y="960120"/>
            <a:ext cx="4023360" cy="274320"/>
          </a:xfrm>
          <a:prstGeom prst="rect">
            <a:avLst/>
          </a:prstGeom>
          <a:noFill/>
          <a:ln/>
        </p:spPr>
        <p:txBody>
          <a:bodyPr wrap="square" lIns="0" tIns="0" rIns="0" bIns="0" rtlCol="0" anchor="ctr"/>
          <a:lstStyle/>
          <a:p>
            <a:pPr marL="0" indent="0">
              <a:buNone/>
            </a:pPr>
            <a:r>
              <a:rPr lang="en-US" sz="1400" b="1" dirty="0">
                <a:solidFill>
                  <a:srgbClr val="5D6B80"/>
                </a:solidFill>
                <a:latin typeface="Arial" pitchFamily="34" charset="0"/>
                <a:ea typeface="Arial" pitchFamily="34" charset="-122"/>
                <a:cs typeface="Arial" pitchFamily="34" charset="-120"/>
              </a:rPr>
              <a:t>Answer</a:t>
            </a:r>
            <a:endParaRPr lang="en-US" sz="1400" dirty="0"/>
          </a:p>
        </p:txBody>
      </p:sp>
      <p:sp>
        <p:nvSpPr>
          <p:cNvPr id="7" name="Card"/>
          <p:cNvSpPr/>
          <p:nvPr/>
        </p:nvSpPr>
        <p:spPr>
          <a:xfrm>
            <a:off x="457200" y="1325880"/>
            <a:ext cx="4206240" cy="603504"/>
          </a:xfrm>
          <a:prstGeom prst="roundRect">
            <a:avLst>
              <a:gd name="adj" fmla="val 18182"/>
            </a:avLst>
          </a:prstGeom>
          <a:solidFill>
            <a:srgbClr val="EEF2F7"/>
          </a:solidFill>
          <a:ln w="9525">
            <a:solidFill>
              <a:srgbClr val="C5D1E3"/>
            </a:solidFill>
            <a:prstDash val="solid"/>
          </a:ln>
        </p:spPr>
        <p:txBody>
          <a:bodyPr/>
          <a:lstStyle/>
          <a:p>
            <a:endParaRPr lang="en-GB"/>
          </a:p>
        </p:txBody>
      </p:sp>
      <p:sp>
        <p:nvSpPr>
          <p:cNvPr id="8" name="Number 1"/>
          <p:cNvSpPr/>
          <p:nvPr/>
        </p:nvSpPr>
        <p:spPr>
          <a:xfrm>
            <a:off x="548640" y="1444752"/>
            <a:ext cx="365760" cy="365760"/>
          </a:xfrm>
          <a:prstGeom prst="ellipse">
            <a:avLst/>
          </a:prstGeom>
          <a:solidFill>
            <a:srgbClr val="002D6A"/>
          </a:solidFill>
          <a:ln w="12700">
            <a:solidFill>
              <a:srgbClr val="002D6A"/>
            </a:solidFill>
            <a:prstDash val="solid"/>
          </a:ln>
        </p:spPr>
        <p:txBody>
          <a:bodyPr/>
          <a:lstStyle/>
          <a:p>
            <a:endParaRPr lang="en-GB"/>
          </a:p>
        </p:txBody>
      </p:sp>
      <p:sp>
        <p:nvSpPr>
          <p:cNvPr id="9" name="Text 7"/>
          <p:cNvSpPr txBox="1"/>
          <p:nvPr/>
        </p:nvSpPr>
        <p:spPr>
          <a:xfrm>
            <a:off x="548640" y="1444752"/>
            <a:ext cx="36576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10" name="Text 8"/>
          <p:cNvSpPr txBox="1"/>
          <p:nvPr/>
        </p:nvSpPr>
        <p:spPr>
          <a:xfrm>
            <a:off x="1005840" y="1325880"/>
            <a:ext cx="3566160" cy="603504"/>
          </a:xfrm>
          <a:prstGeom prst="rect">
            <a:avLst/>
          </a:prstGeom>
          <a:noFill/>
          <a:ln/>
        </p:spPr>
        <p:txBody>
          <a:bodyPr wrap="square" lIns="0" tIns="0" rIns="0" bIns="0" rtlCol="0" anchor="ctr"/>
          <a:lstStyle/>
          <a:p>
            <a:pPr marL="0" indent="0">
              <a:buNone/>
            </a:pPr>
            <a:r>
              <a:rPr lang="en-US" sz="1400" dirty="0">
                <a:solidFill>
                  <a:srgbClr val="22262E"/>
                </a:solidFill>
                <a:latin typeface="Arial" pitchFamily="34" charset="0"/>
                <a:ea typeface="Arial" pitchFamily="34" charset="-122"/>
                <a:cs typeface="Arial" pitchFamily="34" charset="-120"/>
              </a:rPr>
              <a:t>What is a pixel?</a:t>
            </a:r>
            <a:endParaRPr lang="en-US" sz="1400" dirty="0"/>
          </a:p>
        </p:txBody>
      </p:sp>
      <p:sp>
        <p:nvSpPr>
          <p:cNvPr id="11" name="@1 Answer card"/>
          <p:cNvSpPr/>
          <p:nvPr/>
        </p:nvSpPr>
        <p:spPr>
          <a:xfrm>
            <a:off x="4846320" y="1325880"/>
            <a:ext cx="3840480" cy="603504"/>
          </a:xfrm>
          <a:prstGeom prst="roundRect">
            <a:avLst>
              <a:gd name="adj" fmla="val 18182"/>
            </a:avLst>
          </a:prstGeom>
          <a:solidFill>
            <a:srgbClr val="FFFFFF"/>
          </a:solidFill>
          <a:ln w="15875">
            <a:solidFill>
              <a:srgbClr val="002D6A"/>
            </a:solidFill>
            <a:prstDash val="solid"/>
          </a:ln>
        </p:spPr>
        <p:txBody>
          <a:bodyPr/>
          <a:lstStyle/>
          <a:p>
            <a:endParaRPr lang="en-GB"/>
          </a:p>
        </p:txBody>
      </p:sp>
      <p:sp>
        <p:nvSpPr>
          <p:cNvPr id="12" name="@1 addText"/>
          <p:cNvSpPr txBox="1"/>
          <p:nvPr/>
        </p:nvSpPr>
        <p:spPr>
          <a:xfrm>
            <a:off x="4983480" y="1325880"/>
            <a:ext cx="3611880" cy="603504"/>
          </a:xfrm>
          <a:prstGeom prst="rect">
            <a:avLst/>
          </a:prstGeom>
          <a:noFill/>
          <a:ln/>
        </p:spPr>
        <p:txBody>
          <a:bodyPr wrap="square" lIns="0" tIns="0" rIns="0" bIns="0" rtlCol="0" anchor="ctr"/>
          <a:lstStyle/>
          <a:p>
            <a:pPr marL="0" indent="0">
              <a:buNone/>
            </a:pPr>
            <a:r>
              <a:rPr lang="en-US" sz="1300" b="1" dirty="0">
                <a:solidFill>
                  <a:srgbClr val="002D6A"/>
                </a:solidFill>
                <a:latin typeface="Arial" pitchFamily="34" charset="0"/>
                <a:ea typeface="Arial" pitchFamily="34" charset="-122"/>
                <a:cs typeface="Arial" pitchFamily="34" charset="-120"/>
              </a:rPr>
              <a:t>One tiny square of colour in a picture</a:t>
            </a:r>
            <a:endParaRPr lang="en-US" sz="1300" dirty="0"/>
          </a:p>
        </p:txBody>
      </p:sp>
      <p:sp>
        <p:nvSpPr>
          <p:cNvPr id="13" name="Card"/>
          <p:cNvSpPr/>
          <p:nvPr/>
        </p:nvSpPr>
        <p:spPr>
          <a:xfrm>
            <a:off x="457200" y="2002536"/>
            <a:ext cx="4206240" cy="603504"/>
          </a:xfrm>
          <a:prstGeom prst="roundRect">
            <a:avLst>
              <a:gd name="adj" fmla="val 18182"/>
            </a:avLst>
          </a:prstGeom>
          <a:solidFill>
            <a:srgbClr val="EEF2F7"/>
          </a:solidFill>
          <a:ln w="9525">
            <a:solidFill>
              <a:srgbClr val="C5D1E3"/>
            </a:solidFill>
            <a:prstDash val="solid"/>
          </a:ln>
        </p:spPr>
        <p:txBody>
          <a:bodyPr/>
          <a:lstStyle/>
          <a:p>
            <a:endParaRPr lang="en-GB"/>
          </a:p>
        </p:txBody>
      </p:sp>
      <p:sp>
        <p:nvSpPr>
          <p:cNvPr id="14" name="Number 2"/>
          <p:cNvSpPr/>
          <p:nvPr/>
        </p:nvSpPr>
        <p:spPr>
          <a:xfrm>
            <a:off x="548640" y="2121408"/>
            <a:ext cx="365760" cy="365760"/>
          </a:xfrm>
          <a:prstGeom prst="ellipse">
            <a:avLst/>
          </a:prstGeom>
          <a:solidFill>
            <a:srgbClr val="002D6A"/>
          </a:solidFill>
          <a:ln w="12700">
            <a:solidFill>
              <a:srgbClr val="002D6A"/>
            </a:solidFill>
            <a:prstDash val="solid"/>
          </a:ln>
        </p:spPr>
        <p:txBody>
          <a:bodyPr/>
          <a:lstStyle/>
          <a:p>
            <a:endParaRPr lang="en-GB"/>
          </a:p>
        </p:txBody>
      </p:sp>
      <p:sp>
        <p:nvSpPr>
          <p:cNvPr id="15" name="Text 13"/>
          <p:cNvSpPr txBox="1"/>
          <p:nvPr/>
        </p:nvSpPr>
        <p:spPr>
          <a:xfrm>
            <a:off x="548640" y="2121408"/>
            <a:ext cx="36576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6" name="Text 14"/>
          <p:cNvSpPr txBox="1"/>
          <p:nvPr/>
        </p:nvSpPr>
        <p:spPr>
          <a:xfrm>
            <a:off x="1005840" y="2002536"/>
            <a:ext cx="3566160" cy="603504"/>
          </a:xfrm>
          <a:prstGeom prst="rect">
            <a:avLst/>
          </a:prstGeom>
          <a:noFill/>
          <a:ln/>
        </p:spPr>
        <p:txBody>
          <a:bodyPr wrap="square" lIns="0" tIns="0" rIns="0" bIns="0" rtlCol="0" anchor="ctr"/>
          <a:lstStyle/>
          <a:p>
            <a:pPr marL="0" indent="0">
              <a:buNone/>
            </a:pPr>
            <a:r>
              <a:rPr lang="en-US" sz="1400" dirty="0">
                <a:solidFill>
                  <a:srgbClr val="22262E"/>
                </a:solidFill>
                <a:latin typeface="Arial" pitchFamily="34" charset="0"/>
                <a:ea typeface="Arial" pitchFamily="34" charset="-122"/>
                <a:cs typeface="Arial" pitchFamily="34" charset="-120"/>
              </a:rPr>
              <a:t>What do the letters RGB stand for?</a:t>
            </a:r>
            <a:endParaRPr lang="en-US" sz="1400" dirty="0"/>
          </a:p>
        </p:txBody>
      </p:sp>
      <p:sp>
        <p:nvSpPr>
          <p:cNvPr id="17" name="@2 Answer card"/>
          <p:cNvSpPr/>
          <p:nvPr/>
        </p:nvSpPr>
        <p:spPr>
          <a:xfrm>
            <a:off x="4846320" y="2002536"/>
            <a:ext cx="3840480" cy="603504"/>
          </a:xfrm>
          <a:prstGeom prst="roundRect">
            <a:avLst>
              <a:gd name="adj" fmla="val 18182"/>
            </a:avLst>
          </a:prstGeom>
          <a:solidFill>
            <a:srgbClr val="FFFFFF"/>
          </a:solidFill>
          <a:ln w="15875">
            <a:solidFill>
              <a:srgbClr val="002D6A"/>
            </a:solidFill>
            <a:prstDash val="solid"/>
          </a:ln>
        </p:spPr>
        <p:txBody>
          <a:bodyPr/>
          <a:lstStyle/>
          <a:p>
            <a:endParaRPr lang="en-GB"/>
          </a:p>
        </p:txBody>
      </p:sp>
      <p:sp>
        <p:nvSpPr>
          <p:cNvPr id="18" name="@2 addText"/>
          <p:cNvSpPr txBox="1"/>
          <p:nvPr/>
        </p:nvSpPr>
        <p:spPr>
          <a:xfrm>
            <a:off x="4983480" y="2002536"/>
            <a:ext cx="3611880" cy="603504"/>
          </a:xfrm>
          <a:prstGeom prst="rect">
            <a:avLst/>
          </a:prstGeom>
          <a:noFill/>
          <a:ln/>
        </p:spPr>
        <p:txBody>
          <a:bodyPr wrap="square" lIns="0" tIns="0" rIns="0" bIns="0" rtlCol="0" anchor="ctr"/>
          <a:lstStyle/>
          <a:p>
            <a:pPr marL="0" indent="0">
              <a:buNone/>
            </a:pPr>
            <a:r>
              <a:rPr lang="en-US" sz="1300" b="1" dirty="0">
                <a:solidFill>
                  <a:srgbClr val="002D6A"/>
                </a:solidFill>
                <a:latin typeface="Arial" pitchFamily="34" charset="0"/>
                <a:ea typeface="Arial" pitchFamily="34" charset="-122"/>
                <a:cs typeface="Arial" pitchFamily="34" charset="-120"/>
              </a:rPr>
              <a:t>Red, green, blue</a:t>
            </a:r>
            <a:endParaRPr lang="en-US" sz="1300" dirty="0"/>
          </a:p>
        </p:txBody>
      </p:sp>
      <p:sp>
        <p:nvSpPr>
          <p:cNvPr id="19" name="Card"/>
          <p:cNvSpPr/>
          <p:nvPr/>
        </p:nvSpPr>
        <p:spPr>
          <a:xfrm>
            <a:off x="457200" y="2679192"/>
            <a:ext cx="4206240" cy="603504"/>
          </a:xfrm>
          <a:prstGeom prst="roundRect">
            <a:avLst>
              <a:gd name="adj" fmla="val 18182"/>
            </a:avLst>
          </a:prstGeom>
          <a:solidFill>
            <a:srgbClr val="EEF2F7"/>
          </a:solidFill>
          <a:ln w="9525">
            <a:solidFill>
              <a:srgbClr val="C5D1E3"/>
            </a:solidFill>
            <a:prstDash val="solid"/>
          </a:ln>
        </p:spPr>
        <p:txBody>
          <a:bodyPr/>
          <a:lstStyle/>
          <a:p>
            <a:endParaRPr lang="en-GB"/>
          </a:p>
        </p:txBody>
      </p:sp>
      <p:sp>
        <p:nvSpPr>
          <p:cNvPr id="20" name="Number 3"/>
          <p:cNvSpPr/>
          <p:nvPr/>
        </p:nvSpPr>
        <p:spPr>
          <a:xfrm>
            <a:off x="548640" y="2798064"/>
            <a:ext cx="365760" cy="365760"/>
          </a:xfrm>
          <a:prstGeom prst="ellipse">
            <a:avLst/>
          </a:prstGeom>
          <a:solidFill>
            <a:srgbClr val="002D6A"/>
          </a:solidFill>
          <a:ln w="12700">
            <a:solidFill>
              <a:srgbClr val="002D6A"/>
            </a:solidFill>
            <a:prstDash val="solid"/>
          </a:ln>
        </p:spPr>
        <p:txBody>
          <a:bodyPr/>
          <a:lstStyle/>
          <a:p>
            <a:endParaRPr lang="en-GB"/>
          </a:p>
        </p:txBody>
      </p:sp>
      <p:sp>
        <p:nvSpPr>
          <p:cNvPr id="21" name="Text 19"/>
          <p:cNvSpPr txBox="1"/>
          <p:nvPr/>
        </p:nvSpPr>
        <p:spPr>
          <a:xfrm>
            <a:off x="548640" y="2798064"/>
            <a:ext cx="36576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22" name="Text 20"/>
          <p:cNvSpPr txBox="1"/>
          <p:nvPr/>
        </p:nvSpPr>
        <p:spPr>
          <a:xfrm>
            <a:off x="1005840" y="2679192"/>
            <a:ext cx="3566160" cy="603504"/>
          </a:xfrm>
          <a:prstGeom prst="rect">
            <a:avLst/>
          </a:prstGeom>
          <a:noFill/>
          <a:ln/>
        </p:spPr>
        <p:txBody>
          <a:bodyPr wrap="square" lIns="0" tIns="0" rIns="0" bIns="0" rtlCol="0" anchor="ctr"/>
          <a:lstStyle/>
          <a:p>
            <a:pPr marL="0" indent="0">
              <a:buNone/>
            </a:pPr>
            <a:r>
              <a:rPr lang="en-US" sz="1400" dirty="0">
                <a:solidFill>
                  <a:srgbClr val="22262E"/>
                </a:solidFill>
                <a:latin typeface="Arial" pitchFamily="34" charset="0"/>
                <a:ea typeface="Arial" pitchFamily="34" charset="-122"/>
                <a:cs typeface="Arial" pitchFamily="34" charset="-120"/>
              </a:rPr>
              <a:t>What is the biggest number 8 bits can store?</a:t>
            </a:r>
            <a:endParaRPr lang="en-US" sz="1400" dirty="0"/>
          </a:p>
        </p:txBody>
      </p:sp>
      <p:sp>
        <p:nvSpPr>
          <p:cNvPr id="23" name="@3 Answer card"/>
          <p:cNvSpPr/>
          <p:nvPr/>
        </p:nvSpPr>
        <p:spPr>
          <a:xfrm>
            <a:off x="4846320" y="2679192"/>
            <a:ext cx="3840480" cy="603504"/>
          </a:xfrm>
          <a:prstGeom prst="roundRect">
            <a:avLst>
              <a:gd name="adj" fmla="val 18182"/>
            </a:avLst>
          </a:prstGeom>
          <a:solidFill>
            <a:srgbClr val="FFFFFF"/>
          </a:solidFill>
          <a:ln w="15875">
            <a:solidFill>
              <a:srgbClr val="002D6A"/>
            </a:solidFill>
            <a:prstDash val="solid"/>
          </a:ln>
        </p:spPr>
        <p:txBody>
          <a:bodyPr/>
          <a:lstStyle/>
          <a:p>
            <a:endParaRPr lang="en-GB"/>
          </a:p>
        </p:txBody>
      </p:sp>
      <p:sp>
        <p:nvSpPr>
          <p:cNvPr id="24" name="@3 addText"/>
          <p:cNvSpPr txBox="1"/>
          <p:nvPr/>
        </p:nvSpPr>
        <p:spPr>
          <a:xfrm>
            <a:off x="4983480" y="2679192"/>
            <a:ext cx="3611880" cy="603504"/>
          </a:xfrm>
          <a:prstGeom prst="rect">
            <a:avLst/>
          </a:prstGeom>
          <a:noFill/>
          <a:ln/>
        </p:spPr>
        <p:txBody>
          <a:bodyPr wrap="square" lIns="0" tIns="0" rIns="0" bIns="0" rtlCol="0" anchor="ctr"/>
          <a:lstStyle/>
          <a:p>
            <a:pPr marL="0" indent="0">
              <a:buNone/>
            </a:pPr>
            <a:r>
              <a:rPr lang="en-US" sz="1300" b="1" dirty="0">
                <a:solidFill>
                  <a:srgbClr val="002D6A"/>
                </a:solidFill>
                <a:latin typeface="Arial" pitchFamily="34" charset="0"/>
                <a:ea typeface="Arial" pitchFamily="34" charset="-122"/>
                <a:cs typeface="Arial" pitchFamily="34" charset="-120"/>
              </a:rPr>
              <a:t>255 (0 to 255 is 256 values)</a:t>
            </a:r>
            <a:endParaRPr lang="en-US" sz="1300" dirty="0"/>
          </a:p>
        </p:txBody>
      </p:sp>
      <p:sp>
        <p:nvSpPr>
          <p:cNvPr id="25" name="Card"/>
          <p:cNvSpPr/>
          <p:nvPr/>
        </p:nvSpPr>
        <p:spPr>
          <a:xfrm>
            <a:off x="457200" y="3355848"/>
            <a:ext cx="4206240" cy="603504"/>
          </a:xfrm>
          <a:prstGeom prst="roundRect">
            <a:avLst>
              <a:gd name="adj" fmla="val 18182"/>
            </a:avLst>
          </a:prstGeom>
          <a:solidFill>
            <a:srgbClr val="EEF2F7"/>
          </a:solidFill>
          <a:ln w="9525">
            <a:solidFill>
              <a:srgbClr val="C5D1E3"/>
            </a:solidFill>
            <a:prstDash val="solid"/>
          </a:ln>
        </p:spPr>
        <p:txBody>
          <a:bodyPr/>
          <a:lstStyle/>
          <a:p>
            <a:endParaRPr lang="en-GB"/>
          </a:p>
        </p:txBody>
      </p:sp>
      <p:sp>
        <p:nvSpPr>
          <p:cNvPr id="26" name="Number 4"/>
          <p:cNvSpPr/>
          <p:nvPr/>
        </p:nvSpPr>
        <p:spPr>
          <a:xfrm>
            <a:off x="548640" y="3474720"/>
            <a:ext cx="365760" cy="365760"/>
          </a:xfrm>
          <a:prstGeom prst="ellipse">
            <a:avLst/>
          </a:prstGeom>
          <a:solidFill>
            <a:srgbClr val="002D6A"/>
          </a:solidFill>
          <a:ln w="12700">
            <a:solidFill>
              <a:srgbClr val="002D6A"/>
            </a:solidFill>
            <a:prstDash val="solid"/>
          </a:ln>
        </p:spPr>
        <p:txBody>
          <a:bodyPr/>
          <a:lstStyle/>
          <a:p>
            <a:endParaRPr lang="en-GB"/>
          </a:p>
        </p:txBody>
      </p:sp>
      <p:sp>
        <p:nvSpPr>
          <p:cNvPr id="27" name="Text 25"/>
          <p:cNvSpPr txBox="1"/>
          <p:nvPr/>
        </p:nvSpPr>
        <p:spPr>
          <a:xfrm>
            <a:off x="548640" y="3474720"/>
            <a:ext cx="36576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8" name="Text 26"/>
          <p:cNvSpPr txBox="1"/>
          <p:nvPr/>
        </p:nvSpPr>
        <p:spPr>
          <a:xfrm>
            <a:off x="1005840" y="3355848"/>
            <a:ext cx="3566160" cy="603504"/>
          </a:xfrm>
          <a:prstGeom prst="rect">
            <a:avLst/>
          </a:prstGeom>
          <a:noFill/>
          <a:ln/>
        </p:spPr>
        <p:txBody>
          <a:bodyPr wrap="square" lIns="0" tIns="0" rIns="0" bIns="0" rtlCol="0" anchor="ctr"/>
          <a:lstStyle/>
          <a:p>
            <a:pPr marL="0" indent="0">
              <a:buNone/>
            </a:pPr>
            <a:r>
              <a:rPr lang="en-US" sz="1400" dirty="0">
                <a:solidFill>
                  <a:srgbClr val="22262E"/>
                </a:solidFill>
                <a:latin typeface="Arial" pitchFamily="34" charset="0"/>
                <a:ea typeface="Arial" pitchFamily="34" charset="-122"/>
                <a:cs typeface="Arial" pitchFamily="34" charset="-120"/>
              </a:rPr>
              <a:t>Which keyword sends a value back out of a function?</a:t>
            </a:r>
            <a:endParaRPr lang="en-US" sz="1400" dirty="0"/>
          </a:p>
        </p:txBody>
      </p:sp>
      <p:sp>
        <p:nvSpPr>
          <p:cNvPr id="29" name="@4 Answer card"/>
          <p:cNvSpPr/>
          <p:nvPr/>
        </p:nvSpPr>
        <p:spPr>
          <a:xfrm>
            <a:off x="4846320" y="3355848"/>
            <a:ext cx="3840480" cy="603504"/>
          </a:xfrm>
          <a:prstGeom prst="roundRect">
            <a:avLst>
              <a:gd name="adj" fmla="val 18182"/>
            </a:avLst>
          </a:prstGeom>
          <a:solidFill>
            <a:srgbClr val="FFFFFF"/>
          </a:solidFill>
          <a:ln w="15875">
            <a:solidFill>
              <a:srgbClr val="002D6A"/>
            </a:solidFill>
            <a:prstDash val="solid"/>
          </a:ln>
        </p:spPr>
        <p:txBody>
          <a:bodyPr/>
          <a:lstStyle/>
          <a:p>
            <a:endParaRPr lang="en-GB"/>
          </a:p>
        </p:txBody>
      </p:sp>
      <p:sp>
        <p:nvSpPr>
          <p:cNvPr id="30" name="@4 addText"/>
          <p:cNvSpPr txBox="1"/>
          <p:nvPr/>
        </p:nvSpPr>
        <p:spPr>
          <a:xfrm>
            <a:off x="4983480" y="3355848"/>
            <a:ext cx="3611880" cy="603504"/>
          </a:xfrm>
          <a:prstGeom prst="rect">
            <a:avLst/>
          </a:prstGeom>
          <a:noFill/>
          <a:ln/>
        </p:spPr>
        <p:txBody>
          <a:bodyPr wrap="square" lIns="0" tIns="0" rIns="0" bIns="0" rtlCol="0" anchor="ctr"/>
          <a:lstStyle/>
          <a:p>
            <a:pPr marL="0" indent="0">
              <a:buNone/>
            </a:pPr>
            <a:r>
              <a:rPr lang="en-US" sz="1300" b="1" dirty="0">
                <a:solidFill>
                  <a:srgbClr val="002D6A"/>
                </a:solidFill>
                <a:latin typeface="Arial" pitchFamily="34" charset="0"/>
                <a:ea typeface="Arial" pitchFamily="34" charset="-122"/>
                <a:cs typeface="Arial" pitchFamily="34" charset="-120"/>
              </a:rPr>
              <a:t>return</a:t>
            </a:r>
            <a:endParaRPr lang="en-US" sz="1300" dirty="0"/>
          </a:p>
        </p:txBody>
      </p:sp>
      <p:sp>
        <p:nvSpPr>
          <p:cNvPr id="31" name="Card"/>
          <p:cNvSpPr/>
          <p:nvPr/>
        </p:nvSpPr>
        <p:spPr>
          <a:xfrm>
            <a:off x="457200" y="4032504"/>
            <a:ext cx="4206240" cy="603504"/>
          </a:xfrm>
          <a:prstGeom prst="roundRect">
            <a:avLst>
              <a:gd name="adj" fmla="val 18182"/>
            </a:avLst>
          </a:prstGeom>
          <a:solidFill>
            <a:srgbClr val="EEF2F7"/>
          </a:solidFill>
          <a:ln w="9525">
            <a:solidFill>
              <a:srgbClr val="C5D1E3"/>
            </a:solidFill>
            <a:prstDash val="solid"/>
          </a:ln>
        </p:spPr>
        <p:txBody>
          <a:bodyPr/>
          <a:lstStyle/>
          <a:p>
            <a:endParaRPr lang="en-GB"/>
          </a:p>
        </p:txBody>
      </p:sp>
      <p:sp>
        <p:nvSpPr>
          <p:cNvPr id="32" name="Number 5"/>
          <p:cNvSpPr/>
          <p:nvPr/>
        </p:nvSpPr>
        <p:spPr>
          <a:xfrm>
            <a:off x="548640" y="4151376"/>
            <a:ext cx="365760" cy="365760"/>
          </a:xfrm>
          <a:prstGeom prst="ellipse">
            <a:avLst/>
          </a:prstGeom>
          <a:solidFill>
            <a:srgbClr val="002D6A"/>
          </a:solidFill>
          <a:ln w="12700">
            <a:solidFill>
              <a:srgbClr val="002D6A"/>
            </a:solidFill>
            <a:prstDash val="solid"/>
          </a:ln>
        </p:spPr>
        <p:txBody>
          <a:bodyPr/>
          <a:lstStyle/>
          <a:p>
            <a:endParaRPr lang="en-GB"/>
          </a:p>
        </p:txBody>
      </p:sp>
      <p:sp>
        <p:nvSpPr>
          <p:cNvPr id="33" name="Text 31"/>
          <p:cNvSpPr txBox="1"/>
          <p:nvPr/>
        </p:nvSpPr>
        <p:spPr>
          <a:xfrm>
            <a:off x="548640" y="4151376"/>
            <a:ext cx="365760" cy="365760"/>
          </a:xfrm>
          <a:prstGeom prst="rect">
            <a:avLst/>
          </a:prstGeom>
          <a:noFill/>
          <a:ln/>
        </p:spPr>
        <p:txBody>
          <a:bodyPr wrap="square" lIns="0" tIns="0" rIns="0" bIns="0" rtlCol="0" anchor="ctr"/>
          <a:lstStyle/>
          <a:p>
            <a:pPr marL="0" indent="0" algn="ctr">
              <a:buNone/>
            </a:pPr>
            <a:r>
              <a:rPr lang="en-US" sz="1600" b="1" dirty="0">
                <a:solidFill>
                  <a:srgbClr val="FFFFFF"/>
                </a:solidFill>
                <a:latin typeface="Arial" pitchFamily="34" charset="0"/>
                <a:ea typeface="Arial" pitchFamily="34" charset="-122"/>
                <a:cs typeface="Arial" pitchFamily="34" charset="-120"/>
              </a:rPr>
              <a:t>5</a:t>
            </a:r>
            <a:endParaRPr lang="en-US" sz="1600" dirty="0"/>
          </a:p>
        </p:txBody>
      </p:sp>
      <p:sp>
        <p:nvSpPr>
          <p:cNvPr id="34" name="Text 32"/>
          <p:cNvSpPr txBox="1"/>
          <p:nvPr/>
        </p:nvSpPr>
        <p:spPr>
          <a:xfrm>
            <a:off x="1005840" y="4032504"/>
            <a:ext cx="3566160" cy="603504"/>
          </a:xfrm>
          <a:prstGeom prst="rect">
            <a:avLst/>
          </a:prstGeom>
          <a:noFill/>
          <a:ln/>
        </p:spPr>
        <p:txBody>
          <a:bodyPr wrap="square" lIns="0" tIns="0" rIns="0" bIns="0" rtlCol="0" anchor="ctr"/>
          <a:lstStyle/>
          <a:p>
            <a:pPr marL="0" indent="0">
              <a:buNone/>
            </a:pPr>
            <a:r>
              <a:rPr lang="en-US" sz="1400" dirty="0">
                <a:solidFill>
                  <a:srgbClr val="22262E"/>
                </a:solidFill>
                <a:latin typeface="Arial" pitchFamily="34" charset="0"/>
                <a:ea typeface="Arial" pitchFamily="34" charset="-122"/>
                <a:cs typeface="Arial" pitchFamily="34" charset="-120"/>
              </a:rPr>
              <a:t>What does % do in Python?</a:t>
            </a:r>
            <a:endParaRPr lang="en-US" sz="1400" dirty="0"/>
          </a:p>
        </p:txBody>
      </p:sp>
      <p:sp>
        <p:nvSpPr>
          <p:cNvPr id="35" name="@5 Answer card"/>
          <p:cNvSpPr/>
          <p:nvPr/>
        </p:nvSpPr>
        <p:spPr>
          <a:xfrm>
            <a:off x="4846320" y="4032504"/>
            <a:ext cx="3840480" cy="603504"/>
          </a:xfrm>
          <a:prstGeom prst="roundRect">
            <a:avLst>
              <a:gd name="adj" fmla="val 18182"/>
            </a:avLst>
          </a:prstGeom>
          <a:solidFill>
            <a:srgbClr val="FFFFFF"/>
          </a:solidFill>
          <a:ln w="15875">
            <a:solidFill>
              <a:srgbClr val="002D6A"/>
            </a:solidFill>
            <a:prstDash val="solid"/>
          </a:ln>
        </p:spPr>
        <p:txBody>
          <a:bodyPr/>
          <a:lstStyle/>
          <a:p>
            <a:endParaRPr lang="en-GB"/>
          </a:p>
        </p:txBody>
      </p:sp>
      <p:sp>
        <p:nvSpPr>
          <p:cNvPr id="36" name="@5 addText"/>
          <p:cNvSpPr txBox="1"/>
          <p:nvPr/>
        </p:nvSpPr>
        <p:spPr>
          <a:xfrm>
            <a:off x="4983480" y="4032504"/>
            <a:ext cx="3611880" cy="603504"/>
          </a:xfrm>
          <a:prstGeom prst="rect">
            <a:avLst/>
          </a:prstGeom>
          <a:noFill/>
          <a:ln/>
        </p:spPr>
        <p:txBody>
          <a:bodyPr wrap="square" lIns="0" tIns="0" rIns="0" bIns="0" rtlCol="0" anchor="ctr"/>
          <a:lstStyle/>
          <a:p>
            <a:pPr marL="0" indent="0">
              <a:buNone/>
            </a:pPr>
            <a:r>
              <a:rPr lang="en-US" sz="1300" b="1" dirty="0">
                <a:solidFill>
                  <a:srgbClr val="002D6A"/>
                </a:solidFill>
                <a:latin typeface="Arial" pitchFamily="34" charset="0"/>
                <a:ea typeface="Arial" pitchFamily="34" charset="-122"/>
                <a:cs typeface="Arial" pitchFamily="34" charset="-120"/>
              </a:rPr>
              <a:t>Gives the remainder after dividing</a:t>
            </a:r>
            <a:endParaRPr lang="en-US" sz="1300" dirty="0"/>
          </a:p>
        </p:txBody>
      </p:sp>
      <p:sp>
        <p:nvSpPr>
          <p:cNvPr id="37"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200"/>
                                        <p:tgtEl>
                                          <p:spTgt spid="1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200"/>
                                        <p:tgtEl>
                                          <p:spTgt spid="1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200"/>
                                        <p:tgtEl>
                                          <p:spTgt spid="2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2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200"/>
                                        <p:tgtEl>
                                          <p:spTgt spid="2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0"/>
                                        </p:tgtEl>
                                        <p:attrNameLst>
                                          <p:attrName>style.visibility</p:attrName>
                                        </p:attrNameLst>
                                      </p:cBhvr>
                                      <p:to>
                                        <p:strVal val="visible"/>
                                      </p:to>
                                    </p:set>
                                    <p:animEffect transition="in" filter="fade">
                                      <p:cBhvr>
                                        <p:cTn id="34" dur="200"/>
                                        <p:tgtEl>
                                          <p:spTgt spid="3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200"/>
                                        <p:tgtEl>
                                          <p:spTgt spid="3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2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7" grpId="0" animBg="1"/>
      <p:bldP spid="18" grpId="0" animBg="1"/>
      <p:bldP spid="23" grpId="0" animBg="1"/>
      <p:bldP spid="24" grpId="0" animBg="1"/>
      <p:bldP spid="29" grpId="0" animBg="1"/>
      <p:bldP spid="30" grpId="0" animBg="1"/>
      <p:bldP spid="35" grpId="0" animBg="1"/>
      <p:bldP spid="36"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What Do You See?</a:t>
            </a:r>
            <a:endParaRPr lang="en-US" sz="3400" dirty="0"/>
          </a:p>
        </p:txBody>
      </p:sp>
      <p:pic>
        <p:nvPicPr>
          <p:cNvPr id="4" name="Image 0" descr="clock"/>
          <p:cNvPicPr>
            <a:picLocks noChangeAspect="1"/>
          </p:cNvPicPr>
          <p:nvPr/>
        </p:nvPicPr>
        <p:blipFill>
          <a:blip r:embed="rId3"/>
          <a:stretch>
            <a:fillRect/>
          </a:stretch>
        </p:blipFill>
        <p:spPr>
          <a:xfrm>
            <a:off x="749808" y="3995928"/>
            <a:ext cx="329184" cy="329184"/>
          </a:xfrm>
          <a:prstGeom prst="rect">
            <a:avLst/>
          </a:prstGeom>
        </p:spPr>
      </p:pic>
      <p:sp>
        <p:nvSpPr>
          <p:cNvPr id="5" name="Text 2"/>
          <p:cNvSpPr txBox="1"/>
          <p:nvPr/>
        </p:nvSpPr>
        <p:spPr>
          <a:xfrm>
            <a:off x="1170432" y="3840480"/>
            <a:ext cx="1463040" cy="640080"/>
          </a:xfrm>
          <a:prstGeom prst="rect">
            <a:avLst/>
          </a:prstGeom>
          <a:noFill/>
          <a:ln/>
        </p:spPr>
        <p:txBody>
          <a:bodyPr wrap="square" lIns="0" tIns="0" rIns="0" bIns="0" rtlCol="0" anchor="ctr"/>
          <a:lstStyle/>
          <a:p>
            <a:pPr marL="0" indent="0">
              <a:buNone/>
            </a:pPr>
            <a:r>
              <a:rPr lang="en-US" sz="2000" b="1" dirty="0">
                <a:solidFill>
                  <a:srgbClr val="001B40"/>
                </a:solidFill>
                <a:latin typeface="Arial" pitchFamily="34" charset="0"/>
                <a:ea typeface="Arial" pitchFamily="34" charset="-122"/>
                <a:cs typeface="Arial" pitchFamily="34" charset="-120"/>
              </a:rPr>
              <a:t>10 min talk</a:t>
            </a:r>
            <a:endParaRPr lang="en-US" sz="2000" dirty="0"/>
          </a:p>
        </p:txBody>
      </p:sp>
      <p:pic>
        <p:nvPicPr>
          <p:cNvPr id="6" name="Image 1" descr="Photo of a black cow standing by a red brick wall"/>
          <p:cNvPicPr>
            <a:picLocks noChangeAspect="1"/>
          </p:cNvPicPr>
          <p:nvPr/>
        </p:nvPicPr>
        <p:blipFill>
          <a:blip r:embed="rId4"/>
          <a:stretch>
            <a:fillRect/>
          </a:stretch>
        </p:blipFill>
        <p:spPr>
          <a:xfrm>
            <a:off x="4937760" y="731520"/>
            <a:ext cx="3749040" cy="37490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You See a Cow. Python Sees...</a:t>
            </a:r>
            <a:endParaRPr lang="en-US" sz="3000" dirty="0"/>
          </a:p>
        </p:txBody>
      </p:sp>
      <p:pic>
        <p:nvPicPr>
          <p:cNvPr id="3" name="Image 0" descr="Photo of a black cow standing by a red brick wall"/>
          <p:cNvPicPr>
            <a:picLocks noChangeAspect="1"/>
          </p:cNvPicPr>
          <p:nvPr/>
        </p:nvPicPr>
        <p:blipFill>
          <a:blip r:embed="rId3"/>
          <a:stretch>
            <a:fillRect/>
          </a:stretch>
        </p:blipFill>
        <p:spPr>
          <a:xfrm>
            <a:off x="457200" y="1188720"/>
            <a:ext cx="3108960" cy="3108960"/>
          </a:xfrm>
          <a:prstGeom prst="rect">
            <a:avLst/>
          </a:prstGeom>
        </p:spPr>
      </p:pic>
      <p:sp>
        <p:nvSpPr>
          <p:cNvPr id="4" name="@1 dot"/>
          <p:cNvSpPr/>
          <p:nvPr/>
        </p:nvSpPr>
        <p:spPr>
          <a:xfrm>
            <a:off x="3931920" y="1408176"/>
            <a:ext cx="109728" cy="109728"/>
          </a:xfrm>
          <a:prstGeom prst="ellipse">
            <a:avLst/>
          </a:prstGeom>
          <a:solidFill>
            <a:srgbClr val="002D6A"/>
          </a:solidFill>
          <a:ln w="12700">
            <a:solidFill>
              <a:srgbClr val="002D6A"/>
            </a:solidFill>
            <a:prstDash val="solid"/>
          </a:ln>
        </p:spPr>
        <p:txBody>
          <a:bodyPr/>
          <a:lstStyle/>
          <a:p>
            <a:endParaRPr lang="en-GB"/>
          </a:p>
        </p:txBody>
      </p:sp>
      <p:sp>
        <p:nvSpPr>
          <p:cNvPr id="5" name="@1 addText"/>
          <p:cNvSpPr txBox="1"/>
          <p:nvPr/>
        </p:nvSpPr>
        <p:spPr>
          <a:xfrm>
            <a:off x="4206240" y="1280160"/>
            <a:ext cx="4480560" cy="667512"/>
          </a:xfrm>
          <a:prstGeom prst="rect">
            <a:avLst/>
          </a:prstGeom>
          <a:noFill/>
          <a:ln/>
        </p:spPr>
        <p:txBody>
          <a:bodyPr wrap="square" lIns="0" tIns="0" rIns="0" bIns="0" rtlCol="0" anchor="t"/>
          <a:lstStyle/>
          <a:p>
            <a:pPr marL="0" indent="0">
              <a:buNone/>
            </a:pPr>
            <a:r>
              <a:rPr lang="en-US" sz="2000" dirty="0">
                <a:solidFill>
                  <a:srgbClr val="22262E"/>
                </a:solidFill>
                <a:latin typeface="Arial" pitchFamily="34" charset="0"/>
                <a:ea typeface="Arial" pitchFamily="34" charset="-122"/>
                <a:cs typeface="Arial" pitchFamily="34" charset="-120"/>
              </a:rPr>
              <a:t>Python has never met a cow.</a:t>
            </a:r>
            <a:endParaRPr lang="en-US" sz="2000" dirty="0"/>
          </a:p>
        </p:txBody>
      </p:sp>
      <p:sp>
        <p:nvSpPr>
          <p:cNvPr id="6" name="@2 dot"/>
          <p:cNvSpPr/>
          <p:nvPr/>
        </p:nvSpPr>
        <p:spPr>
          <a:xfrm>
            <a:off x="3931920" y="2121408"/>
            <a:ext cx="109728" cy="109728"/>
          </a:xfrm>
          <a:prstGeom prst="ellipse">
            <a:avLst/>
          </a:prstGeom>
          <a:solidFill>
            <a:srgbClr val="002D6A"/>
          </a:solidFill>
          <a:ln w="12700">
            <a:solidFill>
              <a:srgbClr val="002D6A"/>
            </a:solidFill>
            <a:prstDash val="solid"/>
          </a:ln>
        </p:spPr>
        <p:txBody>
          <a:bodyPr/>
          <a:lstStyle/>
          <a:p>
            <a:endParaRPr lang="en-GB"/>
          </a:p>
        </p:txBody>
      </p:sp>
      <p:sp>
        <p:nvSpPr>
          <p:cNvPr id="7" name="@2 addText"/>
          <p:cNvSpPr txBox="1"/>
          <p:nvPr/>
        </p:nvSpPr>
        <p:spPr>
          <a:xfrm>
            <a:off x="4206240" y="1993392"/>
            <a:ext cx="4480560" cy="667512"/>
          </a:xfrm>
          <a:prstGeom prst="rect">
            <a:avLst/>
          </a:prstGeom>
          <a:noFill/>
          <a:ln/>
        </p:spPr>
        <p:txBody>
          <a:bodyPr wrap="square" lIns="0" tIns="0" rIns="0" bIns="0" rtlCol="0" anchor="t"/>
          <a:lstStyle/>
          <a:p>
            <a:pPr marL="0" indent="0">
              <a:buNone/>
            </a:pPr>
            <a:r>
              <a:rPr lang="en-US" sz="2000" dirty="0">
                <a:solidFill>
                  <a:srgbClr val="22262E"/>
                </a:solidFill>
                <a:latin typeface="Arial" pitchFamily="34" charset="0"/>
                <a:ea typeface="Arial" pitchFamily="34" charset="-122"/>
                <a:cs typeface="Arial" pitchFamily="34" charset="-120"/>
              </a:rPr>
              <a:t>It does not know what a "photo" is.</a:t>
            </a:r>
            <a:endParaRPr lang="en-US" sz="2000" dirty="0"/>
          </a:p>
        </p:txBody>
      </p:sp>
      <p:sp>
        <p:nvSpPr>
          <p:cNvPr id="8" name="@3 dot"/>
          <p:cNvSpPr/>
          <p:nvPr/>
        </p:nvSpPr>
        <p:spPr>
          <a:xfrm>
            <a:off x="3931920" y="2834640"/>
            <a:ext cx="109728" cy="109728"/>
          </a:xfrm>
          <a:prstGeom prst="ellipse">
            <a:avLst/>
          </a:prstGeom>
          <a:solidFill>
            <a:srgbClr val="002D6A"/>
          </a:solidFill>
          <a:ln w="12700">
            <a:solidFill>
              <a:srgbClr val="002D6A"/>
            </a:solidFill>
            <a:prstDash val="solid"/>
          </a:ln>
        </p:spPr>
        <p:txBody>
          <a:bodyPr/>
          <a:lstStyle/>
          <a:p>
            <a:endParaRPr lang="en-GB"/>
          </a:p>
        </p:txBody>
      </p:sp>
      <p:sp>
        <p:nvSpPr>
          <p:cNvPr id="9" name="@3 addText"/>
          <p:cNvSpPr txBox="1"/>
          <p:nvPr/>
        </p:nvSpPr>
        <p:spPr>
          <a:xfrm>
            <a:off x="4206240" y="2706624"/>
            <a:ext cx="4480560" cy="667512"/>
          </a:xfrm>
          <a:prstGeom prst="rect">
            <a:avLst/>
          </a:prstGeom>
          <a:noFill/>
          <a:ln/>
        </p:spPr>
        <p:txBody>
          <a:bodyPr wrap="square" lIns="0" tIns="0" rIns="0" bIns="0" rtlCol="0" anchor="t"/>
          <a:lstStyle/>
          <a:p>
            <a:pPr marL="0" indent="0">
              <a:buNone/>
            </a:pPr>
            <a:r>
              <a:rPr lang="en-US" sz="2000" dirty="0">
                <a:solidFill>
                  <a:srgbClr val="22262E"/>
                </a:solidFill>
                <a:latin typeface="Arial" pitchFamily="34" charset="0"/>
                <a:ea typeface="Arial" pitchFamily="34" charset="-122"/>
                <a:cs typeface="Arial" pitchFamily="34" charset="-120"/>
              </a:rPr>
              <a:t>All Python ever sees is numbers.</a:t>
            </a:r>
            <a:endParaRPr lang="en-US" sz="2000" dirty="0"/>
          </a:p>
        </p:txBody>
      </p:sp>
      <p:sp>
        <p:nvSpPr>
          <p:cNvPr id="10" name="@4 dot"/>
          <p:cNvSpPr/>
          <p:nvPr/>
        </p:nvSpPr>
        <p:spPr>
          <a:xfrm>
            <a:off x="3931920" y="3547872"/>
            <a:ext cx="109728" cy="109728"/>
          </a:xfrm>
          <a:prstGeom prst="ellipse">
            <a:avLst/>
          </a:prstGeom>
          <a:solidFill>
            <a:srgbClr val="002D6A"/>
          </a:solidFill>
          <a:ln w="12700">
            <a:solidFill>
              <a:srgbClr val="002D6A"/>
            </a:solidFill>
            <a:prstDash val="solid"/>
          </a:ln>
        </p:spPr>
        <p:txBody>
          <a:bodyPr/>
          <a:lstStyle/>
          <a:p>
            <a:endParaRPr lang="en-GB"/>
          </a:p>
        </p:txBody>
      </p:sp>
      <p:sp>
        <p:nvSpPr>
          <p:cNvPr id="11" name="@4 addText"/>
          <p:cNvSpPr txBox="1"/>
          <p:nvPr/>
        </p:nvSpPr>
        <p:spPr>
          <a:xfrm>
            <a:off x="4206240" y="3419856"/>
            <a:ext cx="4480560" cy="667512"/>
          </a:xfrm>
          <a:prstGeom prst="rect">
            <a:avLst/>
          </a:prstGeom>
          <a:noFill/>
          <a:ln/>
        </p:spPr>
        <p:txBody>
          <a:bodyPr wrap="square" lIns="0" tIns="0" rIns="0" bIns="0" rtlCol="0" anchor="t"/>
          <a:lstStyle/>
          <a:p>
            <a:pPr marL="0" indent="0">
              <a:buNone/>
            </a:pPr>
            <a:r>
              <a:rPr lang="en-US" sz="2000" dirty="0">
                <a:solidFill>
                  <a:srgbClr val="22262E"/>
                </a:solidFill>
                <a:latin typeface="Arial" pitchFamily="34" charset="0"/>
                <a:ea typeface="Arial" pitchFamily="34" charset="-122"/>
                <a:cs typeface="Arial" pitchFamily="34" charset="-120"/>
              </a:rPr>
              <a:t>So how does a program use pictures at all?</a:t>
            </a:r>
            <a:endParaRPr lang="en-US" sz="2000" dirty="0"/>
          </a:p>
        </p:txBody>
      </p:sp>
      <p:sp>
        <p:nvSpPr>
          <p:cNvPr id="12" name="Text 9"/>
          <p:cNvSpPr txBox="1"/>
          <p:nvPr/>
        </p:nvSpPr>
        <p:spPr>
          <a:xfrm>
            <a:off x="457200" y="4389120"/>
            <a:ext cx="8229600" cy="320040"/>
          </a:xfrm>
          <a:prstGeom prst="rect">
            <a:avLst/>
          </a:prstGeom>
          <a:noFill/>
          <a:ln/>
        </p:spPr>
        <p:txBody>
          <a:bodyPr wrap="square" lIns="0" tIns="0" rIns="0" bIns="0" rtlCol="0" anchor="ctr"/>
          <a:lstStyle/>
          <a:p>
            <a:pPr marL="0" indent="0">
              <a:buNone/>
            </a:pPr>
            <a:r>
              <a:rPr lang="en-US" sz="1400" i="1" dirty="0">
                <a:solidFill>
                  <a:srgbClr val="5D6B80"/>
                </a:solidFill>
                <a:latin typeface="Arial" pitchFamily="34" charset="0"/>
                <a:ea typeface="Arial" pitchFamily="34" charset="-122"/>
                <a:cs typeface="Arial" pitchFamily="34" charset="-120"/>
              </a:rPr>
              <a:t>Think, pair, share: how many numbers is one photo?</a:t>
            </a:r>
            <a:endParaRPr lang="en-US" sz="1400" dirty="0"/>
          </a:p>
        </p:txBody>
      </p:sp>
      <p:sp>
        <p:nvSpPr>
          <p:cNvPr id="13"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2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2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2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2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200"/>
                                        <p:tgtEl>
                                          <p:spTgt spid="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200"/>
                                        <p:tgtEl>
                                          <p:spTgt spid="9"/>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200"/>
                                        <p:tgtEl>
                                          <p:spTgt spid="1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2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Predict: What Numbers?</a:t>
            </a:r>
            <a:endParaRPr lang="en-US" sz="3000" dirty="0"/>
          </a:p>
        </p:txBody>
      </p:sp>
      <p:sp>
        <p:nvSpPr>
          <p:cNvPr id="3" name="THINK PAIR SHARE pill"/>
          <p:cNvSpPr/>
          <p:nvPr/>
        </p:nvSpPr>
        <p:spPr>
          <a:xfrm>
            <a:off x="7132320" y="411480"/>
            <a:ext cx="15544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132320" y="411480"/>
            <a:ext cx="15544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THINK PAIR SHARE</a:t>
            </a:r>
            <a:endParaRPr lang="en-US" sz="1200" dirty="0"/>
          </a:p>
        </p:txBody>
      </p:sp>
      <p:sp>
        <p:nvSpPr>
          <p:cNvPr id="5" name="Text 3"/>
          <p:cNvSpPr txBox="1"/>
          <p:nvPr/>
        </p:nvSpPr>
        <p:spPr>
          <a:xfrm>
            <a:off x="457200" y="1097280"/>
            <a:ext cx="8229600" cy="822960"/>
          </a:xfrm>
          <a:prstGeom prst="rect">
            <a:avLst/>
          </a:prstGeom>
          <a:noFill/>
          <a:ln/>
        </p:spPr>
        <p:txBody>
          <a:bodyPr wrap="square" lIns="0" tIns="0" rIns="0" bIns="0" rtlCol="0" anchor="t"/>
          <a:lstStyle/>
          <a:p>
            <a:pPr marL="0" indent="0">
              <a:buNone/>
            </a:pPr>
            <a:r>
              <a:rPr lang="en-US" sz="2000" dirty="0">
                <a:solidFill>
                  <a:srgbClr val="22262E"/>
                </a:solidFill>
                <a:latin typeface="Arial" pitchFamily="34" charset="0"/>
                <a:ea typeface="Arial" pitchFamily="34" charset="-122"/>
                <a:cs typeface="Arial" pitchFamily="34" charset="-120"/>
              </a:rPr>
              <a:t>If a picture is just numbers, how many numbers? Which numbers: big ones or small ones?</a:t>
            </a:r>
            <a:endParaRPr lang="en-US" sz="2000" dirty="0"/>
          </a:p>
        </p:txBody>
      </p:sp>
      <p:sp>
        <p:nvSpPr>
          <p:cNvPr id="6" name="@1 Card"/>
          <p:cNvSpPr/>
          <p:nvPr/>
        </p:nvSpPr>
        <p:spPr>
          <a:xfrm>
            <a:off x="457200" y="2011680"/>
            <a:ext cx="822960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7" name="@1 addText"/>
          <p:cNvSpPr txBox="1"/>
          <p:nvPr/>
        </p:nvSpPr>
        <p:spPr>
          <a:xfrm>
            <a:off x="731520" y="2011680"/>
            <a:ext cx="7680960" cy="548640"/>
          </a:xfrm>
          <a:prstGeom prst="rect">
            <a:avLst/>
          </a:prstGeom>
          <a:noFill/>
          <a:ln/>
        </p:spPr>
        <p:txBody>
          <a:bodyPr wrap="square" lIns="0" tIns="0" rIns="0" bIns="0" rtlCol="0" anchor="ctr"/>
          <a:lstStyle/>
          <a:p>
            <a:pPr marL="0" indent="0">
              <a:buNone/>
            </a:pPr>
            <a:r>
              <a:rPr lang="en-US" sz="1800" b="1" dirty="0">
                <a:solidFill>
                  <a:srgbClr val="22262E"/>
                </a:solidFill>
                <a:latin typeface="Arial" pitchFamily="34" charset="0"/>
                <a:ea typeface="Arial" pitchFamily="34" charset="-122"/>
                <a:cs typeface="Arial" pitchFamily="34" charset="-120"/>
              </a:rPr>
              <a:t>320 x 320 = 102,400 tiny squares (pixels)</a:t>
            </a:r>
            <a:endParaRPr lang="en-US" sz="1800" dirty="0"/>
          </a:p>
        </p:txBody>
      </p:sp>
      <p:sp>
        <p:nvSpPr>
          <p:cNvPr id="8" name="@2 Card"/>
          <p:cNvSpPr/>
          <p:nvPr/>
        </p:nvSpPr>
        <p:spPr>
          <a:xfrm>
            <a:off x="457200" y="2651760"/>
            <a:ext cx="822960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9" name="@2 addText"/>
          <p:cNvSpPr txBox="1"/>
          <p:nvPr/>
        </p:nvSpPr>
        <p:spPr>
          <a:xfrm>
            <a:off x="731520" y="2651760"/>
            <a:ext cx="7680960" cy="548640"/>
          </a:xfrm>
          <a:prstGeom prst="rect">
            <a:avLst/>
          </a:prstGeom>
          <a:noFill/>
          <a:ln/>
        </p:spPr>
        <p:txBody>
          <a:bodyPr wrap="square" lIns="0" tIns="0" rIns="0" bIns="0" rtlCol="0" anchor="ctr"/>
          <a:lstStyle/>
          <a:p>
            <a:pPr marL="0" indent="0">
              <a:buNone/>
            </a:pPr>
            <a:r>
              <a:rPr lang="en-US" sz="1800" b="1" dirty="0">
                <a:solidFill>
                  <a:srgbClr val="22262E"/>
                </a:solidFill>
                <a:latin typeface="Arial" pitchFamily="34" charset="0"/>
                <a:ea typeface="Arial" pitchFamily="34" charset="-122"/>
                <a:cs typeface="Arial" pitchFamily="34" charset="-120"/>
              </a:rPr>
              <a:t>3 numbers per pixel: red, green, blue</a:t>
            </a:r>
            <a:endParaRPr lang="en-US" sz="1800" dirty="0"/>
          </a:p>
        </p:txBody>
      </p:sp>
      <p:sp>
        <p:nvSpPr>
          <p:cNvPr id="10" name="@3 Card"/>
          <p:cNvSpPr/>
          <p:nvPr/>
        </p:nvSpPr>
        <p:spPr>
          <a:xfrm>
            <a:off x="457200" y="3291840"/>
            <a:ext cx="822960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11" name="@3 addText"/>
          <p:cNvSpPr txBox="1"/>
          <p:nvPr/>
        </p:nvSpPr>
        <p:spPr>
          <a:xfrm>
            <a:off x="731520" y="3291840"/>
            <a:ext cx="7680960" cy="548640"/>
          </a:xfrm>
          <a:prstGeom prst="rect">
            <a:avLst/>
          </a:prstGeom>
          <a:noFill/>
          <a:ln/>
        </p:spPr>
        <p:txBody>
          <a:bodyPr wrap="square" lIns="0" tIns="0" rIns="0" bIns="0" rtlCol="0" anchor="ctr"/>
          <a:lstStyle/>
          <a:p>
            <a:pPr marL="0" indent="0">
              <a:buNone/>
            </a:pPr>
            <a:r>
              <a:rPr lang="en-US" sz="1800" b="1" dirty="0">
                <a:solidFill>
                  <a:srgbClr val="22262E"/>
                </a:solidFill>
                <a:latin typeface="Arial" pitchFamily="34" charset="0"/>
                <a:ea typeface="Arial" pitchFamily="34" charset="-122"/>
                <a:cs typeface="Arial" pitchFamily="34" charset="-120"/>
              </a:rPr>
              <a:t>each number is between 0 and 255</a:t>
            </a:r>
            <a:endParaRPr lang="en-US" sz="1800" dirty="0"/>
          </a:p>
        </p:txBody>
      </p:sp>
      <p:sp>
        <p:nvSpPr>
          <p:cNvPr id="12" name="@4 Card"/>
          <p:cNvSpPr/>
          <p:nvPr/>
        </p:nvSpPr>
        <p:spPr>
          <a:xfrm>
            <a:off x="457200" y="3931920"/>
            <a:ext cx="8229600" cy="548640"/>
          </a:xfrm>
          <a:prstGeom prst="roundRect">
            <a:avLst>
              <a:gd name="adj" fmla="val 20000"/>
            </a:avLst>
          </a:prstGeom>
          <a:solidFill>
            <a:srgbClr val="002D6A"/>
          </a:solidFill>
          <a:ln w="9525">
            <a:solidFill>
              <a:srgbClr val="C5D1E3"/>
            </a:solidFill>
            <a:prstDash val="solid"/>
          </a:ln>
        </p:spPr>
        <p:txBody>
          <a:bodyPr/>
          <a:lstStyle/>
          <a:p>
            <a:endParaRPr lang="en-GB"/>
          </a:p>
        </p:txBody>
      </p:sp>
      <p:sp>
        <p:nvSpPr>
          <p:cNvPr id="13" name="@4 addText"/>
          <p:cNvSpPr txBox="1"/>
          <p:nvPr/>
        </p:nvSpPr>
        <p:spPr>
          <a:xfrm>
            <a:off x="731520" y="3931920"/>
            <a:ext cx="7680960" cy="548640"/>
          </a:xfrm>
          <a:prstGeom prst="rect">
            <a:avLst/>
          </a:prstGeom>
          <a:noFill/>
          <a:ln/>
        </p:spPr>
        <p:txBody>
          <a:bodyPr wrap="square" lIns="0" tIns="0" rIns="0" bIns="0" rtlCol="0" anchor="ctr"/>
          <a:lstStyle/>
          <a:p>
            <a:pPr marL="0" indent="0">
              <a:buNone/>
            </a:pPr>
            <a:r>
              <a:rPr lang="en-US" sz="1800" b="1" dirty="0">
                <a:solidFill>
                  <a:srgbClr val="FFFFFF"/>
                </a:solidFill>
                <a:latin typeface="Arial" pitchFamily="34" charset="0"/>
                <a:ea typeface="Arial" pitchFamily="34" charset="-122"/>
                <a:cs typeface="Arial" pitchFamily="34" charset="-120"/>
              </a:rPr>
              <a:t>307,200 numbers for one small photo</a:t>
            </a:r>
            <a:endParaRPr lang="en-US" sz="1800" dirty="0"/>
          </a:p>
        </p:txBody>
      </p:sp>
      <p:sp>
        <p:nvSpPr>
          <p:cNvPr id="14"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2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2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2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2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200"/>
                                        <p:tgtEl>
                                          <p:spTgt spid="1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2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2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2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Image Analysis</a:t>
            </a:r>
            <a:endParaRPr lang="en-US" sz="3400" dirty="0"/>
          </a:p>
        </p:txBody>
      </p:sp>
      <p:sp>
        <p:nvSpPr>
          <p:cNvPr id="3" name="Text 1"/>
          <p:cNvSpPr txBox="1"/>
          <p:nvPr/>
        </p:nvSpPr>
        <p:spPr>
          <a:xfrm>
            <a:off x="548640" y="2743200"/>
            <a:ext cx="5852160" cy="914400"/>
          </a:xfrm>
          <a:prstGeom prst="rect">
            <a:avLst/>
          </a:prstGeom>
          <a:noFill/>
          <a:ln/>
        </p:spPr>
        <p:txBody>
          <a:bodyPr wrap="square" lIns="0" tIns="0" rIns="0" bIns="0" rtlCol="0" anchor="t"/>
          <a:lstStyle/>
          <a:p>
            <a:pPr marL="0" indent="0">
              <a:buNone/>
            </a:pPr>
            <a:r>
              <a:rPr lang="en-US" sz="1800" dirty="0">
                <a:solidFill>
                  <a:srgbClr val="C5D1E3"/>
                </a:solidFill>
                <a:latin typeface="Arial" pitchFamily="34" charset="0"/>
                <a:ea typeface="Arial" pitchFamily="34" charset="-122"/>
                <a:cs typeface="Arial" pitchFamily="34" charset="-120"/>
              </a:rPr>
              <a:t>What a picture is to a computer, what you can do with it, and a puzzle to solve.</a:t>
            </a:r>
            <a:endParaRPr lang="en-US" sz="1800" dirty="0"/>
          </a:p>
        </p:txBody>
      </p:sp>
      <p:sp>
        <p:nvSpPr>
          <p:cNvPr id="4" name="Text 2"/>
          <p:cNvSpPr txBox="1"/>
          <p:nvPr/>
        </p:nvSpPr>
        <p:spPr>
          <a:xfrm>
            <a:off x="548640" y="4023360"/>
            <a:ext cx="3657600" cy="365760"/>
          </a:xfrm>
          <a:prstGeom prst="rect">
            <a:avLst/>
          </a:prstGeom>
          <a:noFill/>
          <a:ln/>
        </p:spPr>
        <p:txBody>
          <a:bodyPr wrap="square" lIns="0" tIns="0" rIns="0" bIns="0" rtlCol="0" anchor="ctr"/>
          <a:lstStyle/>
          <a:p>
            <a:pPr marL="0" indent="0">
              <a:buNone/>
            </a:pPr>
            <a:r>
              <a:rPr lang="en-US" sz="1600" dirty="0">
                <a:solidFill>
                  <a:srgbClr val="A9C4E8"/>
                </a:solidFill>
                <a:latin typeface="Arial" pitchFamily="34" charset="0"/>
                <a:ea typeface="Arial" pitchFamily="34" charset="-122"/>
                <a:cs typeface="Arial" pitchFamily="34" charset="-120"/>
              </a:rPr>
              <a:t>Dr. Hughes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Explore a Picture</a:t>
            </a:r>
            <a:endParaRPr lang="en-US" sz="3400" dirty="0"/>
          </a:p>
        </p:txBody>
      </p:sp>
      <p:sp>
        <p:nvSpPr>
          <p:cNvPr id="3" name="Text 1"/>
          <p:cNvSpPr txBox="1"/>
          <p:nvPr/>
        </p:nvSpPr>
        <p:spPr>
          <a:xfrm>
            <a:off x="548640" y="640080"/>
            <a:ext cx="3657600" cy="457200"/>
          </a:xfrm>
          <a:prstGeom prst="rect">
            <a:avLst/>
          </a:prstGeom>
          <a:noFill/>
          <a:ln/>
        </p:spPr>
        <p:txBody>
          <a:bodyPr wrap="square" lIns="0" tIns="0" rIns="0" bIns="0" rtlCol="0" anchor="ctr"/>
          <a:lstStyle/>
          <a:p>
            <a:pPr marL="0" indent="0">
              <a:buNone/>
            </a:pPr>
            <a:r>
              <a:rPr lang="en-US" sz="2200" b="1" kern="0" spc="400" dirty="0">
                <a:solidFill>
                  <a:srgbClr val="A9C4E8"/>
                </a:solidFill>
                <a:latin typeface="Arial" pitchFamily="34" charset="0"/>
                <a:ea typeface="Arial" pitchFamily="34" charset="-122"/>
                <a:cs typeface="Arial" pitchFamily="34" charset="-120"/>
              </a:rPr>
              <a:t>PART 1</a:t>
            </a:r>
            <a:endParaRPr lang="en-US" sz="2200" dirty="0"/>
          </a:p>
        </p:txBody>
      </p:sp>
      <p:sp>
        <p:nvSpPr>
          <p:cNvPr id="4" name="Card"/>
          <p:cNvSpPr/>
          <p:nvPr/>
        </p:nvSpPr>
        <p:spPr>
          <a:xfrm>
            <a:off x="548640" y="2834640"/>
            <a:ext cx="1463040" cy="411480"/>
          </a:xfrm>
          <a:prstGeom prst="roundRect">
            <a:avLst>
              <a:gd name="adj" fmla="val 26667"/>
            </a:avLst>
          </a:prstGeom>
          <a:solidFill>
            <a:srgbClr val="002D6A"/>
          </a:solidFill>
          <a:ln w="9525">
            <a:solidFill>
              <a:srgbClr val="5D79A0"/>
            </a:solidFill>
            <a:prstDash val="solid"/>
          </a:ln>
        </p:spPr>
        <p:txBody>
          <a:bodyPr/>
          <a:lstStyle/>
          <a:p>
            <a:endParaRPr lang="en-GB"/>
          </a:p>
        </p:txBody>
      </p:sp>
      <p:sp>
        <p:nvSpPr>
          <p:cNvPr id="5" name="Text 3"/>
          <p:cNvSpPr txBox="1"/>
          <p:nvPr/>
        </p:nvSpPr>
        <p:spPr>
          <a:xfrm>
            <a:off x="548640" y="2834640"/>
            <a:ext cx="1463040" cy="411480"/>
          </a:xfrm>
          <a:prstGeom prst="rect">
            <a:avLst/>
          </a:prstGeom>
          <a:noFill/>
          <a:ln/>
        </p:spPr>
        <p:txBody>
          <a:bodyPr wrap="square" lIns="0" tIns="0" rIns="0" bIns="0" rtlCol="0" anchor="ctr"/>
          <a:lstStyle/>
          <a:p>
            <a:pPr marL="0" indent="0" algn="ctr">
              <a:buNone/>
            </a:pPr>
            <a:r>
              <a:rPr lang="en-US" sz="1400" dirty="0">
                <a:solidFill>
                  <a:srgbClr val="FFFFFF"/>
                </a:solidFill>
                <a:latin typeface="Arial" pitchFamily="34" charset="0"/>
                <a:ea typeface="Arial" pitchFamily="34" charset="-122"/>
                <a:cs typeface="Arial" pitchFamily="34" charset="-120"/>
              </a:rPr>
              <a:t>open</a:t>
            </a:r>
            <a:endParaRPr lang="en-US" sz="1400" dirty="0"/>
          </a:p>
        </p:txBody>
      </p:sp>
      <p:sp>
        <p:nvSpPr>
          <p:cNvPr id="6" name="Card"/>
          <p:cNvSpPr/>
          <p:nvPr/>
        </p:nvSpPr>
        <p:spPr>
          <a:xfrm>
            <a:off x="2148840" y="2834640"/>
            <a:ext cx="1463040" cy="411480"/>
          </a:xfrm>
          <a:prstGeom prst="roundRect">
            <a:avLst>
              <a:gd name="adj" fmla="val 26667"/>
            </a:avLst>
          </a:prstGeom>
          <a:solidFill>
            <a:srgbClr val="002D6A"/>
          </a:solidFill>
          <a:ln w="9525">
            <a:solidFill>
              <a:srgbClr val="5D79A0"/>
            </a:solidFill>
            <a:prstDash val="solid"/>
          </a:ln>
        </p:spPr>
        <p:txBody>
          <a:bodyPr/>
          <a:lstStyle/>
          <a:p>
            <a:endParaRPr lang="en-GB"/>
          </a:p>
        </p:txBody>
      </p:sp>
      <p:sp>
        <p:nvSpPr>
          <p:cNvPr id="7" name="Text 5"/>
          <p:cNvSpPr txBox="1"/>
          <p:nvPr/>
        </p:nvSpPr>
        <p:spPr>
          <a:xfrm>
            <a:off x="2148840" y="2834640"/>
            <a:ext cx="1463040" cy="411480"/>
          </a:xfrm>
          <a:prstGeom prst="rect">
            <a:avLst/>
          </a:prstGeom>
          <a:noFill/>
          <a:ln/>
        </p:spPr>
        <p:txBody>
          <a:bodyPr wrap="square" lIns="0" tIns="0" rIns="0" bIns="0" rtlCol="0" anchor="ctr"/>
          <a:lstStyle/>
          <a:p>
            <a:pPr marL="0" indent="0" algn="ctr">
              <a:buNone/>
            </a:pPr>
            <a:r>
              <a:rPr lang="en-US" sz="1400" dirty="0">
                <a:solidFill>
                  <a:srgbClr val="FFFFFF"/>
                </a:solidFill>
                <a:latin typeface="Arial" pitchFamily="34" charset="0"/>
                <a:ea typeface="Arial" pitchFamily="34" charset="-122"/>
                <a:cs typeface="Arial" pitchFamily="34" charset="-120"/>
              </a:rPr>
              <a:t>one pixel</a:t>
            </a:r>
            <a:endParaRPr lang="en-US" sz="1400" dirty="0"/>
          </a:p>
        </p:txBody>
      </p:sp>
      <p:sp>
        <p:nvSpPr>
          <p:cNvPr id="8" name="Card"/>
          <p:cNvSpPr/>
          <p:nvPr/>
        </p:nvSpPr>
        <p:spPr>
          <a:xfrm>
            <a:off x="3749040" y="2834640"/>
            <a:ext cx="1463040" cy="411480"/>
          </a:xfrm>
          <a:prstGeom prst="roundRect">
            <a:avLst>
              <a:gd name="adj" fmla="val 26667"/>
            </a:avLst>
          </a:prstGeom>
          <a:solidFill>
            <a:srgbClr val="002D6A"/>
          </a:solidFill>
          <a:ln w="9525">
            <a:solidFill>
              <a:srgbClr val="5D79A0"/>
            </a:solidFill>
            <a:prstDash val="solid"/>
          </a:ln>
        </p:spPr>
        <p:txBody>
          <a:bodyPr/>
          <a:lstStyle/>
          <a:p>
            <a:endParaRPr lang="en-GB"/>
          </a:p>
        </p:txBody>
      </p:sp>
      <p:sp>
        <p:nvSpPr>
          <p:cNvPr id="9" name="Text 7"/>
          <p:cNvSpPr txBox="1"/>
          <p:nvPr/>
        </p:nvSpPr>
        <p:spPr>
          <a:xfrm>
            <a:off x="3749040" y="2834640"/>
            <a:ext cx="1463040" cy="411480"/>
          </a:xfrm>
          <a:prstGeom prst="rect">
            <a:avLst/>
          </a:prstGeom>
          <a:noFill/>
          <a:ln/>
        </p:spPr>
        <p:txBody>
          <a:bodyPr wrap="square" lIns="0" tIns="0" rIns="0" bIns="0" rtlCol="0" anchor="ctr"/>
          <a:lstStyle/>
          <a:p>
            <a:pPr marL="0" indent="0" algn="ctr">
              <a:buNone/>
            </a:pPr>
            <a:r>
              <a:rPr lang="en-US" sz="1400" dirty="0">
                <a:solidFill>
                  <a:srgbClr val="FFFFFF"/>
                </a:solidFill>
                <a:latin typeface="Arial" pitchFamily="34" charset="0"/>
                <a:ea typeface="Arial" pitchFamily="34" charset="-122"/>
                <a:cs typeface="Arial" pitchFamily="34" charset="-120"/>
              </a:rPr>
              <a:t>crop</a:t>
            </a:r>
            <a:endParaRPr lang="en-US" sz="1400" dirty="0"/>
          </a:p>
        </p:txBody>
      </p:sp>
      <p:sp>
        <p:nvSpPr>
          <p:cNvPr id="10" name="Card"/>
          <p:cNvSpPr/>
          <p:nvPr/>
        </p:nvSpPr>
        <p:spPr>
          <a:xfrm>
            <a:off x="5349240" y="2834640"/>
            <a:ext cx="1463040" cy="411480"/>
          </a:xfrm>
          <a:prstGeom prst="roundRect">
            <a:avLst>
              <a:gd name="adj" fmla="val 26667"/>
            </a:avLst>
          </a:prstGeom>
          <a:solidFill>
            <a:srgbClr val="002D6A"/>
          </a:solidFill>
          <a:ln w="9525">
            <a:solidFill>
              <a:srgbClr val="5D79A0"/>
            </a:solidFill>
            <a:prstDash val="solid"/>
          </a:ln>
        </p:spPr>
        <p:txBody>
          <a:bodyPr/>
          <a:lstStyle/>
          <a:p>
            <a:endParaRPr lang="en-GB"/>
          </a:p>
        </p:txBody>
      </p:sp>
      <p:sp>
        <p:nvSpPr>
          <p:cNvPr id="11" name="Text 9"/>
          <p:cNvSpPr txBox="1"/>
          <p:nvPr/>
        </p:nvSpPr>
        <p:spPr>
          <a:xfrm>
            <a:off x="5349240" y="2834640"/>
            <a:ext cx="1463040" cy="411480"/>
          </a:xfrm>
          <a:prstGeom prst="rect">
            <a:avLst/>
          </a:prstGeom>
          <a:noFill/>
          <a:ln/>
        </p:spPr>
        <p:txBody>
          <a:bodyPr wrap="square" lIns="0" tIns="0" rIns="0" bIns="0" rtlCol="0" anchor="ctr"/>
          <a:lstStyle/>
          <a:p>
            <a:pPr marL="0" indent="0" algn="ctr">
              <a:buNone/>
            </a:pPr>
            <a:r>
              <a:rPr lang="en-US" sz="1400" dirty="0">
                <a:solidFill>
                  <a:srgbClr val="FFFFFF"/>
                </a:solidFill>
                <a:latin typeface="Arial" pitchFamily="34" charset="0"/>
                <a:ea typeface="Arial" pitchFamily="34" charset="-122"/>
                <a:cs typeface="Arial" pitchFamily="34" charset="-120"/>
              </a:rPr>
              <a:t>colour</a:t>
            </a:r>
            <a:endParaRPr lang="en-US" sz="1400" dirty="0"/>
          </a:p>
        </p:txBody>
      </p:sp>
      <p:sp>
        <p:nvSpPr>
          <p:cNvPr id="12" name="Card"/>
          <p:cNvSpPr/>
          <p:nvPr/>
        </p:nvSpPr>
        <p:spPr>
          <a:xfrm>
            <a:off x="6949440" y="2834640"/>
            <a:ext cx="1463040" cy="411480"/>
          </a:xfrm>
          <a:prstGeom prst="roundRect">
            <a:avLst>
              <a:gd name="adj" fmla="val 26667"/>
            </a:avLst>
          </a:prstGeom>
          <a:solidFill>
            <a:srgbClr val="002D6A"/>
          </a:solidFill>
          <a:ln w="9525">
            <a:solidFill>
              <a:srgbClr val="5D79A0"/>
            </a:solidFill>
            <a:prstDash val="solid"/>
          </a:ln>
        </p:spPr>
        <p:txBody>
          <a:bodyPr/>
          <a:lstStyle/>
          <a:p>
            <a:endParaRPr lang="en-GB"/>
          </a:p>
        </p:txBody>
      </p:sp>
      <p:sp>
        <p:nvSpPr>
          <p:cNvPr id="13" name="Text 11"/>
          <p:cNvSpPr txBox="1"/>
          <p:nvPr/>
        </p:nvSpPr>
        <p:spPr>
          <a:xfrm>
            <a:off x="6949440" y="2834640"/>
            <a:ext cx="1463040" cy="411480"/>
          </a:xfrm>
          <a:prstGeom prst="rect">
            <a:avLst/>
          </a:prstGeom>
          <a:noFill/>
          <a:ln/>
        </p:spPr>
        <p:txBody>
          <a:bodyPr wrap="square" lIns="0" tIns="0" rIns="0" bIns="0" rtlCol="0" anchor="ctr"/>
          <a:lstStyle/>
          <a:p>
            <a:pPr marL="0" indent="0" algn="ctr">
              <a:buNone/>
            </a:pPr>
            <a:r>
              <a:rPr lang="en-US" sz="1400" dirty="0">
                <a:solidFill>
                  <a:srgbClr val="FFFFFF"/>
                </a:solidFill>
                <a:latin typeface="Arial" pitchFamily="34" charset="0"/>
                <a:ea typeface="Arial" pitchFamily="34" charset="-122"/>
                <a:cs typeface="Arial" pitchFamily="34" charset="-120"/>
              </a:rPr>
              <a:t>channels</a:t>
            </a:r>
            <a:endParaRPr lang="en-US" sz="1400" dirty="0"/>
          </a:p>
        </p:txBody>
      </p:sp>
      <p:sp>
        <p:nvSpPr>
          <p:cNvPr id="14" name="Card"/>
          <p:cNvSpPr/>
          <p:nvPr/>
        </p:nvSpPr>
        <p:spPr>
          <a:xfrm>
            <a:off x="548640" y="3383280"/>
            <a:ext cx="1463040" cy="411480"/>
          </a:xfrm>
          <a:prstGeom prst="roundRect">
            <a:avLst>
              <a:gd name="adj" fmla="val 26667"/>
            </a:avLst>
          </a:prstGeom>
          <a:solidFill>
            <a:srgbClr val="002D6A"/>
          </a:solidFill>
          <a:ln w="9525">
            <a:solidFill>
              <a:srgbClr val="5D79A0"/>
            </a:solidFill>
            <a:prstDash val="solid"/>
          </a:ln>
        </p:spPr>
        <p:txBody>
          <a:bodyPr/>
          <a:lstStyle/>
          <a:p>
            <a:endParaRPr lang="en-GB"/>
          </a:p>
        </p:txBody>
      </p:sp>
      <p:sp>
        <p:nvSpPr>
          <p:cNvPr id="15" name="Text 13"/>
          <p:cNvSpPr txBox="1"/>
          <p:nvPr/>
        </p:nvSpPr>
        <p:spPr>
          <a:xfrm>
            <a:off x="548640" y="3383280"/>
            <a:ext cx="1463040" cy="411480"/>
          </a:xfrm>
          <a:prstGeom prst="rect">
            <a:avLst/>
          </a:prstGeom>
          <a:noFill/>
          <a:ln/>
        </p:spPr>
        <p:txBody>
          <a:bodyPr wrap="square" lIns="0" tIns="0" rIns="0" bIns="0" rtlCol="0" anchor="ctr"/>
          <a:lstStyle/>
          <a:p>
            <a:pPr marL="0" indent="0" algn="ctr">
              <a:buNone/>
            </a:pPr>
            <a:r>
              <a:rPr lang="en-US" sz="1400" dirty="0">
                <a:solidFill>
                  <a:srgbClr val="FFFFFF"/>
                </a:solidFill>
                <a:latin typeface="Arial" pitchFamily="34" charset="0"/>
                <a:ea typeface="Arial" pitchFamily="34" charset="-122"/>
                <a:cs typeface="Arial" pitchFamily="34" charset="-120"/>
              </a:rPr>
              <a:t>switch off</a:t>
            </a:r>
            <a:endParaRPr lang="en-US" sz="1400" dirty="0"/>
          </a:p>
        </p:txBody>
      </p:sp>
      <p:sp>
        <p:nvSpPr>
          <p:cNvPr id="16" name="Card"/>
          <p:cNvSpPr/>
          <p:nvPr/>
        </p:nvSpPr>
        <p:spPr>
          <a:xfrm>
            <a:off x="2148840" y="3383280"/>
            <a:ext cx="1463040" cy="411480"/>
          </a:xfrm>
          <a:prstGeom prst="roundRect">
            <a:avLst>
              <a:gd name="adj" fmla="val 26667"/>
            </a:avLst>
          </a:prstGeom>
          <a:solidFill>
            <a:srgbClr val="002D6A"/>
          </a:solidFill>
          <a:ln w="9525">
            <a:solidFill>
              <a:srgbClr val="5D79A0"/>
            </a:solidFill>
            <a:prstDash val="solid"/>
          </a:ln>
        </p:spPr>
        <p:txBody>
          <a:bodyPr/>
          <a:lstStyle/>
          <a:p>
            <a:endParaRPr lang="en-GB"/>
          </a:p>
        </p:txBody>
      </p:sp>
      <p:sp>
        <p:nvSpPr>
          <p:cNvPr id="17" name="Text 15"/>
          <p:cNvSpPr txBox="1"/>
          <p:nvPr/>
        </p:nvSpPr>
        <p:spPr>
          <a:xfrm>
            <a:off x="2148840" y="3383280"/>
            <a:ext cx="1463040" cy="411480"/>
          </a:xfrm>
          <a:prstGeom prst="rect">
            <a:avLst/>
          </a:prstGeom>
          <a:noFill/>
          <a:ln/>
        </p:spPr>
        <p:txBody>
          <a:bodyPr wrap="square" lIns="0" tIns="0" rIns="0" bIns="0" rtlCol="0" anchor="ctr"/>
          <a:lstStyle/>
          <a:p>
            <a:pPr marL="0" indent="0" algn="ctr">
              <a:buNone/>
            </a:pPr>
            <a:r>
              <a:rPr lang="en-US" sz="1400" dirty="0">
                <a:solidFill>
                  <a:srgbClr val="FFFFFF"/>
                </a:solidFill>
                <a:latin typeface="Arial" pitchFamily="34" charset="0"/>
                <a:ea typeface="Arial" pitchFamily="34" charset="-122"/>
                <a:cs typeface="Arial" pitchFamily="34" charset="-120"/>
              </a:rPr>
              <a:t>grey</a:t>
            </a:r>
            <a:endParaRPr lang="en-US" sz="1400" dirty="0"/>
          </a:p>
        </p:txBody>
      </p:sp>
      <p:sp>
        <p:nvSpPr>
          <p:cNvPr id="18" name="Card"/>
          <p:cNvSpPr/>
          <p:nvPr/>
        </p:nvSpPr>
        <p:spPr>
          <a:xfrm>
            <a:off x="3749040" y="3383280"/>
            <a:ext cx="1463040" cy="411480"/>
          </a:xfrm>
          <a:prstGeom prst="roundRect">
            <a:avLst>
              <a:gd name="adj" fmla="val 26667"/>
            </a:avLst>
          </a:prstGeom>
          <a:solidFill>
            <a:srgbClr val="002D6A"/>
          </a:solidFill>
          <a:ln w="9525">
            <a:solidFill>
              <a:srgbClr val="5D79A0"/>
            </a:solidFill>
            <a:prstDash val="solid"/>
          </a:ln>
        </p:spPr>
        <p:txBody>
          <a:bodyPr/>
          <a:lstStyle/>
          <a:p>
            <a:endParaRPr lang="en-GB"/>
          </a:p>
        </p:txBody>
      </p:sp>
      <p:sp>
        <p:nvSpPr>
          <p:cNvPr id="19" name="Text 17"/>
          <p:cNvSpPr txBox="1"/>
          <p:nvPr/>
        </p:nvSpPr>
        <p:spPr>
          <a:xfrm>
            <a:off x="3749040" y="3383280"/>
            <a:ext cx="1463040" cy="411480"/>
          </a:xfrm>
          <a:prstGeom prst="rect">
            <a:avLst/>
          </a:prstGeom>
          <a:noFill/>
          <a:ln/>
        </p:spPr>
        <p:txBody>
          <a:bodyPr wrap="square" lIns="0" tIns="0" rIns="0" bIns="0" rtlCol="0" anchor="ctr"/>
          <a:lstStyle/>
          <a:p>
            <a:pPr marL="0" indent="0" algn="ctr">
              <a:buNone/>
            </a:pPr>
            <a:r>
              <a:rPr lang="en-US" sz="1400" dirty="0">
                <a:solidFill>
                  <a:srgbClr val="FFFFFF"/>
                </a:solidFill>
                <a:latin typeface="Arial" pitchFamily="34" charset="0"/>
                <a:ea typeface="Arial" pitchFamily="34" charset="-122"/>
                <a:cs typeface="Arial" pitchFamily="34" charset="-120"/>
              </a:rPr>
              <a:t>count</a:t>
            </a:r>
            <a:endParaRPr lang="en-US" sz="1400" dirty="0"/>
          </a:p>
        </p:txBody>
      </p:sp>
      <p:sp>
        <p:nvSpPr>
          <p:cNvPr id="20" name="Card"/>
          <p:cNvSpPr/>
          <p:nvPr/>
        </p:nvSpPr>
        <p:spPr>
          <a:xfrm>
            <a:off x="5349240" y="3383280"/>
            <a:ext cx="1463040" cy="411480"/>
          </a:xfrm>
          <a:prstGeom prst="roundRect">
            <a:avLst>
              <a:gd name="adj" fmla="val 26667"/>
            </a:avLst>
          </a:prstGeom>
          <a:solidFill>
            <a:srgbClr val="002D6A"/>
          </a:solidFill>
          <a:ln w="9525">
            <a:solidFill>
              <a:srgbClr val="5D79A0"/>
            </a:solidFill>
            <a:prstDash val="solid"/>
          </a:ln>
        </p:spPr>
        <p:txBody>
          <a:bodyPr/>
          <a:lstStyle/>
          <a:p>
            <a:endParaRPr lang="en-GB"/>
          </a:p>
        </p:txBody>
      </p:sp>
      <p:sp>
        <p:nvSpPr>
          <p:cNvPr id="21" name="Text 19"/>
          <p:cNvSpPr txBox="1"/>
          <p:nvPr/>
        </p:nvSpPr>
        <p:spPr>
          <a:xfrm>
            <a:off x="5349240" y="3383280"/>
            <a:ext cx="1463040" cy="411480"/>
          </a:xfrm>
          <a:prstGeom prst="rect">
            <a:avLst/>
          </a:prstGeom>
          <a:noFill/>
          <a:ln/>
        </p:spPr>
        <p:txBody>
          <a:bodyPr wrap="square" lIns="0" tIns="0" rIns="0" bIns="0" rtlCol="0" anchor="ctr"/>
          <a:lstStyle/>
          <a:p>
            <a:pPr marL="0" indent="0" algn="ctr">
              <a:buNone/>
            </a:pPr>
            <a:r>
              <a:rPr lang="en-US" sz="1400" dirty="0">
                <a:solidFill>
                  <a:srgbClr val="FFFFFF"/>
                </a:solidFill>
                <a:latin typeface="Arial" pitchFamily="34" charset="0"/>
                <a:ea typeface="Arial" pitchFamily="34" charset="-122"/>
                <a:cs typeface="Arial" pitchFamily="34" charset="-120"/>
              </a:rPr>
              <a:t>histogram</a:t>
            </a:r>
            <a:endParaRPr lang="en-US" sz="1400" dirty="0"/>
          </a:p>
        </p:txBody>
      </p:sp>
      <p:sp>
        <p:nvSpPr>
          <p:cNvPr id="22" name="Text 20"/>
          <p:cNvSpPr txBox="1"/>
          <p:nvPr/>
        </p:nvSpPr>
        <p:spPr>
          <a:xfrm>
            <a:off x="548640" y="4114800"/>
            <a:ext cx="7315200" cy="365760"/>
          </a:xfrm>
          <a:prstGeom prst="rect">
            <a:avLst/>
          </a:prstGeom>
          <a:noFill/>
          <a:ln/>
        </p:spPr>
        <p:txBody>
          <a:bodyPr wrap="square" lIns="0" tIns="0" rIns="0" bIns="0" rtlCol="0" anchor="ctr"/>
          <a:lstStyle/>
          <a:p>
            <a:pPr marL="0" indent="0">
              <a:buNone/>
            </a:pPr>
            <a:r>
              <a:rPr lang="en-US" sz="1400" dirty="0">
                <a:solidFill>
                  <a:srgbClr val="C5D1E3"/>
                </a:solidFill>
                <a:latin typeface="Arial" pitchFamily="34" charset="0"/>
                <a:ea typeface="Arial" pitchFamily="34" charset="-122"/>
                <a:cs typeface="Arial" pitchFamily="34" charset="-120"/>
              </a:rPr>
              <a:t>8 short tasks in Spyder, then Part 2: the puzzle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Nobody Writes It All</a:t>
            </a:r>
            <a:endParaRPr lang="en-US" sz="3000" dirty="0"/>
          </a:p>
        </p:txBody>
      </p:sp>
      <p:sp>
        <p:nvSpPr>
          <p:cNvPr id="3" name="Card"/>
          <p:cNvSpPr/>
          <p:nvPr/>
        </p:nvSpPr>
        <p:spPr>
          <a:xfrm>
            <a:off x="457200" y="1188720"/>
            <a:ext cx="1920240" cy="502920"/>
          </a:xfrm>
          <a:prstGeom prst="roundRect">
            <a:avLst>
              <a:gd name="adj" fmla="val 21818"/>
            </a:avLst>
          </a:prstGeom>
          <a:solidFill>
            <a:srgbClr val="FFFFFF"/>
          </a:solidFill>
          <a:ln w="9525">
            <a:solidFill>
              <a:srgbClr val="C5D1E3"/>
            </a:solidFill>
            <a:prstDash val="solid"/>
          </a:ln>
        </p:spPr>
        <p:txBody>
          <a:bodyPr/>
          <a:lstStyle/>
          <a:p>
            <a:endParaRPr lang="en-GB"/>
          </a:p>
        </p:txBody>
      </p:sp>
      <p:sp>
        <p:nvSpPr>
          <p:cNvPr id="4" name="Text 2"/>
          <p:cNvSpPr txBox="1"/>
          <p:nvPr/>
        </p:nvSpPr>
        <p:spPr>
          <a:xfrm>
            <a:off x="457200" y="1188720"/>
            <a:ext cx="1920240" cy="502920"/>
          </a:xfrm>
          <a:prstGeom prst="rect">
            <a:avLst/>
          </a:prstGeom>
          <a:noFill/>
          <a:ln/>
        </p:spPr>
        <p:txBody>
          <a:bodyPr wrap="square" lIns="0" tIns="0" rIns="0" bIns="0" rtlCol="0" anchor="ctr"/>
          <a:lstStyle/>
          <a:p>
            <a:pPr marL="0" indent="0" algn="ctr">
              <a:buNone/>
            </a:pPr>
            <a:r>
              <a:rPr lang="en-US" sz="1600" b="1" dirty="0">
                <a:solidFill>
                  <a:srgbClr val="002D6A"/>
                </a:solidFill>
                <a:latin typeface="Courier New" pitchFamily="34" charset="0"/>
                <a:ea typeface="Courier New" pitchFamily="34" charset="-122"/>
                <a:cs typeface="Courier New" pitchFamily="34" charset="-120"/>
              </a:rPr>
              <a:t>variables</a:t>
            </a:r>
            <a:endParaRPr lang="en-US" sz="1600" dirty="0"/>
          </a:p>
        </p:txBody>
      </p:sp>
      <p:sp>
        <p:nvSpPr>
          <p:cNvPr id="5" name="Card"/>
          <p:cNvSpPr/>
          <p:nvPr/>
        </p:nvSpPr>
        <p:spPr>
          <a:xfrm>
            <a:off x="2560320" y="1188720"/>
            <a:ext cx="1920240" cy="502920"/>
          </a:xfrm>
          <a:prstGeom prst="roundRect">
            <a:avLst>
              <a:gd name="adj" fmla="val 21818"/>
            </a:avLst>
          </a:prstGeom>
          <a:solidFill>
            <a:srgbClr val="FFFFFF"/>
          </a:solidFill>
          <a:ln w="9525">
            <a:solidFill>
              <a:srgbClr val="C5D1E3"/>
            </a:solidFill>
            <a:prstDash val="solid"/>
          </a:ln>
        </p:spPr>
        <p:txBody>
          <a:bodyPr/>
          <a:lstStyle/>
          <a:p>
            <a:endParaRPr lang="en-GB"/>
          </a:p>
        </p:txBody>
      </p:sp>
      <p:sp>
        <p:nvSpPr>
          <p:cNvPr id="6" name="Text 4"/>
          <p:cNvSpPr txBox="1"/>
          <p:nvPr/>
        </p:nvSpPr>
        <p:spPr>
          <a:xfrm>
            <a:off x="2560320" y="1188720"/>
            <a:ext cx="1920240" cy="502920"/>
          </a:xfrm>
          <a:prstGeom prst="rect">
            <a:avLst/>
          </a:prstGeom>
          <a:noFill/>
          <a:ln/>
        </p:spPr>
        <p:txBody>
          <a:bodyPr wrap="square" lIns="0" tIns="0" rIns="0" bIns="0" rtlCol="0" anchor="ctr"/>
          <a:lstStyle/>
          <a:p>
            <a:pPr marL="0" indent="0" algn="ctr">
              <a:buNone/>
            </a:pPr>
            <a:r>
              <a:rPr lang="en-US" sz="1600" b="1" dirty="0">
                <a:solidFill>
                  <a:srgbClr val="002D6A"/>
                </a:solidFill>
                <a:latin typeface="Courier New" pitchFamily="34" charset="0"/>
                <a:ea typeface="Courier New" pitchFamily="34" charset="-122"/>
                <a:cs typeface="Courier New" pitchFamily="34" charset="-120"/>
              </a:rPr>
              <a:t>functions</a:t>
            </a:r>
            <a:endParaRPr lang="en-US" sz="1600" dirty="0"/>
          </a:p>
        </p:txBody>
      </p:sp>
      <p:sp>
        <p:nvSpPr>
          <p:cNvPr id="7" name="Card"/>
          <p:cNvSpPr/>
          <p:nvPr/>
        </p:nvSpPr>
        <p:spPr>
          <a:xfrm>
            <a:off x="4663440" y="1188720"/>
            <a:ext cx="1920240" cy="502920"/>
          </a:xfrm>
          <a:prstGeom prst="roundRect">
            <a:avLst>
              <a:gd name="adj" fmla="val 21818"/>
            </a:avLst>
          </a:prstGeom>
          <a:solidFill>
            <a:srgbClr val="FFFFFF"/>
          </a:solidFill>
          <a:ln w="9525">
            <a:solidFill>
              <a:srgbClr val="C5D1E3"/>
            </a:solidFill>
            <a:prstDash val="solid"/>
          </a:ln>
        </p:spPr>
        <p:txBody>
          <a:bodyPr/>
          <a:lstStyle/>
          <a:p>
            <a:endParaRPr lang="en-GB"/>
          </a:p>
        </p:txBody>
      </p:sp>
      <p:sp>
        <p:nvSpPr>
          <p:cNvPr id="8" name="Text 6"/>
          <p:cNvSpPr txBox="1"/>
          <p:nvPr/>
        </p:nvSpPr>
        <p:spPr>
          <a:xfrm>
            <a:off x="4663440" y="1188720"/>
            <a:ext cx="1920240" cy="502920"/>
          </a:xfrm>
          <a:prstGeom prst="rect">
            <a:avLst/>
          </a:prstGeom>
          <a:noFill/>
          <a:ln/>
        </p:spPr>
        <p:txBody>
          <a:bodyPr wrap="square" lIns="0" tIns="0" rIns="0" bIns="0" rtlCol="0" anchor="ctr"/>
          <a:lstStyle/>
          <a:p>
            <a:pPr marL="0" indent="0" algn="ctr">
              <a:buNone/>
            </a:pPr>
            <a:r>
              <a:rPr lang="en-US" sz="1600" b="1" dirty="0">
                <a:solidFill>
                  <a:srgbClr val="002D6A"/>
                </a:solidFill>
                <a:latin typeface="Courier New" pitchFamily="34" charset="0"/>
                <a:ea typeface="Courier New" pitchFamily="34" charset="-122"/>
                <a:cs typeface="Courier New" pitchFamily="34" charset="-120"/>
              </a:rPr>
              <a:t>if / else</a:t>
            </a:r>
            <a:endParaRPr lang="en-US" sz="1600" dirty="0"/>
          </a:p>
        </p:txBody>
      </p:sp>
      <p:sp>
        <p:nvSpPr>
          <p:cNvPr id="9" name="Card"/>
          <p:cNvSpPr/>
          <p:nvPr/>
        </p:nvSpPr>
        <p:spPr>
          <a:xfrm>
            <a:off x="6766560" y="1188720"/>
            <a:ext cx="1920240" cy="502920"/>
          </a:xfrm>
          <a:prstGeom prst="roundRect">
            <a:avLst>
              <a:gd name="adj" fmla="val 21818"/>
            </a:avLst>
          </a:prstGeom>
          <a:solidFill>
            <a:srgbClr val="FFFFFF"/>
          </a:solidFill>
          <a:ln w="9525">
            <a:solidFill>
              <a:srgbClr val="C5D1E3"/>
            </a:solidFill>
            <a:prstDash val="solid"/>
          </a:ln>
        </p:spPr>
        <p:txBody>
          <a:bodyPr/>
          <a:lstStyle/>
          <a:p>
            <a:endParaRPr lang="en-GB"/>
          </a:p>
        </p:txBody>
      </p:sp>
      <p:sp>
        <p:nvSpPr>
          <p:cNvPr id="10" name="Text 8"/>
          <p:cNvSpPr txBox="1"/>
          <p:nvPr/>
        </p:nvSpPr>
        <p:spPr>
          <a:xfrm>
            <a:off x="6766560" y="1188720"/>
            <a:ext cx="1920240" cy="502920"/>
          </a:xfrm>
          <a:prstGeom prst="rect">
            <a:avLst/>
          </a:prstGeom>
          <a:noFill/>
          <a:ln/>
        </p:spPr>
        <p:txBody>
          <a:bodyPr wrap="square" lIns="0" tIns="0" rIns="0" bIns="0" rtlCol="0" anchor="ctr"/>
          <a:lstStyle/>
          <a:p>
            <a:pPr marL="0" indent="0" algn="ctr">
              <a:buNone/>
            </a:pPr>
            <a:r>
              <a:rPr lang="en-US" sz="1600" b="1" dirty="0">
                <a:solidFill>
                  <a:srgbClr val="002D6A"/>
                </a:solidFill>
                <a:latin typeface="Courier New" pitchFamily="34" charset="0"/>
                <a:ea typeface="Courier New" pitchFamily="34" charset="-122"/>
                <a:cs typeface="Courier New" pitchFamily="34" charset="-120"/>
              </a:rPr>
              <a:t>loops</a:t>
            </a:r>
            <a:endParaRPr lang="en-US" sz="1600" dirty="0"/>
          </a:p>
        </p:txBody>
      </p:sp>
      <p:sp>
        <p:nvSpPr>
          <p:cNvPr id="11" name="Callout"/>
          <p:cNvSpPr/>
          <p:nvPr/>
        </p:nvSpPr>
        <p:spPr>
          <a:xfrm>
            <a:off x="457200" y="2011680"/>
            <a:ext cx="8229600" cy="731520"/>
          </a:xfrm>
          <a:prstGeom prst="roundRect">
            <a:avLst>
              <a:gd name="adj" fmla="val 12500"/>
            </a:avLst>
          </a:prstGeom>
          <a:solidFill>
            <a:srgbClr val="FFFFFF"/>
          </a:solidFill>
          <a:ln w="15875">
            <a:solidFill>
              <a:srgbClr val="5D79A0"/>
            </a:solidFill>
            <a:prstDash val="solid"/>
          </a:ln>
        </p:spPr>
        <p:txBody>
          <a:bodyPr/>
          <a:lstStyle/>
          <a:p>
            <a:endParaRPr lang="en-GB"/>
          </a:p>
        </p:txBody>
      </p:sp>
      <p:sp>
        <p:nvSpPr>
          <p:cNvPr id="12" name="Text 10"/>
          <p:cNvSpPr txBox="1"/>
          <p:nvPr/>
        </p:nvSpPr>
        <p:spPr>
          <a:xfrm>
            <a:off x="685800" y="2011680"/>
            <a:ext cx="7772400" cy="731520"/>
          </a:xfrm>
          <a:prstGeom prst="rect">
            <a:avLst/>
          </a:prstGeom>
          <a:noFill/>
          <a:ln/>
        </p:spPr>
        <p:txBody>
          <a:bodyPr wrap="square" lIns="0" tIns="0" rIns="0" bIns="0" rtlCol="0" anchor="ctr"/>
          <a:lstStyle/>
          <a:p>
            <a:pPr marL="0" indent="0">
              <a:buNone/>
            </a:pPr>
            <a:r>
              <a:rPr lang="en-US" sz="1200" b="1" kern="0" spc="200" dirty="0">
                <a:solidFill>
                  <a:srgbClr val="5D79A0"/>
                </a:solidFill>
                <a:latin typeface="Arial" pitchFamily="34" charset="0"/>
                <a:ea typeface="Arial" pitchFamily="34" charset="-122"/>
                <a:cs typeface="Arial" pitchFamily="34" charset="-120"/>
              </a:rPr>
              <a:t>NOTE  </a:t>
            </a:r>
            <a:r>
              <a:rPr lang="en-US" sz="1600" dirty="0">
                <a:solidFill>
                  <a:srgbClr val="22262E"/>
                </a:solidFill>
                <a:latin typeface="Arial" pitchFamily="34" charset="0"/>
                <a:ea typeface="Arial" pitchFamily="34" charset="-122"/>
                <a:cs typeface="Arial" pitchFamily="34" charset="-120"/>
              </a:rPr>
              <a:t>A library is a bunch of functions someone else wrote, ready to use.</a:t>
            </a:r>
            <a:endParaRPr lang="en-US" sz="1200" dirty="0"/>
          </a:p>
        </p:txBody>
      </p:sp>
      <p:sp>
        <p:nvSpPr>
          <p:cNvPr id="13" name="code bg"/>
          <p:cNvSpPr/>
          <p:nvPr/>
        </p:nvSpPr>
        <p:spPr>
          <a:xfrm>
            <a:off x="457200" y="3017520"/>
            <a:ext cx="8229600" cy="1303020"/>
          </a:xfrm>
          <a:prstGeom prst="rect">
            <a:avLst/>
          </a:prstGeom>
          <a:solidFill>
            <a:srgbClr val="0B2A57"/>
          </a:solidFill>
          <a:ln w="12700">
            <a:solidFill>
              <a:srgbClr val="0B2A57"/>
            </a:solidFill>
            <a:prstDash val="solid"/>
          </a:ln>
        </p:spPr>
        <p:txBody>
          <a:bodyPr/>
          <a:lstStyle/>
          <a:p>
            <a:endParaRPr lang="en-GB"/>
          </a:p>
        </p:txBody>
      </p:sp>
      <p:sp>
        <p:nvSpPr>
          <p:cNvPr id="14" name="code bar"/>
          <p:cNvSpPr/>
          <p:nvPr/>
        </p:nvSpPr>
        <p:spPr>
          <a:xfrm>
            <a:off x="457200" y="3017520"/>
            <a:ext cx="54864" cy="1303020"/>
          </a:xfrm>
          <a:prstGeom prst="rect">
            <a:avLst/>
          </a:prstGeom>
          <a:solidFill>
            <a:srgbClr val="A9C4E8"/>
          </a:solidFill>
          <a:ln w="12700">
            <a:solidFill>
              <a:srgbClr val="5D79A0"/>
            </a:solidFill>
            <a:prstDash val="solid"/>
          </a:ln>
        </p:spPr>
        <p:txBody>
          <a:bodyPr/>
          <a:lstStyle/>
          <a:p>
            <a:endParaRPr lang="en-GB"/>
          </a:p>
        </p:txBody>
      </p:sp>
      <p:sp>
        <p:nvSpPr>
          <p:cNvPr id="15" name="code line 1"/>
          <p:cNvSpPr txBox="1"/>
          <p:nvPr/>
        </p:nvSpPr>
        <p:spPr>
          <a:xfrm>
            <a:off x="640080" y="3154680"/>
            <a:ext cx="7955280" cy="342900"/>
          </a:xfrm>
          <a:prstGeom prst="rect">
            <a:avLst/>
          </a:prstGeom>
          <a:noFill/>
          <a:ln/>
        </p:spPr>
        <p:txBody>
          <a:bodyPr wrap="square" lIns="0" tIns="0" rIns="0" bIns="0" rtlCol="0" anchor="ctr"/>
          <a:lstStyle/>
          <a:p>
            <a:pPr marL="0" indent="0">
              <a:buNone/>
            </a:pPr>
            <a:r>
              <a:rPr lang="en-US" sz="2000" dirty="0">
                <a:solidFill>
                  <a:srgbClr val="6F86A8"/>
                </a:solidFill>
                <a:latin typeface="Courier New" pitchFamily="34" charset="0"/>
                <a:ea typeface="Courier New" pitchFamily="34" charset="-122"/>
                <a:cs typeface="Courier New" pitchFamily="34" charset="-120"/>
              </a:rPr>
              <a:t>&gt;&gt;&gt; </a:t>
            </a:r>
            <a:r>
              <a:rPr lang="en-US" sz="2000" dirty="0">
                <a:solidFill>
                  <a:srgbClr val="E6ECF5"/>
                </a:solidFill>
                <a:latin typeface="Courier New" pitchFamily="34" charset="0"/>
                <a:ea typeface="Courier New" pitchFamily="34" charset="-122"/>
                <a:cs typeface="Courier New" pitchFamily="34" charset="-120"/>
              </a:rPr>
              <a:t>import math</a:t>
            </a:r>
            <a:endParaRPr lang="en-US" sz="2000" dirty="0"/>
          </a:p>
        </p:txBody>
      </p:sp>
      <p:sp>
        <p:nvSpPr>
          <p:cNvPr id="16" name="code line 2"/>
          <p:cNvSpPr txBox="1"/>
          <p:nvPr/>
        </p:nvSpPr>
        <p:spPr>
          <a:xfrm>
            <a:off x="640080" y="3497580"/>
            <a:ext cx="7955280" cy="342900"/>
          </a:xfrm>
          <a:prstGeom prst="rect">
            <a:avLst/>
          </a:prstGeom>
          <a:noFill/>
          <a:ln/>
        </p:spPr>
        <p:txBody>
          <a:bodyPr wrap="square" lIns="0" tIns="0" rIns="0" bIns="0" rtlCol="0" anchor="ctr"/>
          <a:lstStyle/>
          <a:p>
            <a:pPr marL="0" indent="0">
              <a:buNone/>
            </a:pPr>
            <a:r>
              <a:rPr lang="en-US" sz="2000" dirty="0">
                <a:solidFill>
                  <a:srgbClr val="6F86A8"/>
                </a:solidFill>
                <a:latin typeface="Courier New" pitchFamily="34" charset="0"/>
                <a:ea typeface="Courier New" pitchFamily="34" charset="-122"/>
                <a:cs typeface="Courier New" pitchFamily="34" charset="-120"/>
              </a:rPr>
              <a:t>&gt;&gt;&gt; </a:t>
            </a:r>
            <a:r>
              <a:rPr lang="en-US" sz="2000" dirty="0">
                <a:solidFill>
                  <a:srgbClr val="E6ECF5"/>
                </a:solidFill>
                <a:latin typeface="Courier New" pitchFamily="34" charset="0"/>
                <a:ea typeface="Courier New" pitchFamily="34" charset="-122"/>
                <a:cs typeface="Courier New" pitchFamily="34" charset="-120"/>
              </a:rPr>
              <a:t>math.sqrt(16)</a:t>
            </a:r>
            <a:endParaRPr lang="en-US" sz="2000" dirty="0"/>
          </a:p>
        </p:txBody>
      </p:sp>
      <p:sp>
        <p:nvSpPr>
          <p:cNvPr id="17" name="@1 code line 3"/>
          <p:cNvSpPr txBox="1"/>
          <p:nvPr/>
        </p:nvSpPr>
        <p:spPr>
          <a:xfrm>
            <a:off x="640080" y="3840480"/>
            <a:ext cx="7955280" cy="342900"/>
          </a:xfrm>
          <a:prstGeom prst="rect">
            <a:avLst/>
          </a:prstGeom>
          <a:noFill/>
          <a:ln/>
        </p:spPr>
        <p:txBody>
          <a:bodyPr wrap="square" lIns="0" tIns="0" rIns="0" bIns="0" rtlCol="0" anchor="ctr"/>
          <a:lstStyle/>
          <a:p>
            <a:pPr marL="0" indent="0">
              <a:buNone/>
            </a:pPr>
            <a:r>
              <a:rPr lang="en-US" sz="2000" dirty="0">
                <a:solidFill>
                  <a:srgbClr val="B8E0B0"/>
                </a:solidFill>
                <a:latin typeface="Courier New" pitchFamily="34" charset="0"/>
                <a:ea typeface="Courier New" pitchFamily="34" charset="-122"/>
                <a:cs typeface="Courier New" pitchFamily="34" charset="-120"/>
              </a:rPr>
              <a:t>4.0</a:t>
            </a:r>
            <a:endParaRPr lang="en-US" sz="2000" dirty="0"/>
          </a:p>
        </p:txBody>
      </p:sp>
      <p:sp>
        <p:nvSpPr>
          <p:cNvPr id="18"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2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A Library for Pictures</a:t>
            </a:r>
            <a:endParaRPr lang="en-US" sz="3000" dirty="0"/>
          </a:p>
        </p:txBody>
      </p:sp>
      <p:sp>
        <p:nvSpPr>
          <p:cNvPr id="3" name="Callout"/>
          <p:cNvSpPr/>
          <p:nvPr/>
        </p:nvSpPr>
        <p:spPr>
          <a:xfrm>
            <a:off x="457200" y="1188720"/>
            <a:ext cx="8229600" cy="731520"/>
          </a:xfrm>
          <a:prstGeom prst="roundRect">
            <a:avLst>
              <a:gd name="adj" fmla="val 12500"/>
            </a:avLst>
          </a:prstGeom>
          <a:solidFill>
            <a:srgbClr val="FFFFFF"/>
          </a:solidFill>
          <a:ln w="15875">
            <a:solidFill>
              <a:srgbClr val="002D6A"/>
            </a:solidFill>
            <a:prstDash val="solid"/>
          </a:ln>
        </p:spPr>
        <p:txBody>
          <a:bodyPr/>
          <a:lstStyle/>
          <a:p>
            <a:endParaRPr lang="en-GB"/>
          </a:p>
        </p:txBody>
      </p:sp>
      <p:sp>
        <p:nvSpPr>
          <p:cNvPr id="4" name="Text 2"/>
          <p:cNvSpPr txBox="1"/>
          <p:nvPr/>
        </p:nvSpPr>
        <p:spPr>
          <a:xfrm>
            <a:off x="685800" y="1188720"/>
            <a:ext cx="7772400" cy="731520"/>
          </a:xfrm>
          <a:prstGeom prst="rect">
            <a:avLst/>
          </a:prstGeom>
          <a:noFill/>
          <a:ln/>
        </p:spPr>
        <p:txBody>
          <a:bodyPr wrap="square" lIns="0" tIns="0" rIns="0" bIns="0" rtlCol="0" anchor="ctr"/>
          <a:lstStyle/>
          <a:p>
            <a:pPr marL="0" indent="0">
              <a:buNone/>
            </a:pPr>
            <a:r>
              <a:rPr lang="en-US" sz="1200" b="1" kern="0" spc="200" dirty="0">
                <a:solidFill>
                  <a:srgbClr val="002D6A"/>
                </a:solidFill>
                <a:latin typeface="Arial" pitchFamily="34" charset="0"/>
                <a:ea typeface="Arial" pitchFamily="34" charset="-122"/>
                <a:cs typeface="Arial" pitchFamily="34" charset="-120"/>
              </a:rPr>
              <a:t>TIP  </a:t>
            </a:r>
            <a:r>
              <a:rPr lang="en-US" sz="1600" dirty="0">
                <a:solidFill>
                  <a:srgbClr val="22262E"/>
                </a:solidFill>
                <a:latin typeface="Arial" pitchFamily="34" charset="0"/>
                <a:ea typeface="Arial" pitchFamily="34" charset="-122"/>
                <a:cs typeface="Arial" pitchFamily="34" charset="-120"/>
              </a:rPr>
              <a:t>PIL (short for Pillow) opens, edits and reads images.</a:t>
            </a:r>
            <a:endParaRPr lang="en-US" sz="1200" dirty="0"/>
          </a:p>
        </p:txBody>
      </p:sp>
      <p:sp>
        <p:nvSpPr>
          <p:cNvPr id="5" name="code bg"/>
          <p:cNvSpPr/>
          <p:nvPr/>
        </p:nvSpPr>
        <p:spPr>
          <a:xfrm>
            <a:off x="457200" y="2286000"/>
            <a:ext cx="8229600" cy="651510"/>
          </a:xfrm>
          <a:prstGeom prst="rect">
            <a:avLst/>
          </a:prstGeom>
          <a:solidFill>
            <a:srgbClr val="0B2A57"/>
          </a:solidFill>
          <a:ln w="12700">
            <a:solidFill>
              <a:srgbClr val="0B2A57"/>
            </a:solidFill>
            <a:prstDash val="solid"/>
          </a:ln>
        </p:spPr>
        <p:txBody>
          <a:bodyPr/>
          <a:lstStyle/>
          <a:p>
            <a:endParaRPr lang="en-GB"/>
          </a:p>
        </p:txBody>
      </p:sp>
      <p:sp>
        <p:nvSpPr>
          <p:cNvPr id="6" name="code bar"/>
          <p:cNvSpPr/>
          <p:nvPr/>
        </p:nvSpPr>
        <p:spPr>
          <a:xfrm>
            <a:off x="457200" y="2286000"/>
            <a:ext cx="54864" cy="651510"/>
          </a:xfrm>
          <a:prstGeom prst="rect">
            <a:avLst/>
          </a:prstGeom>
          <a:solidFill>
            <a:srgbClr val="A9C4E8"/>
          </a:solidFill>
          <a:ln w="12700">
            <a:solidFill>
              <a:srgbClr val="5D79A0"/>
            </a:solidFill>
            <a:prstDash val="solid"/>
          </a:ln>
        </p:spPr>
        <p:txBody>
          <a:bodyPr/>
          <a:lstStyle/>
          <a:p>
            <a:endParaRPr lang="en-GB"/>
          </a:p>
        </p:txBody>
      </p:sp>
      <p:sp>
        <p:nvSpPr>
          <p:cNvPr id="7" name="code line 1"/>
          <p:cNvSpPr txBox="1"/>
          <p:nvPr/>
        </p:nvSpPr>
        <p:spPr>
          <a:xfrm>
            <a:off x="640080" y="2423160"/>
            <a:ext cx="7955280" cy="377190"/>
          </a:xfrm>
          <a:prstGeom prst="rect">
            <a:avLst/>
          </a:prstGeom>
          <a:noFill/>
          <a:ln/>
        </p:spPr>
        <p:txBody>
          <a:bodyPr wrap="square" lIns="0" tIns="0" rIns="0" bIns="0" rtlCol="0" anchor="ctr"/>
          <a:lstStyle/>
          <a:p>
            <a:pPr marL="0" indent="0">
              <a:buNone/>
            </a:pPr>
            <a:r>
              <a:rPr lang="en-US" sz="2200" dirty="0">
                <a:solidFill>
                  <a:srgbClr val="6F86A8"/>
                </a:solidFill>
                <a:latin typeface="Courier New" pitchFamily="34" charset="0"/>
                <a:ea typeface="Courier New" pitchFamily="34" charset="-122"/>
                <a:cs typeface="Courier New" pitchFamily="34" charset="-120"/>
              </a:rPr>
              <a:t>&gt;&gt;&gt; </a:t>
            </a:r>
            <a:r>
              <a:rPr lang="en-US" sz="2200" dirty="0">
                <a:solidFill>
                  <a:srgbClr val="E6ECF5"/>
                </a:solidFill>
                <a:latin typeface="Courier New" pitchFamily="34" charset="0"/>
                <a:ea typeface="Courier New" pitchFamily="34" charset="-122"/>
                <a:cs typeface="Courier New" pitchFamily="34" charset="-120"/>
              </a:rPr>
              <a:t>from PIL import Image</a:t>
            </a:r>
            <a:endParaRPr lang="en-US" sz="2200" dirty="0"/>
          </a:p>
        </p:txBody>
      </p:sp>
      <p:sp>
        <p:nvSpPr>
          <p:cNvPr id="8" name="@1 addText"/>
          <p:cNvSpPr txBox="1"/>
          <p:nvPr/>
        </p:nvSpPr>
        <p:spPr>
          <a:xfrm>
            <a:off x="457200" y="3291840"/>
            <a:ext cx="8229600" cy="457200"/>
          </a:xfrm>
          <a:prstGeom prst="rect">
            <a:avLst/>
          </a:prstGeom>
          <a:noFill/>
          <a:ln/>
        </p:spPr>
        <p:txBody>
          <a:bodyPr wrap="square" lIns="0" tIns="0" rIns="0" bIns="0" rtlCol="0" anchor="ctr"/>
          <a:lstStyle/>
          <a:p>
            <a:pPr marL="0" indent="0">
              <a:buNone/>
            </a:pPr>
            <a:r>
              <a:rPr lang="en-US" sz="1800" b="1" dirty="0">
                <a:solidFill>
                  <a:srgbClr val="002D6A"/>
                </a:solidFill>
                <a:latin typeface="Arial" pitchFamily="34" charset="0"/>
                <a:ea typeface="Arial" pitchFamily="34" charset="-122"/>
                <a:cs typeface="Arial" pitchFamily="34" charset="-120"/>
              </a:rPr>
              <a:t>from X import Y = "just give me Y out of library X"</a:t>
            </a:r>
            <a:endParaRPr lang="en-US" sz="1800" dirty="0"/>
          </a:p>
        </p:txBody>
      </p:sp>
      <p:sp>
        <p:nvSpPr>
          <p:cNvPr id="9"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2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Open It, Check It</a:t>
            </a:r>
            <a:endParaRPr lang="en-US" sz="3000" dirty="0"/>
          </a:p>
        </p:txBody>
      </p:sp>
      <p:sp>
        <p:nvSpPr>
          <p:cNvPr id="3" name="code bg"/>
          <p:cNvSpPr/>
          <p:nvPr/>
        </p:nvSpPr>
        <p:spPr>
          <a:xfrm>
            <a:off x="457200" y="1143000"/>
            <a:ext cx="8229600" cy="1988820"/>
          </a:xfrm>
          <a:prstGeom prst="rect">
            <a:avLst/>
          </a:prstGeom>
          <a:solidFill>
            <a:srgbClr val="0B2A57"/>
          </a:solidFill>
          <a:ln w="12700">
            <a:solidFill>
              <a:srgbClr val="0B2A57"/>
            </a:solidFill>
            <a:prstDash val="solid"/>
          </a:ln>
        </p:spPr>
        <p:txBody>
          <a:bodyPr/>
          <a:lstStyle/>
          <a:p>
            <a:endParaRPr lang="en-GB"/>
          </a:p>
        </p:txBody>
      </p:sp>
      <p:sp>
        <p:nvSpPr>
          <p:cNvPr id="4" name="code bar"/>
          <p:cNvSpPr/>
          <p:nvPr/>
        </p:nvSpPr>
        <p:spPr>
          <a:xfrm>
            <a:off x="457200" y="1143000"/>
            <a:ext cx="54864" cy="1988820"/>
          </a:xfrm>
          <a:prstGeom prst="rect">
            <a:avLst/>
          </a:prstGeom>
          <a:solidFill>
            <a:srgbClr val="A9C4E8"/>
          </a:solidFill>
          <a:ln w="12700">
            <a:solidFill>
              <a:srgbClr val="5D79A0"/>
            </a:solidFill>
            <a:prstDash val="solid"/>
          </a:ln>
        </p:spPr>
        <p:txBody>
          <a:bodyPr/>
          <a:lstStyle/>
          <a:p>
            <a:endParaRPr lang="en-GB"/>
          </a:p>
        </p:txBody>
      </p:sp>
      <p:sp>
        <p:nvSpPr>
          <p:cNvPr id="5" name="code line 1"/>
          <p:cNvSpPr txBox="1"/>
          <p:nvPr/>
        </p:nvSpPr>
        <p:spPr>
          <a:xfrm>
            <a:off x="640080" y="1280160"/>
            <a:ext cx="7955280" cy="342900"/>
          </a:xfrm>
          <a:prstGeom prst="rect">
            <a:avLst/>
          </a:prstGeom>
          <a:noFill/>
          <a:ln/>
        </p:spPr>
        <p:txBody>
          <a:bodyPr wrap="square" lIns="0" tIns="0" rIns="0" bIns="0" rtlCol="0" anchor="ctr"/>
          <a:lstStyle/>
          <a:p>
            <a:pPr marL="0" indent="0">
              <a:buNone/>
            </a:pPr>
            <a:r>
              <a:rPr lang="en-US" sz="2000" dirty="0">
                <a:solidFill>
                  <a:srgbClr val="6F86A8"/>
                </a:solidFill>
                <a:latin typeface="Courier New" pitchFamily="34" charset="0"/>
                <a:ea typeface="Courier New" pitchFamily="34" charset="-122"/>
                <a:cs typeface="Courier New" pitchFamily="34" charset="-120"/>
              </a:rPr>
              <a:t>&gt;&gt;&gt; </a:t>
            </a:r>
            <a:r>
              <a:rPr lang="en-US" sz="2000" dirty="0">
                <a:solidFill>
                  <a:srgbClr val="E6ECF5"/>
                </a:solidFill>
                <a:latin typeface="Courier New" pitchFamily="34" charset="0"/>
                <a:ea typeface="Courier New" pitchFamily="34" charset="-122"/>
                <a:cs typeface="Courier New" pitchFamily="34" charset="-120"/>
              </a:rPr>
              <a:t>img = Image.open("cow-demo.jpg")</a:t>
            </a:r>
            <a:endParaRPr lang="en-US" sz="2000" dirty="0"/>
          </a:p>
        </p:txBody>
      </p:sp>
      <p:sp>
        <p:nvSpPr>
          <p:cNvPr id="6" name="code line 2"/>
          <p:cNvSpPr txBox="1"/>
          <p:nvPr/>
        </p:nvSpPr>
        <p:spPr>
          <a:xfrm>
            <a:off x="640080" y="1623060"/>
            <a:ext cx="7955280" cy="342900"/>
          </a:xfrm>
          <a:prstGeom prst="rect">
            <a:avLst/>
          </a:prstGeom>
          <a:noFill/>
          <a:ln/>
        </p:spPr>
        <p:txBody>
          <a:bodyPr wrap="square" lIns="0" tIns="0" rIns="0" bIns="0" rtlCol="0" anchor="ctr"/>
          <a:lstStyle/>
          <a:p>
            <a:pPr marL="0" indent="0">
              <a:buNone/>
            </a:pPr>
            <a:r>
              <a:rPr lang="en-US" sz="2000" dirty="0">
                <a:solidFill>
                  <a:srgbClr val="6F86A8"/>
                </a:solidFill>
                <a:latin typeface="Courier New" pitchFamily="34" charset="0"/>
                <a:ea typeface="Courier New" pitchFamily="34" charset="-122"/>
                <a:cs typeface="Courier New" pitchFamily="34" charset="-120"/>
              </a:rPr>
              <a:t>&gt;&gt;&gt; </a:t>
            </a:r>
            <a:r>
              <a:rPr lang="en-US" sz="2000" dirty="0">
                <a:solidFill>
                  <a:srgbClr val="E6ECF5"/>
                </a:solidFill>
                <a:latin typeface="Courier New" pitchFamily="34" charset="0"/>
                <a:ea typeface="Courier New" pitchFamily="34" charset="-122"/>
                <a:cs typeface="Courier New" pitchFamily="34" charset="-120"/>
              </a:rPr>
              <a:t>img.size</a:t>
            </a:r>
            <a:endParaRPr lang="en-US" sz="2000" dirty="0"/>
          </a:p>
        </p:txBody>
      </p:sp>
      <p:sp>
        <p:nvSpPr>
          <p:cNvPr id="7" name="@1 code line 3"/>
          <p:cNvSpPr txBox="1"/>
          <p:nvPr/>
        </p:nvSpPr>
        <p:spPr>
          <a:xfrm>
            <a:off x="640080" y="1965960"/>
            <a:ext cx="7955280" cy="342900"/>
          </a:xfrm>
          <a:prstGeom prst="rect">
            <a:avLst/>
          </a:prstGeom>
          <a:noFill/>
          <a:ln/>
        </p:spPr>
        <p:txBody>
          <a:bodyPr wrap="square" lIns="0" tIns="0" rIns="0" bIns="0" rtlCol="0" anchor="ctr"/>
          <a:lstStyle/>
          <a:p>
            <a:pPr marL="0" indent="0">
              <a:buNone/>
            </a:pPr>
            <a:r>
              <a:rPr lang="en-US" sz="2000" dirty="0">
                <a:solidFill>
                  <a:srgbClr val="B8E0B0"/>
                </a:solidFill>
                <a:latin typeface="Courier New" pitchFamily="34" charset="0"/>
                <a:ea typeface="Courier New" pitchFamily="34" charset="-122"/>
                <a:cs typeface="Courier New" pitchFamily="34" charset="-120"/>
              </a:rPr>
              <a:t>(320, 320)</a:t>
            </a:r>
            <a:endParaRPr lang="en-US" sz="2000" dirty="0"/>
          </a:p>
        </p:txBody>
      </p:sp>
      <p:sp>
        <p:nvSpPr>
          <p:cNvPr id="8" name="code line 4"/>
          <p:cNvSpPr txBox="1"/>
          <p:nvPr/>
        </p:nvSpPr>
        <p:spPr>
          <a:xfrm>
            <a:off x="640080" y="2308860"/>
            <a:ext cx="7955280" cy="342900"/>
          </a:xfrm>
          <a:prstGeom prst="rect">
            <a:avLst/>
          </a:prstGeom>
          <a:noFill/>
          <a:ln/>
        </p:spPr>
        <p:txBody>
          <a:bodyPr wrap="square" lIns="0" tIns="0" rIns="0" bIns="0" rtlCol="0" anchor="ctr"/>
          <a:lstStyle/>
          <a:p>
            <a:pPr marL="0" indent="0">
              <a:buNone/>
            </a:pPr>
            <a:r>
              <a:rPr lang="en-US" sz="2000" dirty="0">
                <a:solidFill>
                  <a:srgbClr val="6F86A8"/>
                </a:solidFill>
                <a:latin typeface="Courier New" pitchFamily="34" charset="0"/>
                <a:ea typeface="Courier New" pitchFamily="34" charset="-122"/>
                <a:cs typeface="Courier New" pitchFamily="34" charset="-120"/>
              </a:rPr>
              <a:t>&gt;&gt;&gt; </a:t>
            </a:r>
            <a:r>
              <a:rPr lang="en-US" sz="2000" dirty="0">
                <a:solidFill>
                  <a:srgbClr val="E6ECF5"/>
                </a:solidFill>
                <a:latin typeface="Courier New" pitchFamily="34" charset="0"/>
                <a:ea typeface="Courier New" pitchFamily="34" charset="-122"/>
                <a:cs typeface="Courier New" pitchFamily="34" charset="-120"/>
              </a:rPr>
              <a:t>img.mode</a:t>
            </a:r>
            <a:endParaRPr lang="en-US" sz="2000" dirty="0"/>
          </a:p>
        </p:txBody>
      </p:sp>
      <p:sp>
        <p:nvSpPr>
          <p:cNvPr id="9" name="@2 code line 5"/>
          <p:cNvSpPr txBox="1"/>
          <p:nvPr/>
        </p:nvSpPr>
        <p:spPr>
          <a:xfrm>
            <a:off x="640080" y="2651760"/>
            <a:ext cx="7955280" cy="342900"/>
          </a:xfrm>
          <a:prstGeom prst="rect">
            <a:avLst/>
          </a:prstGeom>
          <a:noFill/>
          <a:ln/>
        </p:spPr>
        <p:txBody>
          <a:bodyPr wrap="square" lIns="0" tIns="0" rIns="0" bIns="0" rtlCol="0" anchor="ctr"/>
          <a:lstStyle/>
          <a:p>
            <a:pPr marL="0" indent="0">
              <a:buNone/>
            </a:pPr>
            <a:r>
              <a:rPr lang="en-US" sz="2000" dirty="0">
                <a:solidFill>
                  <a:srgbClr val="B8E0B0"/>
                </a:solidFill>
                <a:latin typeface="Courier New" pitchFamily="34" charset="0"/>
                <a:ea typeface="Courier New" pitchFamily="34" charset="-122"/>
                <a:cs typeface="Courier New" pitchFamily="34" charset="-120"/>
              </a:rPr>
              <a:t>'RGB'</a:t>
            </a:r>
            <a:endParaRPr lang="en-US" sz="2000" dirty="0"/>
          </a:p>
        </p:txBody>
      </p:sp>
      <p:sp>
        <p:nvSpPr>
          <p:cNvPr id="10" name="@2 addText"/>
          <p:cNvSpPr txBox="1"/>
          <p:nvPr/>
        </p:nvSpPr>
        <p:spPr>
          <a:xfrm>
            <a:off x="457200" y="374904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one line opens the whole picture: 320 pixels wide, 320 tall</a:t>
            </a:r>
            <a:endParaRPr lang="en-US" sz="1400" dirty="0"/>
          </a:p>
        </p:txBody>
      </p:sp>
      <p:sp>
        <p:nvSpPr>
          <p:cNvPr id="11"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2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200"/>
                                        <p:tgtEl>
                                          <p:spTgt spid="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2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A Picture Is a Grid of Numbers</a:t>
            </a:r>
            <a:endParaRPr lang="en-US" sz="3000" dirty="0"/>
          </a:p>
        </p:txBody>
      </p:sp>
      <p:sp>
        <p:nvSpPr>
          <p:cNvPr id="3" name="Callout"/>
          <p:cNvSpPr/>
          <p:nvPr/>
        </p:nvSpPr>
        <p:spPr>
          <a:xfrm>
            <a:off x="457200" y="1188720"/>
            <a:ext cx="8229600" cy="777240"/>
          </a:xfrm>
          <a:prstGeom prst="roundRect">
            <a:avLst>
              <a:gd name="adj" fmla="val 11765"/>
            </a:avLst>
          </a:prstGeom>
          <a:solidFill>
            <a:srgbClr val="FFFFFF"/>
          </a:solidFill>
          <a:ln w="15875">
            <a:solidFill>
              <a:srgbClr val="5D79A0"/>
            </a:solidFill>
            <a:prstDash val="solid"/>
          </a:ln>
        </p:spPr>
        <p:txBody>
          <a:bodyPr/>
          <a:lstStyle/>
          <a:p>
            <a:endParaRPr lang="en-GB"/>
          </a:p>
        </p:txBody>
      </p:sp>
      <p:sp>
        <p:nvSpPr>
          <p:cNvPr id="4" name="Text 2"/>
          <p:cNvSpPr txBox="1"/>
          <p:nvPr/>
        </p:nvSpPr>
        <p:spPr>
          <a:xfrm>
            <a:off x="685800" y="1188720"/>
            <a:ext cx="7772400" cy="777240"/>
          </a:xfrm>
          <a:prstGeom prst="rect">
            <a:avLst/>
          </a:prstGeom>
          <a:noFill/>
          <a:ln/>
        </p:spPr>
        <p:txBody>
          <a:bodyPr wrap="square" lIns="0" tIns="0" rIns="0" bIns="0" rtlCol="0" anchor="ctr"/>
          <a:lstStyle/>
          <a:p>
            <a:pPr marL="0" indent="0">
              <a:buNone/>
            </a:pPr>
            <a:r>
              <a:rPr lang="en-US" sz="1200" b="1" kern="0" spc="200" dirty="0">
                <a:solidFill>
                  <a:srgbClr val="5D79A0"/>
                </a:solidFill>
                <a:latin typeface="Arial" pitchFamily="34" charset="0"/>
                <a:ea typeface="Arial" pitchFamily="34" charset="-122"/>
                <a:cs typeface="Arial" pitchFamily="34" charset="-120"/>
              </a:rPr>
              <a:t>NOTE  </a:t>
            </a:r>
            <a:r>
              <a:rPr lang="en-US" sz="1600" dirty="0">
                <a:solidFill>
                  <a:srgbClr val="22262E"/>
                </a:solidFill>
                <a:latin typeface="Arial" pitchFamily="34" charset="0"/>
                <a:ea typeface="Arial" pitchFamily="34" charset="-122"/>
                <a:cs typeface="Arial" pitchFamily="34" charset="-120"/>
              </a:rPr>
              <a:t>One small group of numbers per pixel. NumPy does maths on huge grids, fast.</a:t>
            </a:r>
            <a:endParaRPr lang="en-US" sz="1200" dirty="0"/>
          </a:p>
        </p:txBody>
      </p:sp>
      <p:sp>
        <p:nvSpPr>
          <p:cNvPr id="5" name="code bg"/>
          <p:cNvSpPr/>
          <p:nvPr/>
        </p:nvSpPr>
        <p:spPr>
          <a:xfrm>
            <a:off x="457200" y="2377440"/>
            <a:ext cx="8229600" cy="1028700"/>
          </a:xfrm>
          <a:prstGeom prst="rect">
            <a:avLst/>
          </a:prstGeom>
          <a:solidFill>
            <a:srgbClr val="0B2A57"/>
          </a:solidFill>
          <a:ln w="12700">
            <a:solidFill>
              <a:srgbClr val="0B2A57"/>
            </a:solidFill>
            <a:prstDash val="solid"/>
          </a:ln>
        </p:spPr>
        <p:txBody>
          <a:bodyPr/>
          <a:lstStyle/>
          <a:p>
            <a:endParaRPr lang="en-GB"/>
          </a:p>
        </p:txBody>
      </p:sp>
      <p:sp>
        <p:nvSpPr>
          <p:cNvPr id="6" name="code bar"/>
          <p:cNvSpPr/>
          <p:nvPr/>
        </p:nvSpPr>
        <p:spPr>
          <a:xfrm>
            <a:off x="457200" y="2377440"/>
            <a:ext cx="54864" cy="1028700"/>
          </a:xfrm>
          <a:prstGeom prst="rect">
            <a:avLst/>
          </a:prstGeom>
          <a:solidFill>
            <a:srgbClr val="A9C4E8"/>
          </a:solidFill>
          <a:ln w="12700">
            <a:solidFill>
              <a:srgbClr val="5D79A0"/>
            </a:solidFill>
            <a:prstDash val="solid"/>
          </a:ln>
        </p:spPr>
        <p:txBody>
          <a:bodyPr/>
          <a:lstStyle/>
          <a:p>
            <a:endParaRPr lang="en-GB"/>
          </a:p>
        </p:txBody>
      </p:sp>
      <p:sp>
        <p:nvSpPr>
          <p:cNvPr id="7" name="code line 1"/>
          <p:cNvSpPr txBox="1"/>
          <p:nvPr/>
        </p:nvSpPr>
        <p:spPr>
          <a:xfrm>
            <a:off x="640080" y="2514600"/>
            <a:ext cx="7955280" cy="377190"/>
          </a:xfrm>
          <a:prstGeom prst="rect">
            <a:avLst/>
          </a:prstGeom>
          <a:noFill/>
          <a:ln/>
        </p:spPr>
        <p:txBody>
          <a:bodyPr wrap="square" lIns="0" tIns="0" rIns="0" bIns="0" rtlCol="0" anchor="ctr"/>
          <a:lstStyle/>
          <a:p>
            <a:pPr marL="0" indent="0">
              <a:buNone/>
            </a:pPr>
            <a:r>
              <a:rPr lang="en-US" sz="2200" dirty="0">
                <a:solidFill>
                  <a:srgbClr val="6F86A8"/>
                </a:solidFill>
                <a:latin typeface="Courier New" pitchFamily="34" charset="0"/>
                <a:ea typeface="Courier New" pitchFamily="34" charset="-122"/>
                <a:cs typeface="Courier New" pitchFamily="34" charset="-120"/>
              </a:rPr>
              <a:t>&gt;&gt;&gt; </a:t>
            </a:r>
            <a:r>
              <a:rPr lang="en-US" sz="2200" dirty="0">
                <a:solidFill>
                  <a:srgbClr val="E6ECF5"/>
                </a:solidFill>
                <a:latin typeface="Courier New" pitchFamily="34" charset="0"/>
                <a:ea typeface="Courier New" pitchFamily="34" charset="-122"/>
                <a:cs typeface="Courier New" pitchFamily="34" charset="-120"/>
              </a:rPr>
              <a:t>import numpy as np</a:t>
            </a:r>
            <a:endParaRPr lang="en-US" sz="2200" dirty="0"/>
          </a:p>
        </p:txBody>
      </p:sp>
      <p:sp>
        <p:nvSpPr>
          <p:cNvPr id="8" name="code line 2"/>
          <p:cNvSpPr txBox="1"/>
          <p:nvPr/>
        </p:nvSpPr>
        <p:spPr>
          <a:xfrm>
            <a:off x="640080" y="2891790"/>
            <a:ext cx="7955280" cy="377190"/>
          </a:xfrm>
          <a:prstGeom prst="rect">
            <a:avLst/>
          </a:prstGeom>
          <a:noFill/>
          <a:ln/>
        </p:spPr>
        <p:txBody>
          <a:bodyPr wrap="square" lIns="0" tIns="0" rIns="0" bIns="0" rtlCol="0" anchor="ctr"/>
          <a:lstStyle/>
          <a:p>
            <a:pPr marL="0" indent="0">
              <a:buNone/>
            </a:pPr>
            <a:r>
              <a:rPr lang="en-US" sz="2200" dirty="0">
                <a:solidFill>
                  <a:srgbClr val="6F86A8"/>
                </a:solidFill>
                <a:latin typeface="Courier New" pitchFamily="34" charset="0"/>
                <a:ea typeface="Courier New" pitchFamily="34" charset="-122"/>
                <a:cs typeface="Courier New" pitchFamily="34" charset="-120"/>
              </a:rPr>
              <a:t>&gt;&gt;&gt; </a:t>
            </a:r>
            <a:r>
              <a:rPr lang="en-US" sz="2200" dirty="0">
                <a:solidFill>
                  <a:srgbClr val="E6ECF5"/>
                </a:solidFill>
                <a:latin typeface="Courier New" pitchFamily="34" charset="0"/>
                <a:ea typeface="Courier New" pitchFamily="34" charset="-122"/>
                <a:cs typeface="Courier New" pitchFamily="34" charset="-120"/>
              </a:rPr>
              <a:t>pixels = np.array(img)</a:t>
            </a:r>
            <a:endParaRPr lang="en-US" sz="2200" dirty="0"/>
          </a:p>
        </p:txBody>
      </p:sp>
      <p:sp>
        <p:nvSpPr>
          <p:cNvPr id="9" name="@1 addText"/>
          <p:cNvSpPr txBox="1"/>
          <p:nvPr/>
        </p:nvSpPr>
        <p:spPr>
          <a:xfrm>
            <a:off x="457200" y="356616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pixels is now the whole picture as a grid</a:t>
            </a:r>
            <a:endParaRPr lang="en-US" sz="1400" dirty="0"/>
          </a:p>
        </p:txBody>
      </p:sp>
      <p:sp>
        <p:nvSpPr>
          <p:cNvPr id="10"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10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Open a Picture</a:t>
            </a:r>
            <a:endParaRPr lang="en-US" sz="3400" dirty="0"/>
          </a:p>
        </p:txBody>
      </p:sp>
      <p:sp>
        <p:nvSpPr>
          <p:cNvPr id="3" name="Text 1"/>
          <p:cNvSpPr txBox="1"/>
          <p:nvPr/>
        </p:nvSpPr>
        <p:spPr>
          <a:xfrm>
            <a:off x="548640" y="640080"/>
            <a:ext cx="3657600" cy="457200"/>
          </a:xfrm>
          <a:prstGeom prst="rect">
            <a:avLst/>
          </a:prstGeom>
          <a:noFill/>
          <a:ln/>
        </p:spPr>
        <p:txBody>
          <a:bodyPr wrap="square" lIns="0" tIns="0" rIns="0" bIns="0" rtlCol="0" anchor="ctr"/>
          <a:lstStyle/>
          <a:p>
            <a:pPr marL="0" indent="0">
              <a:buNone/>
            </a:pPr>
            <a:r>
              <a:rPr lang="en-US" sz="2200" b="1" kern="0" spc="400" dirty="0">
                <a:solidFill>
                  <a:srgbClr val="A9C4E8"/>
                </a:solidFill>
                <a:latin typeface="Arial" pitchFamily="34" charset="0"/>
                <a:ea typeface="Arial" pitchFamily="34" charset="-122"/>
                <a:cs typeface="Arial" pitchFamily="34" charset="-120"/>
              </a:rPr>
              <a:t>TASK 1</a:t>
            </a:r>
            <a:endParaRPr lang="en-US" sz="2200" dirty="0"/>
          </a:p>
        </p:txBody>
      </p:sp>
      <p:sp>
        <p:nvSpPr>
          <p:cNvPr id="4" name="Text 2"/>
          <p:cNvSpPr txBox="1"/>
          <p:nvPr/>
        </p:nvSpPr>
        <p:spPr>
          <a:xfrm>
            <a:off x="548640" y="2743200"/>
            <a:ext cx="5852160" cy="822960"/>
          </a:xfrm>
          <a:prstGeom prst="rect">
            <a:avLst/>
          </a:prstGeom>
          <a:noFill/>
          <a:ln/>
        </p:spPr>
        <p:txBody>
          <a:bodyPr wrap="square" lIns="0" tIns="0" rIns="0" bIns="0" rtlCol="0" anchor="t"/>
          <a:lstStyle/>
          <a:p>
            <a:pPr marL="0" indent="0">
              <a:buNone/>
            </a:pPr>
            <a:r>
              <a:rPr lang="en-US" sz="1800" dirty="0">
                <a:solidFill>
                  <a:srgbClr val="C5D1E3"/>
                </a:solidFill>
                <a:latin typeface="Arial" pitchFamily="34" charset="0"/>
                <a:ea typeface="Arial" pitchFamily="34" charset="-122"/>
                <a:cs typeface="Arial" pitchFamily="34" charset="-120"/>
              </a:rPr>
              <a:t>Open image_explore.py. Predict the shape first: how many rows and columns? Run it (F5) and read shape.</a:t>
            </a:r>
            <a:endParaRPr lang="en-US" sz="1800" dirty="0"/>
          </a:p>
        </p:txBody>
      </p:sp>
      <p:sp>
        <p:nvSpPr>
          <p:cNvPr id="5" name="Timer pill"/>
          <p:cNvSpPr/>
          <p:nvPr/>
        </p:nvSpPr>
        <p:spPr>
          <a:xfrm>
            <a:off x="548640" y="3840480"/>
            <a:ext cx="2194560" cy="640080"/>
          </a:xfrm>
          <a:prstGeom prst="roundRect">
            <a:avLst>
              <a:gd name="adj" fmla="val 50000"/>
            </a:avLst>
          </a:prstGeom>
          <a:solidFill>
            <a:srgbClr val="A9C4E8"/>
          </a:solidFill>
          <a:ln w="12700">
            <a:solidFill>
              <a:srgbClr val="A9C4E8"/>
            </a:solidFill>
            <a:prstDash val="solid"/>
          </a:ln>
        </p:spPr>
        <p:txBody>
          <a:bodyPr/>
          <a:lstStyle/>
          <a:p>
            <a:endParaRPr lang="en-GB"/>
          </a:p>
        </p:txBody>
      </p:sp>
      <p:pic>
        <p:nvPicPr>
          <p:cNvPr id="6" name="Image 0" descr="clock"/>
          <p:cNvPicPr>
            <a:picLocks noChangeAspect="1"/>
          </p:cNvPicPr>
          <p:nvPr/>
        </p:nvPicPr>
        <p:blipFill>
          <a:blip r:embed="rId3"/>
          <a:stretch>
            <a:fillRect/>
          </a:stretch>
        </p:blipFill>
        <p:spPr>
          <a:xfrm>
            <a:off x="749808" y="3995928"/>
            <a:ext cx="329184" cy="329184"/>
          </a:xfrm>
          <a:prstGeom prst="rect">
            <a:avLst/>
          </a:prstGeom>
        </p:spPr>
      </p:pic>
      <p:sp>
        <p:nvSpPr>
          <p:cNvPr id="7" name="Text 4"/>
          <p:cNvSpPr txBox="1"/>
          <p:nvPr/>
        </p:nvSpPr>
        <p:spPr>
          <a:xfrm>
            <a:off x="1170432" y="3840480"/>
            <a:ext cx="1463040" cy="640080"/>
          </a:xfrm>
          <a:prstGeom prst="rect">
            <a:avLst/>
          </a:prstGeom>
          <a:noFill/>
          <a:ln/>
        </p:spPr>
        <p:txBody>
          <a:bodyPr wrap="square" lIns="0" tIns="0" rIns="0" bIns="0" rtlCol="0" anchor="ctr"/>
          <a:lstStyle/>
          <a:p>
            <a:pPr marL="0" indent="0">
              <a:buNone/>
            </a:pPr>
            <a:r>
              <a:rPr lang="en-US" sz="2000" b="1" dirty="0">
                <a:solidFill>
                  <a:srgbClr val="001B40"/>
                </a:solidFill>
                <a:latin typeface="Arial" pitchFamily="34" charset="0"/>
                <a:ea typeface="Arial" pitchFamily="34" charset="-122"/>
                <a:cs typeface="Arial" pitchFamily="34" charset="-120"/>
              </a:rPr>
              <a:t>5 min</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85800"/>
          </a:xfrm>
          <a:prstGeom prst="rect">
            <a:avLst/>
          </a:prstGeom>
          <a:noFill/>
          <a:ln/>
        </p:spPr>
        <p:txBody>
          <a:bodyPr wrap="square" lIns="0" tIns="0" rIns="0" bIns="0" rtlCol="0" anchor="ctr"/>
          <a:lstStyle/>
          <a:p>
            <a:pPr marL="0" indent="0" algn="l">
              <a:buNone/>
            </a:pPr>
            <a:r>
              <a:rPr lang="en-US" sz="2800" b="1" dirty="0">
                <a:solidFill>
                  <a:srgbClr val="001B40"/>
                </a:solidFill>
                <a:latin typeface="Arial" pitchFamily="34" charset="0"/>
                <a:ea typeface="Arial" pitchFamily="34" charset="-122"/>
                <a:cs typeface="Arial" pitchFamily="34" charset="-120"/>
              </a:rPr>
              <a:t>Task 1: Check</a:t>
            </a:r>
            <a:endParaRPr lang="en-US" sz="2800" dirty="0"/>
          </a:p>
        </p:txBody>
      </p:sp>
      <p:sp>
        <p:nvSpPr>
          <p:cNvPr id="3" name="ANSWERS pill"/>
          <p:cNvSpPr/>
          <p:nvPr/>
        </p:nvSpPr>
        <p:spPr>
          <a:xfrm>
            <a:off x="7589520" y="411480"/>
            <a:ext cx="10972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589520" y="411480"/>
            <a:ext cx="10972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ANSWERS</a:t>
            </a:r>
            <a:endParaRPr lang="en-US" sz="1200" dirty="0"/>
          </a:p>
        </p:txBody>
      </p:sp>
      <p:sp>
        <p:nvSpPr>
          <p:cNvPr id="5" name="@1 Card"/>
          <p:cNvSpPr/>
          <p:nvPr/>
        </p:nvSpPr>
        <p:spPr>
          <a:xfrm>
            <a:off x="457200" y="1371600"/>
            <a:ext cx="8229600" cy="1097280"/>
          </a:xfrm>
          <a:prstGeom prst="roundRect">
            <a:avLst>
              <a:gd name="adj" fmla="val 10000"/>
            </a:avLst>
          </a:prstGeom>
          <a:solidFill>
            <a:srgbClr val="EEF2F7"/>
          </a:solidFill>
          <a:ln w="9525">
            <a:solidFill>
              <a:srgbClr val="C5D1E3"/>
            </a:solidFill>
            <a:prstDash val="solid"/>
          </a:ln>
        </p:spPr>
        <p:txBody>
          <a:bodyPr/>
          <a:lstStyle/>
          <a:p>
            <a:endParaRPr lang="en-GB"/>
          </a:p>
        </p:txBody>
      </p:sp>
      <p:sp>
        <p:nvSpPr>
          <p:cNvPr id="6" name="@1 addText"/>
          <p:cNvSpPr txBox="1"/>
          <p:nvPr/>
        </p:nvSpPr>
        <p:spPr>
          <a:xfrm>
            <a:off x="457200" y="1371600"/>
            <a:ext cx="8229600" cy="1097280"/>
          </a:xfrm>
          <a:prstGeom prst="rect">
            <a:avLst/>
          </a:prstGeom>
          <a:noFill/>
          <a:ln/>
        </p:spPr>
        <p:txBody>
          <a:bodyPr wrap="square" lIns="0" tIns="0" rIns="0" bIns="0" rtlCol="0" anchor="ctr"/>
          <a:lstStyle/>
          <a:p>
            <a:pPr marL="0" indent="0" algn="ctr">
              <a:buNone/>
            </a:pPr>
            <a:r>
              <a:rPr lang="en-US" sz="4000" b="1" dirty="0">
                <a:solidFill>
                  <a:srgbClr val="002D6A"/>
                </a:solidFill>
                <a:latin typeface="Courier New" pitchFamily="34" charset="0"/>
                <a:ea typeface="Courier New" pitchFamily="34" charset="-122"/>
                <a:cs typeface="Courier New" pitchFamily="34" charset="-120"/>
              </a:rPr>
              <a:t>(320, 320, 3)</a:t>
            </a:r>
            <a:endParaRPr lang="en-US" sz="4000" dirty="0"/>
          </a:p>
        </p:txBody>
      </p:sp>
      <p:sp>
        <p:nvSpPr>
          <p:cNvPr id="7" name="@2 addText"/>
          <p:cNvSpPr txBox="1"/>
          <p:nvPr/>
        </p:nvSpPr>
        <p:spPr>
          <a:xfrm>
            <a:off x="457200" y="2743200"/>
            <a:ext cx="8229600" cy="548640"/>
          </a:xfrm>
          <a:prstGeom prst="rect">
            <a:avLst/>
          </a:prstGeom>
          <a:noFill/>
          <a:ln/>
        </p:spPr>
        <p:txBody>
          <a:bodyPr wrap="square" lIns="0" tIns="0" rIns="0" bIns="0" rtlCol="0" anchor="ctr"/>
          <a:lstStyle/>
          <a:p>
            <a:pPr marL="0" indent="0" algn="ctr">
              <a:buNone/>
            </a:pPr>
            <a:r>
              <a:rPr lang="en-US" sz="2200" dirty="0">
                <a:solidFill>
                  <a:srgbClr val="22262E"/>
                </a:solidFill>
                <a:latin typeface="Arial" pitchFamily="34" charset="0"/>
                <a:ea typeface="Arial" pitchFamily="34" charset="-122"/>
                <a:cs typeface="Arial" pitchFamily="34" charset="-120"/>
              </a:rPr>
              <a:t>rows x columns x 3 colour numbers</a:t>
            </a:r>
            <a:endParaRPr lang="en-US" sz="2200" dirty="0"/>
          </a:p>
        </p:txBody>
      </p:sp>
      <p:sp>
        <p:nvSpPr>
          <p:cNvPr id="8"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2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2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Rows and Columns</a:t>
            </a:r>
            <a:endParaRPr lang="en-US" sz="3000" dirty="0"/>
          </a:p>
        </p:txBody>
      </p:sp>
      <p:sp>
        <p:nvSpPr>
          <p:cNvPr id="3" name="3 MIN TALK pill"/>
          <p:cNvSpPr/>
          <p:nvPr/>
        </p:nvSpPr>
        <p:spPr>
          <a:xfrm>
            <a:off x="7132320" y="411480"/>
            <a:ext cx="15544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132320" y="411480"/>
            <a:ext cx="15544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3 MIN TALK</a:t>
            </a:r>
            <a:endParaRPr lang="en-US" sz="1200" dirty="0"/>
          </a:p>
        </p:txBody>
      </p:sp>
      <p:pic>
        <p:nvPicPr>
          <p:cNvPr id="5" name="Image 0" descr="The cow photo with row numbers down the side and column numbers across the top"/>
          <p:cNvPicPr>
            <a:picLocks noChangeAspect="1"/>
          </p:cNvPicPr>
          <p:nvPr/>
        </p:nvPicPr>
        <p:blipFill>
          <a:blip r:embed="rId3"/>
          <a:stretch>
            <a:fillRect/>
          </a:stretch>
        </p:blipFill>
        <p:spPr>
          <a:xfrm>
            <a:off x="457200" y="1097280"/>
            <a:ext cx="3566160" cy="3566160"/>
          </a:xfrm>
          <a:prstGeom prst="rect">
            <a:avLst/>
          </a:prstGeom>
        </p:spPr>
      </p:pic>
      <p:sp>
        <p:nvSpPr>
          <p:cNvPr id="6" name="@1 dot"/>
          <p:cNvSpPr/>
          <p:nvPr/>
        </p:nvSpPr>
        <p:spPr>
          <a:xfrm>
            <a:off x="4389120" y="1316736"/>
            <a:ext cx="109728" cy="109728"/>
          </a:xfrm>
          <a:prstGeom prst="ellipse">
            <a:avLst/>
          </a:prstGeom>
          <a:solidFill>
            <a:srgbClr val="002D6A"/>
          </a:solidFill>
          <a:ln w="12700">
            <a:solidFill>
              <a:srgbClr val="002D6A"/>
            </a:solidFill>
            <a:prstDash val="solid"/>
          </a:ln>
        </p:spPr>
        <p:txBody>
          <a:bodyPr/>
          <a:lstStyle/>
          <a:p>
            <a:endParaRPr lang="en-GB"/>
          </a:p>
        </p:txBody>
      </p:sp>
      <p:sp>
        <p:nvSpPr>
          <p:cNvPr id="7" name="@1 addText"/>
          <p:cNvSpPr txBox="1"/>
          <p:nvPr/>
        </p:nvSpPr>
        <p:spPr>
          <a:xfrm>
            <a:off x="4663440" y="1188720"/>
            <a:ext cx="4023360" cy="594360"/>
          </a:xfrm>
          <a:prstGeom prst="rect">
            <a:avLst/>
          </a:prstGeom>
          <a:noFill/>
          <a:ln/>
        </p:spPr>
        <p:txBody>
          <a:bodyPr wrap="square" lIns="0" tIns="0" rIns="0" bIns="0" rtlCol="0" anchor="t"/>
          <a:lstStyle/>
          <a:p>
            <a:pPr marL="0" indent="0">
              <a:buNone/>
            </a:pPr>
            <a:r>
              <a:rPr lang="en-US" sz="1800" dirty="0">
                <a:solidFill>
                  <a:srgbClr val="22262E"/>
                </a:solidFill>
                <a:latin typeface="Arial" pitchFamily="34" charset="0"/>
                <a:ea typeface="Arial" pitchFamily="34" charset="-122"/>
                <a:cs typeface="Arial" pitchFamily="34" charset="-120"/>
              </a:rPr>
              <a:t>Rows count down. Columns count across.</a:t>
            </a:r>
            <a:endParaRPr lang="en-US" sz="1800" dirty="0"/>
          </a:p>
        </p:txBody>
      </p:sp>
      <p:sp>
        <p:nvSpPr>
          <p:cNvPr id="8" name="@2 dot"/>
          <p:cNvSpPr/>
          <p:nvPr/>
        </p:nvSpPr>
        <p:spPr>
          <a:xfrm>
            <a:off x="4389120" y="1956816"/>
            <a:ext cx="109728" cy="109728"/>
          </a:xfrm>
          <a:prstGeom prst="ellipse">
            <a:avLst/>
          </a:prstGeom>
          <a:solidFill>
            <a:srgbClr val="002D6A"/>
          </a:solidFill>
          <a:ln w="12700">
            <a:solidFill>
              <a:srgbClr val="002D6A"/>
            </a:solidFill>
            <a:prstDash val="solid"/>
          </a:ln>
        </p:spPr>
        <p:txBody>
          <a:bodyPr/>
          <a:lstStyle/>
          <a:p>
            <a:endParaRPr lang="en-GB"/>
          </a:p>
        </p:txBody>
      </p:sp>
      <p:sp>
        <p:nvSpPr>
          <p:cNvPr id="9" name="@2 addText"/>
          <p:cNvSpPr txBox="1"/>
          <p:nvPr/>
        </p:nvSpPr>
        <p:spPr>
          <a:xfrm>
            <a:off x="4663440" y="1828800"/>
            <a:ext cx="4023360" cy="594360"/>
          </a:xfrm>
          <a:prstGeom prst="rect">
            <a:avLst/>
          </a:prstGeom>
          <a:noFill/>
          <a:ln/>
        </p:spPr>
        <p:txBody>
          <a:bodyPr wrap="square" lIns="0" tIns="0" rIns="0" bIns="0" rtlCol="0" anchor="t"/>
          <a:lstStyle/>
          <a:p>
            <a:pPr marL="0" indent="0">
              <a:buNone/>
            </a:pPr>
            <a:r>
              <a:rPr lang="en-US" sz="1800" dirty="0">
                <a:solidFill>
                  <a:srgbClr val="22262E"/>
                </a:solidFill>
                <a:latin typeface="Arial" pitchFamily="34" charset="0"/>
                <a:ea typeface="Arial" pitchFamily="34" charset="-122"/>
                <a:cs typeface="Arial" pitchFamily="34" charset="-120"/>
              </a:rPr>
              <a:t>Counting starts at 0, top left.</a:t>
            </a:r>
            <a:endParaRPr lang="en-US" sz="1800" dirty="0"/>
          </a:p>
        </p:txBody>
      </p:sp>
      <p:sp>
        <p:nvSpPr>
          <p:cNvPr id="10" name="@3 dot"/>
          <p:cNvSpPr/>
          <p:nvPr/>
        </p:nvSpPr>
        <p:spPr>
          <a:xfrm>
            <a:off x="4389120" y="2596896"/>
            <a:ext cx="109728" cy="109728"/>
          </a:xfrm>
          <a:prstGeom prst="ellipse">
            <a:avLst/>
          </a:prstGeom>
          <a:solidFill>
            <a:srgbClr val="002D6A"/>
          </a:solidFill>
          <a:ln w="12700">
            <a:solidFill>
              <a:srgbClr val="002D6A"/>
            </a:solidFill>
            <a:prstDash val="solid"/>
          </a:ln>
        </p:spPr>
        <p:txBody>
          <a:bodyPr/>
          <a:lstStyle/>
          <a:p>
            <a:endParaRPr lang="en-GB"/>
          </a:p>
        </p:txBody>
      </p:sp>
      <p:sp>
        <p:nvSpPr>
          <p:cNvPr id="11" name="@3 addText"/>
          <p:cNvSpPr txBox="1"/>
          <p:nvPr/>
        </p:nvSpPr>
        <p:spPr>
          <a:xfrm>
            <a:off x="4663440" y="2468880"/>
            <a:ext cx="4023360" cy="594360"/>
          </a:xfrm>
          <a:prstGeom prst="rect">
            <a:avLst/>
          </a:prstGeom>
          <a:noFill/>
          <a:ln/>
        </p:spPr>
        <p:txBody>
          <a:bodyPr wrap="square" lIns="0" tIns="0" rIns="0" bIns="0" rtlCol="0" anchor="t"/>
          <a:lstStyle/>
          <a:p>
            <a:pPr marL="0" indent="0">
              <a:buNone/>
            </a:pPr>
            <a:r>
              <a:rPr lang="en-US" sz="1800" dirty="0">
                <a:solidFill>
                  <a:srgbClr val="22262E"/>
                </a:solidFill>
                <a:latin typeface="Arial" pitchFamily="34" charset="0"/>
                <a:ea typeface="Arial" pitchFamily="34" charset="-122"/>
                <a:cs typeface="Arial" pitchFamily="34" charset="-120"/>
              </a:rPr>
              <a:t>Row first, then column.</a:t>
            </a:r>
            <a:endParaRPr lang="en-US" sz="1800" dirty="0"/>
          </a:p>
        </p:txBody>
      </p:sp>
      <p:sp>
        <p:nvSpPr>
          <p:cNvPr id="12" name="code bg"/>
          <p:cNvSpPr/>
          <p:nvPr/>
        </p:nvSpPr>
        <p:spPr>
          <a:xfrm>
            <a:off x="4389120" y="3200400"/>
            <a:ext cx="4297680" cy="891540"/>
          </a:xfrm>
          <a:prstGeom prst="rect">
            <a:avLst/>
          </a:prstGeom>
          <a:solidFill>
            <a:srgbClr val="0B2A57"/>
          </a:solidFill>
          <a:ln w="12700">
            <a:solidFill>
              <a:srgbClr val="0B2A57"/>
            </a:solidFill>
            <a:prstDash val="solid"/>
          </a:ln>
        </p:spPr>
        <p:txBody>
          <a:bodyPr/>
          <a:lstStyle/>
          <a:p>
            <a:endParaRPr lang="en-GB"/>
          </a:p>
        </p:txBody>
      </p:sp>
      <p:sp>
        <p:nvSpPr>
          <p:cNvPr id="13" name="code bar"/>
          <p:cNvSpPr/>
          <p:nvPr/>
        </p:nvSpPr>
        <p:spPr>
          <a:xfrm>
            <a:off x="4389120" y="3200400"/>
            <a:ext cx="54864" cy="891540"/>
          </a:xfrm>
          <a:prstGeom prst="rect">
            <a:avLst/>
          </a:prstGeom>
          <a:solidFill>
            <a:srgbClr val="A9C4E8"/>
          </a:solidFill>
          <a:ln w="12700">
            <a:solidFill>
              <a:srgbClr val="5D79A0"/>
            </a:solidFill>
            <a:prstDash val="solid"/>
          </a:ln>
        </p:spPr>
        <p:txBody>
          <a:bodyPr/>
          <a:lstStyle/>
          <a:p>
            <a:endParaRPr lang="en-GB"/>
          </a:p>
        </p:txBody>
      </p:sp>
      <p:sp>
        <p:nvSpPr>
          <p:cNvPr id="14" name="code line 1"/>
          <p:cNvSpPr txBox="1"/>
          <p:nvPr/>
        </p:nvSpPr>
        <p:spPr>
          <a:xfrm>
            <a:off x="4572000" y="3337560"/>
            <a:ext cx="402336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&gt;&gt;&gt; </a:t>
            </a:r>
            <a:r>
              <a:rPr lang="en-US" sz="1800" dirty="0">
                <a:solidFill>
                  <a:srgbClr val="E6ECF5"/>
                </a:solidFill>
                <a:latin typeface="Courier New" pitchFamily="34" charset="0"/>
                <a:ea typeface="Courier New" pitchFamily="34" charset="-122"/>
                <a:cs typeface="Courier New" pitchFamily="34" charset="-120"/>
              </a:rPr>
              <a:t>print(pixels[0, 0])</a:t>
            </a:r>
            <a:endParaRPr lang="en-US" sz="1800" dirty="0"/>
          </a:p>
        </p:txBody>
      </p:sp>
      <p:sp>
        <p:nvSpPr>
          <p:cNvPr id="15" name="@4 code line 2"/>
          <p:cNvSpPr txBox="1"/>
          <p:nvPr/>
        </p:nvSpPr>
        <p:spPr>
          <a:xfrm>
            <a:off x="4572000" y="3646170"/>
            <a:ext cx="4023360" cy="308610"/>
          </a:xfrm>
          <a:prstGeom prst="rect">
            <a:avLst/>
          </a:prstGeom>
          <a:noFill/>
          <a:ln/>
        </p:spPr>
        <p:txBody>
          <a:bodyPr wrap="square" lIns="0" tIns="0" rIns="0" bIns="0" rtlCol="0" anchor="ctr"/>
          <a:lstStyle/>
          <a:p>
            <a:pPr marL="0" indent="0">
              <a:buNone/>
            </a:pPr>
            <a:r>
              <a:rPr lang="en-US" sz="1800" dirty="0">
                <a:solidFill>
                  <a:srgbClr val="B8E0B0"/>
                </a:solidFill>
                <a:latin typeface="Courier New" pitchFamily="34" charset="0"/>
                <a:ea typeface="Courier New" pitchFamily="34" charset="-122"/>
                <a:cs typeface="Courier New" pitchFamily="34" charset="-120"/>
              </a:rPr>
              <a:t>[16  0  0]</a:t>
            </a:r>
            <a:endParaRPr lang="en-US" sz="1800" dirty="0"/>
          </a:p>
        </p:txBody>
      </p:sp>
      <p:sp>
        <p:nvSpPr>
          <p:cNvPr id="16" name="@4 addText"/>
          <p:cNvSpPr txBox="1"/>
          <p:nvPr/>
        </p:nvSpPr>
        <p:spPr>
          <a:xfrm>
            <a:off x="457200" y="411480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red 16, green 0, blue 0: almost black</a:t>
            </a:r>
            <a:endParaRPr lang="en-US" sz="1400" dirty="0"/>
          </a:p>
        </p:txBody>
      </p:sp>
      <p:sp>
        <p:nvSpPr>
          <p:cNvPr id="17"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13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2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200"/>
                                        <p:tgtEl>
                                          <p:spTgt spid="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2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200"/>
                                        <p:tgtEl>
                                          <p:spTgt spid="9"/>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200"/>
                                        <p:tgtEl>
                                          <p:spTgt spid="1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200"/>
                                        <p:tgtEl>
                                          <p:spTgt spid="11"/>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2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2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5" grpId="0" animBg="1"/>
      <p:bldP spid="1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Find a Pixel</a:t>
            </a:r>
            <a:endParaRPr lang="en-US" sz="3400" dirty="0"/>
          </a:p>
        </p:txBody>
      </p:sp>
      <p:sp>
        <p:nvSpPr>
          <p:cNvPr id="3" name="Text 1"/>
          <p:cNvSpPr txBox="1"/>
          <p:nvPr/>
        </p:nvSpPr>
        <p:spPr>
          <a:xfrm>
            <a:off x="548640" y="640080"/>
            <a:ext cx="3657600" cy="457200"/>
          </a:xfrm>
          <a:prstGeom prst="rect">
            <a:avLst/>
          </a:prstGeom>
          <a:noFill/>
          <a:ln/>
        </p:spPr>
        <p:txBody>
          <a:bodyPr wrap="square" lIns="0" tIns="0" rIns="0" bIns="0" rtlCol="0" anchor="ctr"/>
          <a:lstStyle/>
          <a:p>
            <a:pPr marL="0" indent="0">
              <a:buNone/>
            </a:pPr>
            <a:r>
              <a:rPr lang="en-US" sz="2200" b="1" kern="0" spc="400" dirty="0">
                <a:solidFill>
                  <a:srgbClr val="A9C4E8"/>
                </a:solidFill>
                <a:latin typeface="Arial" pitchFamily="34" charset="0"/>
                <a:ea typeface="Arial" pitchFamily="34" charset="-122"/>
                <a:cs typeface="Arial" pitchFamily="34" charset="-120"/>
              </a:rPr>
              <a:t>TASK 2</a:t>
            </a:r>
            <a:endParaRPr lang="en-US" sz="2200" dirty="0"/>
          </a:p>
        </p:txBody>
      </p:sp>
      <p:sp>
        <p:nvSpPr>
          <p:cNvPr id="4" name="Text 2"/>
          <p:cNvSpPr txBox="1"/>
          <p:nvPr/>
        </p:nvSpPr>
        <p:spPr>
          <a:xfrm>
            <a:off x="548640" y="2743200"/>
            <a:ext cx="5852160" cy="822960"/>
          </a:xfrm>
          <a:prstGeom prst="rect">
            <a:avLst/>
          </a:prstGeom>
          <a:noFill/>
          <a:ln/>
        </p:spPr>
        <p:txBody>
          <a:bodyPr wrap="square" lIns="0" tIns="0" rIns="0" bIns="0" rtlCol="0" anchor="t"/>
          <a:lstStyle/>
          <a:p>
            <a:pPr marL="0" indent="0">
              <a:buNone/>
            </a:pPr>
            <a:r>
              <a:rPr lang="en-US" sz="1800" dirty="0">
                <a:solidFill>
                  <a:srgbClr val="C5D1E3"/>
                </a:solidFill>
                <a:latin typeface="Arial" pitchFamily="34" charset="0"/>
                <a:ea typeface="Arial" pitchFamily="34" charset="-122"/>
                <a:cs typeface="Arial" pitchFamily="34" charset="-120"/>
              </a:rPr>
              <a:t>Print pixels[0, 0], then the pixel in row 100, column 200. Predict first: which of the three numbers is biggest?</a:t>
            </a:r>
            <a:endParaRPr lang="en-US" sz="1800" dirty="0"/>
          </a:p>
        </p:txBody>
      </p:sp>
      <p:sp>
        <p:nvSpPr>
          <p:cNvPr id="5" name="Timer pill"/>
          <p:cNvSpPr/>
          <p:nvPr/>
        </p:nvSpPr>
        <p:spPr>
          <a:xfrm>
            <a:off x="548640" y="3840480"/>
            <a:ext cx="2194560" cy="640080"/>
          </a:xfrm>
          <a:prstGeom prst="roundRect">
            <a:avLst>
              <a:gd name="adj" fmla="val 50000"/>
            </a:avLst>
          </a:prstGeom>
          <a:solidFill>
            <a:srgbClr val="A9C4E8"/>
          </a:solidFill>
          <a:ln w="12700">
            <a:solidFill>
              <a:srgbClr val="A9C4E8"/>
            </a:solidFill>
            <a:prstDash val="solid"/>
          </a:ln>
        </p:spPr>
        <p:txBody>
          <a:bodyPr/>
          <a:lstStyle/>
          <a:p>
            <a:endParaRPr lang="en-GB"/>
          </a:p>
        </p:txBody>
      </p:sp>
      <p:pic>
        <p:nvPicPr>
          <p:cNvPr id="6" name="Image 0" descr="clock"/>
          <p:cNvPicPr>
            <a:picLocks noChangeAspect="1"/>
          </p:cNvPicPr>
          <p:nvPr/>
        </p:nvPicPr>
        <p:blipFill>
          <a:blip r:embed="rId3"/>
          <a:stretch>
            <a:fillRect/>
          </a:stretch>
        </p:blipFill>
        <p:spPr>
          <a:xfrm>
            <a:off x="749808" y="3995928"/>
            <a:ext cx="329184" cy="329184"/>
          </a:xfrm>
          <a:prstGeom prst="rect">
            <a:avLst/>
          </a:prstGeom>
        </p:spPr>
      </p:pic>
      <p:sp>
        <p:nvSpPr>
          <p:cNvPr id="7" name="Text 4"/>
          <p:cNvSpPr txBox="1"/>
          <p:nvPr/>
        </p:nvSpPr>
        <p:spPr>
          <a:xfrm>
            <a:off x="1170432" y="3840480"/>
            <a:ext cx="1463040" cy="640080"/>
          </a:xfrm>
          <a:prstGeom prst="rect">
            <a:avLst/>
          </a:prstGeom>
          <a:noFill/>
          <a:ln/>
        </p:spPr>
        <p:txBody>
          <a:bodyPr wrap="square" lIns="0" tIns="0" rIns="0" bIns="0" rtlCol="0" anchor="ctr"/>
          <a:lstStyle/>
          <a:p>
            <a:pPr marL="0" indent="0">
              <a:buNone/>
            </a:pPr>
            <a:r>
              <a:rPr lang="en-US" sz="2000" b="1" dirty="0">
                <a:solidFill>
                  <a:srgbClr val="001B40"/>
                </a:solidFill>
                <a:latin typeface="Arial" pitchFamily="34" charset="0"/>
                <a:ea typeface="Arial" pitchFamily="34" charset="-122"/>
                <a:cs typeface="Arial" pitchFamily="34" charset="-120"/>
              </a:rPr>
              <a:t>3 min</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85800"/>
          </a:xfrm>
          <a:prstGeom prst="rect">
            <a:avLst/>
          </a:prstGeom>
          <a:noFill/>
          <a:ln/>
        </p:spPr>
        <p:txBody>
          <a:bodyPr wrap="square" lIns="0" tIns="0" rIns="0" bIns="0" rtlCol="0" anchor="ctr"/>
          <a:lstStyle/>
          <a:p>
            <a:pPr marL="0" indent="0" algn="l">
              <a:buNone/>
            </a:pPr>
            <a:r>
              <a:rPr lang="en-US" sz="2800" b="1" dirty="0">
                <a:solidFill>
                  <a:srgbClr val="001B40"/>
                </a:solidFill>
                <a:latin typeface="Arial" pitchFamily="34" charset="0"/>
                <a:ea typeface="Arial" pitchFamily="34" charset="-122"/>
                <a:cs typeface="Arial" pitchFamily="34" charset="-120"/>
              </a:rPr>
              <a:t>Task 2: Check</a:t>
            </a:r>
            <a:endParaRPr lang="en-US" sz="2800" dirty="0"/>
          </a:p>
        </p:txBody>
      </p:sp>
      <p:sp>
        <p:nvSpPr>
          <p:cNvPr id="3" name="ANSWERS pill"/>
          <p:cNvSpPr/>
          <p:nvPr/>
        </p:nvSpPr>
        <p:spPr>
          <a:xfrm>
            <a:off x="7589520" y="411480"/>
            <a:ext cx="10972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589520" y="411480"/>
            <a:ext cx="10972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ANSWERS</a:t>
            </a:r>
            <a:endParaRPr lang="en-US" sz="1200" dirty="0"/>
          </a:p>
        </p:txBody>
      </p:sp>
      <p:sp>
        <p:nvSpPr>
          <p:cNvPr id="5" name="@1 Card"/>
          <p:cNvSpPr/>
          <p:nvPr/>
        </p:nvSpPr>
        <p:spPr>
          <a:xfrm>
            <a:off x="457200" y="1371600"/>
            <a:ext cx="8229600" cy="1097280"/>
          </a:xfrm>
          <a:prstGeom prst="roundRect">
            <a:avLst>
              <a:gd name="adj" fmla="val 10000"/>
            </a:avLst>
          </a:prstGeom>
          <a:solidFill>
            <a:srgbClr val="EEF2F7"/>
          </a:solidFill>
          <a:ln w="9525">
            <a:solidFill>
              <a:srgbClr val="C5D1E3"/>
            </a:solidFill>
            <a:prstDash val="solid"/>
          </a:ln>
        </p:spPr>
        <p:txBody>
          <a:bodyPr/>
          <a:lstStyle/>
          <a:p>
            <a:endParaRPr lang="en-GB"/>
          </a:p>
        </p:txBody>
      </p:sp>
      <p:sp>
        <p:nvSpPr>
          <p:cNvPr id="6" name="@1 addText"/>
          <p:cNvSpPr txBox="1"/>
          <p:nvPr/>
        </p:nvSpPr>
        <p:spPr>
          <a:xfrm>
            <a:off x="457200" y="1371600"/>
            <a:ext cx="8229600" cy="1097280"/>
          </a:xfrm>
          <a:prstGeom prst="rect">
            <a:avLst/>
          </a:prstGeom>
          <a:noFill/>
          <a:ln/>
        </p:spPr>
        <p:txBody>
          <a:bodyPr wrap="square" lIns="0" tIns="0" rIns="0" bIns="0" rtlCol="0" anchor="ctr"/>
          <a:lstStyle/>
          <a:p>
            <a:pPr marL="0" indent="0" algn="ctr">
              <a:buNone/>
            </a:pPr>
            <a:r>
              <a:rPr lang="en-US" sz="4000" b="1" dirty="0">
                <a:solidFill>
                  <a:srgbClr val="002D6A"/>
                </a:solidFill>
                <a:latin typeface="Courier New" pitchFamily="34" charset="0"/>
                <a:ea typeface="Courier New" pitchFamily="34" charset="-122"/>
                <a:cs typeface="Courier New" pitchFamily="34" charset="-120"/>
              </a:rPr>
              <a:t>[94 50 37]</a:t>
            </a:r>
            <a:endParaRPr lang="en-US" sz="4000" dirty="0"/>
          </a:p>
        </p:txBody>
      </p:sp>
      <p:sp>
        <p:nvSpPr>
          <p:cNvPr id="7" name="@2 addText"/>
          <p:cNvSpPr txBox="1"/>
          <p:nvPr/>
        </p:nvSpPr>
        <p:spPr>
          <a:xfrm>
            <a:off x="457200" y="2743200"/>
            <a:ext cx="8229600" cy="548640"/>
          </a:xfrm>
          <a:prstGeom prst="rect">
            <a:avLst/>
          </a:prstGeom>
          <a:noFill/>
          <a:ln/>
        </p:spPr>
        <p:txBody>
          <a:bodyPr wrap="square" lIns="0" tIns="0" rIns="0" bIns="0" rtlCol="0" anchor="ctr"/>
          <a:lstStyle/>
          <a:p>
            <a:pPr marL="0" indent="0" algn="ctr">
              <a:buNone/>
            </a:pPr>
            <a:r>
              <a:rPr lang="en-US" sz="2200" dirty="0">
                <a:solidFill>
                  <a:srgbClr val="22262E"/>
                </a:solidFill>
                <a:latin typeface="Arial" pitchFamily="34" charset="0"/>
                <a:ea typeface="Arial" pitchFamily="34" charset="-122"/>
                <a:cs typeface="Arial" pitchFamily="34" charset="-120"/>
              </a:rPr>
              <a:t>a reddish brown: red is the biggest number</a:t>
            </a:r>
            <a:endParaRPr lang="en-US" sz="2200" dirty="0"/>
          </a:p>
        </p:txBody>
      </p:sp>
      <p:sp>
        <p:nvSpPr>
          <p:cNvPr id="8"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15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2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2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Crop: a Block of Pixels</a:t>
            </a:r>
            <a:endParaRPr lang="en-US" sz="3000" dirty="0"/>
          </a:p>
        </p:txBody>
      </p:sp>
      <p:sp>
        <p:nvSpPr>
          <p:cNvPr id="3" name="2 MIN TALK pill"/>
          <p:cNvSpPr/>
          <p:nvPr/>
        </p:nvSpPr>
        <p:spPr>
          <a:xfrm>
            <a:off x="7132320" y="411480"/>
            <a:ext cx="15544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132320" y="411480"/>
            <a:ext cx="15544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2 MIN TALK</a:t>
            </a:r>
            <a:endParaRPr lang="en-US" sz="1200" dirty="0"/>
          </a:p>
        </p:txBody>
      </p:sp>
      <p:sp>
        <p:nvSpPr>
          <p:cNvPr id="5" name="code bg"/>
          <p:cNvSpPr/>
          <p:nvPr/>
        </p:nvSpPr>
        <p:spPr>
          <a:xfrm>
            <a:off x="457200" y="1097280"/>
            <a:ext cx="8229600" cy="617220"/>
          </a:xfrm>
          <a:prstGeom prst="rect">
            <a:avLst/>
          </a:prstGeom>
          <a:solidFill>
            <a:srgbClr val="0B2A57"/>
          </a:solidFill>
          <a:ln w="12700">
            <a:solidFill>
              <a:srgbClr val="0B2A57"/>
            </a:solidFill>
            <a:prstDash val="solid"/>
          </a:ln>
        </p:spPr>
        <p:txBody>
          <a:bodyPr/>
          <a:lstStyle/>
          <a:p>
            <a:endParaRPr lang="en-GB"/>
          </a:p>
        </p:txBody>
      </p:sp>
      <p:sp>
        <p:nvSpPr>
          <p:cNvPr id="6" name="code bar"/>
          <p:cNvSpPr/>
          <p:nvPr/>
        </p:nvSpPr>
        <p:spPr>
          <a:xfrm>
            <a:off x="457200" y="1097280"/>
            <a:ext cx="54864" cy="617220"/>
          </a:xfrm>
          <a:prstGeom prst="rect">
            <a:avLst/>
          </a:prstGeom>
          <a:solidFill>
            <a:srgbClr val="A9C4E8"/>
          </a:solidFill>
          <a:ln w="12700">
            <a:solidFill>
              <a:srgbClr val="5D79A0"/>
            </a:solidFill>
            <a:prstDash val="solid"/>
          </a:ln>
        </p:spPr>
        <p:txBody>
          <a:bodyPr/>
          <a:lstStyle/>
          <a:p>
            <a:endParaRPr lang="en-GB"/>
          </a:p>
        </p:txBody>
      </p:sp>
      <p:sp>
        <p:nvSpPr>
          <p:cNvPr id="7" name="code line 1"/>
          <p:cNvSpPr txBox="1"/>
          <p:nvPr/>
        </p:nvSpPr>
        <p:spPr>
          <a:xfrm>
            <a:off x="640080" y="1234440"/>
            <a:ext cx="7955280" cy="342900"/>
          </a:xfrm>
          <a:prstGeom prst="rect">
            <a:avLst/>
          </a:prstGeom>
          <a:noFill/>
          <a:ln/>
        </p:spPr>
        <p:txBody>
          <a:bodyPr wrap="square" lIns="0" tIns="0" rIns="0" bIns="0" rtlCol="0" anchor="ctr"/>
          <a:lstStyle/>
          <a:p>
            <a:pPr marL="0" indent="0">
              <a:buNone/>
            </a:pPr>
            <a:r>
              <a:rPr lang="en-US" sz="2000" dirty="0">
                <a:solidFill>
                  <a:srgbClr val="6F86A8"/>
                </a:solidFill>
                <a:latin typeface="Courier New" pitchFamily="34" charset="0"/>
                <a:ea typeface="Courier New" pitchFamily="34" charset="-122"/>
                <a:cs typeface="Courier New" pitchFamily="34" charset="-120"/>
              </a:rPr>
              <a:t>&gt;&gt;&gt; </a:t>
            </a:r>
            <a:r>
              <a:rPr lang="en-US" sz="2000" dirty="0">
                <a:solidFill>
                  <a:srgbClr val="E6ECF5"/>
                </a:solidFill>
                <a:latin typeface="Courier New" pitchFamily="34" charset="0"/>
                <a:ea typeface="Courier New" pitchFamily="34" charset="-122"/>
                <a:cs typeface="Courier New" pitchFamily="34" charset="-120"/>
              </a:rPr>
              <a:t>corner = pixels[0:100, 0:100]</a:t>
            </a:r>
            <a:endParaRPr lang="en-US" sz="2000" dirty="0"/>
          </a:p>
        </p:txBody>
      </p:sp>
      <p:pic>
        <p:nvPicPr>
          <p:cNvPr id="8" name="Image 0" descr="The cow photo with a box marking its top-left corner"/>
          <p:cNvPicPr>
            <a:picLocks noChangeAspect="1"/>
          </p:cNvPicPr>
          <p:nvPr/>
        </p:nvPicPr>
        <p:blipFill>
          <a:blip r:embed="rId3"/>
          <a:stretch>
            <a:fillRect/>
          </a:stretch>
        </p:blipFill>
        <p:spPr>
          <a:xfrm>
            <a:off x="960120" y="2103120"/>
            <a:ext cx="2103120" cy="2103120"/>
          </a:xfrm>
          <a:prstGeom prst="rect">
            <a:avLst/>
          </a:prstGeom>
        </p:spPr>
      </p:pic>
      <p:sp>
        <p:nvSpPr>
          <p:cNvPr id="9" name="Text 6"/>
          <p:cNvSpPr txBox="1"/>
          <p:nvPr/>
        </p:nvSpPr>
        <p:spPr>
          <a:xfrm>
            <a:off x="457200" y="4206240"/>
            <a:ext cx="3108960" cy="27432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rows 0 to 99, columns 0 to 99</a:t>
            </a:r>
            <a:endParaRPr lang="en-US" sz="1400" dirty="0"/>
          </a:p>
        </p:txBody>
      </p:sp>
      <p:pic>
        <p:nvPicPr>
          <p:cNvPr id="10" name="Image 1" descr="The cropped top-left corner of the photo, mostly brick wall"/>
          <p:cNvPicPr>
            <a:picLocks noChangeAspect="1"/>
          </p:cNvPicPr>
          <p:nvPr/>
        </p:nvPicPr>
        <p:blipFill>
          <a:blip r:embed="rId4"/>
          <a:stretch>
            <a:fillRect/>
          </a:stretch>
        </p:blipFill>
        <p:spPr>
          <a:xfrm>
            <a:off x="5806440" y="2103120"/>
            <a:ext cx="2103120" cy="2103120"/>
          </a:xfrm>
          <a:prstGeom prst="rect">
            <a:avLst/>
          </a:prstGeom>
        </p:spPr>
      </p:pic>
      <p:sp>
        <p:nvSpPr>
          <p:cNvPr id="11" name="Text 7"/>
          <p:cNvSpPr txBox="1"/>
          <p:nvPr/>
        </p:nvSpPr>
        <p:spPr>
          <a:xfrm>
            <a:off x="5303520" y="4206240"/>
            <a:ext cx="3108960" cy="27432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show(corner): just that box</a:t>
            </a:r>
            <a:endParaRPr lang="en-US" sz="1400" dirty="0"/>
          </a:p>
        </p:txBody>
      </p:sp>
      <p:sp>
        <p:nvSpPr>
          <p:cNvPr id="12"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Crop a Corner</a:t>
            </a:r>
            <a:endParaRPr lang="en-US" sz="3400" dirty="0"/>
          </a:p>
        </p:txBody>
      </p:sp>
      <p:sp>
        <p:nvSpPr>
          <p:cNvPr id="3" name="Text 1"/>
          <p:cNvSpPr txBox="1"/>
          <p:nvPr/>
        </p:nvSpPr>
        <p:spPr>
          <a:xfrm>
            <a:off x="548640" y="640080"/>
            <a:ext cx="3657600" cy="457200"/>
          </a:xfrm>
          <a:prstGeom prst="rect">
            <a:avLst/>
          </a:prstGeom>
          <a:noFill/>
          <a:ln/>
        </p:spPr>
        <p:txBody>
          <a:bodyPr wrap="square" lIns="0" tIns="0" rIns="0" bIns="0" rtlCol="0" anchor="ctr"/>
          <a:lstStyle/>
          <a:p>
            <a:pPr marL="0" indent="0">
              <a:buNone/>
            </a:pPr>
            <a:r>
              <a:rPr lang="en-US" sz="2200" b="1" kern="0" spc="400" dirty="0">
                <a:solidFill>
                  <a:srgbClr val="A9C4E8"/>
                </a:solidFill>
                <a:latin typeface="Arial" pitchFamily="34" charset="0"/>
                <a:ea typeface="Arial" pitchFamily="34" charset="-122"/>
                <a:cs typeface="Arial" pitchFamily="34" charset="-120"/>
              </a:rPr>
              <a:t>TASK 3</a:t>
            </a:r>
            <a:endParaRPr lang="en-US" sz="2200" dirty="0"/>
          </a:p>
        </p:txBody>
      </p:sp>
      <p:sp>
        <p:nvSpPr>
          <p:cNvPr id="4" name="Text 2"/>
          <p:cNvSpPr txBox="1"/>
          <p:nvPr/>
        </p:nvSpPr>
        <p:spPr>
          <a:xfrm>
            <a:off x="548640" y="2743200"/>
            <a:ext cx="5852160" cy="822960"/>
          </a:xfrm>
          <a:prstGeom prst="rect">
            <a:avLst/>
          </a:prstGeom>
          <a:noFill/>
          <a:ln/>
        </p:spPr>
        <p:txBody>
          <a:bodyPr wrap="square" lIns="0" tIns="0" rIns="0" bIns="0" rtlCol="0" anchor="t"/>
          <a:lstStyle/>
          <a:p>
            <a:pPr marL="0" indent="0">
              <a:buNone/>
            </a:pPr>
            <a:r>
              <a:rPr lang="en-US" sz="1800" dirty="0">
                <a:solidFill>
                  <a:srgbClr val="C5D1E3"/>
                </a:solidFill>
                <a:latin typeface="Arial" pitchFamily="34" charset="0"/>
                <a:ea typeface="Arial" pitchFamily="34" charset="-122"/>
                <a:cs typeface="Arial" pitchFamily="34" charset="-120"/>
              </a:rPr>
              <a:t>Run TASK 3 to see the top-left corner. Then crop a different 100 x 100 square and show it. Can you crop just the cow's head?</a:t>
            </a:r>
            <a:endParaRPr lang="en-US" sz="1800" dirty="0"/>
          </a:p>
        </p:txBody>
      </p:sp>
      <p:sp>
        <p:nvSpPr>
          <p:cNvPr id="5" name="Timer pill"/>
          <p:cNvSpPr/>
          <p:nvPr/>
        </p:nvSpPr>
        <p:spPr>
          <a:xfrm>
            <a:off x="548640" y="3840480"/>
            <a:ext cx="2194560" cy="640080"/>
          </a:xfrm>
          <a:prstGeom prst="roundRect">
            <a:avLst>
              <a:gd name="adj" fmla="val 50000"/>
            </a:avLst>
          </a:prstGeom>
          <a:solidFill>
            <a:srgbClr val="A9C4E8"/>
          </a:solidFill>
          <a:ln w="12700">
            <a:solidFill>
              <a:srgbClr val="A9C4E8"/>
            </a:solidFill>
            <a:prstDash val="solid"/>
          </a:ln>
        </p:spPr>
        <p:txBody>
          <a:bodyPr/>
          <a:lstStyle/>
          <a:p>
            <a:endParaRPr lang="en-GB"/>
          </a:p>
        </p:txBody>
      </p:sp>
      <p:pic>
        <p:nvPicPr>
          <p:cNvPr id="6" name="Image 0" descr="clock"/>
          <p:cNvPicPr>
            <a:picLocks noChangeAspect="1"/>
          </p:cNvPicPr>
          <p:nvPr/>
        </p:nvPicPr>
        <p:blipFill>
          <a:blip r:embed="rId3"/>
          <a:stretch>
            <a:fillRect/>
          </a:stretch>
        </p:blipFill>
        <p:spPr>
          <a:xfrm>
            <a:off x="749808" y="3995928"/>
            <a:ext cx="329184" cy="329184"/>
          </a:xfrm>
          <a:prstGeom prst="rect">
            <a:avLst/>
          </a:prstGeom>
        </p:spPr>
      </p:pic>
      <p:sp>
        <p:nvSpPr>
          <p:cNvPr id="7" name="Text 4"/>
          <p:cNvSpPr txBox="1"/>
          <p:nvPr/>
        </p:nvSpPr>
        <p:spPr>
          <a:xfrm>
            <a:off x="1170432" y="3840480"/>
            <a:ext cx="1463040" cy="640080"/>
          </a:xfrm>
          <a:prstGeom prst="rect">
            <a:avLst/>
          </a:prstGeom>
          <a:noFill/>
          <a:ln/>
        </p:spPr>
        <p:txBody>
          <a:bodyPr wrap="square" lIns="0" tIns="0" rIns="0" bIns="0" rtlCol="0" anchor="ctr"/>
          <a:lstStyle/>
          <a:p>
            <a:pPr marL="0" indent="0">
              <a:buNone/>
            </a:pPr>
            <a:r>
              <a:rPr lang="en-US" sz="2000" b="1" dirty="0">
                <a:solidFill>
                  <a:srgbClr val="001B40"/>
                </a:solidFill>
                <a:latin typeface="Arial" pitchFamily="34" charset="0"/>
                <a:ea typeface="Arial" pitchFamily="34" charset="-122"/>
                <a:cs typeface="Arial" pitchFamily="34" charset="-120"/>
              </a:rPr>
              <a:t>3 min</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Every Pixel: 3 Numbers</a:t>
            </a:r>
            <a:endParaRPr lang="en-US" sz="3000" dirty="0"/>
          </a:p>
        </p:txBody>
      </p:sp>
      <p:sp>
        <p:nvSpPr>
          <p:cNvPr id="3" name="4 MIN TALK pill"/>
          <p:cNvSpPr/>
          <p:nvPr/>
        </p:nvSpPr>
        <p:spPr>
          <a:xfrm>
            <a:off x="7132320" y="411480"/>
            <a:ext cx="15544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132320" y="411480"/>
            <a:ext cx="15544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4 MIN TALK</a:t>
            </a:r>
            <a:endParaRPr lang="en-US" sz="1200" dirty="0"/>
          </a:p>
        </p:txBody>
      </p:sp>
      <p:sp>
        <p:nvSpPr>
          <p:cNvPr id="5" name="@1 Card"/>
          <p:cNvSpPr/>
          <p:nvPr/>
        </p:nvSpPr>
        <p:spPr>
          <a:xfrm>
            <a:off x="457200" y="1280160"/>
            <a:ext cx="2560320" cy="822960"/>
          </a:xfrm>
          <a:prstGeom prst="roundRect">
            <a:avLst>
              <a:gd name="adj" fmla="val 13333"/>
            </a:avLst>
          </a:prstGeom>
          <a:solidFill>
            <a:srgbClr val="FFFFFF"/>
          </a:solidFill>
          <a:ln w="9525">
            <a:solidFill>
              <a:srgbClr val="C5D1E3"/>
            </a:solidFill>
            <a:prstDash val="solid"/>
          </a:ln>
        </p:spPr>
        <p:txBody>
          <a:bodyPr/>
          <a:lstStyle/>
          <a:p>
            <a:endParaRPr lang="en-GB"/>
          </a:p>
        </p:txBody>
      </p:sp>
      <p:sp>
        <p:nvSpPr>
          <p:cNvPr id="6" name="@1 addText"/>
          <p:cNvSpPr txBox="1"/>
          <p:nvPr/>
        </p:nvSpPr>
        <p:spPr>
          <a:xfrm>
            <a:off x="457200" y="1280160"/>
            <a:ext cx="2560320" cy="822960"/>
          </a:xfrm>
          <a:prstGeom prst="rect">
            <a:avLst/>
          </a:prstGeom>
          <a:noFill/>
          <a:ln/>
        </p:spPr>
        <p:txBody>
          <a:bodyPr wrap="square" lIns="0" tIns="0" rIns="0" bIns="0" rtlCol="0" anchor="ctr"/>
          <a:lstStyle/>
          <a:p>
            <a:pPr marL="0" indent="0" algn="ctr">
              <a:buNone/>
            </a:pPr>
            <a:r>
              <a:rPr lang="en-US" sz="2600" b="1" dirty="0">
                <a:solidFill>
                  <a:srgbClr val="002D6A"/>
                </a:solidFill>
                <a:latin typeface="Arial" pitchFamily="34" charset="0"/>
                <a:ea typeface="Arial" pitchFamily="34" charset="-122"/>
                <a:cs typeface="Arial" pitchFamily="34" charset="-120"/>
              </a:rPr>
              <a:t>R = red</a:t>
            </a:r>
            <a:endParaRPr lang="en-US" sz="2600" dirty="0"/>
          </a:p>
        </p:txBody>
      </p:sp>
      <p:sp>
        <p:nvSpPr>
          <p:cNvPr id="7" name="@2 Card"/>
          <p:cNvSpPr/>
          <p:nvPr/>
        </p:nvSpPr>
        <p:spPr>
          <a:xfrm>
            <a:off x="3291840" y="1280160"/>
            <a:ext cx="2560320" cy="822960"/>
          </a:xfrm>
          <a:prstGeom prst="roundRect">
            <a:avLst>
              <a:gd name="adj" fmla="val 13333"/>
            </a:avLst>
          </a:prstGeom>
          <a:solidFill>
            <a:srgbClr val="FFFFFF"/>
          </a:solidFill>
          <a:ln w="9525">
            <a:solidFill>
              <a:srgbClr val="C5D1E3"/>
            </a:solidFill>
            <a:prstDash val="solid"/>
          </a:ln>
        </p:spPr>
        <p:txBody>
          <a:bodyPr/>
          <a:lstStyle/>
          <a:p>
            <a:endParaRPr lang="en-GB"/>
          </a:p>
        </p:txBody>
      </p:sp>
      <p:sp>
        <p:nvSpPr>
          <p:cNvPr id="8" name="@2 addText"/>
          <p:cNvSpPr txBox="1"/>
          <p:nvPr/>
        </p:nvSpPr>
        <p:spPr>
          <a:xfrm>
            <a:off x="3291840" y="1280160"/>
            <a:ext cx="2560320" cy="822960"/>
          </a:xfrm>
          <a:prstGeom prst="rect">
            <a:avLst/>
          </a:prstGeom>
          <a:noFill/>
          <a:ln/>
        </p:spPr>
        <p:txBody>
          <a:bodyPr wrap="square" lIns="0" tIns="0" rIns="0" bIns="0" rtlCol="0" anchor="ctr"/>
          <a:lstStyle/>
          <a:p>
            <a:pPr marL="0" indent="0" algn="ctr">
              <a:buNone/>
            </a:pPr>
            <a:r>
              <a:rPr lang="en-US" sz="2600" b="1" dirty="0">
                <a:solidFill>
                  <a:srgbClr val="002D6A"/>
                </a:solidFill>
                <a:latin typeface="Arial" pitchFamily="34" charset="0"/>
                <a:ea typeface="Arial" pitchFamily="34" charset="-122"/>
                <a:cs typeface="Arial" pitchFamily="34" charset="-120"/>
              </a:rPr>
              <a:t>G = green</a:t>
            </a:r>
            <a:endParaRPr lang="en-US" sz="2600" dirty="0"/>
          </a:p>
        </p:txBody>
      </p:sp>
      <p:sp>
        <p:nvSpPr>
          <p:cNvPr id="9" name="@3 Card"/>
          <p:cNvSpPr/>
          <p:nvPr/>
        </p:nvSpPr>
        <p:spPr>
          <a:xfrm>
            <a:off x="6126480" y="1280160"/>
            <a:ext cx="2560320" cy="822960"/>
          </a:xfrm>
          <a:prstGeom prst="roundRect">
            <a:avLst>
              <a:gd name="adj" fmla="val 13333"/>
            </a:avLst>
          </a:prstGeom>
          <a:solidFill>
            <a:srgbClr val="FFFFFF"/>
          </a:solidFill>
          <a:ln w="9525">
            <a:solidFill>
              <a:srgbClr val="C5D1E3"/>
            </a:solidFill>
            <a:prstDash val="solid"/>
          </a:ln>
        </p:spPr>
        <p:txBody>
          <a:bodyPr/>
          <a:lstStyle/>
          <a:p>
            <a:endParaRPr lang="en-GB"/>
          </a:p>
        </p:txBody>
      </p:sp>
      <p:sp>
        <p:nvSpPr>
          <p:cNvPr id="10" name="@3 addText"/>
          <p:cNvSpPr txBox="1"/>
          <p:nvPr/>
        </p:nvSpPr>
        <p:spPr>
          <a:xfrm>
            <a:off x="6126480" y="1280160"/>
            <a:ext cx="2560320" cy="822960"/>
          </a:xfrm>
          <a:prstGeom prst="rect">
            <a:avLst/>
          </a:prstGeom>
          <a:noFill/>
          <a:ln/>
        </p:spPr>
        <p:txBody>
          <a:bodyPr wrap="square" lIns="0" tIns="0" rIns="0" bIns="0" rtlCol="0" anchor="ctr"/>
          <a:lstStyle/>
          <a:p>
            <a:pPr marL="0" indent="0" algn="ctr">
              <a:buNone/>
            </a:pPr>
            <a:r>
              <a:rPr lang="en-US" sz="2600" b="1" dirty="0">
                <a:solidFill>
                  <a:srgbClr val="002D6A"/>
                </a:solidFill>
                <a:latin typeface="Arial" pitchFamily="34" charset="0"/>
                <a:ea typeface="Arial" pitchFamily="34" charset="-122"/>
                <a:cs typeface="Arial" pitchFamily="34" charset="-120"/>
              </a:rPr>
              <a:t>B = blue</a:t>
            </a:r>
            <a:endParaRPr lang="en-US" sz="2600" dirty="0"/>
          </a:p>
        </p:txBody>
      </p:sp>
      <p:sp>
        <p:nvSpPr>
          <p:cNvPr id="11" name="@4 Callout"/>
          <p:cNvSpPr/>
          <p:nvPr/>
        </p:nvSpPr>
        <p:spPr>
          <a:xfrm>
            <a:off x="457200" y="2651760"/>
            <a:ext cx="8229600" cy="822960"/>
          </a:xfrm>
          <a:prstGeom prst="roundRect">
            <a:avLst>
              <a:gd name="adj" fmla="val 11111"/>
            </a:avLst>
          </a:prstGeom>
          <a:solidFill>
            <a:srgbClr val="FFFFFF"/>
          </a:solidFill>
          <a:ln w="15875">
            <a:solidFill>
              <a:srgbClr val="002D6A"/>
            </a:solidFill>
            <a:prstDash val="solid"/>
          </a:ln>
        </p:spPr>
        <p:txBody>
          <a:bodyPr/>
          <a:lstStyle/>
          <a:p>
            <a:endParaRPr lang="en-GB"/>
          </a:p>
        </p:txBody>
      </p:sp>
      <p:sp>
        <p:nvSpPr>
          <p:cNvPr id="12" name="@4 addText"/>
          <p:cNvSpPr txBox="1"/>
          <p:nvPr/>
        </p:nvSpPr>
        <p:spPr>
          <a:xfrm>
            <a:off x="685800" y="2651760"/>
            <a:ext cx="7772400" cy="822960"/>
          </a:xfrm>
          <a:prstGeom prst="rect">
            <a:avLst/>
          </a:prstGeom>
          <a:noFill/>
          <a:ln/>
        </p:spPr>
        <p:txBody>
          <a:bodyPr wrap="square" lIns="0" tIns="0" rIns="0" bIns="0" rtlCol="0" anchor="ctr"/>
          <a:lstStyle/>
          <a:p>
            <a:pPr marL="0" indent="0">
              <a:buNone/>
            </a:pPr>
            <a:r>
              <a:rPr lang="en-US" sz="1200" b="1" kern="0" spc="200" dirty="0">
                <a:solidFill>
                  <a:srgbClr val="002D6A"/>
                </a:solidFill>
                <a:latin typeface="Arial" pitchFamily="34" charset="0"/>
                <a:ea typeface="Arial" pitchFamily="34" charset="-122"/>
                <a:cs typeface="Arial" pitchFamily="34" charset="-120"/>
              </a:rPr>
              <a:t>TIP  </a:t>
            </a:r>
            <a:r>
              <a:rPr lang="en-US" sz="1600" dirty="0">
                <a:solidFill>
                  <a:srgbClr val="22262E"/>
                </a:solidFill>
                <a:latin typeface="Arial" pitchFamily="34" charset="0"/>
                <a:ea typeface="Arial" pitchFamily="34" charset="-122"/>
                <a:cs typeface="Arial" pitchFamily="34" charset="-120"/>
              </a:rPr>
              <a:t>Each one is a brightness: 0 (none of that colour) to 255 (as much as possible).</a:t>
            </a:r>
            <a:endParaRPr lang="en-US" sz="1200" dirty="0"/>
          </a:p>
        </p:txBody>
      </p:sp>
      <p:sp>
        <p:nvSpPr>
          <p:cNvPr id="13"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18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2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2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2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2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2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2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2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A 4 x 4 Crop in Numbers</a:t>
            </a:r>
            <a:endParaRPr lang="en-US" sz="3000" dirty="0"/>
          </a:p>
        </p:txBody>
      </p:sp>
      <p:sp>
        <p:nvSpPr>
          <p:cNvPr id="3" name="4 MIN TALK pill"/>
          <p:cNvSpPr/>
          <p:nvPr/>
        </p:nvSpPr>
        <p:spPr>
          <a:xfrm>
            <a:off x="7132320" y="411480"/>
            <a:ext cx="15544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132320" y="411480"/>
            <a:ext cx="15544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4 MIN TALK</a:t>
            </a:r>
            <a:endParaRPr lang="en-US" sz="1200" dirty="0"/>
          </a:p>
        </p:txBody>
      </p:sp>
      <p:pic>
        <p:nvPicPr>
          <p:cNvPr id="5" name="Image 0" descr="A tiny 4 by 4 patch of brown pixels cropped from the cow photo"/>
          <p:cNvPicPr>
            <a:picLocks noChangeAspect="1"/>
          </p:cNvPicPr>
          <p:nvPr/>
        </p:nvPicPr>
        <p:blipFill>
          <a:blip r:embed="rId3"/>
          <a:stretch>
            <a:fillRect/>
          </a:stretch>
        </p:blipFill>
        <p:spPr>
          <a:xfrm>
            <a:off x="457200" y="1188720"/>
            <a:ext cx="2377440" cy="2377440"/>
          </a:xfrm>
          <a:prstGeom prst="rect">
            <a:avLst/>
          </a:prstGeom>
        </p:spPr>
      </p:pic>
      <p:sp>
        <p:nvSpPr>
          <p:cNvPr id="6" name="Text 3"/>
          <p:cNvSpPr txBox="1"/>
          <p:nvPr/>
        </p:nvSpPr>
        <p:spPr>
          <a:xfrm>
            <a:off x="274320" y="3657600"/>
            <a:ext cx="2743200" cy="27432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pixels[100:104, 100:104]</a:t>
            </a:r>
            <a:endParaRPr lang="en-US" sz="1400" dirty="0"/>
          </a:p>
        </p:txBody>
      </p:sp>
      <p:sp>
        <p:nvSpPr>
          <p:cNvPr id="7" name="Card"/>
          <p:cNvSpPr/>
          <p:nvPr/>
        </p:nvSpPr>
        <p:spPr>
          <a:xfrm>
            <a:off x="3200400" y="1188720"/>
            <a:ext cx="128016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8" name="Text 5"/>
          <p:cNvSpPr txBox="1"/>
          <p:nvPr/>
        </p:nvSpPr>
        <p:spPr>
          <a:xfrm>
            <a:off x="3200400" y="1188720"/>
            <a:ext cx="1280160" cy="548640"/>
          </a:xfrm>
          <a:prstGeom prst="rect">
            <a:avLst/>
          </a:prstGeom>
          <a:noFill/>
          <a:ln/>
        </p:spPr>
        <p:txBody>
          <a:bodyPr wrap="square" lIns="0" tIns="0" rIns="0" bIns="0" rtlCol="0" anchor="ctr"/>
          <a:lstStyle/>
          <a:p>
            <a:pPr marL="0" indent="0" algn="ctr">
              <a:buNone/>
            </a:pPr>
            <a:r>
              <a:rPr lang="en-US" sz="1400" dirty="0">
                <a:solidFill>
                  <a:srgbClr val="22262E"/>
                </a:solidFill>
                <a:latin typeface="Arial" pitchFamily="34" charset="0"/>
                <a:ea typeface="Arial" pitchFamily="34" charset="-122"/>
                <a:cs typeface="Arial" pitchFamily="34" charset="-120"/>
              </a:rPr>
              <a:t>113, 73, 63</a:t>
            </a:r>
            <a:endParaRPr lang="en-US" sz="1400" dirty="0"/>
          </a:p>
        </p:txBody>
      </p:sp>
      <p:sp>
        <p:nvSpPr>
          <p:cNvPr id="9" name="Card"/>
          <p:cNvSpPr/>
          <p:nvPr/>
        </p:nvSpPr>
        <p:spPr>
          <a:xfrm>
            <a:off x="4572000" y="1188720"/>
            <a:ext cx="128016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10" name="Text 7"/>
          <p:cNvSpPr txBox="1"/>
          <p:nvPr/>
        </p:nvSpPr>
        <p:spPr>
          <a:xfrm>
            <a:off x="4572000" y="1188720"/>
            <a:ext cx="1280160" cy="548640"/>
          </a:xfrm>
          <a:prstGeom prst="rect">
            <a:avLst/>
          </a:prstGeom>
          <a:noFill/>
          <a:ln/>
        </p:spPr>
        <p:txBody>
          <a:bodyPr wrap="square" lIns="0" tIns="0" rIns="0" bIns="0" rtlCol="0" anchor="ctr"/>
          <a:lstStyle/>
          <a:p>
            <a:pPr marL="0" indent="0" algn="ctr">
              <a:buNone/>
            </a:pPr>
            <a:r>
              <a:rPr lang="en-US" sz="1400" dirty="0">
                <a:solidFill>
                  <a:srgbClr val="22262E"/>
                </a:solidFill>
                <a:latin typeface="Arial" pitchFamily="34" charset="0"/>
                <a:ea typeface="Arial" pitchFamily="34" charset="-122"/>
                <a:cs typeface="Arial" pitchFamily="34" charset="-120"/>
              </a:rPr>
              <a:t>123, 80, 71</a:t>
            </a:r>
            <a:endParaRPr lang="en-US" sz="1400" dirty="0"/>
          </a:p>
        </p:txBody>
      </p:sp>
      <p:sp>
        <p:nvSpPr>
          <p:cNvPr id="11" name="Card"/>
          <p:cNvSpPr/>
          <p:nvPr/>
        </p:nvSpPr>
        <p:spPr>
          <a:xfrm>
            <a:off x="5943600" y="1188720"/>
            <a:ext cx="128016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12" name="Text 9"/>
          <p:cNvSpPr txBox="1"/>
          <p:nvPr/>
        </p:nvSpPr>
        <p:spPr>
          <a:xfrm>
            <a:off x="5943600" y="1188720"/>
            <a:ext cx="1280160" cy="548640"/>
          </a:xfrm>
          <a:prstGeom prst="rect">
            <a:avLst/>
          </a:prstGeom>
          <a:noFill/>
          <a:ln/>
        </p:spPr>
        <p:txBody>
          <a:bodyPr wrap="square" lIns="0" tIns="0" rIns="0" bIns="0" rtlCol="0" anchor="ctr"/>
          <a:lstStyle/>
          <a:p>
            <a:pPr marL="0" indent="0" algn="ctr">
              <a:buNone/>
            </a:pPr>
            <a:r>
              <a:rPr lang="en-US" sz="1400" dirty="0">
                <a:solidFill>
                  <a:srgbClr val="22262E"/>
                </a:solidFill>
                <a:latin typeface="Arial" pitchFamily="34" charset="0"/>
                <a:ea typeface="Arial" pitchFamily="34" charset="-122"/>
                <a:cs typeface="Arial" pitchFamily="34" charset="-120"/>
              </a:rPr>
              <a:t>136, 92, 81</a:t>
            </a:r>
            <a:endParaRPr lang="en-US" sz="1400" dirty="0"/>
          </a:p>
        </p:txBody>
      </p:sp>
      <p:sp>
        <p:nvSpPr>
          <p:cNvPr id="13" name="Card"/>
          <p:cNvSpPr/>
          <p:nvPr/>
        </p:nvSpPr>
        <p:spPr>
          <a:xfrm>
            <a:off x="7315200" y="1188720"/>
            <a:ext cx="128016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14" name="Text 11"/>
          <p:cNvSpPr txBox="1"/>
          <p:nvPr/>
        </p:nvSpPr>
        <p:spPr>
          <a:xfrm>
            <a:off x="7315200" y="1188720"/>
            <a:ext cx="1280160" cy="548640"/>
          </a:xfrm>
          <a:prstGeom prst="rect">
            <a:avLst/>
          </a:prstGeom>
          <a:noFill/>
          <a:ln/>
        </p:spPr>
        <p:txBody>
          <a:bodyPr wrap="square" lIns="0" tIns="0" rIns="0" bIns="0" rtlCol="0" anchor="ctr"/>
          <a:lstStyle/>
          <a:p>
            <a:pPr marL="0" indent="0" algn="ctr">
              <a:buNone/>
            </a:pPr>
            <a:r>
              <a:rPr lang="en-US" sz="1400" dirty="0">
                <a:solidFill>
                  <a:srgbClr val="22262E"/>
                </a:solidFill>
                <a:latin typeface="Arial" pitchFamily="34" charset="0"/>
                <a:ea typeface="Arial" pitchFamily="34" charset="-122"/>
                <a:cs typeface="Arial" pitchFamily="34" charset="-120"/>
              </a:rPr>
              <a:t>141, 95, 80</a:t>
            </a:r>
            <a:endParaRPr lang="en-US" sz="1400" dirty="0"/>
          </a:p>
        </p:txBody>
      </p:sp>
      <p:sp>
        <p:nvSpPr>
          <p:cNvPr id="15" name="Card"/>
          <p:cNvSpPr/>
          <p:nvPr/>
        </p:nvSpPr>
        <p:spPr>
          <a:xfrm>
            <a:off x="3200400" y="1828800"/>
            <a:ext cx="128016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16" name="Text 13"/>
          <p:cNvSpPr txBox="1"/>
          <p:nvPr/>
        </p:nvSpPr>
        <p:spPr>
          <a:xfrm>
            <a:off x="3200400" y="1828800"/>
            <a:ext cx="1280160" cy="548640"/>
          </a:xfrm>
          <a:prstGeom prst="rect">
            <a:avLst/>
          </a:prstGeom>
          <a:noFill/>
          <a:ln/>
        </p:spPr>
        <p:txBody>
          <a:bodyPr wrap="square" lIns="0" tIns="0" rIns="0" bIns="0" rtlCol="0" anchor="ctr"/>
          <a:lstStyle/>
          <a:p>
            <a:pPr marL="0" indent="0" algn="ctr">
              <a:buNone/>
            </a:pPr>
            <a:r>
              <a:rPr lang="en-US" sz="1400" dirty="0">
                <a:solidFill>
                  <a:srgbClr val="22262E"/>
                </a:solidFill>
                <a:latin typeface="Arial" pitchFamily="34" charset="0"/>
                <a:ea typeface="Arial" pitchFamily="34" charset="-122"/>
                <a:cs typeface="Arial" pitchFamily="34" charset="-120"/>
              </a:rPr>
              <a:t>125, 83, 71</a:t>
            </a:r>
            <a:endParaRPr lang="en-US" sz="1400" dirty="0"/>
          </a:p>
        </p:txBody>
      </p:sp>
      <p:sp>
        <p:nvSpPr>
          <p:cNvPr id="17" name="Card"/>
          <p:cNvSpPr/>
          <p:nvPr/>
        </p:nvSpPr>
        <p:spPr>
          <a:xfrm>
            <a:off x="4572000" y="1828800"/>
            <a:ext cx="128016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18" name="Text 15"/>
          <p:cNvSpPr txBox="1"/>
          <p:nvPr/>
        </p:nvSpPr>
        <p:spPr>
          <a:xfrm>
            <a:off x="4572000" y="1828800"/>
            <a:ext cx="1280160" cy="548640"/>
          </a:xfrm>
          <a:prstGeom prst="rect">
            <a:avLst/>
          </a:prstGeom>
          <a:noFill/>
          <a:ln/>
        </p:spPr>
        <p:txBody>
          <a:bodyPr wrap="square" lIns="0" tIns="0" rIns="0" bIns="0" rtlCol="0" anchor="ctr"/>
          <a:lstStyle/>
          <a:p>
            <a:pPr marL="0" indent="0" algn="ctr">
              <a:buNone/>
            </a:pPr>
            <a:r>
              <a:rPr lang="en-US" sz="1400" dirty="0">
                <a:solidFill>
                  <a:srgbClr val="22262E"/>
                </a:solidFill>
                <a:latin typeface="Arial" pitchFamily="34" charset="0"/>
                <a:ea typeface="Arial" pitchFamily="34" charset="-122"/>
                <a:cs typeface="Arial" pitchFamily="34" charset="-120"/>
              </a:rPr>
              <a:t>139, 95, 84</a:t>
            </a:r>
            <a:endParaRPr lang="en-US" sz="1400" dirty="0"/>
          </a:p>
        </p:txBody>
      </p:sp>
      <p:sp>
        <p:nvSpPr>
          <p:cNvPr id="19" name="Card"/>
          <p:cNvSpPr/>
          <p:nvPr/>
        </p:nvSpPr>
        <p:spPr>
          <a:xfrm>
            <a:off x="5943600" y="1828800"/>
            <a:ext cx="128016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20" name="Text 17"/>
          <p:cNvSpPr txBox="1"/>
          <p:nvPr/>
        </p:nvSpPr>
        <p:spPr>
          <a:xfrm>
            <a:off x="5943600" y="1828800"/>
            <a:ext cx="1280160" cy="548640"/>
          </a:xfrm>
          <a:prstGeom prst="rect">
            <a:avLst/>
          </a:prstGeom>
          <a:noFill/>
          <a:ln/>
        </p:spPr>
        <p:txBody>
          <a:bodyPr wrap="square" lIns="0" tIns="0" rIns="0" bIns="0" rtlCol="0" anchor="ctr"/>
          <a:lstStyle/>
          <a:p>
            <a:pPr marL="0" indent="0" algn="ctr">
              <a:buNone/>
            </a:pPr>
            <a:r>
              <a:rPr lang="en-US" sz="1400" dirty="0">
                <a:solidFill>
                  <a:srgbClr val="22262E"/>
                </a:solidFill>
                <a:latin typeface="Arial" pitchFamily="34" charset="0"/>
                <a:ea typeface="Arial" pitchFamily="34" charset="-122"/>
                <a:cs typeface="Arial" pitchFamily="34" charset="-120"/>
              </a:rPr>
              <a:t>150, 104, 91</a:t>
            </a:r>
            <a:endParaRPr lang="en-US" sz="1400" dirty="0"/>
          </a:p>
        </p:txBody>
      </p:sp>
      <p:sp>
        <p:nvSpPr>
          <p:cNvPr id="21" name="Card"/>
          <p:cNvSpPr/>
          <p:nvPr/>
        </p:nvSpPr>
        <p:spPr>
          <a:xfrm>
            <a:off x="7315200" y="1828800"/>
            <a:ext cx="128016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22" name="Text 19"/>
          <p:cNvSpPr txBox="1"/>
          <p:nvPr/>
        </p:nvSpPr>
        <p:spPr>
          <a:xfrm>
            <a:off x="7315200" y="1828800"/>
            <a:ext cx="1280160" cy="548640"/>
          </a:xfrm>
          <a:prstGeom prst="rect">
            <a:avLst/>
          </a:prstGeom>
          <a:noFill/>
          <a:ln/>
        </p:spPr>
        <p:txBody>
          <a:bodyPr wrap="square" lIns="0" tIns="0" rIns="0" bIns="0" rtlCol="0" anchor="ctr"/>
          <a:lstStyle/>
          <a:p>
            <a:pPr marL="0" indent="0" algn="ctr">
              <a:buNone/>
            </a:pPr>
            <a:r>
              <a:rPr lang="en-US" sz="1400" dirty="0">
                <a:solidFill>
                  <a:srgbClr val="22262E"/>
                </a:solidFill>
                <a:latin typeface="Arial" pitchFamily="34" charset="0"/>
                <a:ea typeface="Arial" pitchFamily="34" charset="-122"/>
                <a:cs typeface="Arial" pitchFamily="34" charset="-120"/>
              </a:rPr>
              <a:t>147, 99, 85</a:t>
            </a:r>
            <a:endParaRPr lang="en-US" sz="1400" dirty="0"/>
          </a:p>
        </p:txBody>
      </p:sp>
      <p:sp>
        <p:nvSpPr>
          <p:cNvPr id="23" name="Card"/>
          <p:cNvSpPr/>
          <p:nvPr/>
        </p:nvSpPr>
        <p:spPr>
          <a:xfrm>
            <a:off x="3200400" y="2468880"/>
            <a:ext cx="128016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24" name="Text 21"/>
          <p:cNvSpPr txBox="1"/>
          <p:nvPr/>
        </p:nvSpPr>
        <p:spPr>
          <a:xfrm>
            <a:off x="3200400" y="2468880"/>
            <a:ext cx="1280160" cy="548640"/>
          </a:xfrm>
          <a:prstGeom prst="rect">
            <a:avLst/>
          </a:prstGeom>
          <a:noFill/>
          <a:ln/>
        </p:spPr>
        <p:txBody>
          <a:bodyPr wrap="square" lIns="0" tIns="0" rIns="0" bIns="0" rtlCol="0" anchor="ctr"/>
          <a:lstStyle/>
          <a:p>
            <a:pPr marL="0" indent="0" algn="ctr">
              <a:buNone/>
            </a:pPr>
            <a:r>
              <a:rPr lang="en-US" sz="1400" dirty="0">
                <a:solidFill>
                  <a:srgbClr val="22262E"/>
                </a:solidFill>
                <a:latin typeface="Arial" pitchFamily="34" charset="0"/>
                <a:ea typeface="Arial" pitchFamily="34" charset="-122"/>
                <a:cs typeface="Arial" pitchFamily="34" charset="-120"/>
              </a:rPr>
              <a:t>132, 88, 77</a:t>
            </a:r>
            <a:endParaRPr lang="en-US" sz="1400" dirty="0"/>
          </a:p>
        </p:txBody>
      </p:sp>
      <p:sp>
        <p:nvSpPr>
          <p:cNvPr id="25" name="Card"/>
          <p:cNvSpPr/>
          <p:nvPr/>
        </p:nvSpPr>
        <p:spPr>
          <a:xfrm>
            <a:off x="4572000" y="2468880"/>
            <a:ext cx="128016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26" name="Text 23"/>
          <p:cNvSpPr txBox="1"/>
          <p:nvPr/>
        </p:nvSpPr>
        <p:spPr>
          <a:xfrm>
            <a:off x="4572000" y="2468880"/>
            <a:ext cx="1280160" cy="548640"/>
          </a:xfrm>
          <a:prstGeom prst="rect">
            <a:avLst/>
          </a:prstGeom>
          <a:noFill/>
          <a:ln/>
        </p:spPr>
        <p:txBody>
          <a:bodyPr wrap="square" lIns="0" tIns="0" rIns="0" bIns="0" rtlCol="0" anchor="ctr"/>
          <a:lstStyle/>
          <a:p>
            <a:pPr marL="0" indent="0" algn="ctr">
              <a:buNone/>
            </a:pPr>
            <a:r>
              <a:rPr lang="en-US" sz="1400" dirty="0">
                <a:solidFill>
                  <a:srgbClr val="22262E"/>
                </a:solidFill>
                <a:latin typeface="Arial" pitchFamily="34" charset="0"/>
                <a:ea typeface="Arial" pitchFamily="34" charset="-122"/>
                <a:cs typeface="Arial" pitchFamily="34" charset="-120"/>
              </a:rPr>
              <a:t>140, 93, 83</a:t>
            </a:r>
            <a:endParaRPr lang="en-US" sz="1400" dirty="0"/>
          </a:p>
        </p:txBody>
      </p:sp>
      <p:sp>
        <p:nvSpPr>
          <p:cNvPr id="27" name="Card"/>
          <p:cNvSpPr/>
          <p:nvPr/>
        </p:nvSpPr>
        <p:spPr>
          <a:xfrm>
            <a:off x="5943600" y="2468880"/>
            <a:ext cx="128016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28" name="Text 25"/>
          <p:cNvSpPr txBox="1"/>
          <p:nvPr/>
        </p:nvSpPr>
        <p:spPr>
          <a:xfrm>
            <a:off x="5943600" y="2468880"/>
            <a:ext cx="1280160" cy="548640"/>
          </a:xfrm>
          <a:prstGeom prst="rect">
            <a:avLst/>
          </a:prstGeom>
          <a:noFill/>
          <a:ln/>
        </p:spPr>
        <p:txBody>
          <a:bodyPr wrap="square" lIns="0" tIns="0" rIns="0" bIns="0" rtlCol="0" anchor="ctr"/>
          <a:lstStyle/>
          <a:p>
            <a:pPr marL="0" indent="0" algn="ctr">
              <a:buNone/>
            </a:pPr>
            <a:r>
              <a:rPr lang="en-US" sz="1400" dirty="0">
                <a:solidFill>
                  <a:srgbClr val="22262E"/>
                </a:solidFill>
                <a:latin typeface="Arial" pitchFamily="34" charset="0"/>
                <a:ea typeface="Arial" pitchFamily="34" charset="-122"/>
                <a:cs typeface="Arial" pitchFamily="34" charset="-120"/>
              </a:rPr>
              <a:t>145, 97, 85</a:t>
            </a:r>
            <a:endParaRPr lang="en-US" sz="1400" dirty="0"/>
          </a:p>
        </p:txBody>
      </p:sp>
      <p:sp>
        <p:nvSpPr>
          <p:cNvPr id="29" name="Card"/>
          <p:cNvSpPr/>
          <p:nvPr/>
        </p:nvSpPr>
        <p:spPr>
          <a:xfrm>
            <a:off x="7315200" y="2468880"/>
            <a:ext cx="128016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30" name="Text 27"/>
          <p:cNvSpPr txBox="1"/>
          <p:nvPr/>
        </p:nvSpPr>
        <p:spPr>
          <a:xfrm>
            <a:off x="7315200" y="2468880"/>
            <a:ext cx="1280160" cy="548640"/>
          </a:xfrm>
          <a:prstGeom prst="rect">
            <a:avLst/>
          </a:prstGeom>
          <a:noFill/>
          <a:ln/>
        </p:spPr>
        <p:txBody>
          <a:bodyPr wrap="square" lIns="0" tIns="0" rIns="0" bIns="0" rtlCol="0" anchor="ctr"/>
          <a:lstStyle/>
          <a:p>
            <a:pPr marL="0" indent="0" algn="ctr">
              <a:buNone/>
            </a:pPr>
            <a:r>
              <a:rPr lang="en-US" sz="1400" dirty="0">
                <a:solidFill>
                  <a:srgbClr val="22262E"/>
                </a:solidFill>
                <a:latin typeface="Arial" pitchFamily="34" charset="0"/>
                <a:ea typeface="Arial" pitchFamily="34" charset="-122"/>
                <a:cs typeface="Arial" pitchFamily="34" charset="-120"/>
              </a:rPr>
              <a:t>142, 93, 78</a:t>
            </a:r>
            <a:endParaRPr lang="en-US" sz="1400" dirty="0"/>
          </a:p>
        </p:txBody>
      </p:sp>
      <p:sp>
        <p:nvSpPr>
          <p:cNvPr id="31" name="Card"/>
          <p:cNvSpPr/>
          <p:nvPr/>
        </p:nvSpPr>
        <p:spPr>
          <a:xfrm>
            <a:off x="3200400" y="3108960"/>
            <a:ext cx="128016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32" name="Text 29"/>
          <p:cNvSpPr txBox="1"/>
          <p:nvPr/>
        </p:nvSpPr>
        <p:spPr>
          <a:xfrm>
            <a:off x="3200400" y="3108960"/>
            <a:ext cx="1280160" cy="548640"/>
          </a:xfrm>
          <a:prstGeom prst="rect">
            <a:avLst/>
          </a:prstGeom>
          <a:noFill/>
          <a:ln/>
        </p:spPr>
        <p:txBody>
          <a:bodyPr wrap="square" lIns="0" tIns="0" rIns="0" bIns="0" rtlCol="0" anchor="ctr"/>
          <a:lstStyle/>
          <a:p>
            <a:pPr marL="0" indent="0" algn="ctr">
              <a:buNone/>
            </a:pPr>
            <a:r>
              <a:rPr lang="en-US" sz="1400" dirty="0">
                <a:solidFill>
                  <a:srgbClr val="22262E"/>
                </a:solidFill>
                <a:latin typeface="Arial" pitchFamily="34" charset="0"/>
                <a:ea typeface="Arial" pitchFamily="34" charset="-122"/>
                <a:cs typeface="Arial" pitchFamily="34" charset="-120"/>
              </a:rPr>
              <a:t>125, 81, 68</a:t>
            </a:r>
            <a:endParaRPr lang="en-US" sz="1400" dirty="0"/>
          </a:p>
        </p:txBody>
      </p:sp>
      <p:sp>
        <p:nvSpPr>
          <p:cNvPr id="33" name="Card"/>
          <p:cNvSpPr/>
          <p:nvPr/>
        </p:nvSpPr>
        <p:spPr>
          <a:xfrm>
            <a:off x="4572000" y="3108960"/>
            <a:ext cx="128016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34" name="Text 31"/>
          <p:cNvSpPr txBox="1"/>
          <p:nvPr/>
        </p:nvSpPr>
        <p:spPr>
          <a:xfrm>
            <a:off x="4572000" y="3108960"/>
            <a:ext cx="1280160" cy="548640"/>
          </a:xfrm>
          <a:prstGeom prst="rect">
            <a:avLst/>
          </a:prstGeom>
          <a:noFill/>
          <a:ln/>
        </p:spPr>
        <p:txBody>
          <a:bodyPr wrap="square" lIns="0" tIns="0" rIns="0" bIns="0" rtlCol="0" anchor="ctr"/>
          <a:lstStyle/>
          <a:p>
            <a:pPr marL="0" indent="0" algn="ctr">
              <a:buNone/>
            </a:pPr>
            <a:r>
              <a:rPr lang="en-US" sz="1400" dirty="0">
                <a:solidFill>
                  <a:srgbClr val="22262E"/>
                </a:solidFill>
                <a:latin typeface="Arial" pitchFamily="34" charset="0"/>
                <a:ea typeface="Arial" pitchFamily="34" charset="-122"/>
                <a:cs typeface="Arial" pitchFamily="34" charset="-120"/>
              </a:rPr>
              <a:t>130, 82, 70</a:t>
            </a:r>
            <a:endParaRPr lang="en-US" sz="1400" dirty="0"/>
          </a:p>
        </p:txBody>
      </p:sp>
      <p:sp>
        <p:nvSpPr>
          <p:cNvPr id="35" name="Card"/>
          <p:cNvSpPr/>
          <p:nvPr/>
        </p:nvSpPr>
        <p:spPr>
          <a:xfrm>
            <a:off x="5943600" y="3108960"/>
            <a:ext cx="128016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36" name="Text 33"/>
          <p:cNvSpPr txBox="1"/>
          <p:nvPr/>
        </p:nvSpPr>
        <p:spPr>
          <a:xfrm>
            <a:off x="5943600" y="3108960"/>
            <a:ext cx="1280160" cy="548640"/>
          </a:xfrm>
          <a:prstGeom prst="rect">
            <a:avLst/>
          </a:prstGeom>
          <a:noFill/>
          <a:ln/>
        </p:spPr>
        <p:txBody>
          <a:bodyPr wrap="square" lIns="0" tIns="0" rIns="0" bIns="0" rtlCol="0" anchor="ctr"/>
          <a:lstStyle/>
          <a:p>
            <a:pPr marL="0" indent="0" algn="ctr">
              <a:buNone/>
            </a:pPr>
            <a:r>
              <a:rPr lang="en-US" sz="1400" dirty="0">
                <a:solidFill>
                  <a:srgbClr val="22262E"/>
                </a:solidFill>
                <a:latin typeface="Arial" pitchFamily="34" charset="0"/>
                <a:ea typeface="Arial" pitchFamily="34" charset="-122"/>
                <a:cs typeface="Arial" pitchFamily="34" charset="-120"/>
              </a:rPr>
              <a:t>138, 89, 75</a:t>
            </a:r>
            <a:endParaRPr lang="en-US" sz="1400" dirty="0"/>
          </a:p>
        </p:txBody>
      </p:sp>
      <p:sp>
        <p:nvSpPr>
          <p:cNvPr id="37" name="Card"/>
          <p:cNvSpPr/>
          <p:nvPr/>
        </p:nvSpPr>
        <p:spPr>
          <a:xfrm>
            <a:off x="7315200" y="3108960"/>
            <a:ext cx="1280160" cy="548640"/>
          </a:xfrm>
          <a:prstGeom prst="roundRect">
            <a:avLst>
              <a:gd name="adj" fmla="val 20000"/>
            </a:avLst>
          </a:prstGeom>
          <a:solidFill>
            <a:srgbClr val="FFFFFF"/>
          </a:solidFill>
          <a:ln w="9525">
            <a:solidFill>
              <a:srgbClr val="C5D1E3"/>
            </a:solidFill>
            <a:prstDash val="solid"/>
          </a:ln>
        </p:spPr>
        <p:txBody>
          <a:bodyPr/>
          <a:lstStyle/>
          <a:p>
            <a:endParaRPr lang="en-GB"/>
          </a:p>
        </p:txBody>
      </p:sp>
      <p:sp>
        <p:nvSpPr>
          <p:cNvPr id="38" name="Text 35"/>
          <p:cNvSpPr txBox="1"/>
          <p:nvPr/>
        </p:nvSpPr>
        <p:spPr>
          <a:xfrm>
            <a:off x="7315200" y="3108960"/>
            <a:ext cx="1280160" cy="548640"/>
          </a:xfrm>
          <a:prstGeom prst="rect">
            <a:avLst/>
          </a:prstGeom>
          <a:noFill/>
          <a:ln/>
        </p:spPr>
        <p:txBody>
          <a:bodyPr wrap="square" lIns="0" tIns="0" rIns="0" bIns="0" rtlCol="0" anchor="ctr"/>
          <a:lstStyle/>
          <a:p>
            <a:pPr marL="0" indent="0" algn="ctr">
              <a:buNone/>
            </a:pPr>
            <a:r>
              <a:rPr lang="en-US" sz="1400" dirty="0">
                <a:solidFill>
                  <a:srgbClr val="22262E"/>
                </a:solidFill>
                <a:latin typeface="Arial" pitchFamily="34" charset="0"/>
                <a:ea typeface="Arial" pitchFamily="34" charset="-122"/>
                <a:cs typeface="Arial" pitchFamily="34" charset="-120"/>
              </a:rPr>
              <a:t>144, 92, 78</a:t>
            </a:r>
            <a:endParaRPr lang="en-US" sz="1400" dirty="0"/>
          </a:p>
        </p:txBody>
      </p:sp>
      <p:sp>
        <p:nvSpPr>
          <p:cNvPr id="39"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Paper: the 4 x 4 Patch</a:t>
            </a:r>
            <a:endParaRPr lang="en-US" sz="3400" dirty="0"/>
          </a:p>
        </p:txBody>
      </p:sp>
      <p:sp>
        <p:nvSpPr>
          <p:cNvPr id="3" name="Text 1"/>
          <p:cNvSpPr txBox="1"/>
          <p:nvPr/>
        </p:nvSpPr>
        <p:spPr>
          <a:xfrm>
            <a:off x="548640" y="640080"/>
            <a:ext cx="3657600" cy="457200"/>
          </a:xfrm>
          <a:prstGeom prst="rect">
            <a:avLst/>
          </a:prstGeom>
          <a:noFill/>
          <a:ln/>
        </p:spPr>
        <p:txBody>
          <a:bodyPr wrap="square" lIns="0" tIns="0" rIns="0" bIns="0" rtlCol="0" anchor="ctr"/>
          <a:lstStyle/>
          <a:p>
            <a:pPr marL="0" indent="0">
              <a:buNone/>
            </a:pPr>
            <a:r>
              <a:rPr lang="en-US" sz="2200" b="1" kern="0" spc="400" dirty="0">
                <a:solidFill>
                  <a:srgbClr val="A9C4E8"/>
                </a:solidFill>
                <a:latin typeface="Arial" pitchFamily="34" charset="0"/>
                <a:ea typeface="Arial" pitchFamily="34" charset="-122"/>
                <a:cs typeface="Arial" pitchFamily="34" charset="-120"/>
              </a:rPr>
              <a:t>OPTIONAL</a:t>
            </a:r>
            <a:endParaRPr lang="en-US" sz="2200" dirty="0"/>
          </a:p>
        </p:txBody>
      </p:sp>
      <p:sp>
        <p:nvSpPr>
          <p:cNvPr id="4" name="Text 2"/>
          <p:cNvSpPr txBox="1"/>
          <p:nvPr/>
        </p:nvSpPr>
        <p:spPr>
          <a:xfrm>
            <a:off x="548640" y="2743200"/>
            <a:ext cx="5852160" cy="822960"/>
          </a:xfrm>
          <a:prstGeom prst="rect">
            <a:avLst/>
          </a:prstGeom>
          <a:noFill/>
          <a:ln/>
        </p:spPr>
        <p:txBody>
          <a:bodyPr wrap="square" lIns="0" tIns="0" rIns="0" bIns="0" rtlCol="0" anchor="t"/>
          <a:lstStyle/>
          <a:p>
            <a:pPr marL="0" indent="0">
              <a:buNone/>
            </a:pPr>
            <a:r>
              <a:rPr lang="en-US" sz="1800" dirty="0">
                <a:solidFill>
                  <a:srgbClr val="C5D1E3"/>
                </a:solidFill>
                <a:latin typeface="Arial" pitchFamily="34" charset="0"/>
                <a:ea typeface="Arial" pitchFamily="34" charset="-122"/>
                <a:cs typeface="Arial" pitchFamily="34" charset="-120"/>
              </a:rPr>
              <a:t>Pencil, not Python. Go back a slide if you need the numbers.</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Take One Pixel: (113, 73, 63)</a:t>
            </a:r>
            <a:endParaRPr lang="en-US" sz="3000" dirty="0"/>
          </a:p>
        </p:txBody>
      </p:sp>
      <p:sp>
        <p:nvSpPr>
          <p:cNvPr id="3" name="@1 swatch"/>
          <p:cNvSpPr/>
          <p:nvPr/>
        </p:nvSpPr>
        <p:spPr>
          <a:xfrm>
            <a:off x="731520" y="1280160"/>
            <a:ext cx="1280160" cy="1280160"/>
          </a:xfrm>
          <a:prstGeom prst="rect">
            <a:avLst/>
          </a:prstGeom>
          <a:solidFill>
            <a:srgbClr val="5A0000"/>
          </a:solidFill>
          <a:ln w="12700">
            <a:solidFill>
              <a:srgbClr val="5A0000"/>
            </a:solidFill>
            <a:prstDash val="solid"/>
          </a:ln>
        </p:spPr>
        <p:txBody>
          <a:bodyPr/>
          <a:lstStyle/>
          <a:p>
            <a:endParaRPr lang="en-GB"/>
          </a:p>
        </p:txBody>
      </p:sp>
      <p:sp>
        <p:nvSpPr>
          <p:cNvPr id="4" name="@1 addText"/>
          <p:cNvSpPr txBox="1"/>
          <p:nvPr/>
        </p:nvSpPr>
        <p:spPr>
          <a:xfrm>
            <a:off x="731520" y="2651760"/>
            <a:ext cx="1280160" cy="365760"/>
          </a:xfrm>
          <a:prstGeom prst="rect">
            <a:avLst/>
          </a:prstGeom>
          <a:noFill/>
          <a:ln/>
        </p:spPr>
        <p:txBody>
          <a:bodyPr wrap="square" lIns="0" tIns="0" rIns="0" bIns="0" rtlCol="0" anchor="ctr"/>
          <a:lstStyle/>
          <a:p>
            <a:pPr marL="0" indent="0" algn="ctr">
              <a:buNone/>
            </a:pPr>
            <a:r>
              <a:rPr lang="en-US" sz="1800" b="1" dirty="0">
                <a:solidFill>
                  <a:srgbClr val="22262E"/>
                </a:solidFill>
                <a:latin typeface="Arial" pitchFamily="34" charset="0"/>
                <a:ea typeface="Arial" pitchFamily="34" charset="-122"/>
                <a:cs typeface="Arial" pitchFamily="34" charset="-120"/>
              </a:rPr>
              <a:t>R  113</a:t>
            </a:r>
            <a:endParaRPr lang="en-US" sz="1800" dirty="0"/>
          </a:p>
        </p:txBody>
      </p:sp>
      <p:sp>
        <p:nvSpPr>
          <p:cNvPr id="5" name="@2 swatch"/>
          <p:cNvSpPr/>
          <p:nvPr/>
        </p:nvSpPr>
        <p:spPr>
          <a:xfrm>
            <a:off x="2651760" y="1280160"/>
            <a:ext cx="1280160" cy="1280160"/>
          </a:xfrm>
          <a:prstGeom prst="rect">
            <a:avLst/>
          </a:prstGeom>
          <a:solidFill>
            <a:srgbClr val="004000"/>
          </a:solidFill>
          <a:ln w="12700">
            <a:solidFill>
              <a:srgbClr val="004000"/>
            </a:solidFill>
            <a:prstDash val="solid"/>
          </a:ln>
        </p:spPr>
        <p:txBody>
          <a:bodyPr/>
          <a:lstStyle/>
          <a:p>
            <a:endParaRPr lang="en-GB"/>
          </a:p>
        </p:txBody>
      </p:sp>
      <p:sp>
        <p:nvSpPr>
          <p:cNvPr id="6" name="@2 addText"/>
          <p:cNvSpPr txBox="1"/>
          <p:nvPr/>
        </p:nvSpPr>
        <p:spPr>
          <a:xfrm>
            <a:off x="2651760" y="2651760"/>
            <a:ext cx="1280160" cy="365760"/>
          </a:xfrm>
          <a:prstGeom prst="rect">
            <a:avLst/>
          </a:prstGeom>
          <a:noFill/>
          <a:ln/>
        </p:spPr>
        <p:txBody>
          <a:bodyPr wrap="square" lIns="0" tIns="0" rIns="0" bIns="0" rtlCol="0" anchor="ctr"/>
          <a:lstStyle/>
          <a:p>
            <a:pPr marL="0" indent="0" algn="ctr">
              <a:buNone/>
            </a:pPr>
            <a:r>
              <a:rPr lang="en-US" sz="1800" b="1" dirty="0">
                <a:solidFill>
                  <a:srgbClr val="22262E"/>
                </a:solidFill>
                <a:latin typeface="Arial" pitchFamily="34" charset="0"/>
                <a:ea typeface="Arial" pitchFamily="34" charset="-122"/>
                <a:cs typeface="Arial" pitchFamily="34" charset="-120"/>
              </a:rPr>
              <a:t>G  73</a:t>
            </a:r>
            <a:endParaRPr lang="en-US" sz="1800" dirty="0"/>
          </a:p>
        </p:txBody>
      </p:sp>
      <p:sp>
        <p:nvSpPr>
          <p:cNvPr id="7" name="@3 swatch"/>
          <p:cNvSpPr/>
          <p:nvPr/>
        </p:nvSpPr>
        <p:spPr>
          <a:xfrm>
            <a:off x="4572000" y="1280160"/>
            <a:ext cx="1280160" cy="1280160"/>
          </a:xfrm>
          <a:prstGeom prst="rect">
            <a:avLst/>
          </a:prstGeom>
          <a:solidFill>
            <a:srgbClr val="00003C"/>
          </a:solidFill>
          <a:ln w="12700">
            <a:solidFill>
              <a:srgbClr val="00003C"/>
            </a:solidFill>
            <a:prstDash val="solid"/>
          </a:ln>
        </p:spPr>
        <p:txBody>
          <a:bodyPr/>
          <a:lstStyle/>
          <a:p>
            <a:endParaRPr lang="en-GB"/>
          </a:p>
        </p:txBody>
      </p:sp>
      <p:sp>
        <p:nvSpPr>
          <p:cNvPr id="8" name="@3 addText"/>
          <p:cNvSpPr txBox="1"/>
          <p:nvPr/>
        </p:nvSpPr>
        <p:spPr>
          <a:xfrm>
            <a:off x="4572000" y="2651760"/>
            <a:ext cx="1280160" cy="365760"/>
          </a:xfrm>
          <a:prstGeom prst="rect">
            <a:avLst/>
          </a:prstGeom>
          <a:noFill/>
          <a:ln/>
        </p:spPr>
        <p:txBody>
          <a:bodyPr wrap="square" lIns="0" tIns="0" rIns="0" bIns="0" rtlCol="0" anchor="ctr"/>
          <a:lstStyle/>
          <a:p>
            <a:pPr marL="0" indent="0" algn="ctr">
              <a:buNone/>
            </a:pPr>
            <a:r>
              <a:rPr lang="en-US" sz="1800" b="1" dirty="0">
                <a:solidFill>
                  <a:srgbClr val="22262E"/>
                </a:solidFill>
                <a:latin typeface="Arial" pitchFamily="34" charset="0"/>
                <a:ea typeface="Arial" pitchFamily="34" charset="-122"/>
                <a:cs typeface="Arial" pitchFamily="34" charset="-120"/>
              </a:rPr>
              <a:t>B  63</a:t>
            </a:r>
            <a:endParaRPr lang="en-US" sz="1800" dirty="0"/>
          </a:p>
        </p:txBody>
      </p:sp>
      <p:sp>
        <p:nvSpPr>
          <p:cNvPr id="9" name="@4 swatch"/>
          <p:cNvSpPr/>
          <p:nvPr/>
        </p:nvSpPr>
        <p:spPr>
          <a:xfrm>
            <a:off x="6492240" y="1280160"/>
            <a:ext cx="1463040" cy="1280160"/>
          </a:xfrm>
          <a:prstGeom prst="rect">
            <a:avLst/>
          </a:prstGeom>
          <a:solidFill>
            <a:srgbClr val="71493F"/>
          </a:solidFill>
          <a:ln w="12700">
            <a:solidFill>
              <a:srgbClr val="71493F"/>
            </a:solidFill>
            <a:prstDash val="solid"/>
          </a:ln>
        </p:spPr>
        <p:txBody>
          <a:bodyPr/>
          <a:lstStyle/>
          <a:p>
            <a:endParaRPr lang="en-GB"/>
          </a:p>
        </p:txBody>
      </p:sp>
      <p:sp>
        <p:nvSpPr>
          <p:cNvPr id="10" name="@4 addText"/>
          <p:cNvSpPr txBox="1"/>
          <p:nvPr/>
        </p:nvSpPr>
        <p:spPr>
          <a:xfrm>
            <a:off x="6492240" y="2651760"/>
            <a:ext cx="1463040" cy="365760"/>
          </a:xfrm>
          <a:prstGeom prst="rect">
            <a:avLst/>
          </a:prstGeom>
          <a:noFill/>
          <a:ln/>
        </p:spPr>
        <p:txBody>
          <a:bodyPr wrap="square" lIns="0" tIns="0" rIns="0" bIns="0" rtlCol="0" anchor="ctr"/>
          <a:lstStyle/>
          <a:p>
            <a:pPr marL="0" indent="0" algn="ctr">
              <a:buNone/>
            </a:pPr>
            <a:r>
              <a:rPr lang="en-US" sz="1800" b="1" dirty="0">
                <a:solidFill>
                  <a:srgbClr val="22262E"/>
                </a:solidFill>
                <a:latin typeface="Arial" pitchFamily="34" charset="0"/>
                <a:ea typeface="Arial" pitchFamily="34" charset="-122"/>
                <a:cs typeface="Arial" pitchFamily="34" charset="-120"/>
              </a:rPr>
              <a:t>= the pixel</a:t>
            </a:r>
            <a:endParaRPr lang="en-US" sz="1800" dirty="0"/>
          </a:p>
        </p:txBody>
      </p:sp>
      <p:sp>
        <p:nvSpPr>
          <p:cNvPr id="11" name="@5 Callout"/>
          <p:cNvSpPr/>
          <p:nvPr/>
        </p:nvSpPr>
        <p:spPr>
          <a:xfrm>
            <a:off x="457200" y="3566160"/>
            <a:ext cx="8229600" cy="731520"/>
          </a:xfrm>
          <a:prstGeom prst="roundRect">
            <a:avLst>
              <a:gd name="adj" fmla="val 12500"/>
            </a:avLst>
          </a:prstGeom>
          <a:solidFill>
            <a:srgbClr val="FFFFFF"/>
          </a:solidFill>
          <a:ln w="15875">
            <a:solidFill>
              <a:srgbClr val="002D6A"/>
            </a:solidFill>
            <a:prstDash val="solid"/>
          </a:ln>
        </p:spPr>
        <p:txBody>
          <a:bodyPr/>
          <a:lstStyle/>
          <a:p>
            <a:endParaRPr lang="en-GB"/>
          </a:p>
        </p:txBody>
      </p:sp>
      <p:sp>
        <p:nvSpPr>
          <p:cNvPr id="12" name="@5 addText"/>
          <p:cNvSpPr txBox="1"/>
          <p:nvPr/>
        </p:nvSpPr>
        <p:spPr>
          <a:xfrm>
            <a:off x="685800" y="3566160"/>
            <a:ext cx="7772400" cy="731520"/>
          </a:xfrm>
          <a:prstGeom prst="rect">
            <a:avLst/>
          </a:prstGeom>
          <a:noFill/>
          <a:ln/>
        </p:spPr>
        <p:txBody>
          <a:bodyPr wrap="square" lIns="0" tIns="0" rIns="0" bIns="0" rtlCol="0" anchor="ctr"/>
          <a:lstStyle/>
          <a:p>
            <a:pPr marL="0" indent="0">
              <a:buNone/>
            </a:pPr>
            <a:r>
              <a:rPr lang="en-US" sz="1200" b="1" kern="0" spc="200" dirty="0">
                <a:solidFill>
                  <a:srgbClr val="002D6A"/>
                </a:solidFill>
                <a:latin typeface="Arial" pitchFamily="34" charset="0"/>
                <a:ea typeface="Arial" pitchFamily="34" charset="-122"/>
                <a:cs typeface="Arial" pitchFamily="34" charset="-120"/>
              </a:rPr>
              <a:t>TIP  </a:t>
            </a:r>
            <a:r>
              <a:rPr lang="en-US" sz="1600" dirty="0">
                <a:solidFill>
                  <a:srgbClr val="22262E"/>
                </a:solidFill>
                <a:latin typeface="Arial" pitchFamily="34" charset="0"/>
                <a:ea typeface="Arial" pitchFamily="34" charset="-122"/>
                <a:cs typeface="Arial" pitchFamily="34" charset="-120"/>
              </a:rPr>
              <a:t>Change the numbers, change the picture. That is all a photo is.</a:t>
            </a:r>
            <a:endParaRPr lang="en-US" sz="1200" dirty="0"/>
          </a:p>
        </p:txBody>
      </p:sp>
      <p:sp>
        <p:nvSpPr>
          <p:cNvPr id="13"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2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200"/>
                                        <p:tgtEl>
                                          <p:spTgt spid="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2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200"/>
                                        <p:tgtEl>
                                          <p:spTgt spid="9"/>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200"/>
                                        <p:tgtEl>
                                          <p:spTgt spid="1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200"/>
                                        <p:tgtEl>
                                          <p:spTgt spid="11"/>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2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Mix a Colour</a:t>
            </a:r>
            <a:endParaRPr lang="en-US" sz="3400" dirty="0"/>
          </a:p>
        </p:txBody>
      </p:sp>
      <p:sp>
        <p:nvSpPr>
          <p:cNvPr id="3" name="Text 1"/>
          <p:cNvSpPr txBox="1"/>
          <p:nvPr/>
        </p:nvSpPr>
        <p:spPr>
          <a:xfrm>
            <a:off x="548640" y="640080"/>
            <a:ext cx="3657600" cy="457200"/>
          </a:xfrm>
          <a:prstGeom prst="rect">
            <a:avLst/>
          </a:prstGeom>
          <a:noFill/>
          <a:ln/>
        </p:spPr>
        <p:txBody>
          <a:bodyPr wrap="square" lIns="0" tIns="0" rIns="0" bIns="0" rtlCol="0" anchor="ctr"/>
          <a:lstStyle/>
          <a:p>
            <a:pPr marL="0" indent="0">
              <a:buNone/>
            </a:pPr>
            <a:r>
              <a:rPr lang="en-US" sz="2200" b="1" kern="0" spc="400" dirty="0">
                <a:solidFill>
                  <a:srgbClr val="A9C4E8"/>
                </a:solidFill>
                <a:latin typeface="Arial" pitchFamily="34" charset="0"/>
                <a:ea typeface="Arial" pitchFamily="34" charset="-122"/>
                <a:cs typeface="Arial" pitchFamily="34" charset="-120"/>
              </a:rPr>
              <a:t>TRY IT</a:t>
            </a:r>
            <a:endParaRPr lang="en-US" sz="2200" dirty="0"/>
          </a:p>
        </p:txBody>
      </p:sp>
      <p:sp>
        <p:nvSpPr>
          <p:cNvPr id="4" name="Text 2"/>
          <p:cNvSpPr txBox="1"/>
          <p:nvPr/>
        </p:nvSpPr>
        <p:spPr>
          <a:xfrm>
            <a:off x="548640" y="2743200"/>
            <a:ext cx="5852160" cy="822960"/>
          </a:xfrm>
          <a:prstGeom prst="rect">
            <a:avLst/>
          </a:prstGeom>
          <a:noFill/>
          <a:ln/>
        </p:spPr>
        <p:txBody>
          <a:bodyPr wrap="square" lIns="0" tIns="0" rIns="0" bIns="0" rtlCol="0" anchor="t"/>
          <a:lstStyle/>
          <a:p>
            <a:pPr marL="0" indent="0">
              <a:buNone/>
            </a:pPr>
            <a:r>
              <a:rPr lang="en-US" sz="1800" dirty="0">
                <a:solidFill>
                  <a:srgbClr val="C5D1E3"/>
                </a:solidFill>
                <a:latin typeface="Arial" pitchFamily="34" charset="0"/>
                <a:ea typeface="Arial" pitchFamily="34" charset="-122"/>
                <a:cs typeface="Arial" pitchFamily="34" charset="-120"/>
              </a:rPr>
              <a:t>In image_explore.py, change show_colour(230, 30, 30). Make yellow, then grey. Each number is 0 to 255.</a:t>
            </a:r>
            <a:endParaRPr lang="en-US" sz="1800" dirty="0"/>
          </a:p>
        </p:txBody>
      </p:sp>
      <p:sp>
        <p:nvSpPr>
          <p:cNvPr id="5" name="Timer pill"/>
          <p:cNvSpPr/>
          <p:nvPr/>
        </p:nvSpPr>
        <p:spPr>
          <a:xfrm>
            <a:off x="548640" y="3840480"/>
            <a:ext cx="2194560" cy="640080"/>
          </a:xfrm>
          <a:prstGeom prst="roundRect">
            <a:avLst>
              <a:gd name="adj" fmla="val 50000"/>
            </a:avLst>
          </a:prstGeom>
          <a:solidFill>
            <a:srgbClr val="A9C4E8"/>
          </a:solidFill>
          <a:ln w="12700">
            <a:solidFill>
              <a:srgbClr val="A9C4E8"/>
            </a:solidFill>
            <a:prstDash val="solid"/>
          </a:ln>
        </p:spPr>
        <p:txBody>
          <a:bodyPr/>
          <a:lstStyle/>
          <a:p>
            <a:endParaRPr lang="en-GB"/>
          </a:p>
        </p:txBody>
      </p:sp>
      <p:pic>
        <p:nvPicPr>
          <p:cNvPr id="6" name="Image 0" descr="clock"/>
          <p:cNvPicPr>
            <a:picLocks noChangeAspect="1"/>
          </p:cNvPicPr>
          <p:nvPr/>
        </p:nvPicPr>
        <p:blipFill>
          <a:blip r:embed="rId3"/>
          <a:stretch>
            <a:fillRect/>
          </a:stretch>
        </p:blipFill>
        <p:spPr>
          <a:xfrm>
            <a:off x="749808" y="3995928"/>
            <a:ext cx="329184" cy="329184"/>
          </a:xfrm>
          <a:prstGeom prst="rect">
            <a:avLst/>
          </a:prstGeom>
        </p:spPr>
      </p:pic>
      <p:sp>
        <p:nvSpPr>
          <p:cNvPr id="7" name="Text 4"/>
          <p:cNvSpPr txBox="1"/>
          <p:nvPr/>
        </p:nvSpPr>
        <p:spPr>
          <a:xfrm>
            <a:off x="1170432" y="3840480"/>
            <a:ext cx="1463040" cy="640080"/>
          </a:xfrm>
          <a:prstGeom prst="rect">
            <a:avLst/>
          </a:prstGeom>
          <a:noFill/>
          <a:ln/>
        </p:spPr>
        <p:txBody>
          <a:bodyPr wrap="square" lIns="0" tIns="0" rIns="0" bIns="0" rtlCol="0" anchor="ctr"/>
          <a:lstStyle/>
          <a:p>
            <a:pPr marL="0" indent="0">
              <a:buNone/>
            </a:pPr>
            <a:r>
              <a:rPr lang="en-US" sz="2000" b="1" dirty="0">
                <a:solidFill>
                  <a:srgbClr val="001B40"/>
                </a:solidFill>
                <a:latin typeface="Arial" pitchFamily="34" charset="0"/>
                <a:ea typeface="Arial" pitchFamily="34" charset="-122"/>
                <a:cs typeface="Arial" pitchFamily="34" charset="-120"/>
              </a:rPr>
              <a:t>3 min</a:t>
            </a:r>
            <a:endParaRPr lang="en-US" sz="2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Split Into Three Pictures</a:t>
            </a:r>
            <a:endParaRPr lang="en-US" sz="3000" dirty="0"/>
          </a:p>
        </p:txBody>
      </p:sp>
      <p:sp>
        <p:nvSpPr>
          <p:cNvPr id="3" name="2 MIN TALK pill"/>
          <p:cNvSpPr/>
          <p:nvPr/>
        </p:nvSpPr>
        <p:spPr>
          <a:xfrm>
            <a:off x="7132320" y="411480"/>
            <a:ext cx="15544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132320" y="411480"/>
            <a:ext cx="15544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2 MIN TALK</a:t>
            </a:r>
            <a:endParaRPr lang="en-US" sz="1200" dirty="0"/>
          </a:p>
        </p:txBody>
      </p:sp>
      <p:pic>
        <p:nvPicPr>
          <p:cNvPr id="5" name="Image 0" descr="The red channel of the cow photo shown as a red-shaded picture, wall bright"/>
          <p:cNvPicPr>
            <a:picLocks noChangeAspect="1"/>
          </p:cNvPicPr>
          <p:nvPr/>
        </p:nvPicPr>
        <p:blipFill>
          <a:blip r:embed="rId3"/>
          <a:stretch>
            <a:fillRect/>
          </a:stretch>
        </p:blipFill>
        <p:spPr>
          <a:xfrm>
            <a:off x="457200" y="1116874"/>
            <a:ext cx="4114800" cy="3526971"/>
          </a:xfrm>
          <a:prstGeom prst="rect">
            <a:avLst/>
          </a:prstGeom>
        </p:spPr>
      </p:pic>
      <p:sp>
        <p:nvSpPr>
          <p:cNvPr id="6" name="code bg"/>
          <p:cNvSpPr/>
          <p:nvPr/>
        </p:nvSpPr>
        <p:spPr>
          <a:xfrm>
            <a:off x="4846320" y="1188720"/>
            <a:ext cx="3840480" cy="548640"/>
          </a:xfrm>
          <a:prstGeom prst="rect">
            <a:avLst/>
          </a:prstGeom>
          <a:solidFill>
            <a:srgbClr val="0B2A57"/>
          </a:solidFill>
          <a:ln w="12700">
            <a:solidFill>
              <a:srgbClr val="0B2A57"/>
            </a:solidFill>
            <a:prstDash val="solid"/>
          </a:ln>
        </p:spPr>
        <p:txBody>
          <a:bodyPr/>
          <a:lstStyle/>
          <a:p>
            <a:endParaRPr lang="en-GB"/>
          </a:p>
        </p:txBody>
      </p:sp>
      <p:sp>
        <p:nvSpPr>
          <p:cNvPr id="7" name="code bar"/>
          <p:cNvSpPr/>
          <p:nvPr/>
        </p:nvSpPr>
        <p:spPr>
          <a:xfrm>
            <a:off x="4846320" y="1188720"/>
            <a:ext cx="54864" cy="548640"/>
          </a:xfrm>
          <a:prstGeom prst="rect">
            <a:avLst/>
          </a:prstGeom>
          <a:solidFill>
            <a:srgbClr val="A9C4E8"/>
          </a:solidFill>
          <a:ln w="12700">
            <a:solidFill>
              <a:srgbClr val="5D79A0"/>
            </a:solidFill>
            <a:prstDash val="solid"/>
          </a:ln>
        </p:spPr>
        <p:txBody>
          <a:bodyPr/>
          <a:lstStyle/>
          <a:p>
            <a:endParaRPr lang="en-GB"/>
          </a:p>
        </p:txBody>
      </p:sp>
      <p:sp>
        <p:nvSpPr>
          <p:cNvPr id="8" name="code line 1"/>
          <p:cNvSpPr txBox="1"/>
          <p:nvPr/>
        </p:nvSpPr>
        <p:spPr>
          <a:xfrm>
            <a:off x="5029200" y="1325880"/>
            <a:ext cx="356616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&gt;&gt;&gt; </a:t>
            </a:r>
            <a:r>
              <a:rPr lang="en-US" sz="1600" dirty="0">
                <a:solidFill>
                  <a:srgbClr val="E6ECF5"/>
                </a:solidFill>
                <a:latin typeface="Courier New" pitchFamily="34" charset="0"/>
                <a:ea typeface="Courier New" pitchFamily="34" charset="-122"/>
                <a:cs typeface="Courier New" pitchFamily="34" charset="-120"/>
              </a:rPr>
              <a:t>red = pixels[:, :, 0]</a:t>
            </a:r>
            <a:endParaRPr lang="en-US" sz="1600" dirty="0"/>
          </a:p>
        </p:txBody>
      </p:sp>
      <p:sp>
        <p:nvSpPr>
          <p:cNvPr id="9" name="@1 dot"/>
          <p:cNvSpPr/>
          <p:nvPr/>
        </p:nvSpPr>
        <p:spPr>
          <a:xfrm>
            <a:off x="4846320" y="2322576"/>
            <a:ext cx="109728" cy="109728"/>
          </a:xfrm>
          <a:prstGeom prst="ellipse">
            <a:avLst/>
          </a:prstGeom>
          <a:solidFill>
            <a:srgbClr val="002D6A"/>
          </a:solidFill>
          <a:ln w="12700">
            <a:solidFill>
              <a:srgbClr val="002D6A"/>
            </a:solidFill>
            <a:prstDash val="solid"/>
          </a:ln>
        </p:spPr>
        <p:txBody>
          <a:bodyPr/>
          <a:lstStyle/>
          <a:p>
            <a:endParaRPr lang="en-GB"/>
          </a:p>
        </p:txBody>
      </p:sp>
      <p:sp>
        <p:nvSpPr>
          <p:cNvPr id="10" name="@1 addText"/>
          <p:cNvSpPr txBox="1"/>
          <p:nvPr/>
        </p:nvSpPr>
        <p:spPr>
          <a:xfrm>
            <a:off x="5120640" y="2194560"/>
            <a:ext cx="3566160" cy="548640"/>
          </a:xfrm>
          <a:prstGeom prst="rect">
            <a:avLst/>
          </a:prstGeom>
          <a:noFill/>
          <a:ln/>
        </p:spPr>
        <p:txBody>
          <a:bodyPr wrap="square" lIns="0" tIns="0" rIns="0" bIns="0" rtlCol="0" anchor="t"/>
          <a:lstStyle/>
          <a:p>
            <a:pPr marL="0" indent="0">
              <a:buNone/>
            </a:pPr>
            <a:r>
              <a:rPr lang="en-US" sz="1600" dirty="0">
                <a:solidFill>
                  <a:srgbClr val="22262E"/>
                </a:solidFill>
                <a:latin typeface="Arial" pitchFamily="34" charset="0"/>
                <a:ea typeface="Arial" pitchFamily="34" charset="-122"/>
                <a:cs typeface="Arial" pitchFamily="34" charset="-120"/>
              </a:rPr>
              <a:t>Channel 0 is red.</a:t>
            </a:r>
            <a:endParaRPr lang="en-US" sz="1600" dirty="0"/>
          </a:p>
        </p:txBody>
      </p:sp>
      <p:sp>
        <p:nvSpPr>
          <p:cNvPr id="11" name="@2 dot"/>
          <p:cNvSpPr/>
          <p:nvPr/>
        </p:nvSpPr>
        <p:spPr>
          <a:xfrm>
            <a:off x="4846320" y="2916936"/>
            <a:ext cx="109728" cy="109728"/>
          </a:xfrm>
          <a:prstGeom prst="ellipse">
            <a:avLst/>
          </a:prstGeom>
          <a:solidFill>
            <a:srgbClr val="002D6A"/>
          </a:solidFill>
          <a:ln w="12700">
            <a:solidFill>
              <a:srgbClr val="002D6A"/>
            </a:solidFill>
            <a:prstDash val="solid"/>
          </a:ln>
        </p:spPr>
        <p:txBody>
          <a:bodyPr/>
          <a:lstStyle/>
          <a:p>
            <a:endParaRPr lang="en-GB"/>
          </a:p>
        </p:txBody>
      </p:sp>
      <p:sp>
        <p:nvSpPr>
          <p:cNvPr id="12" name="@2 addText"/>
          <p:cNvSpPr txBox="1"/>
          <p:nvPr/>
        </p:nvSpPr>
        <p:spPr>
          <a:xfrm>
            <a:off x="5120640" y="2788920"/>
            <a:ext cx="3566160" cy="548640"/>
          </a:xfrm>
          <a:prstGeom prst="rect">
            <a:avLst/>
          </a:prstGeom>
          <a:noFill/>
          <a:ln/>
        </p:spPr>
        <p:txBody>
          <a:bodyPr wrap="square" lIns="0" tIns="0" rIns="0" bIns="0" rtlCol="0" anchor="t"/>
          <a:lstStyle/>
          <a:p>
            <a:pPr marL="0" indent="0">
              <a:buNone/>
            </a:pPr>
            <a:r>
              <a:rPr lang="en-US" sz="1600" dirty="0">
                <a:solidFill>
                  <a:srgbClr val="22262E"/>
                </a:solidFill>
                <a:latin typeface="Arial" pitchFamily="34" charset="0"/>
                <a:ea typeface="Arial" pitchFamily="34" charset="-122"/>
                <a:cs typeface="Arial" pitchFamily="34" charset="-120"/>
              </a:rPr>
              <a:t>Big number = deep red.</a:t>
            </a:r>
            <a:endParaRPr lang="en-US" sz="1600" dirty="0"/>
          </a:p>
        </p:txBody>
      </p:sp>
      <p:sp>
        <p:nvSpPr>
          <p:cNvPr id="13" name="@3 dot"/>
          <p:cNvSpPr/>
          <p:nvPr/>
        </p:nvSpPr>
        <p:spPr>
          <a:xfrm>
            <a:off x="4846320" y="3511296"/>
            <a:ext cx="109728" cy="109728"/>
          </a:xfrm>
          <a:prstGeom prst="ellipse">
            <a:avLst/>
          </a:prstGeom>
          <a:solidFill>
            <a:srgbClr val="002D6A"/>
          </a:solidFill>
          <a:ln w="12700">
            <a:solidFill>
              <a:srgbClr val="002D6A"/>
            </a:solidFill>
            <a:prstDash val="solid"/>
          </a:ln>
        </p:spPr>
        <p:txBody>
          <a:bodyPr/>
          <a:lstStyle/>
          <a:p>
            <a:endParaRPr lang="en-GB"/>
          </a:p>
        </p:txBody>
      </p:sp>
      <p:sp>
        <p:nvSpPr>
          <p:cNvPr id="14" name="@3 addText"/>
          <p:cNvSpPr txBox="1"/>
          <p:nvPr/>
        </p:nvSpPr>
        <p:spPr>
          <a:xfrm>
            <a:off x="5120640" y="3383280"/>
            <a:ext cx="3566160" cy="548640"/>
          </a:xfrm>
          <a:prstGeom prst="rect">
            <a:avLst/>
          </a:prstGeom>
          <a:noFill/>
          <a:ln/>
        </p:spPr>
        <p:txBody>
          <a:bodyPr wrap="square" lIns="0" tIns="0" rIns="0" bIns="0" rtlCol="0" anchor="t"/>
          <a:lstStyle/>
          <a:p>
            <a:pPr marL="0" indent="0">
              <a:buNone/>
            </a:pPr>
            <a:r>
              <a:rPr lang="en-US" sz="1600" dirty="0">
                <a:solidFill>
                  <a:srgbClr val="22262E"/>
                </a:solidFill>
                <a:latin typeface="Arial" pitchFamily="34" charset="0"/>
                <a:ea typeface="Arial" pitchFamily="34" charset="-122"/>
                <a:cs typeface="Arial" pitchFamily="34" charset="-120"/>
              </a:rPr>
              <a:t>Wall: lots of red. Cow: almost none.</a:t>
            </a:r>
            <a:endParaRPr lang="en-US" sz="1600" dirty="0"/>
          </a:p>
        </p:txBody>
      </p:sp>
      <p:sp>
        <p:nvSpPr>
          <p:cNvPr id="1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23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2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20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200"/>
                                        <p:tgtEl>
                                          <p:spTgt spid="1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20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2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Split the Channels</a:t>
            </a:r>
            <a:endParaRPr lang="en-US" sz="3400" dirty="0"/>
          </a:p>
        </p:txBody>
      </p:sp>
      <p:sp>
        <p:nvSpPr>
          <p:cNvPr id="3" name="Text 1"/>
          <p:cNvSpPr txBox="1"/>
          <p:nvPr/>
        </p:nvSpPr>
        <p:spPr>
          <a:xfrm>
            <a:off x="548640" y="640080"/>
            <a:ext cx="3657600" cy="457200"/>
          </a:xfrm>
          <a:prstGeom prst="rect">
            <a:avLst/>
          </a:prstGeom>
          <a:noFill/>
          <a:ln/>
        </p:spPr>
        <p:txBody>
          <a:bodyPr wrap="square" lIns="0" tIns="0" rIns="0" bIns="0" rtlCol="0" anchor="ctr"/>
          <a:lstStyle/>
          <a:p>
            <a:pPr marL="0" indent="0">
              <a:buNone/>
            </a:pPr>
            <a:r>
              <a:rPr lang="en-US" sz="2200" b="1" kern="0" spc="400" dirty="0">
                <a:solidFill>
                  <a:srgbClr val="A9C4E8"/>
                </a:solidFill>
                <a:latin typeface="Arial" pitchFamily="34" charset="0"/>
                <a:ea typeface="Arial" pitchFamily="34" charset="-122"/>
                <a:cs typeface="Arial" pitchFamily="34" charset="-120"/>
              </a:rPr>
              <a:t>TASK 4</a:t>
            </a:r>
            <a:endParaRPr lang="en-US" sz="2200" dirty="0"/>
          </a:p>
        </p:txBody>
      </p:sp>
      <p:sp>
        <p:nvSpPr>
          <p:cNvPr id="4" name="Text 2"/>
          <p:cNvSpPr txBox="1"/>
          <p:nvPr/>
        </p:nvSpPr>
        <p:spPr>
          <a:xfrm>
            <a:off x="548640" y="2743200"/>
            <a:ext cx="5852160" cy="822960"/>
          </a:xfrm>
          <a:prstGeom prst="rect">
            <a:avLst/>
          </a:prstGeom>
          <a:noFill/>
          <a:ln/>
        </p:spPr>
        <p:txBody>
          <a:bodyPr wrap="square" lIns="0" tIns="0" rIns="0" bIns="0" rtlCol="0" anchor="t"/>
          <a:lstStyle/>
          <a:p>
            <a:pPr marL="0" indent="0">
              <a:buNone/>
            </a:pPr>
            <a:r>
              <a:rPr lang="en-US" sz="1800" dirty="0">
                <a:solidFill>
                  <a:srgbClr val="C5D1E3"/>
                </a:solidFill>
                <a:latin typeface="Arial" pitchFamily="34" charset="0"/>
                <a:ea typeface="Arial" pitchFamily="34" charset="-122"/>
                <a:cs typeface="Arial" pitchFamily="34" charset="-120"/>
              </a:rPr>
              <a:t>Run TASK 4 to see red. Do the same for green (channel 1) and blue (channel 2). Which channel is brightest on the wall? On the cow?</a:t>
            </a:r>
            <a:endParaRPr lang="en-US" sz="1800" dirty="0"/>
          </a:p>
        </p:txBody>
      </p:sp>
      <p:sp>
        <p:nvSpPr>
          <p:cNvPr id="5" name="Timer pill"/>
          <p:cNvSpPr/>
          <p:nvPr/>
        </p:nvSpPr>
        <p:spPr>
          <a:xfrm>
            <a:off x="548640" y="3840480"/>
            <a:ext cx="2194560" cy="640080"/>
          </a:xfrm>
          <a:prstGeom prst="roundRect">
            <a:avLst>
              <a:gd name="adj" fmla="val 50000"/>
            </a:avLst>
          </a:prstGeom>
          <a:solidFill>
            <a:srgbClr val="A9C4E8"/>
          </a:solidFill>
          <a:ln w="12700">
            <a:solidFill>
              <a:srgbClr val="A9C4E8"/>
            </a:solidFill>
            <a:prstDash val="solid"/>
          </a:ln>
        </p:spPr>
        <p:txBody>
          <a:bodyPr/>
          <a:lstStyle/>
          <a:p>
            <a:endParaRPr lang="en-GB"/>
          </a:p>
        </p:txBody>
      </p:sp>
      <p:pic>
        <p:nvPicPr>
          <p:cNvPr id="6" name="Image 0" descr="clock"/>
          <p:cNvPicPr>
            <a:picLocks noChangeAspect="1"/>
          </p:cNvPicPr>
          <p:nvPr/>
        </p:nvPicPr>
        <p:blipFill>
          <a:blip r:embed="rId3"/>
          <a:stretch>
            <a:fillRect/>
          </a:stretch>
        </p:blipFill>
        <p:spPr>
          <a:xfrm>
            <a:off x="749808" y="3995928"/>
            <a:ext cx="329184" cy="329184"/>
          </a:xfrm>
          <a:prstGeom prst="rect">
            <a:avLst/>
          </a:prstGeom>
        </p:spPr>
      </p:pic>
      <p:sp>
        <p:nvSpPr>
          <p:cNvPr id="7" name="Text 4"/>
          <p:cNvSpPr txBox="1"/>
          <p:nvPr/>
        </p:nvSpPr>
        <p:spPr>
          <a:xfrm>
            <a:off x="1170432" y="3840480"/>
            <a:ext cx="1463040" cy="640080"/>
          </a:xfrm>
          <a:prstGeom prst="rect">
            <a:avLst/>
          </a:prstGeom>
          <a:noFill/>
          <a:ln/>
        </p:spPr>
        <p:txBody>
          <a:bodyPr wrap="square" lIns="0" tIns="0" rIns="0" bIns="0" rtlCol="0" anchor="ctr"/>
          <a:lstStyle/>
          <a:p>
            <a:pPr marL="0" indent="0">
              <a:buNone/>
            </a:pPr>
            <a:r>
              <a:rPr lang="en-US" sz="2000" b="1" dirty="0">
                <a:solidFill>
                  <a:srgbClr val="001B40"/>
                </a:solidFill>
                <a:latin typeface="Arial" pitchFamily="34" charset="0"/>
                <a:ea typeface="Arial" pitchFamily="34" charset="-122"/>
                <a:cs typeface="Arial" pitchFamily="34" charset="-120"/>
              </a:rPr>
              <a:t>3 min</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85800"/>
          </a:xfrm>
          <a:prstGeom prst="rect">
            <a:avLst/>
          </a:prstGeom>
          <a:noFill/>
          <a:ln/>
        </p:spPr>
        <p:txBody>
          <a:bodyPr wrap="square" lIns="0" tIns="0" rIns="0" bIns="0" rtlCol="0" anchor="ctr"/>
          <a:lstStyle/>
          <a:p>
            <a:pPr marL="0" indent="0" algn="l">
              <a:buNone/>
            </a:pPr>
            <a:r>
              <a:rPr lang="en-US" sz="2800" b="1" dirty="0">
                <a:solidFill>
                  <a:srgbClr val="001B40"/>
                </a:solidFill>
                <a:latin typeface="Arial" pitchFamily="34" charset="0"/>
                <a:ea typeface="Arial" pitchFamily="34" charset="-122"/>
                <a:cs typeface="Arial" pitchFamily="34" charset="-120"/>
              </a:rPr>
              <a:t>Task 4: All Three Channels</a:t>
            </a:r>
            <a:endParaRPr lang="en-US" sz="2800" dirty="0"/>
          </a:p>
        </p:txBody>
      </p:sp>
      <p:sp>
        <p:nvSpPr>
          <p:cNvPr id="3" name="ANSWERS pill"/>
          <p:cNvSpPr/>
          <p:nvPr/>
        </p:nvSpPr>
        <p:spPr>
          <a:xfrm>
            <a:off x="7589520" y="411480"/>
            <a:ext cx="10972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589520" y="411480"/>
            <a:ext cx="10972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ANSWERS</a:t>
            </a:r>
            <a:endParaRPr lang="en-US" sz="1200" dirty="0"/>
          </a:p>
        </p:txBody>
      </p:sp>
      <p:pic>
        <p:nvPicPr>
          <p:cNvPr id="5" name="Image 0" descr="Red channel of the cow photo, shown in shades of red"/>
          <p:cNvPicPr>
            <a:picLocks noChangeAspect="1"/>
          </p:cNvPicPr>
          <p:nvPr/>
        </p:nvPicPr>
        <p:blipFill>
          <a:blip r:embed="rId3"/>
          <a:stretch>
            <a:fillRect/>
          </a:stretch>
        </p:blipFill>
        <p:spPr>
          <a:xfrm>
            <a:off x="457200" y="1188720"/>
            <a:ext cx="2560320" cy="2194560"/>
          </a:xfrm>
          <a:prstGeom prst="rect">
            <a:avLst/>
          </a:prstGeom>
        </p:spPr>
      </p:pic>
      <p:sp>
        <p:nvSpPr>
          <p:cNvPr id="6" name="Text 3"/>
          <p:cNvSpPr txBox="1"/>
          <p:nvPr/>
        </p:nvSpPr>
        <p:spPr>
          <a:xfrm>
            <a:off x="457200" y="3429000"/>
            <a:ext cx="2560320" cy="27432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red</a:t>
            </a:r>
            <a:endParaRPr lang="en-US" sz="1400" dirty="0"/>
          </a:p>
        </p:txBody>
      </p:sp>
      <p:pic>
        <p:nvPicPr>
          <p:cNvPr id="7" name="Image 1" descr="Green channel of the cow photo, shown in shades of green"/>
          <p:cNvPicPr>
            <a:picLocks noChangeAspect="1"/>
          </p:cNvPicPr>
          <p:nvPr/>
        </p:nvPicPr>
        <p:blipFill>
          <a:blip r:embed="rId4"/>
          <a:stretch>
            <a:fillRect/>
          </a:stretch>
        </p:blipFill>
        <p:spPr>
          <a:xfrm>
            <a:off x="3291840" y="1188720"/>
            <a:ext cx="2560320" cy="2194560"/>
          </a:xfrm>
          <a:prstGeom prst="rect">
            <a:avLst/>
          </a:prstGeom>
        </p:spPr>
      </p:pic>
      <p:sp>
        <p:nvSpPr>
          <p:cNvPr id="8" name="Text 4"/>
          <p:cNvSpPr txBox="1"/>
          <p:nvPr/>
        </p:nvSpPr>
        <p:spPr>
          <a:xfrm>
            <a:off x="3291840" y="3429000"/>
            <a:ext cx="2560320" cy="27432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green</a:t>
            </a:r>
            <a:endParaRPr lang="en-US" sz="1400" dirty="0"/>
          </a:p>
        </p:txBody>
      </p:sp>
      <p:pic>
        <p:nvPicPr>
          <p:cNvPr id="9" name="Image 2" descr="Blue channel of the cow photo, shown in shades of blue"/>
          <p:cNvPicPr>
            <a:picLocks noChangeAspect="1"/>
          </p:cNvPicPr>
          <p:nvPr/>
        </p:nvPicPr>
        <p:blipFill>
          <a:blip r:embed="rId5"/>
          <a:stretch>
            <a:fillRect/>
          </a:stretch>
        </p:blipFill>
        <p:spPr>
          <a:xfrm>
            <a:off x="6126480" y="1188720"/>
            <a:ext cx="2560320" cy="2194560"/>
          </a:xfrm>
          <a:prstGeom prst="rect">
            <a:avLst/>
          </a:prstGeom>
        </p:spPr>
      </p:pic>
      <p:sp>
        <p:nvSpPr>
          <p:cNvPr id="10" name="Text 5"/>
          <p:cNvSpPr txBox="1"/>
          <p:nvPr/>
        </p:nvSpPr>
        <p:spPr>
          <a:xfrm>
            <a:off x="6126480" y="3429000"/>
            <a:ext cx="2560320" cy="27432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blue</a:t>
            </a:r>
            <a:endParaRPr lang="en-US" sz="1400" dirty="0"/>
          </a:p>
        </p:txBody>
      </p:sp>
      <p:sp>
        <p:nvSpPr>
          <p:cNvPr id="11" name="@1 Callout"/>
          <p:cNvSpPr/>
          <p:nvPr/>
        </p:nvSpPr>
        <p:spPr>
          <a:xfrm>
            <a:off x="457200" y="3840480"/>
            <a:ext cx="8229600" cy="731520"/>
          </a:xfrm>
          <a:prstGeom prst="roundRect">
            <a:avLst>
              <a:gd name="adj" fmla="val 12500"/>
            </a:avLst>
          </a:prstGeom>
          <a:solidFill>
            <a:srgbClr val="FFFFFF"/>
          </a:solidFill>
          <a:ln w="15875">
            <a:solidFill>
              <a:srgbClr val="002D6A"/>
            </a:solidFill>
            <a:prstDash val="solid"/>
          </a:ln>
        </p:spPr>
        <p:txBody>
          <a:bodyPr/>
          <a:lstStyle/>
          <a:p>
            <a:endParaRPr lang="en-GB"/>
          </a:p>
        </p:txBody>
      </p:sp>
      <p:sp>
        <p:nvSpPr>
          <p:cNvPr id="12" name="@1 addText"/>
          <p:cNvSpPr txBox="1"/>
          <p:nvPr/>
        </p:nvSpPr>
        <p:spPr>
          <a:xfrm>
            <a:off x="685800" y="3840480"/>
            <a:ext cx="7772400" cy="731520"/>
          </a:xfrm>
          <a:prstGeom prst="rect">
            <a:avLst/>
          </a:prstGeom>
          <a:noFill/>
          <a:ln/>
        </p:spPr>
        <p:txBody>
          <a:bodyPr wrap="square" lIns="0" tIns="0" rIns="0" bIns="0" rtlCol="0" anchor="ctr"/>
          <a:lstStyle/>
          <a:p>
            <a:pPr marL="0" indent="0">
              <a:buNone/>
            </a:pPr>
            <a:r>
              <a:rPr lang="en-US" sz="1200" b="1" kern="0" spc="200" dirty="0">
                <a:solidFill>
                  <a:srgbClr val="002D6A"/>
                </a:solidFill>
                <a:latin typeface="Arial" pitchFamily="34" charset="0"/>
                <a:ea typeface="Arial" pitchFamily="34" charset="-122"/>
                <a:cs typeface="Arial" pitchFamily="34" charset="-120"/>
              </a:rPr>
              <a:t>TIP  </a:t>
            </a:r>
            <a:r>
              <a:rPr lang="en-US" sz="1600" dirty="0">
                <a:solidFill>
                  <a:srgbClr val="22262E"/>
                </a:solidFill>
                <a:latin typeface="Arial" pitchFamily="34" charset="0"/>
                <a:ea typeface="Arial" pitchFamily="34" charset="-122"/>
                <a:cs typeface="Arial" pitchFamily="34" charset="-120"/>
              </a:rPr>
              <a:t>Wall = bright in red. Cow = dark in every channel.</a:t>
            </a:r>
            <a:endParaRPr lang="en-US" sz="1200" dirty="0"/>
          </a:p>
        </p:txBody>
      </p:sp>
      <p:sp>
        <p:nvSpPr>
          <p:cNvPr id="13"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25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200"/>
                                        <p:tgtEl>
                                          <p:spTgt spid="1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2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Switch Red Off</a:t>
            </a:r>
            <a:endParaRPr lang="en-US" sz="3000" dirty="0"/>
          </a:p>
        </p:txBody>
      </p:sp>
      <p:sp>
        <p:nvSpPr>
          <p:cNvPr id="3" name="2 MIN TALK pill"/>
          <p:cNvSpPr/>
          <p:nvPr/>
        </p:nvSpPr>
        <p:spPr>
          <a:xfrm>
            <a:off x="7132320" y="411480"/>
            <a:ext cx="15544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132320" y="411480"/>
            <a:ext cx="15544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2 MIN TALK</a:t>
            </a:r>
            <a:endParaRPr lang="en-US" sz="1200" dirty="0"/>
          </a:p>
        </p:txBody>
      </p:sp>
      <p:sp>
        <p:nvSpPr>
          <p:cNvPr id="5" name="code bg"/>
          <p:cNvSpPr/>
          <p:nvPr/>
        </p:nvSpPr>
        <p:spPr>
          <a:xfrm>
            <a:off x="457200" y="1143000"/>
            <a:ext cx="8229600" cy="1303020"/>
          </a:xfrm>
          <a:prstGeom prst="rect">
            <a:avLst/>
          </a:prstGeom>
          <a:solidFill>
            <a:srgbClr val="0B2A57"/>
          </a:solidFill>
          <a:ln w="12700">
            <a:solidFill>
              <a:srgbClr val="0B2A57"/>
            </a:solidFill>
            <a:prstDash val="solid"/>
          </a:ln>
        </p:spPr>
        <p:txBody>
          <a:bodyPr/>
          <a:lstStyle/>
          <a:p>
            <a:endParaRPr lang="en-GB"/>
          </a:p>
        </p:txBody>
      </p:sp>
      <p:sp>
        <p:nvSpPr>
          <p:cNvPr id="6" name="code bar"/>
          <p:cNvSpPr/>
          <p:nvPr/>
        </p:nvSpPr>
        <p:spPr>
          <a:xfrm>
            <a:off x="457200" y="1143000"/>
            <a:ext cx="54864" cy="1303020"/>
          </a:xfrm>
          <a:prstGeom prst="rect">
            <a:avLst/>
          </a:prstGeom>
          <a:solidFill>
            <a:srgbClr val="5D79A0"/>
          </a:solidFill>
          <a:ln w="12700">
            <a:solidFill>
              <a:srgbClr val="5D79A0"/>
            </a:solidFill>
            <a:prstDash val="solid"/>
          </a:ln>
        </p:spPr>
        <p:txBody>
          <a:bodyPr/>
          <a:lstStyle/>
          <a:p>
            <a:endParaRPr lang="en-GB"/>
          </a:p>
        </p:txBody>
      </p:sp>
      <p:sp>
        <p:nvSpPr>
          <p:cNvPr id="7" name="code line 1"/>
          <p:cNvSpPr txBox="1"/>
          <p:nvPr/>
        </p:nvSpPr>
        <p:spPr>
          <a:xfrm>
            <a:off x="640080" y="1280160"/>
            <a:ext cx="7955280" cy="342900"/>
          </a:xfrm>
          <a:prstGeom prst="rect">
            <a:avLst/>
          </a:prstGeom>
          <a:noFill/>
          <a:ln/>
        </p:spPr>
        <p:txBody>
          <a:bodyPr wrap="square" lIns="0" tIns="0" rIns="0" bIns="0" rtlCol="0" anchor="ctr"/>
          <a:lstStyle/>
          <a:p>
            <a:pPr marL="0" indent="0">
              <a:buNone/>
            </a:pPr>
            <a:r>
              <a:rPr lang="en-US" sz="2000" dirty="0">
                <a:solidFill>
                  <a:srgbClr val="6F86A8"/>
                </a:solidFill>
                <a:latin typeface="Courier New" pitchFamily="34" charset="0"/>
                <a:ea typeface="Courier New" pitchFamily="34" charset="-122"/>
                <a:cs typeface="Courier New" pitchFamily="34" charset="-120"/>
              </a:rPr>
              <a:t> 1  </a:t>
            </a:r>
            <a:r>
              <a:rPr lang="en-US" sz="2000" dirty="0">
                <a:solidFill>
                  <a:srgbClr val="E6ECF5"/>
                </a:solidFill>
                <a:latin typeface="Courier New" pitchFamily="34" charset="0"/>
                <a:ea typeface="Courier New" pitchFamily="34" charset="-122"/>
                <a:cs typeface="Courier New" pitchFamily="34" charset="-120"/>
              </a:rPr>
              <a:t>no_red = pixels.copy()</a:t>
            </a:r>
            <a:endParaRPr lang="en-US" sz="2000" dirty="0"/>
          </a:p>
        </p:txBody>
      </p:sp>
      <p:sp>
        <p:nvSpPr>
          <p:cNvPr id="8" name="@1 code line 2"/>
          <p:cNvSpPr txBox="1"/>
          <p:nvPr/>
        </p:nvSpPr>
        <p:spPr>
          <a:xfrm>
            <a:off x="640080" y="1623060"/>
            <a:ext cx="7955280" cy="342900"/>
          </a:xfrm>
          <a:prstGeom prst="rect">
            <a:avLst/>
          </a:prstGeom>
          <a:noFill/>
          <a:ln/>
        </p:spPr>
        <p:txBody>
          <a:bodyPr wrap="square" lIns="0" tIns="0" rIns="0" bIns="0" rtlCol="0" anchor="ctr"/>
          <a:lstStyle/>
          <a:p>
            <a:pPr marL="0" indent="0">
              <a:buNone/>
            </a:pPr>
            <a:r>
              <a:rPr lang="en-US" sz="2000" dirty="0">
                <a:solidFill>
                  <a:srgbClr val="6F86A8"/>
                </a:solidFill>
                <a:latin typeface="Courier New" pitchFamily="34" charset="0"/>
                <a:ea typeface="Courier New" pitchFamily="34" charset="-122"/>
                <a:cs typeface="Courier New" pitchFamily="34" charset="-120"/>
              </a:rPr>
              <a:t> 2  </a:t>
            </a:r>
            <a:r>
              <a:rPr lang="en-US" sz="2000" dirty="0">
                <a:solidFill>
                  <a:srgbClr val="E6ECF5"/>
                </a:solidFill>
                <a:latin typeface="Courier New" pitchFamily="34" charset="0"/>
                <a:ea typeface="Courier New" pitchFamily="34" charset="-122"/>
                <a:cs typeface="Courier New" pitchFamily="34" charset="-120"/>
              </a:rPr>
              <a:t>no_red[:, :, 0] = 0</a:t>
            </a:r>
            <a:endParaRPr lang="en-US" sz="2000" dirty="0"/>
          </a:p>
        </p:txBody>
      </p:sp>
      <p:sp>
        <p:nvSpPr>
          <p:cNvPr id="9" name="@2 code line 3"/>
          <p:cNvSpPr txBox="1"/>
          <p:nvPr/>
        </p:nvSpPr>
        <p:spPr>
          <a:xfrm>
            <a:off x="640080" y="1965960"/>
            <a:ext cx="7955280" cy="342900"/>
          </a:xfrm>
          <a:prstGeom prst="rect">
            <a:avLst/>
          </a:prstGeom>
          <a:noFill/>
          <a:ln/>
        </p:spPr>
        <p:txBody>
          <a:bodyPr wrap="square" lIns="0" tIns="0" rIns="0" bIns="0" rtlCol="0" anchor="ctr"/>
          <a:lstStyle/>
          <a:p>
            <a:pPr marL="0" indent="0">
              <a:buNone/>
            </a:pPr>
            <a:r>
              <a:rPr lang="en-US" sz="2000" dirty="0">
                <a:solidFill>
                  <a:srgbClr val="6F86A8"/>
                </a:solidFill>
                <a:latin typeface="Courier New" pitchFamily="34" charset="0"/>
                <a:ea typeface="Courier New" pitchFamily="34" charset="-122"/>
                <a:cs typeface="Courier New" pitchFamily="34" charset="-120"/>
              </a:rPr>
              <a:t> 3  </a:t>
            </a:r>
            <a:r>
              <a:rPr lang="en-US" sz="2000" dirty="0">
                <a:solidFill>
                  <a:srgbClr val="E6ECF5"/>
                </a:solidFill>
                <a:latin typeface="Courier New" pitchFamily="34" charset="0"/>
                <a:ea typeface="Courier New" pitchFamily="34" charset="-122"/>
                <a:cs typeface="Courier New" pitchFamily="34" charset="-120"/>
              </a:rPr>
              <a:t>show(no_red)</a:t>
            </a:r>
            <a:endParaRPr lang="en-US" sz="2000" dirty="0"/>
          </a:p>
        </p:txBody>
      </p:sp>
      <p:sp>
        <p:nvSpPr>
          <p:cNvPr id="10" name="@1 addText"/>
          <p:cNvSpPr txBox="1"/>
          <p:nvPr/>
        </p:nvSpPr>
        <p:spPr>
          <a:xfrm>
            <a:off x="457200" y="329184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.copy() makes a second picture, so the original stays safe.</a:t>
            </a:r>
            <a:endParaRPr lang="en-US" sz="1400" dirty="0"/>
          </a:p>
        </p:txBody>
      </p:sp>
      <p:sp>
        <p:nvSpPr>
          <p:cNvPr id="11" name="@2 addText"/>
          <p:cNvSpPr txBox="1"/>
          <p:nvPr/>
        </p:nvSpPr>
        <p:spPr>
          <a:xfrm>
            <a:off x="457200" y="374904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Line 2 sets every red number to 0.</a:t>
            </a:r>
            <a:endParaRPr lang="en-US" sz="1400" dirty="0"/>
          </a:p>
        </p:txBody>
      </p:sp>
      <p:sp>
        <p:nvSpPr>
          <p:cNvPr id="12"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26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2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200"/>
                                        <p:tgtEl>
                                          <p:spTgt spid="1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00"/>
                                        <p:tgtEl>
                                          <p:spTgt spid="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2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Switch Channels Off</a:t>
            </a:r>
            <a:endParaRPr lang="en-US" sz="3400" dirty="0"/>
          </a:p>
        </p:txBody>
      </p:sp>
      <p:sp>
        <p:nvSpPr>
          <p:cNvPr id="3" name="Text 1"/>
          <p:cNvSpPr txBox="1"/>
          <p:nvPr/>
        </p:nvSpPr>
        <p:spPr>
          <a:xfrm>
            <a:off x="548640" y="640080"/>
            <a:ext cx="3657600" cy="457200"/>
          </a:xfrm>
          <a:prstGeom prst="rect">
            <a:avLst/>
          </a:prstGeom>
          <a:noFill/>
          <a:ln/>
        </p:spPr>
        <p:txBody>
          <a:bodyPr wrap="square" lIns="0" tIns="0" rIns="0" bIns="0" rtlCol="0" anchor="ctr"/>
          <a:lstStyle/>
          <a:p>
            <a:pPr marL="0" indent="0">
              <a:buNone/>
            </a:pPr>
            <a:r>
              <a:rPr lang="en-US" sz="2200" b="1" kern="0" spc="400" dirty="0">
                <a:solidFill>
                  <a:srgbClr val="A9C4E8"/>
                </a:solidFill>
                <a:latin typeface="Arial" pitchFamily="34" charset="0"/>
                <a:ea typeface="Arial" pitchFamily="34" charset="-122"/>
                <a:cs typeface="Arial" pitchFamily="34" charset="-120"/>
              </a:rPr>
              <a:t>TASK 5</a:t>
            </a:r>
            <a:endParaRPr lang="en-US" sz="2200" dirty="0"/>
          </a:p>
        </p:txBody>
      </p:sp>
      <p:sp>
        <p:nvSpPr>
          <p:cNvPr id="4" name="Text 2"/>
          <p:cNvSpPr txBox="1"/>
          <p:nvPr/>
        </p:nvSpPr>
        <p:spPr>
          <a:xfrm>
            <a:off x="548640" y="2743200"/>
            <a:ext cx="5852160" cy="822960"/>
          </a:xfrm>
          <a:prstGeom prst="rect">
            <a:avLst/>
          </a:prstGeom>
          <a:noFill/>
          <a:ln/>
        </p:spPr>
        <p:txBody>
          <a:bodyPr wrap="square" lIns="0" tIns="0" rIns="0" bIns="0" rtlCol="0" anchor="t"/>
          <a:lstStyle/>
          <a:p>
            <a:pPr marL="0" indent="0">
              <a:buNone/>
            </a:pPr>
            <a:r>
              <a:rPr lang="en-US" sz="1800" dirty="0">
                <a:solidFill>
                  <a:srgbClr val="C5D1E3"/>
                </a:solidFill>
                <a:latin typeface="Arial" pitchFamily="34" charset="0"/>
                <a:ea typeface="Arial" pitchFamily="34" charset="-122"/>
                <a:cs typeface="Arial" pitchFamily="34" charset="-120"/>
              </a:rPr>
              <a:t>Predict first. Run TASK 5 (no red). Then make one with no green, one with no blue, and one that is only blue.</a:t>
            </a:r>
            <a:endParaRPr lang="en-US" sz="1800" dirty="0"/>
          </a:p>
        </p:txBody>
      </p:sp>
      <p:sp>
        <p:nvSpPr>
          <p:cNvPr id="5" name="Timer pill"/>
          <p:cNvSpPr/>
          <p:nvPr/>
        </p:nvSpPr>
        <p:spPr>
          <a:xfrm>
            <a:off x="548640" y="3840480"/>
            <a:ext cx="2194560" cy="640080"/>
          </a:xfrm>
          <a:prstGeom prst="roundRect">
            <a:avLst>
              <a:gd name="adj" fmla="val 50000"/>
            </a:avLst>
          </a:prstGeom>
          <a:solidFill>
            <a:srgbClr val="A9C4E8"/>
          </a:solidFill>
          <a:ln w="12700">
            <a:solidFill>
              <a:srgbClr val="A9C4E8"/>
            </a:solidFill>
            <a:prstDash val="solid"/>
          </a:ln>
        </p:spPr>
        <p:txBody>
          <a:bodyPr/>
          <a:lstStyle/>
          <a:p>
            <a:endParaRPr lang="en-GB"/>
          </a:p>
        </p:txBody>
      </p:sp>
      <p:pic>
        <p:nvPicPr>
          <p:cNvPr id="6" name="Image 0" descr="clock"/>
          <p:cNvPicPr>
            <a:picLocks noChangeAspect="1"/>
          </p:cNvPicPr>
          <p:nvPr/>
        </p:nvPicPr>
        <p:blipFill>
          <a:blip r:embed="rId3"/>
          <a:stretch>
            <a:fillRect/>
          </a:stretch>
        </p:blipFill>
        <p:spPr>
          <a:xfrm>
            <a:off x="749808" y="3995928"/>
            <a:ext cx="329184" cy="329184"/>
          </a:xfrm>
          <a:prstGeom prst="rect">
            <a:avLst/>
          </a:prstGeom>
        </p:spPr>
      </p:pic>
      <p:sp>
        <p:nvSpPr>
          <p:cNvPr id="7" name="Text 4"/>
          <p:cNvSpPr txBox="1"/>
          <p:nvPr/>
        </p:nvSpPr>
        <p:spPr>
          <a:xfrm>
            <a:off x="1170432" y="3840480"/>
            <a:ext cx="1463040" cy="640080"/>
          </a:xfrm>
          <a:prstGeom prst="rect">
            <a:avLst/>
          </a:prstGeom>
          <a:noFill/>
          <a:ln/>
        </p:spPr>
        <p:txBody>
          <a:bodyPr wrap="square" lIns="0" tIns="0" rIns="0" bIns="0" rtlCol="0" anchor="ctr"/>
          <a:lstStyle/>
          <a:p>
            <a:pPr marL="0" indent="0">
              <a:buNone/>
            </a:pPr>
            <a:r>
              <a:rPr lang="en-US" sz="2000" b="1" dirty="0">
                <a:solidFill>
                  <a:srgbClr val="001B40"/>
                </a:solidFill>
                <a:latin typeface="Arial" pitchFamily="34" charset="0"/>
                <a:ea typeface="Arial" pitchFamily="34" charset="-122"/>
                <a:cs typeface="Arial" pitchFamily="34" charset="-120"/>
              </a:rPr>
              <a:t>3 min</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85800"/>
          </a:xfrm>
          <a:prstGeom prst="rect">
            <a:avLst/>
          </a:prstGeom>
          <a:noFill/>
          <a:ln/>
        </p:spPr>
        <p:txBody>
          <a:bodyPr wrap="square" lIns="0" tIns="0" rIns="0" bIns="0" rtlCol="0" anchor="ctr"/>
          <a:lstStyle/>
          <a:p>
            <a:pPr marL="0" indent="0" algn="l">
              <a:buNone/>
            </a:pPr>
            <a:r>
              <a:rPr lang="en-US" sz="2800" b="1" dirty="0">
                <a:solidFill>
                  <a:srgbClr val="001B40"/>
                </a:solidFill>
                <a:latin typeface="Arial" pitchFamily="34" charset="0"/>
                <a:ea typeface="Arial" pitchFamily="34" charset="-122"/>
                <a:cs typeface="Arial" pitchFamily="34" charset="-120"/>
              </a:rPr>
              <a:t>Task 5: Check Your Pictures</a:t>
            </a:r>
            <a:endParaRPr lang="en-US" sz="2800" dirty="0"/>
          </a:p>
        </p:txBody>
      </p:sp>
      <p:sp>
        <p:nvSpPr>
          <p:cNvPr id="3" name="ANSWERS pill"/>
          <p:cNvSpPr/>
          <p:nvPr/>
        </p:nvSpPr>
        <p:spPr>
          <a:xfrm>
            <a:off x="7589520" y="411480"/>
            <a:ext cx="10972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589520" y="411480"/>
            <a:ext cx="10972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ANSWERS</a:t>
            </a:r>
            <a:endParaRPr lang="en-US" sz="1200" dirty="0"/>
          </a:p>
        </p:txBody>
      </p:sp>
      <p:pic>
        <p:nvPicPr>
          <p:cNvPr id="5" name="Image 0" descr="A cow photo with the red channel switched off, looking teal"/>
          <p:cNvPicPr>
            <a:picLocks noChangeAspect="1"/>
          </p:cNvPicPr>
          <p:nvPr/>
        </p:nvPicPr>
        <p:blipFill>
          <a:blip r:embed="rId3"/>
          <a:stretch>
            <a:fillRect/>
          </a:stretch>
        </p:blipFill>
        <p:spPr>
          <a:xfrm>
            <a:off x="457200" y="1371600"/>
            <a:ext cx="1920240" cy="1920240"/>
          </a:xfrm>
          <a:prstGeom prst="rect">
            <a:avLst/>
          </a:prstGeom>
        </p:spPr>
      </p:pic>
      <p:sp>
        <p:nvSpPr>
          <p:cNvPr id="6" name="Text 3"/>
          <p:cNvSpPr txBox="1"/>
          <p:nvPr/>
        </p:nvSpPr>
        <p:spPr>
          <a:xfrm>
            <a:off x="457200" y="3337560"/>
            <a:ext cx="1920240" cy="27432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no red</a:t>
            </a:r>
            <a:endParaRPr lang="en-US" sz="1400" dirty="0"/>
          </a:p>
        </p:txBody>
      </p:sp>
      <p:pic>
        <p:nvPicPr>
          <p:cNvPr id="7" name="Image 1" descr="A cow photo with the green channel switched off, looking magenta"/>
          <p:cNvPicPr>
            <a:picLocks noChangeAspect="1"/>
          </p:cNvPicPr>
          <p:nvPr/>
        </p:nvPicPr>
        <p:blipFill>
          <a:blip r:embed="rId4"/>
          <a:stretch>
            <a:fillRect/>
          </a:stretch>
        </p:blipFill>
        <p:spPr>
          <a:xfrm>
            <a:off x="2560320" y="1371600"/>
            <a:ext cx="1920240" cy="1920240"/>
          </a:xfrm>
          <a:prstGeom prst="rect">
            <a:avLst/>
          </a:prstGeom>
        </p:spPr>
      </p:pic>
      <p:sp>
        <p:nvSpPr>
          <p:cNvPr id="8" name="Text 4"/>
          <p:cNvSpPr txBox="1"/>
          <p:nvPr/>
        </p:nvSpPr>
        <p:spPr>
          <a:xfrm>
            <a:off x="2560320" y="3337560"/>
            <a:ext cx="1920240" cy="27432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no green</a:t>
            </a:r>
            <a:endParaRPr lang="en-US" sz="1400" dirty="0"/>
          </a:p>
        </p:txBody>
      </p:sp>
      <p:pic>
        <p:nvPicPr>
          <p:cNvPr id="9" name="Image 2" descr="A cow photo with the blue channel switched off, looking yellow"/>
          <p:cNvPicPr>
            <a:picLocks noChangeAspect="1"/>
          </p:cNvPicPr>
          <p:nvPr/>
        </p:nvPicPr>
        <p:blipFill>
          <a:blip r:embed="rId5"/>
          <a:stretch>
            <a:fillRect/>
          </a:stretch>
        </p:blipFill>
        <p:spPr>
          <a:xfrm>
            <a:off x="4663440" y="1371600"/>
            <a:ext cx="1920240" cy="1920240"/>
          </a:xfrm>
          <a:prstGeom prst="rect">
            <a:avLst/>
          </a:prstGeom>
        </p:spPr>
      </p:pic>
      <p:sp>
        <p:nvSpPr>
          <p:cNvPr id="10" name="Text 5"/>
          <p:cNvSpPr txBox="1"/>
          <p:nvPr/>
        </p:nvSpPr>
        <p:spPr>
          <a:xfrm>
            <a:off x="4663440" y="3337560"/>
            <a:ext cx="1920240" cy="27432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no blue</a:t>
            </a:r>
            <a:endParaRPr lang="en-US" sz="1400" dirty="0"/>
          </a:p>
        </p:txBody>
      </p:sp>
      <p:pic>
        <p:nvPicPr>
          <p:cNvPr id="11" name="Image 3" descr="A cow photo with only the blue channel, looking deep blue"/>
          <p:cNvPicPr>
            <a:picLocks noChangeAspect="1"/>
          </p:cNvPicPr>
          <p:nvPr/>
        </p:nvPicPr>
        <p:blipFill>
          <a:blip r:embed="rId6"/>
          <a:stretch>
            <a:fillRect/>
          </a:stretch>
        </p:blipFill>
        <p:spPr>
          <a:xfrm>
            <a:off x="6766560" y="1371600"/>
            <a:ext cx="1920240" cy="1920240"/>
          </a:xfrm>
          <a:prstGeom prst="rect">
            <a:avLst/>
          </a:prstGeom>
        </p:spPr>
      </p:pic>
      <p:sp>
        <p:nvSpPr>
          <p:cNvPr id="12" name="Text 6"/>
          <p:cNvSpPr txBox="1"/>
          <p:nvPr/>
        </p:nvSpPr>
        <p:spPr>
          <a:xfrm>
            <a:off x="6766560" y="3337560"/>
            <a:ext cx="1920240" cy="27432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only blue</a:t>
            </a:r>
            <a:endParaRPr lang="en-US" sz="1400" dirty="0"/>
          </a:p>
        </p:txBody>
      </p:sp>
      <p:sp>
        <p:nvSpPr>
          <p:cNvPr id="13" name="@1 Callout"/>
          <p:cNvSpPr/>
          <p:nvPr/>
        </p:nvSpPr>
        <p:spPr>
          <a:xfrm>
            <a:off x="457200" y="3840480"/>
            <a:ext cx="8229600" cy="731520"/>
          </a:xfrm>
          <a:prstGeom prst="roundRect">
            <a:avLst>
              <a:gd name="adj" fmla="val 12500"/>
            </a:avLst>
          </a:prstGeom>
          <a:solidFill>
            <a:srgbClr val="FFFFFF"/>
          </a:solidFill>
          <a:ln w="15875">
            <a:solidFill>
              <a:srgbClr val="5D79A0"/>
            </a:solidFill>
            <a:prstDash val="solid"/>
          </a:ln>
        </p:spPr>
        <p:txBody>
          <a:bodyPr/>
          <a:lstStyle/>
          <a:p>
            <a:endParaRPr lang="en-GB"/>
          </a:p>
        </p:txBody>
      </p:sp>
      <p:sp>
        <p:nvSpPr>
          <p:cNvPr id="14" name="@1 addText"/>
          <p:cNvSpPr txBox="1"/>
          <p:nvPr/>
        </p:nvSpPr>
        <p:spPr>
          <a:xfrm>
            <a:off x="685800" y="3840480"/>
            <a:ext cx="7772400" cy="731520"/>
          </a:xfrm>
          <a:prstGeom prst="rect">
            <a:avLst/>
          </a:prstGeom>
          <a:noFill/>
          <a:ln/>
        </p:spPr>
        <p:txBody>
          <a:bodyPr wrap="square" lIns="0" tIns="0" rIns="0" bIns="0" rtlCol="0" anchor="ctr"/>
          <a:lstStyle/>
          <a:p>
            <a:pPr marL="0" indent="0">
              <a:buNone/>
            </a:pPr>
            <a:r>
              <a:rPr lang="en-US" sz="1200" b="1" kern="0" spc="200" dirty="0">
                <a:solidFill>
                  <a:srgbClr val="5D79A0"/>
                </a:solidFill>
                <a:latin typeface="Arial" pitchFamily="34" charset="0"/>
                <a:ea typeface="Arial" pitchFamily="34" charset="-122"/>
                <a:cs typeface="Arial" pitchFamily="34" charset="-120"/>
              </a:rPr>
              <a:t>NOTE  </a:t>
            </a:r>
            <a:r>
              <a:rPr lang="en-US" sz="1600" dirty="0">
                <a:solidFill>
                  <a:srgbClr val="22262E"/>
                </a:solidFill>
                <a:latin typeface="Arial" pitchFamily="34" charset="0"/>
                <a:ea typeface="Arial" pitchFamily="34" charset="-122"/>
                <a:cs typeface="Arial" pitchFamily="34" charset="-120"/>
              </a:rPr>
              <a:t>red + blue light = magenta. red + green light = yellow.</a:t>
            </a:r>
            <a:endParaRPr lang="en-US" sz="1200" dirty="0"/>
          </a:p>
        </p:txBody>
      </p:sp>
      <p:sp>
        <p:nvSpPr>
          <p:cNvPr id="1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28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200"/>
                                        <p:tgtEl>
                                          <p:spTgt spid="1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4"/>
                                        </p:tgtEl>
                                        <p:attrNameLst>
                                          <p:attrName>style.visibility</p:attrName>
                                        </p:attrNameLst>
                                      </p:cBhvr>
                                      <p:to>
                                        <p:strVal val="visible"/>
                                      </p:to>
                                    </p:set>
                                    <p:animEffect transition="in" filter="fade">
                                      <p:cBhvr>
                                        <p:cTn id="10" dur="2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Grey and Negative</a:t>
            </a:r>
            <a:endParaRPr lang="en-US" sz="3000" dirty="0"/>
          </a:p>
        </p:txBody>
      </p:sp>
      <p:sp>
        <p:nvSpPr>
          <p:cNvPr id="3" name="2 MIN TALK pill"/>
          <p:cNvSpPr/>
          <p:nvPr/>
        </p:nvSpPr>
        <p:spPr>
          <a:xfrm>
            <a:off x="7132320" y="411480"/>
            <a:ext cx="15544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132320" y="411480"/>
            <a:ext cx="15544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2 MIN TALK</a:t>
            </a:r>
            <a:endParaRPr lang="en-US" sz="1200" dirty="0"/>
          </a:p>
        </p:txBody>
      </p:sp>
      <p:sp>
        <p:nvSpPr>
          <p:cNvPr id="5" name="code bg"/>
          <p:cNvSpPr/>
          <p:nvPr/>
        </p:nvSpPr>
        <p:spPr>
          <a:xfrm>
            <a:off x="457200" y="1143000"/>
            <a:ext cx="8229600" cy="1200150"/>
          </a:xfrm>
          <a:prstGeom prst="rect">
            <a:avLst/>
          </a:prstGeom>
          <a:solidFill>
            <a:srgbClr val="0B2A57"/>
          </a:solidFill>
          <a:ln w="12700">
            <a:solidFill>
              <a:srgbClr val="0B2A57"/>
            </a:solidFill>
            <a:prstDash val="solid"/>
          </a:ln>
        </p:spPr>
        <p:txBody>
          <a:bodyPr/>
          <a:lstStyle/>
          <a:p>
            <a:endParaRPr lang="en-GB"/>
          </a:p>
        </p:txBody>
      </p:sp>
      <p:sp>
        <p:nvSpPr>
          <p:cNvPr id="6" name="code bar"/>
          <p:cNvSpPr/>
          <p:nvPr/>
        </p:nvSpPr>
        <p:spPr>
          <a:xfrm>
            <a:off x="457200" y="1143000"/>
            <a:ext cx="54864" cy="1200150"/>
          </a:xfrm>
          <a:prstGeom prst="rect">
            <a:avLst/>
          </a:prstGeom>
          <a:solidFill>
            <a:srgbClr val="5D79A0"/>
          </a:solidFill>
          <a:ln w="12700">
            <a:solidFill>
              <a:srgbClr val="5D79A0"/>
            </a:solidFill>
            <a:prstDash val="solid"/>
          </a:ln>
        </p:spPr>
        <p:txBody>
          <a:bodyPr/>
          <a:lstStyle/>
          <a:p>
            <a:endParaRPr lang="en-GB"/>
          </a:p>
        </p:txBody>
      </p:sp>
      <p:sp>
        <p:nvSpPr>
          <p:cNvPr id="7" name="code line 1"/>
          <p:cNvSpPr txBox="1"/>
          <p:nvPr/>
        </p:nvSpPr>
        <p:spPr>
          <a:xfrm>
            <a:off x="640080" y="128016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 1  </a:t>
            </a:r>
            <a:r>
              <a:rPr lang="en-US" sz="1800" dirty="0">
                <a:solidFill>
                  <a:srgbClr val="E6ECF5"/>
                </a:solidFill>
                <a:latin typeface="Courier New" pitchFamily="34" charset="0"/>
                <a:ea typeface="Courier New" pitchFamily="34" charset="-122"/>
                <a:cs typeface="Courier New" pitchFamily="34" charset="-120"/>
              </a:rPr>
              <a:t>grey = np.array(img.convert("L"))</a:t>
            </a:r>
            <a:endParaRPr lang="en-US" sz="1800" dirty="0"/>
          </a:p>
        </p:txBody>
      </p:sp>
      <p:sp>
        <p:nvSpPr>
          <p:cNvPr id="8" name="code line 2"/>
          <p:cNvSpPr txBox="1"/>
          <p:nvPr/>
        </p:nvSpPr>
        <p:spPr>
          <a:xfrm>
            <a:off x="640080" y="158877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 2  </a:t>
            </a:r>
            <a:r>
              <a:rPr lang="en-US" sz="1800" dirty="0">
                <a:solidFill>
                  <a:srgbClr val="E6ECF5"/>
                </a:solidFill>
                <a:latin typeface="Courier New" pitchFamily="34" charset="0"/>
                <a:ea typeface="Courier New" pitchFamily="34" charset="-122"/>
                <a:cs typeface="Courier New" pitchFamily="34" charset="-120"/>
              </a:rPr>
              <a:t>show_channel(grey, "gray")</a:t>
            </a:r>
            <a:endParaRPr lang="en-US" sz="1800" dirty="0"/>
          </a:p>
        </p:txBody>
      </p:sp>
      <p:sp>
        <p:nvSpPr>
          <p:cNvPr id="9" name="code line 3"/>
          <p:cNvSpPr txBox="1"/>
          <p:nvPr/>
        </p:nvSpPr>
        <p:spPr>
          <a:xfrm>
            <a:off x="640080" y="189738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 3  </a:t>
            </a:r>
            <a:r>
              <a:rPr lang="en-US" sz="1800" dirty="0">
                <a:solidFill>
                  <a:srgbClr val="E6ECF5"/>
                </a:solidFill>
                <a:latin typeface="Courier New" pitchFamily="34" charset="0"/>
                <a:ea typeface="Courier New" pitchFamily="34" charset="-122"/>
                <a:cs typeface="Courier New" pitchFamily="34" charset="-120"/>
              </a:rPr>
              <a:t>negative = 255 - pixels</a:t>
            </a:r>
            <a:endParaRPr lang="en-US" sz="1800" dirty="0"/>
          </a:p>
        </p:txBody>
      </p:sp>
      <p:sp>
        <p:nvSpPr>
          <p:cNvPr id="10" name="@1 addText"/>
          <p:cNvSpPr txBox="1"/>
          <p:nvPr/>
        </p:nvSpPr>
        <p:spPr>
          <a:xfrm>
            <a:off x="457200" y="320040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"L" = one brightness number per pixel: 0 black, 255 white.</a:t>
            </a:r>
            <a:endParaRPr lang="en-US" sz="1400" dirty="0"/>
          </a:p>
        </p:txBody>
      </p:sp>
      <p:sp>
        <p:nvSpPr>
          <p:cNvPr id="11" name="@2 addText"/>
          <p:cNvSpPr txBox="1"/>
          <p:nvPr/>
        </p:nvSpPr>
        <p:spPr>
          <a:xfrm>
            <a:off x="457200" y="365760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255 - pixels flips every number: 0 becomes 255.</a:t>
            </a:r>
            <a:endParaRPr lang="en-US" sz="1400" dirty="0"/>
          </a:p>
        </p:txBody>
      </p:sp>
      <p:sp>
        <p:nvSpPr>
          <p:cNvPr id="12"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29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2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2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Grey and Negative</a:t>
            </a:r>
            <a:endParaRPr lang="en-US" sz="3400" dirty="0"/>
          </a:p>
        </p:txBody>
      </p:sp>
      <p:sp>
        <p:nvSpPr>
          <p:cNvPr id="3" name="Text 1"/>
          <p:cNvSpPr txBox="1"/>
          <p:nvPr/>
        </p:nvSpPr>
        <p:spPr>
          <a:xfrm>
            <a:off x="548640" y="640080"/>
            <a:ext cx="3657600" cy="457200"/>
          </a:xfrm>
          <a:prstGeom prst="rect">
            <a:avLst/>
          </a:prstGeom>
          <a:noFill/>
          <a:ln/>
        </p:spPr>
        <p:txBody>
          <a:bodyPr wrap="square" lIns="0" tIns="0" rIns="0" bIns="0" rtlCol="0" anchor="ctr"/>
          <a:lstStyle/>
          <a:p>
            <a:pPr marL="0" indent="0">
              <a:buNone/>
            </a:pPr>
            <a:r>
              <a:rPr lang="en-US" sz="2200" b="1" kern="0" spc="400" dirty="0">
                <a:solidFill>
                  <a:srgbClr val="A9C4E8"/>
                </a:solidFill>
                <a:latin typeface="Arial" pitchFamily="34" charset="0"/>
                <a:ea typeface="Arial" pitchFamily="34" charset="-122"/>
                <a:cs typeface="Arial" pitchFamily="34" charset="-120"/>
              </a:rPr>
              <a:t>TASK 6</a:t>
            </a:r>
            <a:endParaRPr lang="en-US" sz="2200" dirty="0"/>
          </a:p>
        </p:txBody>
      </p:sp>
      <p:sp>
        <p:nvSpPr>
          <p:cNvPr id="4" name="Text 2"/>
          <p:cNvSpPr txBox="1"/>
          <p:nvPr/>
        </p:nvSpPr>
        <p:spPr>
          <a:xfrm>
            <a:off x="548640" y="2743200"/>
            <a:ext cx="5852160" cy="822960"/>
          </a:xfrm>
          <a:prstGeom prst="rect">
            <a:avLst/>
          </a:prstGeom>
          <a:noFill/>
          <a:ln/>
        </p:spPr>
        <p:txBody>
          <a:bodyPr wrap="square" lIns="0" tIns="0" rIns="0" bIns="0" rtlCol="0" anchor="t"/>
          <a:lstStyle/>
          <a:p>
            <a:pPr marL="0" indent="0">
              <a:buNone/>
            </a:pPr>
            <a:r>
              <a:rPr lang="en-US" sz="1800" dirty="0">
                <a:solidFill>
                  <a:srgbClr val="C5D1E3"/>
                </a:solidFill>
                <a:latin typeface="Arial" pitchFamily="34" charset="0"/>
                <a:ea typeface="Arial" pitchFamily="34" charset="-122"/>
                <a:cs typeface="Arial" pitchFamily="34" charset="-120"/>
              </a:rPr>
              <a:t>Predict: the first pixel was [16 0 0]. What is it in the negative? Run TASK 6. What happened to the black cow?</a:t>
            </a:r>
            <a:endParaRPr lang="en-US" sz="1800" dirty="0"/>
          </a:p>
        </p:txBody>
      </p:sp>
      <p:sp>
        <p:nvSpPr>
          <p:cNvPr id="5" name="Timer pill"/>
          <p:cNvSpPr/>
          <p:nvPr/>
        </p:nvSpPr>
        <p:spPr>
          <a:xfrm>
            <a:off x="548640" y="3840480"/>
            <a:ext cx="2194560" cy="640080"/>
          </a:xfrm>
          <a:prstGeom prst="roundRect">
            <a:avLst>
              <a:gd name="adj" fmla="val 50000"/>
            </a:avLst>
          </a:prstGeom>
          <a:solidFill>
            <a:srgbClr val="A9C4E8"/>
          </a:solidFill>
          <a:ln w="12700">
            <a:solidFill>
              <a:srgbClr val="A9C4E8"/>
            </a:solidFill>
            <a:prstDash val="solid"/>
          </a:ln>
        </p:spPr>
        <p:txBody>
          <a:bodyPr/>
          <a:lstStyle/>
          <a:p>
            <a:endParaRPr lang="en-GB"/>
          </a:p>
        </p:txBody>
      </p:sp>
      <p:pic>
        <p:nvPicPr>
          <p:cNvPr id="6" name="Image 0" descr="clock"/>
          <p:cNvPicPr>
            <a:picLocks noChangeAspect="1"/>
          </p:cNvPicPr>
          <p:nvPr/>
        </p:nvPicPr>
        <p:blipFill>
          <a:blip r:embed="rId3"/>
          <a:stretch>
            <a:fillRect/>
          </a:stretch>
        </p:blipFill>
        <p:spPr>
          <a:xfrm>
            <a:off x="749808" y="3995928"/>
            <a:ext cx="329184" cy="329184"/>
          </a:xfrm>
          <a:prstGeom prst="rect">
            <a:avLst/>
          </a:prstGeom>
        </p:spPr>
      </p:pic>
      <p:sp>
        <p:nvSpPr>
          <p:cNvPr id="7" name="Text 4"/>
          <p:cNvSpPr txBox="1"/>
          <p:nvPr/>
        </p:nvSpPr>
        <p:spPr>
          <a:xfrm>
            <a:off x="1170432" y="3840480"/>
            <a:ext cx="1463040" cy="640080"/>
          </a:xfrm>
          <a:prstGeom prst="rect">
            <a:avLst/>
          </a:prstGeom>
          <a:noFill/>
          <a:ln/>
        </p:spPr>
        <p:txBody>
          <a:bodyPr wrap="square" lIns="0" tIns="0" rIns="0" bIns="0" rtlCol="0" anchor="ctr"/>
          <a:lstStyle/>
          <a:p>
            <a:pPr marL="0" indent="0">
              <a:buNone/>
            </a:pPr>
            <a:r>
              <a:rPr lang="en-US" sz="2000" b="1" dirty="0">
                <a:solidFill>
                  <a:srgbClr val="001B40"/>
                </a:solidFill>
                <a:latin typeface="Arial" pitchFamily="34" charset="0"/>
                <a:ea typeface="Arial" pitchFamily="34" charset="-122"/>
                <a:cs typeface="Arial" pitchFamily="34" charset="-120"/>
              </a:rPr>
              <a:t>3 min</a:t>
            </a:r>
            <a:endParaRPr lang="en-US" sz="2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85800"/>
          </a:xfrm>
          <a:prstGeom prst="rect">
            <a:avLst/>
          </a:prstGeom>
          <a:noFill/>
          <a:ln/>
        </p:spPr>
        <p:txBody>
          <a:bodyPr wrap="square" lIns="0" tIns="0" rIns="0" bIns="0" rtlCol="0" anchor="ctr"/>
          <a:lstStyle/>
          <a:p>
            <a:pPr marL="0" indent="0" algn="l">
              <a:buNone/>
            </a:pPr>
            <a:r>
              <a:rPr lang="en-US" sz="2800" b="1" dirty="0">
                <a:solidFill>
                  <a:srgbClr val="001B40"/>
                </a:solidFill>
                <a:latin typeface="Arial" pitchFamily="34" charset="0"/>
                <a:ea typeface="Arial" pitchFamily="34" charset="-122"/>
                <a:cs typeface="Arial" pitchFamily="34" charset="-120"/>
              </a:rPr>
              <a:t>Task 6: Check</a:t>
            </a:r>
            <a:endParaRPr lang="en-US" sz="2800" dirty="0"/>
          </a:p>
        </p:txBody>
      </p:sp>
      <p:sp>
        <p:nvSpPr>
          <p:cNvPr id="3" name="ANSWERS pill"/>
          <p:cNvSpPr/>
          <p:nvPr/>
        </p:nvSpPr>
        <p:spPr>
          <a:xfrm>
            <a:off x="7589520" y="411480"/>
            <a:ext cx="10972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589520" y="411480"/>
            <a:ext cx="10972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ANSWERS</a:t>
            </a:r>
            <a:endParaRPr lang="en-US" sz="1200" dirty="0"/>
          </a:p>
        </p:txBody>
      </p:sp>
      <p:pic>
        <p:nvPicPr>
          <p:cNvPr id="5" name="Image 0" descr="The original cow photo"/>
          <p:cNvPicPr>
            <a:picLocks noChangeAspect="1"/>
          </p:cNvPicPr>
          <p:nvPr/>
        </p:nvPicPr>
        <p:blipFill>
          <a:blip r:embed="rId3"/>
          <a:stretch>
            <a:fillRect/>
          </a:stretch>
        </p:blipFill>
        <p:spPr>
          <a:xfrm>
            <a:off x="640080" y="1280160"/>
            <a:ext cx="2377440" cy="2377440"/>
          </a:xfrm>
          <a:prstGeom prst="rect">
            <a:avLst/>
          </a:prstGeom>
        </p:spPr>
      </p:pic>
      <p:sp>
        <p:nvSpPr>
          <p:cNvPr id="6" name="Text 3"/>
          <p:cNvSpPr txBox="1"/>
          <p:nvPr/>
        </p:nvSpPr>
        <p:spPr>
          <a:xfrm>
            <a:off x="457200" y="3703320"/>
            <a:ext cx="2743200" cy="27432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original</a:t>
            </a:r>
            <a:endParaRPr lang="en-US" sz="1400" dirty="0"/>
          </a:p>
        </p:txBody>
      </p:sp>
      <p:pic>
        <p:nvPicPr>
          <p:cNvPr id="7" name="Image 1" descr="The cow photo in greyscale"/>
          <p:cNvPicPr>
            <a:picLocks noChangeAspect="1"/>
          </p:cNvPicPr>
          <p:nvPr/>
        </p:nvPicPr>
        <p:blipFill>
          <a:blip r:embed="rId4"/>
          <a:stretch>
            <a:fillRect/>
          </a:stretch>
        </p:blipFill>
        <p:spPr>
          <a:xfrm>
            <a:off x="3383280" y="1280160"/>
            <a:ext cx="2377440" cy="2377440"/>
          </a:xfrm>
          <a:prstGeom prst="rect">
            <a:avLst/>
          </a:prstGeom>
        </p:spPr>
      </p:pic>
      <p:sp>
        <p:nvSpPr>
          <p:cNvPr id="8" name="Text 4"/>
          <p:cNvSpPr txBox="1"/>
          <p:nvPr/>
        </p:nvSpPr>
        <p:spPr>
          <a:xfrm>
            <a:off x="3200400" y="3703320"/>
            <a:ext cx="2743200" cy="27432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grey</a:t>
            </a:r>
            <a:endParaRPr lang="en-US" sz="1400" dirty="0"/>
          </a:p>
        </p:txBody>
      </p:sp>
      <p:pic>
        <p:nvPicPr>
          <p:cNvPr id="9" name="Image 2" descr="The negative of the cow photo with colours flipped"/>
          <p:cNvPicPr>
            <a:picLocks noChangeAspect="1"/>
          </p:cNvPicPr>
          <p:nvPr/>
        </p:nvPicPr>
        <p:blipFill>
          <a:blip r:embed="rId5"/>
          <a:stretch>
            <a:fillRect/>
          </a:stretch>
        </p:blipFill>
        <p:spPr>
          <a:xfrm>
            <a:off x="6126480" y="1280160"/>
            <a:ext cx="2377440" cy="2377440"/>
          </a:xfrm>
          <a:prstGeom prst="rect">
            <a:avLst/>
          </a:prstGeom>
        </p:spPr>
      </p:pic>
      <p:sp>
        <p:nvSpPr>
          <p:cNvPr id="10" name="Text 5"/>
          <p:cNvSpPr txBox="1"/>
          <p:nvPr/>
        </p:nvSpPr>
        <p:spPr>
          <a:xfrm>
            <a:off x="5943600" y="3703320"/>
            <a:ext cx="2743200" cy="27432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negative: [239 255 255]</a:t>
            </a:r>
            <a:endParaRPr lang="en-US" sz="1400" dirty="0"/>
          </a:p>
        </p:txBody>
      </p:sp>
      <p:sp>
        <p:nvSpPr>
          <p:cNvPr id="11"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Maths on the Whole Picture</a:t>
            </a:r>
            <a:endParaRPr lang="en-US" sz="3000" dirty="0"/>
          </a:p>
        </p:txBody>
      </p:sp>
      <p:sp>
        <p:nvSpPr>
          <p:cNvPr id="3" name="2 MIN TALK pill"/>
          <p:cNvSpPr/>
          <p:nvPr/>
        </p:nvSpPr>
        <p:spPr>
          <a:xfrm>
            <a:off x="7132320" y="411480"/>
            <a:ext cx="15544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132320" y="411480"/>
            <a:ext cx="15544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2 MIN TALK</a:t>
            </a:r>
            <a:endParaRPr lang="en-US" sz="1200" dirty="0"/>
          </a:p>
        </p:txBody>
      </p:sp>
      <p:sp>
        <p:nvSpPr>
          <p:cNvPr id="5" name="code bg"/>
          <p:cNvSpPr/>
          <p:nvPr/>
        </p:nvSpPr>
        <p:spPr>
          <a:xfrm>
            <a:off x="457200" y="1143000"/>
            <a:ext cx="8229600" cy="1508760"/>
          </a:xfrm>
          <a:prstGeom prst="rect">
            <a:avLst/>
          </a:prstGeom>
          <a:solidFill>
            <a:srgbClr val="0B2A57"/>
          </a:solidFill>
          <a:ln w="12700">
            <a:solidFill>
              <a:srgbClr val="0B2A57"/>
            </a:solidFill>
            <a:prstDash val="solid"/>
          </a:ln>
        </p:spPr>
        <p:txBody>
          <a:bodyPr/>
          <a:lstStyle/>
          <a:p>
            <a:endParaRPr lang="en-GB"/>
          </a:p>
        </p:txBody>
      </p:sp>
      <p:sp>
        <p:nvSpPr>
          <p:cNvPr id="6" name="code bar"/>
          <p:cNvSpPr/>
          <p:nvPr/>
        </p:nvSpPr>
        <p:spPr>
          <a:xfrm>
            <a:off x="457200" y="1143000"/>
            <a:ext cx="54864" cy="1508760"/>
          </a:xfrm>
          <a:prstGeom prst="rect">
            <a:avLst/>
          </a:prstGeom>
          <a:solidFill>
            <a:srgbClr val="A9C4E8"/>
          </a:solidFill>
          <a:ln w="12700">
            <a:solidFill>
              <a:srgbClr val="5D79A0"/>
            </a:solidFill>
            <a:prstDash val="solid"/>
          </a:ln>
        </p:spPr>
        <p:txBody>
          <a:bodyPr/>
          <a:lstStyle/>
          <a:p>
            <a:endParaRPr lang="en-GB"/>
          </a:p>
        </p:txBody>
      </p:sp>
      <p:sp>
        <p:nvSpPr>
          <p:cNvPr id="7" name="code line 1"/>
          <p:cNvSpPr txBox="1"/>
          <p:nvPr/>
        </p:nvSpPr>
        <p:spPr>
          <a:xfrm>
            <a:off x="640080" y="128016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&gt;&gt;&gt; </a:t>
            </a:r>
            <a:r>
              <a:rPr lang="en-US" sz="1800" dirty="0">
                <a:solidFill>
                  <a:srgbClr val="E6ECF5"/>
                </a:solidFill>
                <a:latin typeface="Courier New" pitchFamily="34" charset="0"/>
                <a:ea typeface="Courier New" pitchFamily="34" charset="-122"/>
                <a:cs typeface="Courier New" pitchFamily="34" charset="-120"/>
              </a:rPr>
              <a:t>print(grey.mean())</a:t>
            </a:r>
            <a:endParaRPr lang="en-US" sz="1800" dirty="0"/>
          </a:p>
        </p:txBody>
      </p:sp>
      <p:sp>
        <p:nvSpPr>
          <p:cNvPr id="8" name="@1 code line 2"/>
          <p:cNvSpPr txBox="1"/>
          <p:nvPr/>
        </p:nvSpPr>
        <p:spPr>
          <a:xfrm>
            <a:off x="640080" y="1588770"/>
            <a:ext cx="7955280" cy="308610"/>
          </a:xfrm>
          <a:prstGeom prst="rect">
            <a:avLst/>
          </a:prstGeom>
          <a:noFill/>
          <a:ln/>
        </p:spPr>
        <p:txBody>
          <a:bodyPr wrap="square" lIns="0" tIns="0" rIns="0" bIns="0" rtlCol="0" anchor="ctr"/>
          <a:lstStyle/>
          <a:p>
            <a:pPr marL="0" indent="0">
              <a:buNone/>
            </a:pPr>
            <a:r>
              <a:rPr lang="en-US" sz="1800" dirty="0">
                <a:solidFill>
                  <a:srgbClr val="B8E0B0"/>
                </a:solidFill>
                <a:latin typeface="Courier New" pitchFamily="34" charset="0"/>
                <a:ea typeface="Courier New" pitchFamily="34" charset="-122"/>
                <a:cs typeface="Courier New" pitchFamily="34" charset="-120"/>
              </a:rPr>
              <a:t>81.449951171875</a:t>
            </a:r>
            <a:endParaRPr lang="en-US" sz="1800" dirty="0"/>
          </a:p>
        </p:txBody>
      </p:sp>
      <p:sp>
        <p:nvSpPr>
          <p:cNvPr id="9" name="code line 3"/>
          <p:cNvSpPr txBox="1"/>
          <p:nvPr/>
        </p:nvSpPr>
        <p:spPr>
          <a:xfrm>
            <a:off x="640080" y="189738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&gt;&gt;&gt; </a:t>
            </a:r>
            <a:r>
              <a:rPr lang="en-US" sz="1800" dirty="0">
                <a:solidFill>
                  <a:srgbClr val="E6ECF5"/>
                </a:solidFill>
                <a:latin typeface="Courier New" pitchFamily="34" charset="0"/>
                <a:ea typeface="Courier New" pitchFamily="34" charset="-122"/>
                <a:cs typeface="Courier New" pitchFamily="34" charset="-120"/>
              </a:rPr>
              <a:t>print((grey &lt; 50).sum())</a:t>
            </a:r>
            <a:endParaRPr lang="en-US" sz="1800" dirty="0"/>
          </a:p>
        </p:txBody>
      </p:sp>
      <p:sp>
        <p:nvSpPr>
          <p:cNvPr id="10" name="@2 code line 4"/>
          <p:cNvSpPr txBox="1"/>
          <p:nvPr/>
        </p:nvSpPr>
        <p:spPr>
          <a:xfrm>
            <a:off x="640080" y="2205990"/>
            <a:ext cx="7955280" cy="308610"/>
          </a:xfrm>
          <a:prstGeom prst="rect">
            <a:avLst/>
          </a:prstGeom>
          <a:noFill/>
          <a:ln/>
        </p:spPr>
        <p:txBody>
          <a:bodyPr wrap="square" lIns="0" tIns="0" rIns="0" bIns="0" rtlCol="0" anchor="ctr"/>
          <a:lstStyle/>
          <a:p>
            <a:pPr marL="0" indent="0">
              <a:buNone/>
            </a:pPr>
            <a:r>
              <a:rPr lang="en-US" sz="1800" dirty="0">
                <a:solidFill>
                  <a:srgbClr val="B8E0B0"/>
                </a:solidFill>
                <a:latin typeface="Courier New" pitchFamily="34" charset="0"/>
                <a:ea typeface="Courier New" pitchFamily="34" charset="-122"/>
                <a:cs typeface="Courier New" pitchFamily="34" charset="-120"/>
              </a:rPr>
              <a:t>28501</a:t>
            </a:r>
            <a:endParaRPr lang="en-US" sz="1800" dirty="0"/>
          </a:p>
        </p:txBody>
      </p:sp>
      <p:sp>
        <p:nvSpPr>
          <p:cNvPr id="11" name="@1 addText"/>
          <p:cNvSpPr txBox="1"/>
          <p:nvPr/>
        </p:nvSpPr>
        <p:spPr>
          <a:xfrm>
            <a:off x="457200" y="320040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the average brightness: a fairly dark grey (0 is black, 255 is white)</a:t>
            </a:r>
            <a:endParaRPr lang="en-US" sz="1400" dirty="0"/>
          </a:p>
        </p:txBody>
      </p:sp>
      <p:sp>
        <p:nvSpPr>
          <p:cNvPr id="12" name="@2 addText"/>
          <p:cNvSpPr txBox="1"/>
          <p:nvPr/>
        </p:nvSpPr>
        <p:spPr>
          <a:xfrm>
            <a:off x="457200" y="365760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28,501 pixels are darker than 50, out of 102,400. grey &lt; 50 is True or False for every pixel; .sum() counts the Trues.</a:t>
            </a:r>
            <a:endParaRPr lang="en-US" sz="1400" dirty="0"/>
          </a:p>
        </p:txBody>
      </p:sp>
      <p:sp>
        <p:nvSpPr>
          <p:cNvPr id="13"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32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2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2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2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2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Count and Average</a:t>
            </a:r>
            <a:endParaRPr lang="en-US" sz="3400" dirty="0"/>
          </a:p>
        </p:txBody>
      </p:sp>
      <p:sp>
        <p:nvSpPr>
          <p:cNvPr id="3" name="Text 1"/>
          <p:cNvSpPr txBox="1"/>
          <p:nvPr/>
        </p:nvSpPr>
        <p:spPr>
          <a:xfrm>
            <a:off x="548640" y="640080"/>
            <a:ext cx="3657600" cy="457200"/>
          </a:xfrm>
          <a:prstGeom prst="rect">
            <a:avLst/>
          </a:prstGeom>
          <a:noFill/>
          <a:ln/>
        </p:spPr>
        <p:txBody>
          <a:bodyPr wrap="square" lIns="0" tIns="0" rIns="0" bIns="0" rtlCol="0" anchor="ctr"/>
          <a:lstStyle/>
          <a:p>
            <a:pPr marL="0" indent="0">
              <a:buNone/>
            </a:pPr>
            <a:r>
              <a:rPr lang="en-US" sz="2200" b="1" kern="0" spc="400" dirty="0">
                <a:solidFill>
                  <a:srgbClr val="A9C4E8"/>
                </a:solidFill>
                <a:latin typeface="Arial" pitchFamily="34" charset="0"/>
                <a:ea typeface="Arial" pitchFamily="34" charset="-122"/>
                <a:cs typeface="Arial" pitchFamily="34" charset="-120"/>
              </a:rPr>
              <a:t>TASK 7</a:t>
            </a:r>
            <a:endParaRPr lang="en-US" sz="2200" dirty="0"/>
          </a:p>
        </p:txBody>
      </p:sp>
      <p:sp>
        <p:nvSpPr>
          <p:cNvPr id="4" name="Text 2"/>
          <p:cNvSpPr txBox="1"/>
          <p:nvPr/>
        </p:nvSpPr>
        <p:spPr>
          <a:xfrm>
            <a:off x="548640" y="2743200"/>
            <a:ext cx="5852160" cy="822960"/>
          </a:xfrm>
          <a:prstGeom prst="rect">
            <a:avLst/>
          </a:prstGeom>
          <a:noFill/>
          <a:ln/>
        </p:spPr>
        <p:txBody>
          <a:bodyPr wrap="square" lIns="0" tIns="0" rIns="0" bIns="0" rtlCol="0" anchor="t"/>
          <a:lstStyle/>
          <a:p>
            <a:pPr marL="0" indent="0">
              <a:buNone/>
            </a:pPr>
            <a:r>
              <a:rPr lang="en-US" sz="1800" dirty="0">
                <a:solidFill>
                  <a:srgbClr val="C5D1E3"/>
                </a:solidFill>
                <a:latin typeface="Arial" pitchFamily="34" charset="0"/>
                <a:ea typeface="Arial" pitchFamily="34" charset="-122"/>
                <a:cs typeface="Arial" pitchFamily="34" charset="-120"/>
              </a:rPr>
              <a:t>Run TASK 7. How many pixels are brighter than 100? What fraction of the picture is that? Predict first: more or less than half?</a:t>
            </a:r>
            <a:endParaRPr lang="en-US" sz="1800" dirty="0"/>
          </a:p>
        </p:txBody>
      </p:sp>
      <p:sp>
        <p:nvSpPr>
          <p:cNvPr id="5" name="Timer pill"/>
          <p:cNvSpPr/>
          <p:nvPr/>
        </p:nvSpPr>
        <p:spPr>
          <a:xfrm>
            <a:off x="548640" y="3840480"/>
            <a:ext cx="2194560" cy="640080"/>
          </a:xfrm>
          <a:prstGeom prst="roundRect">
            <a:avLst>
              <a:gd name="adj" fmla="val 50000"/>
            </a:avLst>
          </a:prstGeom>
          <a:solidFill>
            <a:srgbClr val="A9C4E8"/>
          </a:solidFill>
          <a:ln w="12700">
            <a:solidFill>
              <a:srgbClr val="A9C4E8"/>
            </a:solidFill>
            <a:prstDash val="solid"/>
          </a:ln>
        </p:spPr>
        <p:txBody>
          <a:bodyPr/>
          <a:lstStyle/>
          <a:p>
            <a:endParaRPr lang="en-GB"/>
          </a:p>
        </p:txBody>
      </p:sp>
      <p:pic>
        <p:nvPicPr>
          <p:cNvPr id="6" name="Image 0" descr="clock"/>
          <p:cNvPicPr>
            <a:picLocks noChangeAspect="1"/>
          </p:cNvPicPr>
          <p:nvPr/>
        </p:nvPicPr>
        <p:blipFill>
          <a:blip r:embed="rId3"/>
          <a:stretch>
            <a:fillRect/>
          </a:stretch>
        </p:blipFill>
        <p:spPr>
          <a:xfrm>
            <a:off x="749808" y="3995928"/>
            <a:ext cx="329184" cy="329184"/>
          </a:xfrm>
          <a:prstGeom prst="rect">
            <a:avLst/>
          </a:prstGeom>
        </p:spPr>
      </p:pic>
      <p:sp>
        <p:nvSpPr>
          <p:cNvPr id="7" name="Text 4"/>
          <p:cNvSpPr txBox="1"/>
          <p:nvPr/>
        </p:nvSpPr>
        <p:spPr>
          <a:xfrm>
            <a:off x="1170432" y="3840480"/>
            <a:ext cx="1463040" cy="640080"/>
          </a:xfrm>
          <a:prstGeom prst="rect">
            <a:avLst/>
          </a:prstGeom>
          <a:noFill/>
          <a:ln/>
        </p:spPr>
        <p:txBody>
          <a:bodyPr wrap="square" lIns="0" tIns="0" rIns="0" bIns="0" rtlCol="0" anchor="ctr"/>
          <a:lstStyle/>
          <a:p>
            <a:pPr marL="0" indent="0">
              <a:buNone/>
            </a:pPr>
            <a:r>
              <a:rPr lang="en-US" sz="2000" b="1" dirty="0">
                <a:solidFill>
                  <a:srgbClr val="001B40"/>
                </a:solidFill>
                <a:latin typeface="Arial" pitchFamily="34" charset="0"/>
                <a:ea typeface="Arial" pitchFamily="34" charset="-122"/>
                <a:cs typeface="Arial" pitchFamily="34" charset="-120"/>
              </a:rPr>
              <a:t>3 min</a:t>
            </a:r>
            <a:endParaRPr lang="en-US" sz="2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85800"/>
          </a:xfrm>
          <a:prstGeom prst="rect">
            <a:avLst/>
          </a:prstGeom>
          <a:noFill/>
          <a:ln/>
        </p:spPr>
        <p:txBody>
          <a:bodyPr wrap="square" lIns="0" tIns="0" rIns="0" bIns="0" rtlCol="0" anchor="ctr"/>
          <a:lstStyle/>
          <a:p>
            <a:pPr marL="0" indent="0" algn="l">
              <a:buNone/>
            </a:pPr>
            <a:r>
              <a:rPr lang="en-US" sz="2800" b="1" dirty="0">
                <a:solidFill>
                  <a:srgbClr val="001B40"/>
                </a:solidFill>
                <a:latin typeface="Arial" pitchFamily="34" charset="0"/>
                <a:ea typeface="Arial" pitchFamily="34" charset="-122"/>
                <a:cs typeface="Arial" pitchFamily="34" charset="-120"/>
              </a:rPr>
              <a:t>Task 7: Check</a:t>
            </a:r>
            <a:endParaRPr lang="en-US" sz="2800" dirty="0"/>
          </a:p>
        </p:txBody>
      </p:sp>
      <p:sp>
        <p:nvSpPr>
          <p:cNvPr id="3" name="ANSWERS pill"/>
          <p:cNvSpPr/>
          <p:nvPr/>
        </p:nvSpPr>
        <p:spPr>
          <a:xfrm>
            <a:off x="7589520" y="411480"/>
            <a:ext cx="10972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589520" y="411480"/>
            <a:ext cx="10972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ANSWERS</a:t>
            </a:r>
            <a:endParaRPr lang="en-US" sz="1200" dirty="0"/>
          </a:p>
        </p:txBody>
      </p:sp>
      <p:sp>
        <p:nvSpPr>
          <p:cNvPr id="5" name="@1 Card"/>
          <p:cNvSpPr/>
          <p:nvPr/>
        </p:nvSpPr>
        <p:spPr>
          <a:xfrm>
            <a:off x="457200" y="1280160"/>
            <a:ext cx="8229600" cy="777240"/>
          </a:xfrm>
          <a:prstGeom prst="roundRect">
            <a:avLst>
              <a:gd name="adj" fmla="val 14118"/>
            </a:avLst>
          </a:prstGeom>
          <a:solidFill>
            <a:srgbClr val="EEF2F7"/>
          </a:solidFill>
          <a:ln w="9525">
            <a:solidFill>
              <a:srgbClr val="C5D1E3"/>
            </a:solidFill>
            <a:prstDash val="solid"/>
          </a:ln>
        </p:spPr>
        <p:txBody>
          <a:bodyPr/>
          <a:lstStyle/>
          <a:p>
            <a:endParaRPr lang="en-GB"/>
          </a:p>
        </p:txBody>
      </p:sp>
      <p:sp>
        <p:nvSpPr>
          <p:cNvPr id="6" name="@1 addText"/>
          <p:cNvSpPr txBox="1"/>
          <p:nvPr/>
        </p:nvSpPr>
        <p:spPr>
          <a:xfrm>
            <a:off x="731520" y="1280160"/>
            <a:ext cx="2743200" cy="777240"/>
          </a:xfrm>
          <a:prstGeom prst="rect">
            <a:avLst/>
          </a:prstGeom>
          <a:noFill/>
          <a:ln/>
        </p:spPr>
        <p:txBody>
          <a:bodyPr wrap="square" lIns="0" tIns="0" rIns="0" bIns="0" rtlCol="0" anchor="ctr"/>
          <a:lstStyle/>
          <a:p>
            <a:pPr marL="0" indent="0">
              <a:buNone/>
            </a:pPr>
            <a:r>
              <a:rPr lang="en-US" sz="2800" b="1" dirty="0">
                <a:solidFill>
                  <a:srgbClr val="002D6A"/>
                </a:solidFill>
                <a:latin typeface="Courier New" pitchFamily="34" charset="0"/>
                <a:ea typeface="Courier New" pitchFamily="34" charset="-122"/>
                <a:cs typeface="Courier New" pitchFamily="34" charset="-120"/>
              </a:rPr>
              <a:t>34315</a:t>
            </a:r>
            <a:endParaRPr lang="en-US" sz="2800" dirty="0"/>
          </a:p>
        </p:txBody>
      </p:sp>
      <p:sp>
        <p:nvSpPr>
          <p:cNvPr id="7" name="@1 addText"/>
          <p:cNvSpPr txBox="1"/>
          <p:nvPr/>
        </p:nvSpPr>
        <p:spPr>
          <a:xfrm>
            <a:off x="3657600" y="1280160"/>
            <a:ext cx="4846320" cy="777240"/>
          </a:xfrm>
          <a:prstGeom prst="rect">
            <a:avLst/>
          </a:prstGeom>
          <a:noFill/>
          <a:ln/>
        </p:spPr>
        <p:txBody>
          <a:bodyPr wrap="square" lIns="0" tIns="0" rIns="0" bIns="0" rtlCol="0" anchor="ctr"/>
          <a:lstStyle/>
          <a:p>
            <a:pPr marL="0" indent="0">
              <a:buNone/>
            </a:pPr>
            <a:r>
              <a:rPr lang="en-US" sz="1800" dirty="0">
                <a:solidFill>
                  <a:srgbClr val="22262E"/>
                </a:solidFill>
                <a:latin typeface="Arial" pitchFamily="34" charset="0"/>
                <a:ea typeface="Arial" pitchFamily="34" charset="-122"/>
                <a:cs typeface="Arial" pitchFamily="34" charset="-120"/>
              </a:rPr>
              <a:t>pixels brighter than 100</a:t>
            </a:r>
            <a:endParaRPr lang="en-US" sz="1800" dirty="0"/>
          </a:p>
        </p:txBody>
      </p:sp>
      <p:sp>
        <p:nvSpPr>
          <p:cNvPr id="8" name="@2 Card"/>
          <p:cNvSpPr/>
          <p:nvPr/>
        </p:nvSpPr>
        <p:spPr>
          <a:xfrm>
            <a:off x="457200" y="2194560"/>
            <a:ext cx="8229600" cy="777240"/>
          </a:xfrm>
          <a:prstGeom prst="roundRect">
            <a:avLst>
              <a:gd name="adj" fmla="val 14118"/>
            </a:avLst>
          </a:prstGeom>
          <a:solidFill>
            <a:srgbClr val="EEF2F7"/>
          </a:solidFill>
          <a:ln w="9525">
            <a:solidFill>
              <a:srgbClr val="C5D1E3"/>
            </a:solidFill>
            <a:prstDash val="solid"/>
          </a:ln>
        </p:spPr>
        <p:txBody>
          <a:bodyPr/>
          <a:lstStyle/>
          <a:p>
            <a:endParaRPr lang="en-GB"/>
          </a:p>
        </p:txBody>
      </p:sp>
      <p:sp>
        <p:nvSpPr>
          <p:cNvPr id="9" name="@2 addText"/>
          <p:cNvSpPr txBox="1"/>
          <p:nvPr/>
        </p:nvSpPr>
        <p:spPr>
          <a:xfrm>
            <a:off x="731520" y="2194560"/>
            <a:ext cx="2743200" cy="777240"/>
          </a:xfrm>
          <a:prstGeom prst="rect">
            <a:avLst/>
          </a:prstGeom>
          <a:noFill/>
          <a:ln/>
        </p:spPr>
        <p:txBody>
          <a:bodyPr wrap="square" lIns="0" tIns="0" rIns="0" bIns="0" rtlCol="0" anchor="ctr"/>
          <a:lstStyle/>
          <a:p>
            <a:pPr marL="0" indent="0">
              <a:buNone/>
            </a:pPr>
            <a:r>
              <a:rPr lang="en-US" sz="2800" b="1" dirty="0">
                <a:solidFill>
                  <a:srgbClr val="002D6A"/>
                </a:solidFill>
                <a:latin typeface="Courier New" pitchFamily="34" charset="0"/>
                <a:ea typeface="Courier New" pitchFamily="34" charset="-122"/>
                <a:cs typeface="Courier New" pitchFamily="34" charset="-120"/>
              </a:rPr>
              <a:t>102400</a:t>
            </a:r>
            <a:endParaRPr lang="en-US" sz="2800" dirty="0"/>
          </a:p>
        </p:txBody>
      </p:sp>
      <p:sp>
        <p:nvSpPr>
          <p:cNvPr id="10" name="@2 addText"/>
          <p:cNvSpPr txBox="1"/>
          <p:nvPr/>
        </p:nvSpPr>
        <p:spPr>
          <a:xfrm>
            <a:off x="3657600" y="2194560"/>
            <a:ext cx="4846320" cy="777240"/>
          </a:xfrm>
          <a:prstGeom prst="rect">
            <a:avLst/>
          </a:prstGeom>
          <a:noFill/>
          <a:ln/>
        </p:spPr>
        <p:txBody>
          <a:bodyPr wrap="square" lIns="0" tIns="0" rIns="0" bIns="0" rtlCol="0" anchor="ctr"/>
          <a:lstStyle/>
          <a:p>
            <a:pPr marL="0" indent="0">
              <a:buNone/>
            </a:pPr>
            <a:r>
              <a:rPr lang="en-US" sz="1800" dirty="0">
                <a:solidFill>
                  <a:srgbClr val="22262E"/>
                </a:solidFill>
                <a:latin typeface="Arial" pitchFamily="34" charset="0"/>
                <a:ea typeface="Arial" pitchFamily="34" charset="-122"/>
                <a:cs typeface="Arial" pitchFamily="34" charset="-120"/>
              </a:rPr>
              <a:t>grey.size, all the pixels</a:t>
            </a:r>
            <a:endParaRPr lang="en-US" sz="1800" dirty="0"/>
          </a:p>
        </p:txBody>
      </p:sp>
      <p:sp>
        <p:nvSpPr>
          <p:cNvPr id="11" name="@3 Card"/>
          <p:cNvSpPr/>
          <p:nvPr/>
        </p:nvSpPr>
        <p:spPr>
          <a:xfrm>
            <a:off x="457200" y="3108960"/>
            <a:ext cx="8229600" cy="777240"/>
          </a:xfrm>
          <a:prstGeom prst="roundRect">
            <a:avLst>
              <a:gd name="adj" fmla="val 14118"/>
            </a:avLst>
          </a:prstGeom>
          <a:solidFill>
            <a:srgbClr val="EEF2F7"/>
          </a:solidFill>
          <a:ln w="9525">
            <a:solidFill>
              <a:srgbClr val="C5D1E3"/>
            </a:solidFill>
            <a:prstDash val="solid"/>
          </a:ln>
        </p:spPr>
        <p:txBody>
          <a:bodyPr/>
          <a:lstStyle/>
          <a:p>
            <a:endParaRPr lang="en-GB"/>
          </a:p>
        </p:txBody>
      </p:sp>
      <p:sp>
        <p:nvSpPr>
          <p:cNvPr id="12" name="@3 addText"/>
          <p:cNvSpPr txBox="1"/>
          <p:nvPr/>
        </p:nvSpPr>
        <p:spPr>
          <a:xfrm>
            <a:off x="731520" y="3108960"/>
            <a:ext cx="2743200" cy="777240"/>
          </a:xfrm>
          <a:prstGeom prst="rect">
            <a:avLst/>
          </a:prstGeom>
          <a:noFill/>
          <a:ln/>
        </p:spPr>
        <p:txBody>
          <a:bodyPr wrap="square" lIns="0" tIns="0" rIns="0" bIns="0" rtlCol="0" anchor="ctr"/>
          <a:lstStyle/>
          <a:p>
            <a:pPr marL="0" indent="0">
              <a:buNone/>
            </a:pPr>
            <a:r>
              <a:rPr lang="en-US" sz="2800" b="1" dirty="0">
                <a:solidFill>
                  <a:srgbClr val="002D6A"/>
                </a:solidFill>
                <a:latin typeface="Courier New" pitchFamily="34" charset="0"/>
                <a:ea typeface="Courier New" pitchFamily="34" charset="-122"/>
                <a:cs typeface="Courier New" pitchFamily="34" charset="-120"/>
              </a:rPr>
              <a:t>0.335...</a:t>
            </a:r>
            <a:endParaRPr lang="en-US" sz="2800" dirty="0"/>
          </a:p>
        </p:txBody>
      </p:sp>
      <p:sp>
        <p:nvSpPr>
          <p:cNvPr id="13" name="@3 addText"/>
          <p:cNvSpPr txBox="1"/>
          <p:nvPr/>
        </p:nvSpPr>
        <p:spPr>
          <a:xfrm>
            <a:off x="3657600" y="3108960"/>
            <a:ext cx="4846320" cy="777240"/>
          </a:xfrm>
          <a:prstGeom prst="rect">
            <a:avLst/>
          </a:prstGeom>
          <a:noFill/>
          <a:ln/>
        </p:spPr>
        <p:txBody>
          <a:bodyPr wrap="square" lIns="0" tIns="0" rIns="0" bIns="0" rtlCol="0" anchor="ctr"/>
          <a:lstStyle/>
          <a:p>
            <a:pPr marL="0" indent="0">
              <a:buNone/>
            </a:pPr>
            <a:r>
              <a:rPr lang="en-US" sz="1800" dirty="0">
                <a:solidFill>
                  <a:srgbClr val="22262E"/>
                </a:solidFill>
                <a:latin typeface="Arial" pitchFamily="34" charset="0"/>
                <a:ea typeface="Arial" pitchFamily="34" charset="-122"/>
                <a:cs typeface="Arial" pitchFamily="34" charset="-120"/>
              </a:rPr>
              <a:t>about a third</a:t>
            </a:r>
            <a:endParaRPr lang="en-US" sz="1800" dirty="0"/>
          </a:p>
        </p:txBody>
      </p:sp>
      <p:sp>
        <p:nvSpPr>
          <p:cNvPr id="14"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34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2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200"/>
                                        <p:tgtEl>
                                          <p:spTgt spid="7"/>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200"/>
                                        <p:tgtEl>
                                          <p:spTgt spid="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200"/>
                                        <p:tgtEl>
                                          <p:spTgt spid="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200"/>
                                        <p:tgtEl>
                                          <p:spTgt spid="10"/>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2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2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2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A Different Question</a:t>
            </a:r>
            <a:endParaRPr lang="en-US" sz="3000" dirty="0"/>
          </a:p>
        </p:txBody>
      </p:sp>
      <p:sp>
        <p:nvSpPr>
          <p:cNvPr id="3" name="2 MIN TALK pill"/>
          <p:cNvSpPr/>
          <p:nvPr/>
        </p:nvSpPr>
        <p:spPr>
          <a:xfrm>
            <a:off x="7132320" y="411480"/>
            <a:ext cx="15544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132320" y="411480"/>
            <a:ext cx="15544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2 MIN TALK</a:t>
            </a:r>
            <a:endParaRPr lang="en-US" sz="1200" dirty="0"/>
          </a:p>
        </p:txBody>
      </p:sp>
      <p:sp>
        <p:nvSpPr>
          <p:cNvPr id="5" name="Callout"/>
          <p:cNvSpPr/>
          <p:nvPr/>
        </p:nvSpPr>
        <p:spPr>
          <a:xfrm>
            <a:off x="457200" y="1188720"/>
            <a:ext cx="8229600" cy="914400"/>
          </a:xfrm>
          <a:prstGeom prst="roundRect">
            <a:avLst>
              <a:gd name="adj" fmla="val 10000"/>
            </a:avLst>
          </a:prstGeom>
          <a:solidFill>
            <a:srgbClr val="FFFFFF"/>
          </a:solidFill>
          <a:ln w="15875">
            <a:solidFill>
              <a:srgbClr val="5D79A0"/>
            </a:solidFill>
            <a:prstDash val="solid"/>
          </a:ln>
        </p:spPr>
        <p:txBody>
          <a:bodyPr/>
          <a:lstStyle/>
          <a:p>
            <a:endParaRPr lang="en-GB"/>
          </a:p>
        </p:txBody>
      </p:sp>
      <p:sp>
        <p:nvSpPr>
          <p:cNvPr id="6" name="Text 4"/>
          <p:cNvSpPr txBox="1"/>
          <p:nvPr/>
        </p:nvSpPr>
        <p:spPr>
          <a:xfrm>
            <a:off x="685800" y="1188720"/>
            <a:ext cx="7772400" cy="914400"/>
          </a:xfrm>
          <a:prstGeom prst="rect">
            <a:avLst/>
          </a:prstGeom>
          <a:noFill/>
          <a:ln/>
        </p:spPr>
        <p:txBody>
          <a:bodyPr wrap="square" lIns="0" tIns="0" rIns="0" bIns="0" rtlCol="0" anchor="ctr"/>
          <a:lstStyle/>
          <a:p>
            <a:pPr marL="0" indent="0">
              <a:buNone/>
            </a:pPr>
            <a:r>
              <a:rPr lang="en-US" sz="1200" b="1" kern="0" spc="200" dirty="0">
                <a:solidFill>
                  <a:srgbClr val="5D79A0"/>
                </a:solidFill>
                <a:latin typeface="Arial" pitchFamily="34" charset="0"/>
                <a:ea typeface="Arial" pitchFamily="34" charset="-122"/>
                <a:cs typeface="Arial" pitchFamily="34" charset="-120"/>
              </a:rPr>
              <a:t>NOTE  </a:t>
            </a:r>
            <a:r>
              <a:rPr lang="en-US" sz="1600" dirty="0">
                <a:solidFill>
                  <a:srgbClr val="22262E"/>
                </a:solidFill>
                <a:latin typeface="Arial" pitchFamily="34" charset="0"/>
                <a:ea typeface="Arial" pitchFamily="34" charset="-122"/>
                <a:cs typeface="Arial" pitchFamily="34" charset="-120"/>
              </a:rPr>
              <a:t>Not "what is the average?" but: how many pixels are dark, how many bright, how many in between?</a:t>
            </a:r>
            <a:endParaRPr lang="en-US" sz="1200" dirty="0"/>
          </a:p>
        </p:txBody>
      </p:sp>
      <p:sp>
        <p:nvSpPr>
          <p:cNvPr id="7" name="@1 Callout"/>
          <p:cNvSpPr/>
          <p:nvPr/>
        </p:nvSpPr>
        <p:spPr>
          <a:xfrm>
            <a:off x="457200" y="2377440"/>
            <a:ext cx="8229600" cy="914400"/>
          </a:xfrm>
          <a:prstGeom prst="roundRect">
            <a:avLst>
              <a:gd name="adj" fmla="val 10000"/>
            </a:avLst>
          </a:prstGeom>
          <a:solidFill>
            <a:srgbClr val="FFFFFF"/>
          </a:solidFill>
          <a:ln w="15875">
            <a:solidFill>
              <a:srgbClr val="002D6A"/>
            </a:solidFill>
            <a:prstDash val="solid"/>
          </a:ln>
        </p:spPr>
        <p:txBody>
          <a:bodyPr/>
          <a:lstStyle/>
          <a:p>
            <a:endParaRPr lang="en-GB"/>
          </a:p>
        </p:txBody>
      </p:sp>
      <p:sp>
        <p:nvSpPr>
          <p:cNvPr id="8" name="@1 addText"/>
          <p:cNvSpPr txBox="1"/>
          <p:nvPr/>
        </p:nvSpPr>
        <p:spPr>
          <a:xfrm>
            <a:off x="685800" y="2377440"/>
            <a:ext cx="7772400" cy="914400"/>
          </a:xfrm>
          <a:prstGeom prst="rect">
            <a:avLst/>
          </a:prstGeom>
          <a:noFill/>
          <a:ln/>
        </p:spPr>
        <p:txBody>
          <a:bodyPr wrap="square" lIns="0" tIns="0" rIns="0" bIns="0" rtlCol="0" anchor="ctr"/>
          <a:lstStyle/>
          <a:p>
            <a:pPr marL="0" indent="0">
              <a:buNone/>
            </a:pPr>
            <a:r>
              <a:rPr lang="en-US" sz="1200" b="1" kern="0" spc="200" dirty="0">
                <a:solidFill>
                  <a:srgbClr val="002D6A"/>
                </a:solidFill>
                <a:latin typeface="Arial" pitchFamily="34" charset="0"/>
                <a:ea typeface="Arial" pitchFamily="34" charset="-122"/>
                <a:cs typeface="Arial" pitchFamily="34" charset="-120"/>
              </a:rPr>
              <a:t>TIP  </a:t>
            </a:r>
            <a:r>
              <a:rPr lang="en-US" sz="1600" dirty="0">
                <a:solidFill>
                  <a:srgbClr val="22262E"/>
                </a:solidFill>
                <a:latin typeface="Arial" pitchFamily="34" charset="0"/>
                <a:ea typeface="Arial" pitchFamily="34" charset="-122"/>
                <a:cs typeface="Arial" pitchFamily="34" charset="-120"/>
              </a:rPr>
              <a:t>A histogram: split brightness into buckets. Count how many pixels land in each.</a:t>
            </a:r>
            <a:endParaRPr lang="en-US" sz="1200" dirty="0"/>
          </a:p>
        </p:txBody>
      </p:sp>
      <p:sp>
        <p:nvSpPr>
          <p:cNvPr id="9" name="@2 addText"/>
          <p:cNvSpPr txBox="1"/>
          <p:nvPr/>
        </p:nvSpPr>
        <p:spPr>
          <a:xfrm>
            <a:off x="457200" y="356616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one bar per bucket. Tall bar = lots of pixels with that brightness.</a:t>
            </a:r>
            <a:endParaRPr lang="en-US" sz="1400" dirty="0"/>
          </a:p>
        </p:txBody>
      </p:sp>
      <p:sp>
        <p:nvSpPr>
          <p:cNvPr id="10"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35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2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2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2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Our Photo, in 16 Buckets</a:t>
            </a:r>
            <a:endParaRPr lang="en-US" sz="3000" dirty="0"/>
          </a:p>
        </p:txBody>
      </p:sp>
      <p:sp>
        <p:nvSpPr>
          <p:cNvPr id="3" name="code bg"/>
          <p:cNvSpPr/>
          <p:nvPr/>
        </p:nvSpPr>
        <p:spPr>
          <a:xfrm>
            <a:off x="457200" y="1143000"/>
            <a:ext cx="8229600" cy="891540"/>
          </a:xfrm>
          <a:prstGeom prst="rect">
            <a:avLst/>
          </a:prstGeom>
          <a:solidFill>
            <a:srgbClr val="0B2A57"/>
          </a:solidFill>
          <a:ln w="12700">
            <a:solidFill>
              <a:srgbClr val="0B2A57"/>
            </a:solidFill>
            <a:prstDash val="solid"/>
          </a:ln>
        </p:spPr>
        <p:txBody>
          <a:bodyPr/>
          <a:lstStyle/>
          <a:p>
            <a:endParaRPr lang="en-GB"/>
          </a:p>
        </p:txBody>
      </p:sp>
      <p:sp>
        <p:nvSpPr>
          <p:cNvPr id="4" name="code bar"/>
          <p:cNvSpPr/>
          <p:nvPr/>
        </p:nvSpPr>
        <p:spPr>
          <a:xfrm>
            <a:off x="457200" y="1143000"/>
            <a:ext cx="54864" cy="891540"/>
          </a:xfrm>
          <a:prstGeom prst="rect">
            <a:avLst/>
          </a:prstGeom>
          <a:solidFill>
            <a:srgbClr val="5D79A0"/>
          </a:solidFill>
          <a:ln w="12700">
            <a:solidFill>
              <a:srgbClr val="5D79A0"/>
            </a:solidFill>
            <a:prstDash val="solid"/>
          </a:ln>
        </p:spPr>
        <p:txBody>
          <a:bodyPr/>
          <a:lstStyle/>
          <a:p>
            <a:endParaRPr lang="en-GB"/>
          </a:p>
        </p:txBody>
      </p:sp>
      <p:sp>
        <p:nvSpPr>
          <p:cNvPr id="5" name="code line 1"/>
          <p:cNvSpPr txBox="1"/>
          <p:nvPr/>
        </p:nvSpPr>
        <p:spPr>
          <a:xfrm>
            <a:off x="640080" y="128016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 1  </a:t>
            </a:r>
            <a:r>
              <a:rPr lang="en-US" sz="1800" dirty="0">
                <a:solidFill>
                  <a:srgbClr val="E6ECF5"/>
                </a:solidFill>
                <a:latin typeface="Courier New" pitchFamily="34" charset="0"/>
                <a:ea typeface="Courier New" pitchFamily="34" charset="-122"/>
                <a:cs typeface="Courier New" pitchFamily="34" charset="-120"/>
              </a:rPr>
              <a:t>plt.hist(grey.flatten(), bins=16)</a:t>
            </a:r>
            <a:endParaRPr lang="en-US" sz="1800" dirty="0"/>
          </a:p>
        </p:txBody>
      </p:sp>
      <p:sp>
        <p:nvSpPr>
          <p:cNvPr id="6" name="code line 2"/>
          <p:cNvSpPr txBox="1"/>
          <p:nvPr/>
        </p:nvSpPr>
        <p:spPr>
          <a:xfrm>
            <a:off x="640080" y="158877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 2  </a:t>
            </a:r>
            <a:r>
              <a:rPr lang="en-US" sz="1800" dirty="0">
                <a:solidFill>
                  <a:srgbClr val="E6ECF5"/>
                </a:solidFill>
                <a:latin typeface="Courier New" pitchFamily="34" charset="0"/>
                <a:ea typeface="Courier New" pitchFamily="34" charset="-122"/>
                <a:cs typeface="Courier New" pitchFamily="34" charset="-120"/>
              </a:rPr>
              <a:t>plt.show()</a:t>
            </a:r>
            <a:endParaRPr lang="en-US" sz="1800" dirty="0"/>
          </a:p>
        </p:txBody>
      </p:sp>
      <p:pic>
        <p:nvPicPr>
          <p:cNvPr id="7" name="Image 0" descr="Histogram of grey brightness in 16 buckets with a dark hump and a brighter hump"/>
          <p:cNvPicPr>
            <a:picLocks noChangeAspect="1"/>
          </p:cNvPicPr>
          <p:nvPr/>
        </p:nvPicPr>
        <p:blipFill>
          <a:blip r:embed="rId3"/>
          <a:stretch>
            <a:fillRect/>
          </a:stretch>
        </p:blipFill>
        <p:spPr>
          <a:xfrm>
            <a:off x="4770120" y="2377440"/>
            <a:ext cx="3810000" cy="2286000"/>
          </a:xfrm>
          <a:prstGeom prst="rect">
            <a:avLst/>
          </a:prstGeom>
        </p:spPr>
      </p:pic>
      <p:sp>
        <p:nvSpPr>
          <p:cNvPr id="8" name="@1 dot"/>
          <p:cNvSpPr/>
          <p:nvPr/>
        </p:nvSpPr>
        <p:spPr>
          <a:xfrm>
            <a:off x="457200" y="2871216"/>
            <a:ext cx="109728" cy="109728"/>
          </a:xfrm>
          <a:prstGeom prst="ellipse">
            <a:avLst/>
          </a:prstGeom>
          <a:solidFill>
            <a:srgbClr val="002D6A"/>
          </a:solidFill>
          <a:ln w="12700">
            <a:solidFill>
              <a:srgbClr val="002D6A"/>
            </a:solidFill>
            <a:prstDash val="solid"/>
          </a:ln>
        </p:spPr>
        <p:txBody>
          <a:bodyPr/>
          <a:lstStyle/>
          <a:p>
            <a:endParaRPr lang="en-GB"/>
          </a:p>
        </p:txBody>
      </p:sp>
      <p:sp>
        <p:nvSpPr>
          <p:cNvPr id="9" name="@1 addText"/>
          <p:cNvSpPr txBox="1"/>
          <p:nvPr/>
        </p:nvSpPr>
        <p:spPr>
          <a:xfrm>
            <a:off x="731520" y="2743200"/>
            <a:ext cx="3749040" cy="502920"/>
          </a:xfrm>
          <a:prstGeom prst="rect">
            <a:avLst/>
          </a:prstGeom>
          <a:noFill/>
          <a:ln/>
        </p:spPr>
        <p:txBody>
          <a:bodyPr wrap="square" lIns="0" tIns="0" rIns="0" bIns="0" rtlCol="0" anchor="t"/>
          <a:lstStyle/>
          <a:p>
            <a:pPr marL="0" indent="0">
              <a:buNone/>
            </a:pPr>
            <a:r>
              <a:rPr lang="en-US" sz="1600" dirty="0">
                <a:solidFill>
                  <a:srgbClr val="22262E"/>
                </a:solidFill>
                <a:latin typeface="Arial" pitchFamily="34" charset="0"/>
                <a:ea typeface="Arial" pitchFamily="34" charset="-122"/>
                <a:cs typeface="Arial" pitchFamily="34" charset="-120"/>
              </a:rPr>
              <a:t>.flatten(): grid to one long list</a:t>
            </a:r>
            <a:endParaRPr lang="en-US" sz="1600" dirty="0"/>
          </a:p>
        </p:txBody>
      </p:sp>
      <p:sp>
        <p:nvSpPr>
          <p:cNvPr id="10" name="@2 dot"/>
          <p:cNvSpPr/>
          <p:nvPr/>
        </p:nvSpPr>
        <p:spPr>
          <a:xfrm>
            <a:off x="457200" y="3419856"/>
            <a:ext cx="109728" cy="109728"/>
          </a:xfrm>
          <a:prstGeom prst="ellipse">
            <a:avLst/>
          </a:prstGeom>
          <a:solidFill>
            <a:srgbClr val="002D6A"/>
          </a:solidFill>
          <a:ln w="12700">
            <a:solidFill>
              <a:srgbClr val="002D6A"/>
            </a:solidFill>
            <a:prstDash val="solid"/>
          </a:ln>
        </p:spPr>
        <p:txBody>
          <a:bodyPr/>
          <a:lstStyle/>
          <a:p>
            <a:endParaRPr lang="en-GB"/>
          </a:p>
        </p:txBody>
      </p:sp>
      <p:sp>
        <p:nvSpPr>
          <p:cNvPr id="11" name="@2 addText"/>
          <p:cNvSpPr txBox="1"/>
          <p:nvPr/>
        </p:nvSpPr>
        <p:spPr>
          <a:xfrm>
            <a:off x="731520" y="3291840"/>
            <a:ext cx="3749040" cy="502920"/>
          </a:xfrm>
          <a:prstGeom prst="rect">
            <a:avLst/>
          </a:prstGeom>
          <a:noFill/>
          <a:ln/>
        </p:spPr>
        <p:txBody>
          <a:bodyPr wrap="square" lIns="0" tIns="0" rIns="0" bIns="0" rtlCol="0" anchor="t"/>
          <a:lstStyle/>
          <a:p>
            <a:pPr marL="0" indent="0">
              <a:buNone/>
            </a:pPr>
            <a:r>
              <a:rPr lang="en-US" sz="1600" dirty="0">
                <a:solidFill>
                  <a:srgbClr val="22262E"/>
                </a:solidFill>
                <a:latin typeface="Arial" pitchFamily="34" charset="0"/>
                <a:ea typeface="Arial" pitchFamily="34" charset="-122"/>
                <a:cs typeface="Arial" pitchFamily="34" charset="-120"/>
              </a:rPr>
              <a:t>Left = dark, right = bright</a:t>
            </a:r>
            <a:endParaRPr lang="en-US" sz="1600" dirty="0"/>
          </a:p>
        </p:txBody>
      </p:sp>
      <p:sp>
        <p:nvSpPr>
          <p:cNvPr id="12"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36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2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2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2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2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Draw a Histogram</a:t>
            </a:r>
            <a:endParaRPr lang="en-US" sz="3400" dirty="0"/>
          </a:p>
        </p:txBody>
      </p:sp>
      <p:sp>
        <p:nvSpPr>
          <p:cNvPr id="3" name="Text 1"/>
          <p:cNvSpPr txBox="1"/>
          <p:nvPr/>
        </p:nvSpPr>
        <p:spPr>
          <a:xfrm>
            <a:off x="548640" y="640080"/>
            <a:ext cx="3657600" cy="457200"/>
          </a:xfrm>
          <a:prstGeom prst="rect">
            <a:avLst/>
          </a:prstGeom>
          <a:noFill/>
          <a:ln/>
        </p:spPr>
        <p:txBody>
          <a:bodyPr wrap="square" lIns="0" tIns="0" rIns="0" bIns="0" rtlCol="0" anchor="ctr"/>
          <a:lstStyle/>
          <a:p>
            <a:pPr marL="0" indent="0">
              <a:buNone/>
            </a:pPr>
            <a:r>
              <a:rPr lang="en-US" sz="2200" b="1" kern="0" spc="400" dirty="0">
                <a:solidFill>
                  <a:srgbClr val="A9C4E8"/>
                </a:solidFill>
                <a:latin typeface="Arial" pitchFamily="34" charset="0"/>
                <a:ea typeface="Arial" pitchFamily="34" charset="-122"/>
                <a:cs typeface="Arial" pitchFamily="34" charset="-120"/>
              </a:rPr>
              <a:t>TASK 8</a:t>
            </a:r>
            <a:endParaRPr lang="en-US" sz="2200" dirty="0"/>
          </a:p>
        </p:txBody>
      </p:sp>
      <p:sp>
        <p:nvSpPr>
          <p:cNvPr id="4" name="Text 2"/>
          <p:cNvSpPr txBox="1"/>
          <p:nvPr/>
        </p:nvSpPr>
        <p:spPr>
          <a:xfrm>
            <a:off x="548640" y="2743200"/>
            <a:ext cx="5852160" cy="822960"/>
          </a:xfrm>
          <a:prstGeom prst="rect">
            <a:avLst/>
          </a:prstGeom>
          <a:noFill/>
          <a:ln/>
        </p:spPr>
        <p:txBody>
          <a:bodyPr wrap="square" lIns="0" tIns="0" rIns="0" bIns="0" rtlCol="0" anchor="t"/>
          <a:lstStyle/>
          <a:p>
            <a:pPr marL="0" indent="0">
              <a:buNone/>
            </a:pPr>
            <a:r>
              <a:rPr lang="en-US" sz="1800" dirty="0">
                <a:solidFill>
                  <a:srgbClr val="C5D1E3"/>
                </a:solidFill>
                <a:latin typeface="Arial" pitchFamily="34" charset="0"/>
                <a:ea typeface="Arial" pitchFamily="34" charset="-122"/>
                <a:cs typeface="Arial" pitchFamily="34" charset="-120"/>
              </a:rPr>
              <a:t>Run TASK 8. Where are the tallest bars? Then draw histograms of the red, green and blue channels. What is different?</a:t>
            </a:r>
            <a:endParaRPr lang="en-US" sz="1800" dirty="0"/>
          </a:p>
        </p:txBody>
      </p:sp>
      <p:sp>
        <p:nvSpPr>
          <p:cNvPr id="5" name="Timer pill"/>
          <p:cNvSpPr/>
          <p:nvPr/>
        </p:nvSpPr>
        <p:spPr>
          <a:xfrm>
            <a:off x="548640" y="3840480"/>
            <a:ext cx="2194560" cy="640080"/>
          </a:xfrm>
          <a:prstGeom prst="roundRect">
            <a:avLst>
              <a:gd name="adj" fmla="val 50000"/>
            </a:avLst>
          </a:prstGeom>
          <a:solidFill>
            <a:srgbClr val="A9C4E8"/>
          </a:solidFill>
          <a:ln w="12700">
            <a:solidFill>
              <a:srgbClr val="A9C4E8"/>
            </a:solidFill>
            <a:prstDash val="solid"/>
          </a:ln>
        </p:spPr>
        <p:txBody>
          <a:bodyPr/>
          <a:lstStyle/>
          <a:p>
            <a:endParaRPr lang="en-GB"/>
          </a:p>
        </p:txBody>
      </p:sp>
      <p:pic>
        <p:nvPicPr>
          <p:cNvPr id="6" name="Image 0" descr="clock"/>
          <p:cNvPicPr>
            <a:picLocks noChangeAspect="1"/>
          </p:cNvPicPr>
          <p:nvPr/>
        </p:nvPicPr>
        <p:blipFill>
          <a:blip r:embed="rId3"/>
          <a:stretch>
            <a:fillRect/>
          </a:stretch>
        </p:blipFill>
        <p:spPr>
          <a:xfrm>
            <a:off x="749808" y="3995928"/>
            <a:ext cx="329184" cy="329184"/>
          </a:xfrm>
          <a:prstGeom prst="rect">
            <a:avLst/>
          </a:prstGeom>
        </p:spPr>
      </p:pic>
      <p:sp>
        <p:nvSpPr>
          <p:cNvPr id="7" name="Text 4"/>
          <p:cNvSpPr txBox="1"/>
          <p:nvPr/>
        </p:nvSpPr>
        <p:spPr>
          <a:xfrm>
            <a:off x="1170432" y="3840480"/>
            <a:ext cx="1463040" cy="640080"/>
          </a:xfrm>
          <a:prstGeom prst="rect">
            <a:avLst/>
          </a:prstGeom>
          <a:noFill/>
          <a:ln/>
        </p:spPr>
        <p:txBody>
          <a:bodyPr wrap="square" lIns="0" tIns="0" rIns="0" bIns="0" rtlCol="0" anchor="ctr"/>
          <a:lstStyle/>
          <a:p>
            <a:pPr marL="0" indent="0">
              <a:buNone/>
            </a:pPr>
            <a:r>
              <a:rPr lang="en-US" sz="2000" b="1" dirty="0">
                <a:solidFill>
                  <a:srgbClr val="001B40"/>
                </a:solidFill>
                <a:latin typeface="Arial" pitchFamily="34" charset="0"/>
                <a:ea typeface="Arial" pitchFamily="34" charset="-122"/>
                <a:cs typeface="Arial" pitchFamily="34" charset="-120"/>
              </a:rPr>
              <a:t>3 min</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6949440" cy="685800"/>
          </a:xfrm>
          <a:prstGeom prst="rect">
            <a:avLst/>
          </a:prstGeom>
          <a:noFill/>
          <a:ln/>
        </p:spPr>
        <p:txBody>
          <a:bodyPr wrap="square" lIns="0" tIns="0" rIns="0" bIns="0" rtlCol="0" anchor="ctr"/>
          <a:lstStyle/>
          <a:p>
            <a:pPr marL="0" indent="0" algn="l">
              <a:buNone/>
            </a:pPr>
            <a:r>
              <a:rPr lang="en-US" sz="2800" b="1" dirty="0">
                <a:solidFill>
                  <a:srgbClr val="001B40"/>
                </a:solidFill>
                <a:latin typeface="Arial" pitchFamily="34" charset="0"/>
                <a:ea typeface="Arial" pitchFamily="34" charset="-122"/>
                <a:cs typeface="Arial" pitchFamily="34" charset="-120"/>
              </a:rPr>
              <a:t>Task 8: Red, Green and Blue</a:t>
            </a:r>
            <a:endParaRPr lang="en-US" sz="2800" dirty="0"/>
          </a:p>
        </p:txBody>
      </p:sp>
      <p:sp>
        <p:nvSpPr>
          <p:cNvPr id="3" name="ANSWERS pill"/>
          <p:cNvSpPr/>
          <p:nvPr/>
        </p:nvSpPr>
        <p:spPr>
          <a:xfrm>
            <a:off x="7589520" y="411480"/>
            <a:ext cx="10972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589520" y="411480"/>
            <a:ext cx="10972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ANSWERS</a:t>
            </a:r>
            <a:endParaRPr lang="en-US" sz="1200" dirty="0"/>
          </a:p>
        </p:txBody>
      </p:sp>
      <p:pic>
        <p:nvPicPr>
          <p:cNvPr id="5" name="Image 0" descr="Three histograms of the red, green and blue channels side by side"/>
          <p:cNvPicPr>
            <a:picLocks noChangeAspect="1"/>
          </p:cNvPicPr>
          <p:nvPr/>
        </p:nvPicPr>
        <p:blipFill>
          <a:blip r:embed="rId3"/>
          <a:stretch>
            <a:fillRect/>
          </a:stretch>
        </p:blipFill>
        <p:spPr>
          <a:xfrm>
            <a:off x="457200" y="1197033"/>
            <a:ext cx="8229600" cy="2543695"/>
          </a:xfrm>
          <a:prstGeom prst="rect">
            <a:avLst/>
          </a:prstGeom>
        </p:spPr>
      </p:pic>
      <p:sp>
        <p:nvSpPr>
          <p:cNvPr id="6" name="@1 Callout"/>
          <p:cNvSpPr/>
          <p:nvPr/>
        </p:nvSpPr>
        <p:spPr>
          <a:xfrm>
            <a:off x="457200" y="3840480"/>
            <a:ext cx="8229600" cy="731520"/>
          </a:xfrm>
          <a:prstGeom prst="roundRect">
            <a:avLst>
              <a:gd name="adj" fmla="val 12500"/>
            </a:avLst>
          </a:prstGeom>
          <a:solidFill>
            <a:srgbClr val="FFFFFF"/>
          </a:solidFill>
          <a:ln w="15875">
            <a:solidFill>
              <a:srgbClr val="002D6A"/>
            </a:solidFill>
            <a:prstDash val="solid"/>
          </a:ln>
        </p:spPr>
        <p:txBody>
          <a:bodyPr/>
          <a:lstStyle/>
          <a:p>
            <a:endParaRPr lang="en-GB"/>
          </a:p>
        </p:txBody>
      </p:sp>
      <p:sp>
        <p:nvSpPr>
          <p:cNvPr id="7" name="@1 addText"/>
          <p:cNvSpPr txBox="1"/>
          <p:nvPr/>
        </p:nvSpPr>
        <p:spPr>
          <a:xfrm>
            <a:off x="685800" y="3840480"/>
            <a:ext cx="7772400" cy="731520"/>
          </a:xfrm>
          <a:prstGeom prst="rect">
            <a:avLst/>
          </a:prstGeom>
          <a:noFill/>
          <a:ln/>
        </p:spPr>
        <p:txBody>
          <a:bodyPr wrap="square" lIns="0" tIns="0" rIns="0" bIns="0" rtlCol="0" anchor="ctr"/>
          <a:lstStyle/>
          <a:p>
            <a:pPr marL="0" indent="0">
              <a:buNone/>
            </a:pPr>
            <a:r>
              <a:rPr lang="en-US" sz="1200" b="1" kern="0" spc="200" dirty="0">
                <a:solidFill>
                  <a:srgbClr val="002D6A"/>
                </a:solidFill>
                <a:latin typeface="Arial" pitchFamily="34" charset="0"/>
                <a:ea typeface="Arial" pitchFamily="34" charset="-122"/>
                <a:cs typeface="Arial" pitchFamily="34" charset="-120"/>
              </a:rPr>
              <a:t>TIP  </a:t>
            </a:r>
            <a:r>
              <a:rPr lang="en-US" sz="1600" dirty="0">
                <a:solidFill>
                  <a:srgbClr val="22262E"/>
                </a:solidFill>
                <a:latin typeface="Arial" pitchFamily="34" charset="0"/>
                <a:ea typeface="Arial" pitchFamily="34" charset="-122"/>
                <a:cs typeface="Arial" pitchFamily="34" charset="-120"/>
              </a:rPr>
              <a:t>Red: tall bar middle-right (the wall). Green and blue: tallest on the left.</a:t>
            </a:r>
            <a:endParaRPr lang="en-US" sz="1200" dirty="0"/>
          </a:p>
        </p:txBody>
      </p:sp>
      <p:sp>
        <p:nvSpPr>
          <p:cNvPr id="8"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38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2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2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Go Backwards: ::-1</a:t>
            </a:r>
            <a:endParaRPr lang="en-US" sz="3000" dirty="0"/>
          </a:p>
        </p:txBody>
      </p:sp>
      <p:sp>
        <p:nvSpPr>
          <p:cNvPr id="3" name="STRETCH pill"/>
          <p:cNvSpPr/>
          <p:nvPr/>
        </p:nvSpPr>
        <p:spPr>
          <a:xfrm>
            <a:off x="7132320" y="411480"/>
            <a:ext cx="15544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132320" y="411480"/>
            <a:ext cx="15544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STRETCH</a:t>
            </a:r>
            <a:endParaRPr lang="en-US" sz="1200" dirty="0"/>
          </a:p>
        </p:txBody>
      </p:sp>
      <p:sp>
        <p:nvSpPr>
          <p:cNvPr id="5" name="code bg"/>
          <p:cNvSpPr/>
          <p:nvPr/>
        </p:nvSpPr>
        <p:spPr>
          <a:xfrm>
            <a:off x="457200" y="1143000"/>
            <a:ext cx="8229600" cy="891540"/>
          </a:xfrm>
          <a:prstGeom prst="rect">
            <a:avLst/>
          </a:prstGeom>
          <a:solidFill>
            <a:srgbClr val="0B2A57"/>
          </a:solidFill>
          <a:ln w="12700">
            <a:solidFill>
              <a:srgbClr val="0B2A57"/>
            </a:solidFill>
            <a:prstDash val="solid"/>
          </a:ln>
        </p:spPr>
        <p:txBody>
          <a:bodyPr/>
          <a:lstStyle/>
          <a:p>
            <a:endParaRPr lang="en-GB"/>
          </a:p>
        </p:txBody>
      </p:sp>
      <p:sp>
        <p:nvSpPr>
          <p:cNvPr id="6" name="code bar"/>
          <p:cNvSpPr/>
          <p:nvPr/>
        </p:nvSpPr>
        <p:spPr>
          <a:xfrm>
            <a:off x="457200" y="1143000"/>
            <a:ext cx="54864" cy="891540"/>
          </a:xfrm>
          <a:prstGeom prst="rect">
            <a:avLst/>
          </a:prstGeom>
          <a:solidFill>
            <a:srgbClr val="5D79A0"/>
          </a:solidFill>
          <a:ln w="12700">
            <a:solidFill>
              <a:srgbClr val="5D79A0"/>
            </a:solidFill>
            <a:prstDash val="solid"/>
          </a:ln>
        </p:spPr>
        <p:txBody>
          <a:bodyPr/>
          <a:lstStyle/>
          <a:p>
            <a:endParaRPr lang="en-GB"/>
          </a:p>
        </p:txBody>
      </p:sp>
      <p:sp>
        <p:nvSpPr>
          <p:cNvPr id="7" name="code line 1"/>
          <p:cNvSpPr txBox="1"/>
          <p:nvPr/>
        </p:nvSpPr>
        <p:spPr>
          <a:xfrm>
            <a:off x="640080" y="128016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 1  </a:t>
            </a:r>
            <a:r>
              <a:rPr lang="en-US" sz="1800" dirty="0">
                <a:solidFill>
                  <a:srgbClr val="E6ECF5"/>
                </a:solidFill>
                <a:latin typeface="Courier New" pitchFamily="34" charset="0"/>
                <a:ea typeface="Courier New" pitchFamily="34" charset="-122"/>
                <a:cs typeface="Courier New" pitchFamily="34" charset="-120"/>
              </a:rPr>
              <a:t>show(pixels[:, ::-1])   </a:t>
            </a:r>
            <a:r>
              <a:rPr lang="en-US" sz="1800" dirty="0">
                <a:solidFill>
                  <a:srgbClr val="8EA3C0"/>
                </a:solidFill>
                <a:latin typeface="Courier New" pitchFamily="34" charset="0"/>
                <a:ea typeface="Courier New" pitchFamily="34" charset="-122"/>
                <a:cs typeface="Courier New" pitchFamily="34" charset="-120"/>
              </a:rPr>
              <a:t># mirror</a:t>
            </a:r>
            <a:endParaRPr lang="en-US" sz="1800" dirty="0"/>
          </a:p>
        </p:txBody>
      </p:sp>
      <p:sp>
        <p:nvSpPr>
          <p:cNvPr id="8" name="code line 2"/>
          <p:cNvSpPr txBox="1"/>
          <p:nvPr/>
        </p:nvSpPr>
        <p:spPr>
          <a:xfrm>
            <a:off x="640080" y="158877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 2  </a:t>
            </a:r>
            <a:r>
              <a:rPr lang="en-US" sz="1800" dirty="0">
                <a:solidFill>
                  <a:srgbClr val="E6ECF5"/>
                </a:solidFill>
                <a:latin typeface="Courier New" pitchFamily="34" charset="0"/>
                <a:ea typeface="Courier New" pitchFamily="34" charset="-122"/>
                <a:cs typeface="Courier New" pitchFamily="34" charset="-120"/>
              </a:rPr>
              <a:t>show(pixels[::-1])      </a:t>
            </a:r>
            <a:r>
              <a:rPr lang="en-US" sz="1800" dirty="0">
                <a:solidFill>
                  <a:srgbClr val="8EA3C0"/>
                </a:solidFill>
                <a:latin typeface="Courier New" pitchFamily="34" charset="0"/>
                <a:ea typeface="Courier New" pitchFamily="34" charset="-122"/>
                <a:cs typeface="Courier New" pitchFamily="34" charset="-120"/>
              </a:rPr>
              <a:t># upside down</a:t>
            </a:r>
            <a:endParaRPr lang="en-US" sz="1800" dirty="0"/>
          </a:p>
        </p:txBody>
      </p:sp>
      <p:pic>
        <p:nvPicPr>
          <p:cNvPr id="9" name="Image 0" descr="The cow photo mirrored left to right"/>
          <p:cNvPicPr>
            <a:picLocks noChangeAspect="1"/>
          </p:cNvPicPr>
          <p:nvPr/>
        </p:nvPicPr>
        <p:blipFill>
          <a:blip r:embed="rId3"/>
          <a:stretch>
            <a:fillRect/>
          </a:stretch>
        </p:blipFill>
        <p:spPr>
          <a:xfrm>
            <a:off x="1188720" y="2468880"/>
            <a:ext cx="1828800" cy="1828800"/>
          </a:xfrm>
          <a:prstGeom prst="rect">
            <a:avLst/>
          </a:prstGeom>
        </p:spPr>
      </p:pic>
      <p:sp>
        <p:nvSpPr>
          <p:cNvPr id="10" name="Text 7"/>
          <p:cNvSpPr txBox="1"/>
          <p:nvPr/>
        </p:nvSpPr>
        <p:spPr>
          <a:xfrm>
            <a:off x="640080" y="4343400"/>
            <a:ext cx="2926080" cy="27432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mirror: columns backwards</a:t>
            </a:r>
            <a:endParaRPr lang="en-US" sz="1400" dirty="0"/>
          </a:p>
        </p:txBody>
      </p:sp>
      <p:pic>
        <p:nvPicPr>
          <p:cNvPr id="11" name="Image 1" descr="The cow photo flipped upside down"/>
          <p:cNvPicPr>
            <a:picLocks noChangeAspect="1"/>
          </p:cNvPicPr>
          <p:nvPr/>
        </p:nvPicPr>
        <p:blipFill>
          <a:blip r:embed="rId4"/>
          <a:stretch>
            <a:fillRect/>
          </a:stretch>
        </p:blipFill>
        <p:spPr>
          <a:xfrm>
            <a:off x="5760720" y="2468880"/>
            <a:ext cx="1828800" cy="1828800"/>
          </a:xfrm>
          <a:prstGeom prst="rect">
            <a:avLst/>
          </a:prstGeom>
        </p:spPr>
      </p:pic>
      <p:sp>
        <p:nvSpPr>
          <p:cNvPr id="12" name="Text 8"/>
          <p:cNvSpPr txBox="1"/>
          <p:nvPr/>
        </p:nvSpPr>
        <p:spPr>
          <a:xfrm>
            <a:off x="5212080" y="4343400"/>
            <a:ext cx="2926080" cy="27432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upside down: rows backwards</a:t>
            </a:r>
            <a:endParaRPr lang="en-US" sz="1400" dirty="0"/>
          </a:p>
        </p:txBody>
      </p:sp>
      <p:sp>
        <p:nvSpPr>
          <p:cNvPr id="13"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Finished Part 1?</a:t>
            </a:r>
            <a:endParaRPr lang="en-US" sz="3400" dirty="0"/>
          </a:p>
        </p:txBody>
      </p:sp>
      <p:sp>
        <p:nvSpPr>
          <p:cNvPr id="3" name="Text 1"/>
          <p:cNvSpPr txBox="1"/>
          <p:nvPr/>
        </p:nvSpPr>
        <p:spPr>
          <a:xfrm>
            <a:off x="548640" y="640080"/>
            <a:ext cx="3657600" cy="457200"/>
          </a:xfrm>
          <a:prstGeom prst="rect">
            <a:avLst/>
          </a:prstGeom>
          <a:noFill/>
          <a:ln/>
        </p:spPr>
        <p:txBody>
          <a:bodyPr wrap="square" lIns="0" tIns="0" rIns="0" bIns="0" rtlCol="0" anchor="ctr"/>
          <a:lstStyle/>
          <a:p>
            <a:pPr marL="0" indent="0">
              <a:buNone/>
            </a:pPr>
            <a:r>
              <a:rPr lang="en-US" sz="2200" b="1" kern="0" spc="400" dirty="0">
                <a:solidFill>
                  <a:srgbClr val="A9C4E8"/>
                </a:solidFill>
                <a:latin typeface="Arial" pitchFamily="34" charset="0"/>
                <a:ea typeface="Arial" pitchFamily="34" charset="-122"/>
                <a:cs typeface="Arial" pitchFamily="34" charset="-120"/>
              </a:rPr>
              <a:t>STRETCH</a:t>
            </a:r>
            <a:endParaRPr lang="en-US" sz="2200" dirty="0"/>
          </a:p>
        </p:txBody>
      </p:sp>
      <p:sp>
        <p:nvSpPr>
          <p:cNvPr id="4" name="Text 2"/>
          <p:cNvSpPr txBox="1"/>
          <p:nvPr/>
        </p:nvSpPr>
        <p:spPr>
          <a:xfrm>
            <a:off x="548640" y="2743200"/>
            <a:ext cx="5852160" cy="1188720"/>
          </a:xfrm>
          <a:prstGeom prst="rect">
            <a:avLst/>
          </a:prstGeom>
          <a:noFill/>
          <a:ln/>
        </p:spPr>
        <p:txBody>
          <a:bodyPr wrap="square" lIns="0" tIns="0" rIns="0" bIns="0" rtlCol="0" anchor="t"/>
          <a:lstStyle/>
          <a:p>
            <a:pPr marL="0" indent="0">
              <a:buNone/>
            </a:pPr>
            <a:r>
              <a:rPr lang="en-US" sz="1800" dirty="0">
                <a:solidFill>
                  <a:srgbClr val="C5D1E3"/>
                </a:solidFill>
                <a:latin typeface="Arial" pitchFamily="34" charset="0"/>
                <a:ea typeface="Arial" pitchFamily="34" charset="-122"/>
                <a:cs typeface="Arial" pitchFamily="34" charset="-120"/>
              </a:rPr>
              <a:t>Try both ::-1 lines. Brighten the picture: add 60 to every number. Careful, what happens above 255? Predict first.</a:t>
            </a:r>
            <a:endParaRPr lang="en-US" sz="1800" dirty="0"/>
          </a:p>
        </p:txBody>
      </p:sp>
      <p:pic>
        <p:nvPicPr>
          <p:cNvPr id="5" name="Image 0" descr="The cow photo after adding 60 to every number, with colours wrapped around"/>
          <p:cNvPicPr>
            <a:picLocks noChangeAspect="1"/>
          </p:cNvPicPr>
          <p:nvPr/>
        </p:nvPicPr>
        <p:blipFill>
          <a:blip r:embed="rId3"/>
          <a:stretch>
            <a:fillRect/>
          </a:stretch>
        </p:blipFill>
        <p:spPr>
          <a:xfrm>
            <a:off x="6766560" y="2194560"/>
            <a:ext cx="1737360" cy="1737360"/>
          </a:xfrm>
          <a:prstGeom prst="rect">
            <a:avLst/>
          </a:prstGeom>
        </p:spPr>
      </p:pic>
      <p:sp>
        <p:nvSpPr>
          <p:cNvPr id="6" name="Text 3"/>
          <p:cNvSpPr txBox="1"/>
          <p:nvPr/>
        </p:nvSpPr>
        <p:spPr>
          <a:xfrm>
            <a:off x="6309360" y="4023360"/>
            <a:ext cx="2651760" cy="27432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+ 60 (200 + 60 wraps to 4)</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The Puzzle</a:t>
            </a:r>
            <a:endParaRPr lang="en-US" sz="3400" dirty="0"/>
          </a:p>
        </p:txBody>
      </p:sp>
      <p:sp>
        <p:nvSpPr>
          <p:cNvPr id="3" name="Text 1"/>
          <p:cNvSpPr txBox="1"/>
          <p:nvPr/>
        </p:nvSpPr>
        <p:spPr>
          <a:xfrm>
            <a:off x="548640" y="640080"/>
            <a:ext cx="3657600" cy="457200"/>
          </a:xfrm>
          <a:prstGeom prst="rect">
            <a:avLst/>
          </a:prstGeom>
          <a:noFill/>
          <a:ln/>
        </p:spPr>
        <p:txBody>
          <a:bodyPr wrap="square" lIns="0" tIns="0" rIns="0" bIns="0" rtlCol="0" anchor="ctr"/>
          <a:lstStyle/>
          <a:p>
            <a:pPr marL="0" indent="0">
              <a:buNone/>
            </a:pPr>
            <a:r>
              <a:rPr lang="en-US" sz="2200" b="1" kern="0" spc="400" dirty="0">
                <a:solidFill>
                  <a:srgbClr val="A9C4E8"/>
                </a:solidFill>
                <a:latin typeface="Arial" pitchFamily="34" charset="0"/>
                <a:ea typeface="Arial" pitchFamily="34" charset="-122"/>
                <a:cs typeface="Arial" pitchFamily="34" charset="-120"/>
              </a:rPr>
              <a:t>PART 2</a:t>
            </a:r>
            <a:endParaRPr lang="en-US" sz="2200" dirty="0"/>
          </a:p>
        </p:txBody>
      </p:sp>
      <p:sp>
        <p:nvSpPr>
          <p:cNvPr id="4" name="Text 2"/>
          <p:cNvSpPr txBox="1"/>
          <p:nvPr/>
        </p:nvSpPr>
        <p:spPr>
          <a:xfrm>
            <a:off x="548640" y="2743200"/>
            <a:ext cx="5852160" cy="822960"/>
          </a:xfrm>
          <a:prstGeom prst="rect">
            <a:avLst/>
          </a:prstGeom>
          <a:noFill/>
          <a:ln/>
        </p:spPr>
        <p:txBody>
          <a:bodyPr wrap="square" lIns="0" tIns="0" rIns="0" bIns="0" rtlCol="0" anchor="t"/>
          <a:lstStyle/>
          <a:p>
            <a:pPr marL="0" indent="0">
              <a:buNone/>
            </a:pPr>
            <a:r>
              <a:rPr lang="en-US" sz="1800" dirty="0">
                <a:solidFill>
                  <a:srgbClr val="C5D1E3"/>
                </a:solidFill>
                <a:latin typeface="Arial" pitchFamily="34" charset="0"/>
                <a:ea typeface="Arial" pitchFamily="34" charset="-122"/>
                <a:cs typeface="Arial" pitchFamily="34" charset="-120"/>
              </a:rPr>
              <a:t>37 photos. One letter is hidden in each. Together they spell a sentence.</a:t>
            </a:r>
            <a:endParaRPr lang="en-US" sz="1800" dirty="0"/>
          </a:p>
        </p:txBody>
      </p:sp>
      <p:sp>
        <p:nvSpPr>
          <p:cNvPr id="5" name="Timer pill"/>
          <p:cNvSpPr/>
          <p:nvPr/>
        </p:nvSpPr>
        <p:spPr>
          <a:xfrm>
            <a:off x="548640" y="3840480"/>
            <a:ext cx="2194560" cy="640080"/>
          </a:xfrm>
          <a:prstGeom prst="roundRect">
            <a:avLst>
              <a:gd name="adj" fmla="val 50000"/>
            </a:avLst>
          </a:prstGeom>
          <a:solidFill>
            <a:srgbClr val="A9C4E8"/>
          </a:solidFill>
          <a:ln w="12700">
            <a:solidFill>
              <a:srgbClr val="A9C4E8"/>
            </a:solidFill>
            <a:prstDash val="solid"/>
          </a:ln>
        </p:spPr>
        <p:txBody>
          <a:bodyPr/>
          <a:lstStyle/>
          <a:p>
            <a:endParaRPr lang="en-GB"/>
          </a:p>
        </p:txBody>
      </p:sp>
      <p:pic>
        <p:nvPicPr>
          <p:cNvPr id="6" name="Image 0" descr="clock"/>
          <p:cNvPicPr>
            <a:picLocks noChangeAspect="1"/>
          </p:cNvPicPr>
          <p:nvPr/>
        </p:nvPicPr>
        <p:blipFill>
          <a:blip r:embed="rId3"/>
          <a:stretch>
            <a:fillRect/>
          </a:stretch>
        </p:blipFill>
        <p:spPr>
          <a:xfrm>
            <a:off x="749808" y="3995928"/>
            <a:ext cx="329184" cy="329184"/>
          </a:xfrm>
          <a:prstGeom prst="rect">
            <a:avLst/>
          </a:prstGeom>
        </p:spPr>
      </p:pic>
      <p:sp>
        <p:nvSpPr>
          <p:cNvPr id="7" name="Text 4"/>
          <p:cNvSpPr txBox="1"/>
          <p:nvPr/>
        </p:nvSpPr>
        <p:spPr>
          <a:xfrm>
            <a:off x="1170432" y="3840480"/>
            <a:ext cx="1463040" cy="640080"/>
          </a:xfrm>
          <a:prstGeom prst="rect">
            <a:avLst/>
          </a:prstGeom>
          <a:noFill/>
          <a:ln/>
        </p:spPr>
        <p:txBody>
          <a:bodyPr wrap="square" lIns="0" tIns="0" rIns="0" bIns="0" rtlCol="0" anchor="ctr"/>
          <a:lstStyle/>
          <a:p>
            <a:pPr marL="0" indent="0">
              <a:buNone/>
            </a:pPr>
            <a:r>
              <a:rPr lang="en-US" sz="2000" b="1" dirty="0">
                <a:solidFill>
                  <a:srgbClr val="001B40"/>
                </a:solidFill>
                <a:latin typeface="Arial" pitchFamily="34" charset="0"/>
                <a:ea typeface="Arial" pitchFamily="34" charset="-122"/>
                <a:cs typeface="Arial" pitchFamily="34" charset="-120"/>
              </a:rPr>
              <a:t>5 min talk</a:t>
            </a:r>
            <a:endParaRPr lang="en-US" sz="2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The Rule</a:t>
            </a:r>
            <a:endParaRPr lang="en-US" sz="3000" dirty="0"/>
          </a:p>
        </p:txBody>
      </p:sp>
      <p:sp>
        <p:nvSpPr>
          <p:cNvPr id="3" name="@1 num"/>
          <p:cNvSpPr/>
          <p:nvPr/>
        </p:nvSpPr>
        <p:spPr>
          <a:xfrm>
            <a:off x="548640" y="1234440"/>
            <a:ext cx="457200" cy="457200"/>
          </a:xfrm>
          <a:prstGeom prst="ellipse">
            <a:avLst/>
          </a:prstGeom>
          <a:solidFill>
            <a:srgbClr val="002D6A"/>
          </a:solidFill>
          <a:ln w="12700">
            <a:solidFill>
              <a:srgbClr val="002D6A"/>
            </a:solidFill>
            <a:prstDash val="solid"/>
          </a:ln>
        </p:spPr>
        <p:txBody>
          <a:bodyPr/>
          <a:lstStyle/>
          <a:p>
            <a:endParaRPr lang="en-GB"/>
          </a:p>
        </p:txBody>
      </p:sp>
      <p:sp>
        <p:nvSpPr>
          <p:cNvPr id="4" name="@1 addText"/>
          <p:cNvSpPr txBox="1"/>
          <p:nvPr/>
        </p:nvSpPr>
        <p:spPr>
          <a:xfrm>
            <a:off x="548640" y="123444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5" name="@1 addText"/>
          <p:cNvSpPr txBox="1"/>
          <p:nvPr/>
        </p:nvSpPr>
        <p:spPr>
          <a:xfrm>
            <a:off x="1280160" y="1234440"/>
            <a:ext cx="7315200" cy="457200"/>
          </a:xfrm>
          <a:prstGeom prst="rect">
            <a:avLst/>
          </a:prstGeom>
          <a:noFill/>
          <a:ln/>
        </p:spPr>
        <p:txBody>
          <a:bodyPr wrap="square" lIns="0" tIns="0" rIns="0" bIns="0" rtlCol="0" anchor="ctr"/>
          <a:lstStyle/>
          <a:p>
            <a:pPr marL="0" indent="0">
              <a:buNone/>
            </a:pPr>
            <a:r>
              <a:rPr lang="en-US" sz="2000" dirty="0">
                <a:solidFill>
                  <a:srgbClr val="22262E"/>
                </a:solidFill>
                <a:latin typeface="Arial" pitchFamily="34" charset="0"/>
                <a:ea typeface="Arial" pitchFamily="34" charset="-122"/>
                <a:cs typeface="Arial" pitchFamily="34" charset="-120"/>
              </a:rPr>
              <a:t>Open a photo.</a:t>
            </a:r>
            <a:endParaRPr lang="en-US" sz="2000" dirty="0"/>
          </a:p>
        </p:txBody>
      </p:sp>
      <p:sp>
        <p:nvSpPr>
          <p:cNvPr id="6" name="@2 num"/>
          <p:cNvSpPr/>
          <p:nvPr/>
        </p:nvSpPr>
        <p:spPr>
          <a:xfrm>
            <a:off x="548640" y="1920240"/>
            <a:ext cx="457200" cy="457200"/>
          </a:xfrm>
          <a:prstGeom prst="ellipse">
            <a:avLst/>
          </a:prstGeom>
          <a:solidFill>
            <a:srgbClr val="002D6A"/>
          </a:solidFill>
          <a:ln w="12700">
            <a:solidFill>
              <a:srgbClr val="002D6A"/>
            </a:solidFill>
            <a:prstDash val="solid"/>
          </a:ln>
        </p:spPr>
        <p:txBody>
          <a:bodyPr/>
          <a:lstStyle/>
          <a:p>
            <a:endParaRPr lang="en-GB"/>
          </a:p>
        </p:txBody>
      </p:sp>
      <p:sp>
        <p:nvSpPr>
          <p:cNvPr id="7" name="@2 addText"/>
          <p:cNvSpPr txBox="1"/>
          <p:nvPr/>
        </p:nvSpPr>
        <p:spPr>
          <a:xfrm>
            <a:off x="548640" y="192024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8" name="@2 addText"/>
          <p:cNvSpPr txBox="1"/>
          <p:nvPr/>
        </p:nvSpPr>
        <p:spPr>
          <a:xfrm>
            <a:off x="1280160" y="1920240"/>
            <a:ext cx="7315200" cy="457200"/>
          </a:xfrm>
          <a:prstGeom prst="rect">
            <a:avLst/>
          </a:prstGeom>
          <a:noFill/>
          <a:ln/>
        </p:spPr>
        <p:txBody>
          <a:bodyPr wrap="square" lIns="0" tIns="0" rIns="0" bIns="0" rtlCol="0" anchor="ctr"/>
          <a:lstStyle/>
          <a:p>
            <a:pPr marL="0" indent="0">
              <a:buNone/>
            </a:pPr>
            <a:r>
              <a:rPr lang="en-US" sz="2000" dirty="0">
                <a:solidFill>
                  <a:srgbClr val="22262E"/>
                </a:solidFill>
                <a:latin typeface="Arial" pitchFamily="34" charset="0"/>
                <a:ea typeface="Arial" pitchFamily="34" charset="-122"/>
                <a:cs typeface="Arial" pitchFamily="34" charset="-120"/>
              </a:rPr>
              <a:t>Add up every red value in it.</a:t>
            </a:r>
            <a:endParaRPr lang="en-US" sz="2000" dirty="0"/>
          </a:p>
        </p:txBody>
      </p:sp>
      <p:sp>
        <p:nvSpPr>
          <p:cNvPr id="9" name="@3 num"/>
          <p:cNvSpPr/>
          <p:nvPr/>
        </p:nvSpPr>
        <p:spPr>
          <a:xfrm>
            <a:off x="548640" y="2606040"/>
            <a:ext cx="457200" cy="457200"/>
          </a:xfrm>
          <a:prstGeom prst="ellipse">
            <a:avLst/>
          </a:prstGeom>
          <a:solidFill>
            <a:srgbClr val="002D6A"/>
          </a:solidFill>
          <a:ln w="12700">
            <a:solidFill>
              <a:srgbClr val="002D6A"/>
            </a:solidFill>
            <a:prstDash val="solid"/>
          </a:ln>
        </p:spPr>
        <p:txBody>
          <a:bodyPr/>
          <a:lstStyle/>
          <a:p>
            <a:endParaRPr lang="en-GB"/>
          </a:p>
        </p:txBody>
      </p:sp>
      <p:sp>
        <p:nvSpPr>
          <p:cNvPr id="10" name="@3 addText"/>
          <p:cNvSpPr txBox="1"/>
          <p:nvPr/>
        </p:nvSpPr>
        <p:spPr>
          <a:xfrm>
            <a:off x="548640" y="260604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11" name="@3 addText"/>
          <p:cNvSpPr txBox="1"/>
          <p:nvPr/>
        </p:nvSpPr>
        <p:spPr>
          <a:xfrm>
            <a:off x="1280160" y="2606040"/>
            <a:ext cx="7315200" cy="457200"/>
          </a:xfrm>
          <a:prstGeom prst="rect">
            <a:avLst/>
          </a:prstGeom>
          <a:noFill/>
          <a:ln/>
        </p:spPr>
        <p:txBody>
          <a:bodyPr wrap="square" lIns="0" tIns="0" rIns="0" bIns="0" rtlCol="0" anchor="ctr"/>
          <a:lstStyle/>
          <a:p>
            <a:pPr marL="0" indent="0">
              <a:buNone/>
            </a:pPr>
            <a:r>
              <a:rPr lang="en-US" sz="2000" dirty="0">
                <a:solidFill>
                  <a:srgbClr val="22262E"/>
                </a:solidFill>
                <a:latin typeface="Arial" pitchFamily="34" charset="0"/>
                <a:ea typeface="Arial" pitchFamily="34" charset="-122"/>
                <a:cs typeface="Arial" pitchFamily="34" charset="-120"/>
              </a:rPr>
              <a:t>Take that total % 26.</a:t>
            </a:r>
            <a:endParaRPr lang="en-US" sz="2000" dirty="0"/>
          </a:p>
        </p:txBody>
      </p:sp>
      <p:sp>
        <p:nvSpPr>
          <p:cNvPr id="12" name="@4 num"/>
          <p:cNvSpPr/>
          <p:nvPr/>
        </p:nvSpPr>
        <p:spPr>
          <a:xfrm>
            <a:off x="548640" y="3291840"/>
            <a:ext cx="457200" cy="457200"/>
          </a:xfrm>
          <a:prstGeom prst="ellipse">
            <a:avLst/>
          </a:prstGeom>
          <a:solidFill>
            <a:srgbClr val="002D6A"/>
          </a:solidFill>
          <a:ln w="12700">
            <a:solidFill>
              <a:srgbClr val="002D6A"/>
            </a:solidFill>
            <a:prstDash val="solid"/>
          </a:ln>
        </p:spPr>
        <p:txBody>
          <a:bodyPr/>
          <a:lstStyle/>
          <a:p>
            <a:endParaRPr lang="en-GB"/>
          </a:p>
        </p:txBody>
      </p:sp>
      <p:sp>
        <p:nvSpPr>
          <p:cNvPr id="13" name="@4 addText"/>
          <p:cNvSpPr txBox="1"/>
          <p:nvPr/>
        </p:nvSpPr>
        <p:spPr>
          <a:xfrm>
            <a:off x="548640" y="3291840"/>
            <a:ext cx="457200" cy="45720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14" name="@4 addText"/>
          <p:cNvSpPr txBox="1"/>
          <p:nvPr/>
        </p:nvSpPr>
        <p:spPr>
          <a:xfrm>
            <a:off x="1280160" y="3291840"/>
            <a:ext cx="7315200" cy="457200"/>
          </a:xfrm>
          <a:prstGeom prst="rect">
            <a:avLst/>
          </a:prstGeom>
          <a:noFill/>
          <a:ln/>
        </p:spPr>
        <p:txBody>
          <a:bodyPr wrap="square" lIns="0" tIns="0" rIns="0" bIns="0" rtlCol="0" anchor="ctr"/>
          <a:lstStyle/>
          <a:p>
            <a:pPr marL="0" indent="0">
              <a:buNone/>
            </a:pPr>
            <a:r>
              <a:rPr lang="en-US" sz="2000" dirty="0">
                <a:solidFill>
                  <a:srgbClr val="22262E"/>
                </a:solidFill>
                <a:latin typeface="Arial" pitchFamily="34" charset="0"/>
                <a:ea typeface="Arial" pitchFamily="34" charset="-122"/>
                <a:cs typeface="Arial" pitchFamily="34" charset="-120"/>
              </a:rPr>
              <a:t>Use the result to pick a letter: A=0, B=1, ... Z=25.</a:t>
            </a:r>
            <a:endParaRPr lang="en-US" sz="2000" dirty="0"/>
          </a:p>
        </p:txBody>
      </p:sp>
      <p:sp>
        <p:nvSpPr>
          <p:cNvPr id="15" name="@5 Callout"/>
          <p:cNvSpPr/>
          <p:nvPr/>
        </p:nvSpPr>
        <p:spPr>
          <a:xfrm>
            <a:off x="457200" y="4023360"/>
            <a:ext cx="8229600" cy="548640"/>
          </a:xfrm>
          <a:prstGeom prst="roundRect">
            <a:avLst>
              <a:gd name="adj" fmla="val 16667"/>
            </a:avLst>
          </a:prstGeom>
          <a:solidFill>
            <a:srgbClr val="FFFFFF"/>
          </a:solidFill>
          <a:ln w="15875">
            <a:solidFill>
              <a:srgbClr val="002D6A"/>
            </a:solidFill>
            <a:prstDash val="solid"/>
          </a:ln>
        </p:spPr>
        <p:txBody>
          <a:bodyPr/>
          <a:lstStyle/>
          <a:p>
            <a:endParaRPr lang="en-GB"/>
          </a:p>
        </p:txBody>
      </p:sp>
      <p:sp>
        <p:nvSpPr>
          <p:cNvPr id="16" name="@5 addText"/>
          <p:cNvSpPr txBox="1"/>
          <p:nvPr/>
        </p:nvSpPr>
        <p:spPr>
          <a:xfrm>
            <a:off x="685800" y="4023360"/>
            <a:ext cx="7772400" cy="548640"/>
          </a:xfrm>
          <a:prstGeom prst="rect">
            <a:avLst/>
          </a:prstGeom>
          <a:noFill/>
          <a:ln/>
        </p:spPr>
        <p:txBody>
          <a:bodyPr wrap="square" lIns="0" tIns="0" rIns="0" bIns="0" rtlCol="0" anchor="ctr"/>
          <a:lstStyle/>
          <a:p>
            <a:pPr marL="0" indent="0">
              <a:buNone/>
            </a:pPr>
            <a:r>
              <a:rPr lang="en-US" sz="1200" b="1" kern="0" spc="200" dirty="0">
                <a:solidFill>
                  <a:srgbClr val="002D6A"/>
                </a:solidFill>
                <a:latin typeface="Arial" pitchFamily="34" charset="0"/>
                <a:ea typeface="Arial" pitchFamily="34" charset="-122"/>
                <a:cs typeface="Arial" pitchFamily="34" charset="-120"/>
              </a:rPr>
              <a:t>TIP  </a:t>
            </a:r>
            <a:r>
              <a:rPr lang="en-US" sz="1600" dirty="0">
                <a:solidFill>
                  <a:srgbClr val="22262E"/>
                </a:solidFill>
                <a:latin typeface="Arial" pitchFamily="34" charset="0"/>
                <a:ea typeface="Arial" pitchFamily="34" charset="-122"/>
                <a:cs typeface="Arial" pitchFamily="34" charset="-120"/>
              </a:rPr>
              <a:t>Do it for every photo, in order.</a:t>
            </a:r>
            <a:endParaRPr lang="en-US" sz="1200" dirty="0"/>
          </a:p>
        </p:txBody>
      </p:sp>
      <p:sp>
        <p:nvSpPr>
          <p:cNvPr id="17"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2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200"/>
                                        <p:tgtEl>
                                          <p:spTgt spid="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200"/>
                                        <p:tgtEl>
                                          <p:spTgt spid="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2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200"/>
                                        <p:tgtEl>
                                          <p:spTgt spid="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200"/>
                                        <p:tgtEl>
                                          <p:spTgt spid="1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200"/>
                                        <p:tgtEl>
                                          <p:spTgt spid="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20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200"/>
                                        <p:tgtEl>
                                          <p:spTgt spid="1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200"/>
                                        <p:tgtEl>
                                          <p:spTgt spid="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200"/>
                                        <p:tgtEl>
                                          <p:spTgt spid="15"/>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2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Adding Them All Up</a:t>
            </a:r>
            <a:endParaRPr lang="en-US" sz="3000" dirty="0"/>
          </a:p>
        </p:txBody>
      </p:sp>
      <p:sp>
        <p:nvSpPr>
          <p:cNvPr id="3" name="code bg"/>
          <p:cNvSpPr/>
          <p:nvPr/>
        </p:nvSpPr>
        <p:spPr>
          <a:xfrm>
            <a:off x="457200" y="1143000"/>
            <a:ext cx="8229600" cy="1405890"/>
          </a:xfrm>
          <a:prstGeom prst="rect">
            <a:avLst/>
          </a:prstGeom>
          <a:solidFill>
            <a:srgbClr val="0B2A57"/>
          </a:solidFill>
          <a:ln w="12700">
            <a:solidFill>
              <a:srgbClr val="0B2A57"/>
            </a:solidFill>
            <a:prstDash val="solid"/>
          </a:ln>
        </p:spPr>
        <p:txBody>
          <a:bodyPr/>
          <a:lstStyle/>
          <a:p>
            <a:endParaRPr lang="en-GB"/>
          </a:p>
        </p:txBody>
      </p:sp>
      <p:sp>
        <p:nvSpPr>
          <p:cNvPr id="4" name="code bar"/>
          <p:cNvSpPr/>
          <p:nvPr/>
        </p:nvSpPr>
        <p:spPr>
          <a:xfrm>
            <a:off x="457200" y="1143000"/>
            <a:ext cx="54864" cy="1405890"/>
          </a:xfrm>
          <a:prstGeom prst="rect">
            <a:avLst/>
          </a:prstGeom>
          <a:solidFill>
            <a:srgbClr val="A9C4E8"/>
          </a:solidFill>
          <a:ln w="12700">
            <a:solidFill>
              <a:srgbClr val="5D79A0"/>
            </a:solidFill>
            <a:prstDash val="solid"/>
          </a:ln>
        </p:spPr>
        <p:txBody>
          <a:bodyPr/>
          <a:lstStyle/>
          <a:p>
            <a:endParaRPr lang="en-GB"/>
          </a:p>
        </p:txBody>
      </p:sp>
      <p:sp>
        <p:nvSpPr>
          <p:cNvPr id="5" name="code line 1"/>
          <p:cNvSpPr txBox="1"/>
          <p:nvPr/>
        </p:nvSpPr>
        <p:spPr>
          <a:xfrm>
            <a:off x="640080" y="1280160"/>
            <a:ext cx="7955280" cy="377190"/>
          </a:xfrm>
          <a:prstGeom prst="rect">
            <a:avLst/>
          </a:prstGeom>
          <a:noFill/>
          <a:ln/>
        </p:spPr>
        <p:txBody>
          <a:bodyPr wrap="square" lIns="0" tIns="0" rIns="0" bIns="0" rtlCol="0" anchor="ctr"/>
          <a:lstStyle/>
          <a:p>
            <a:pPr marL="0" indent="0">
              <a:buNone/>
            </a:pPr>
            <a:r>
              <a:rPr lang="en-US" sz="2200" dirty="0">
                <a:solidFill>
                  <a:srgbClr val="6F86A8"/>
                </a:solidFill>
                <a:latin typeface="Courier New" pitchFamily="34" charset="0"/>
                <a:ea typeface="Courier New" pitchFamily="34" charset="-122"/>
                <a:cs typeface="Courier New" pitchFamily="34" charset="-120"/>
              </a:rPr>
              <a:t>&gt;&gt;&gt; </a:t>
            </a:r>
            <a:r>
              <a:rPr lang="en-US" sz="2200" dirty="0">
                <a:solidFill>
                  <a:srgbClr val="E6ECF5"/>
                </a:solidFill>
                <a:latin typeface="Courier New" pitchFamily="34" charset="0"/>
                <a:ea typeface="Courier New" pitchFamily="34" charset="-122"/>
                <a:cs typeface="Courier New" pitchFamily="34" charset="-120"/>
              </a:rPr>
              <a:t>red = pixels[:, :, 0]</a:t>
            </a:r>
            <a:endParaRPr lang="en-US" sz="2200" dirty="0"/>
          </a:p>
        </p:txBody>
      </p:sp>
      <p:sp>
        <p:nvSpPr>
          <p:cNvPr id="6" name="code line 2"/>
          <p:cNvSpPr txBox="1"/>
          <p:nvPr/>
        </p:nvSpPr>
        <p:spPr>
          <a:xfrm>
            <a:off x="640080" y="1657350"/>
            <a:ext cx="7955280" cy="377190"/>
          </a:xfrm>
          <a:prstGeom prst="rect">
            <a:avLst/>
          </a:prstGeom>
          <a:noFill/>
          <a:ln/>
        </p:spPr>
        <p:txBody>
          <a:bodyPr wrap="square" lIns="0" tIns="0" rIns="0" bIns="0" rtlCol="0" anchor="ctr"/>
          <a:lstStyle/>
          <a:p>
            <a:pPr marL="0" indent="0">
              <a:buNone/>
            </a:pPr>
            <a:r>
              <a:rPr lang="en-US" sz="2200" dirty="0">
                <a:solidFill>
                  <a:srgbClr val="6F86A8"/>
                </a:solidFill>
                <a:latin typeface="Courier New" pitchFamily="34" charset="0"/>
                <a:ea typeface="Courier New" pitchFamily="34" charset="-122"/>
                <a:cs typeface="Courier New" pitchFamily="34" charset="-120"/>
              </a:rPr>
              <a:t>&gt;&gt;&gt; </a:t>
            </a:r>
            <a:r>
              <a:rPr lang="en-US" sz="2200" dirty="0">
                <a:solidFill>
                  <a:srgbClr val="E6ECF5"/>
                </a:solidFill>
                <a:latin typeface="Courier New" pitchFamily="34" charset="0"/>
                <a:ea typeface="Courier New" pitchFamily="34" charset="-122"/>
                <a:cs typeface="Courier New" pitchFamily="34" charset="-120"/>
              </a:rPr>
              <a:t>red.sum()</a:t>
            </a:r>
            <a:endParaRPr lang="en-US" sz="2200" dirty="0"/>
          </a:p>
        </p:txBody>
      </p:sp>
      <p:sp>
        <p:nvSpPr>
          <p:cNvPr id="7" name="@1 code line 3"/>
          <p:cNvSpPr txBox="1"/>
          <p:nvPr/>
        </p:nvSpPr>
        <p:spPr>
          <a:xfrm>
            <a:off x="640080" y="2034540"/>
            <a:ext cx="7955280" cy="377190"/>
          </a:xfrm>
          <a:prstGeom prst="rect">
            <a:avLst/>
          </a:prstGeom>
          <a:noFill/>
          <a:ln/>
        </p:spPr>
        <p:txBody>
          <a:bodyPr wrap="square" lIns="0" tIns="0" rIns="0" bIns="0" rtlCol="0" anchor="ctr"/>
          <a:lstStyle/>
          <a:p>
            <a:pPr marL="0" indent="0">
              <a:buNone/>
            </a:pPr>
            <a:r>
              <a:rPr lang="en-US" sz="2200" dirty="0">
                <a:solidFill>
                  <a:srgbClr val="B8E0B0"/>
                </a:solidFill>
                <a:latin typeface="Courier New" pitchFamily="34" charset="0"/>
                <a:ea typeface="Courier New" pitchFamily="34" charset="-122"/>
                <a:cs typeface="Courier New" pitchFamily="34" charset="-120"/>
              </a:rPr>
              <a:t>10218857</a:t>
            </a:r>
            <a:endParaRPr lang="en-US" sz="2200" dirty="0"/>
          </a:p>
        </p:txBody>
      </p:sp>
      <p:sp>
        <p:nvSpPr>
          <p:cNvPr id="8" name="@1 addText"/>
          <p:cNvSpPr txBox="1"/>
          <p:nvPr/>
        </p:nvSpPr>
        <p:spPr>
          <a:xfrm>
            <a:off x="457200" y="329184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one number: the total "redness" of all 102,400 pixels of cow-demo.jpg</a:t>
            </a:r>
            <a:endParaRPr lang="en-US" sz="1400" dirty="0"/>
          </a:p>
        </p:txBody>
      </p:sp>
      <p:sp>
        <p:nvSpPr>
          <p:cNvPr id="9"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43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2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2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 and Letters</a:t>
            </a:r>
            <a:endParaRPr lang="en-US" sz="3000" dirty="0"/>
          </a:p>
        </p:txBody>
      </p:sp>
      <p:sp>
        <p:nvSpPr>
          <p:cNvPr id="3" name="code bg"/>
          <p:cNvSpPr/>
          <p:nvPr/>
        </p:nvSpPr>
        <p:spPr>
          <a:xfrm>
            <a:off x="457200" y="1143000"/>
            <a:ext cx="8229600" cy="1645920"/>
          </a:xfrm>
          <a:prstGeom prst="rect">
            <a:avLst/>
          </a:prstGeom>
          <a:solidFill>
            <a:srgbClr val="0B2A57"/>
          </a:solidFill>
          <a:ln w="12700">
            <a:solidFill>
              <a:srgbClr val="0B2A57"/>
            </a:solidFill>
            <a:prstDash val="solid"/>
          </a:ln>
        </p:spPr>
        <p:txBody>
          <a:bodyPr/>
          <a:lstStyle/>
          <a:p>
            <a:endParaRPr lang="en-GB"/>
          </a:p>
        </p:txBody>
      </p:sp>
      <p:sp>
        <p:nvSpPr>
          <p:cNvPr id="4" name="code bar"/>
          <p:cNvSpPr/>
          <p:nvPr/>
        </p:nvSpPr>
        <p:spPr>
          <a:xfrm>
            <a:off x="457200" y="1143000"/>
            <a:ext cx="54864" cy="1645920"/>
          </a:xfrm>
          <a:prstGeom prst="rect">
            <a:avLst/>
          </a:prstGeom>
          <a:solidFill>
            <a:srgbClr val="A9C4E8"/>
          </a:solidFill>
          <a:ln w="12700">
            <a:solidFill>
              <a:srgbClr val="5D79A0"/>
            </a:solidFill>
            <a:prstDash val="solid"/>
          </a:ln>
        </p:spPr>
        <p:txBody>
          <a:bodyPr/>
          <a:lstStyle/>
          <a:p>
            <a:endParaRPr lang="en-GB"/>
          </a:p>
        </p:txBody>
      </p:sp>
      <p:sp>
        <p:nvSpPr>
          <p:cNvPr id="5" name="code line 1"/>
          <p:cNvSpPr txBox="1"/>
          <p:nvPr/>
        </p:nvSpPr>
        <p:spPr>
          <a:xfrm>
            <a:off x="640080" y="128016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&gt;&gt;&gt; </a:t>
            </a:r>
            <a:r>
              <a:rPr lang="en-US" sz="1600" dirty="0">
                <a:solidFill>
                  <a:srgbClr val="E6ECF5"/>
                </a:solidFill>
                <a:latin typeface="Courier New" pitchFamily="34" charset="0"/>
                <a:ea typeface="Courier New" pitchFamily="34" charset="-122"/>
                <a:cs typeface="Courier New" pitchFamily="34" charset="-120"/>
              </a:rPr>
              <a:t>10218857 % 26</a:t>
            </a:r>
            <a:endParaRPr lang="en-US" sz="1600" dirty="0"/>
          </a:p>
        </p:txBody>
      </p:sp>
      <p:sp>
        <p:nvSpPr>
          <p:cNvPr id="6" name="@1 code line 2"/>
          <p:cNvSpPr txBox="1"/>
          <p:nvPr/>
        </p:nvSpPr>
        <p:spPr>
          <a:xfrm>
            <a:off x="640080" y="1554480"/>
            <a:ext cx="7955280" cy="274320"/>
          </a:xfrm>
          <a:prstGeom prst="rect">
            <a:avLst/>
          </a:prstGeom>
          <a:noFill/>
          <a:ln/>
        </p:spPr>
        <p:txBody>
          <a:bodyPr wrap="square" lIns="0" tIns="0" rIns="0" bIns="0" rtlCol="0" anchor="ctr"/>
          <a:lstStyle/>
          <a:p>
            <a:pPr marL="0" indent="0">
              <a:buNone/>
            </a:pPr>
            <a:r>
              <a:rPr lang="en-US" sz="1600" dirty="0">
                <a:solidFill>
                  <a:srgbClr val="B8E0B0"/>
                </a:solidFill>
                <a:latin typeface="Courier New" pitchFamily="34" charset="0"/>
                <a:ea typeface="Courier New" pitchFamily="34" charset="-122"/>
                <a:cs typeface="Courier New" pitchFamily="34" charset="-120"/>
              </a:rPr>
              <a:t>25</a:t>
            </a:r>
            <a:endParaRPr lang="en-US" sz="1600" dirty="0"/>
          </a:p>
        </p:txBody>
      </p:sp>
      <p:sp>
        <p:nvSpPr>
          <p:cNvPr id="7" name="code line 3"/>
          <p:cNvSpPr txBox="1"/>
          <p:nvPr/>
        </p:nvSpPr>
        <p:spPr>
          <a:xfrm>
            <a:off x="640080" y="182880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&gt;&gt;&gt; </a:t>
            </a:r>
            <a:r>
              <a:rPr lang="en-US" sz="1600" dirty="0">
                <a:solidFill>
                  <a:srgbClr val="E6ECF5"/>
                </a:solidFill>
                <a:latin typeface="Courier New" pitchFamily="34" charset="0"/>
                <a:ea typeface="Courier New" pitchFamily="34" charset="-122"/>
                <a:cs typeface="Courier New" pitchFamily="34" charset="-120"/>
              </a:rPr>
              <a:t>alphabet = "ABCDEFGHIJKLMNOPQRSTUVWXYZ"</a:t>
            </a:r>
            <a:endParaRPr lang="en-US" sz="1600" dirty="0"/>
          </a:p>
        </p:txBody>
      </p:sp>
      <p:sp>
        <p:nvSpPr>
          <p:cNvPr id="8" name="code line 4"/>
          <p:cNvSpPr txBox="1"/>
          <p:nvPr/>
        </p:nvSpPr>
        <p:spPr>
          <a:xfrm>
            <a:off x="640080" y="210312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&gt;&gt;&gt; </a:t>
            </a:r>
            <a:r>
              <a:rPr lang="en-US" sz="1600" dirty="0">
                <a:solidFill>
                  <a:srgbClr val="E6ECF5"/>
                </a:solidFill>
                <a:latin typeface="Courier New" pitchFamily="34" charset="0"/>
                <a:ea typeface="Courier New" pitchFamily="34" charset="-122"/>
                <a:cs typeface="Courier New" pitchFamily="34" charset="-120"/>
              </a:rPr>
              <a:t>alphabet[2]</a:t>
            </a:r>
            <a:endParaRPr lang="en-US" sz="1600" dirty="0"/>
          </a:p>
        </p:txBody>
      </p:sp>
      <p:sp>
        <p:nvSpPr>
          <p:cNvPr id="9" name="@2 code line 5"/>
          <p:cNvSpPr txBox="1"/>
          <p:nvPr/>
        </p:nvSpPr>
        <p:spPr>
          <a:xfrm>
            <a:off x="640080" y="2377440"/>
            <a:ext cx="7955280" cy="274320"/>
          </a:xfrm>
          <a:prstGeom prst="rect">
            <a:avLst/>
          </a:prstGeom>
          <a:noFill/>
          <a:ln/>
        </p:spPr>
        <p:txBody>
          <a:bodyPr wrap="square" lIns="0" tIns="0" rIns="0" bIns="0" rtlCol="0" anchor="ctr"/>
          <a:lstStyle/>
          <a:p>
            <a:pPr marL="0" indent="0">
              <a:buNone/>
            </a:pPr>
            <a:r>
              <a:rPr lang="en-US" sz="1600" dirty="0">
                <a:solidFill>
                  <a:srgbClr val="B8E0B0"/>
                </a:solidFill>
                <a:latin typeface="Courier New" pitchFamily="34" charset="0"/>
                <a:ea typeface="Courier New" pitchFamily="34" charset="-122"/>
                <a:cs typeface="Courier New" pitchFamily="34" charset="-120"/>
              </a:rPr>
              <a:t>'C'</a:t>
            </a:r>
            <a:endParaRPr lang="en-US" sz="1600" dirty="0"/>
          </a:p>
        </p:txBody>
      </p:sp>
      <p:sp>
        <p:nvSpPr>
          <p:cNvPr id="10" name="@3 Callout"/>
          <p:cNvSpPr/>
          <p:nvPr/>
        </p:nvSpPr>
        <p:spPr>
          <a:xfrm>
            <a:off x="457200" y="3383280"/>
            <a:ext cx="8229600" cy="640080"/>
          </a:xfrm>
          <a:prstGeom prst="roundRect">
            <a:avLst>
              <a:gd name="adj" fmla="val 14286"/>
            </a:avLst>
          </a:prstGeom>
          <a:solidFill>
            <a:srgbClr val="FFFFFF"/>
          </a:solidFill>
          <a:ln w="15875">
            <a:solidFill>
              <a:srgbClr val="002D6A"/>
            </a:solidFill>
            <a:prstDash val="solid"/>
          </a:ln>
        </p:spPr>
        <p:txBody>
          <a:bodyPr/>
          <a:lstStyle/>
          <a:p>
            <a:endParaRPr lang="en-GB"/>
          </a:p>
        </p:txBody>
      </p:sp>
      <p:sp>
        <p:nvSpPr>
          <p:cNvPr id="11" name="@3 addText"/>
          <p:cNvSpPr txBox="1"/>
          <p:nvPr/>
        </p:nvSpPr>
        <p:spPr>
          <a:xfrm>
            <a:off x="685800" y="3383280"/>
            <a:ext cx="7772400" cy="640080"/>
          </a:xfrm>
          <a:prstGeom prst="rect">
            <a:avLst/>
          </a:prstGeom>
          <a:noFill/>
          <a:ln/>
        </p:spPr>
        <p:txBody>
          <a:bodyPr wrap="square" lIns="0" tIns="0" rIns="0" bIns="0" rtlCol="0" anchor="ctr"/>
          <a:lstStyle/>
          <a:p>
            <a:pPr marL="0" indent="0">
              <a:buNone/>
            </a:pPr>
            <a:r>
              <a:rPr lang="en-US" sz="1200" b="1" kern="0" spc="200" dirty="0">
                <a:solidFill>
                  <a:srgbClr val="002D6A"/>
                </a:solidFill>
                <a:latin typeface="Arial" pitchFamily="34" charset="0"/>
                <a:ea typeface="Arial" pitchFamily="34" charset="-122"/>
                <a:cs typeface="Arial" pitchFamily="34" charset="-120"/>
              </a:rPr>
              <a:t>TIP  </a:t>
            </a:r>
            <a:r>
              <a:rPr lang="en-US" sz="1600" dirty="0">
                <a:solidFill>
                  <a:srgbClr val="22262E"/>
                </a:solidFill>
                <a:latin typeface="Arial" pitchFamily="34" charset="0"/>
                <a:ea typeface="Arial" pitchFamily="34" charset="-122"/>
                <a:cs typeface="Arial" pitchFamily="34" charset="-120"/>
              </a:rPr>
              <a:t>Our cow gave 25. Which letter is that?</a:t>
            </a:r>
            <a:endParaRPr lang="en-US" sz="1200" dirty="0"/>
          </a:p>
        </p:txBody>
      </p:sp>
      <p:sp>
        <p:nvSpPr>
          <p:cNvPr id="12" name="@4 code bg"/>
          <p:cNvSpPr/>
          <p:nvPr/>
        </p:nvSpPr>
        <p:spPr>
          <a:xfrm>
            <a:off x="457200" y="4069080"/>
            <a:ext cx="8229600" cy="822960"/>
          </a:xfrm>
          <a:prstGeom prst="rect">
            <a:avLst/>
          </a:prstGeom>
          <a:solidFill>
            <a:srgbClr val="0B2A57"/>
          </a:solidFill>
          <a:ln w="12700">
            <a:solidFill>
              <a:srgbClr val="0B2A57"/>
            </a:solidFill>
            <a:prstDash val="solid"/>
          </a:ln>
        </p:spPr>
        <p:txBody>
          <a:bodyPr/>
          <a:lstStyle/>
          <a:p>
            <a:endParaRPr lang="en-GB"/>
          </a:p>
        </p:txBody>
      </p:sp>
      <p:sp>
        <p:nvSpPr>
          <p:cNvPr id="13" name="@4 code bar"/>
          <p:cNvSpPr/>
          <p:nvPr/>
        </p:nvSpPr>
        <p:spPr>
          <a:xfrm>
            <a:off x="457200" y="4069080"/>
            <a:ext cx="54864" cy="822960"/>
          </a:xfrm>
          <a:prstGeom prst="rect">
            <a:avLst/>
          </a:prstGeom>
          <a:solidFill>
            <a:srgbClr val="A9C4E8"/>
          </a:solidFill>
          <a:ln w="12700">
            <a:solidFill>
              <a:srgbClr val="5D79A0"/>
            </a:solidFill>
            <a:prstDash val="solid"/>
          </a:ln>
        </p:spPr>
        <p:txBody>
          <a:bodyPr/>
          <a:lstStyle/>
          <a:p>
            <a:endParaRPr lang="en-GB"/>
          </a:p>
        </p:txBody>
      </p:sp>
      <p:sp>
        <p:nvSpPr>
          <p:cNvPr id="14" name="@4 code line 1"/>
          <p:cNvSpPr txBox="1"/>
          <p:nvPr/>
        </p:nvSpPr>
        <p:spPr>
          <a:xfrm>
            <a:off x="640080" y="420624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&gt;&gt;&gt; </a:t>
            </a:r>
            <a:r>
              <a:rPr lang="en-US" sz="1600" dirty="0">
                <a:solidFill>
                  <a:srgbClr val="E6ECF5"/>
                </a:solidFill>
                <a:latin typeface="Courier New" pitchFamily="34" charset="0"/>
                <a:ea typeface="Courier New" pitchFamily="34" charset="-122"/>
                <a:cs typeface="Courier New" pitchFamily="34" charset="-120"/>
              </a:rPr>
              <a:t>alphabet[25]</a:t>
            </a:r>
            <a:endParaRPr lang="en-US" sz="1600" dirty="0"/>
          </a:p>
        </p:txBody>
      </p:sp>
      <p:sp>
        <p:nvSpPr>
          <p:cNvPr id="15" name="@4 code line 2"/>
          <p:cNvSpPr txBox="1"/>
          <p:nvPr/>
        </p:nvSpPr>
        <p:spPr>
          <a:xfrm>
            <a:off x="640080" y="4480560"/>
            <a:ext cx="7955280" cy="274320"/>
          </a:xfrm>
          <a:prstGeom prst="rect">
            <a:avLst/>
          </a:prstGeom>
          <a:noFill/>
          <a:ln/>
        </p:spPr>
        <p:txBody>
          <a:bodyPr wrap="square" lIns="0" tIns="0" rIns="0" bIns="0" rtlCol="0" anchor="ctr"/>
          <a:lstStyle/>
          <a:p>
            <a:pPr marL="0" indent="0">
              <a:buNone/>
            </a:pPr>
            <a:r>
              <a:rPr lang="en-US" sz="1600" dirty="0">
                <a:solidFill>
                  <a:srgbClr val="B8E0B0"/>
                </a:solidFill>
                <a:latin typeface="Courier New" pitchFamily="34" charset="0"/>
                <a:ea typeface="Courier New" pitchFamily="34" charset="-122"/>
                <a:cs typeface="Courier New" pitchFamily="34" charset="-120"/>
              </a:rPr>
              <a:t>'Z'</a:t>
            </a:r>
            <a:endParaRPr lang="en-US" sz="1600" dirty="0"/>
          </a:p>
        </p:txBody>
      </p:sp>
      <p:sp>
        <p:nvSpPr>
          <p:cNvPr id="16"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44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2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2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200"/>
                                        <p:tgtEl>
                                          <p:spTgt spid="1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200"/>
                                        <p:tgtEl>
                                          <p:spTgt spid="11"/>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200"/>
                                        <p:tgtEl>
                                          <p:spTgt spid="12"/>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200"/>
                                        <p:tgtEl>
                                          <p:spTgt spid="1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200"/>
                                        <p:tgtEl>
                                          <p:spTgt spid="1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2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P spid="10" grpId="0" animBg="1"/>
      <p:bldP spid="11" grpId="0" animBg="1"/>
      <p:bldP spid="12" grpId="0" animBg="1"/>
      <p:bldP spid="13" grpId="0" animBg="1"/>
      <p:bldP spid="14" grpId="0" animBg="1"/>
      <p:bldP spid="15"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Be the Computer</a:t>
            </a:r>
            <a:endParaRPr lang="en-US" sz="3400" dirty="0"/>
          </a:p>
        </p:txBody>
      </p:sp>
      <p:sp>
        <p:nvSpPr>
          <p:cNvPr id="3" name="Text 1"/>
          <p:cNvSpPr txBox="1"/>
          <p:nvPr/>
        </p:nvSpPr>
        <p:spPr>
          <a:xfrm>
            <a:off x="548640" y="640080"/>
            <a:ext cx="4572000" cy="457200"/>
          </a:xfrm>
          <a:prstGeom prst="rect">
            <a:avLst/>
          </a:prstGeom>
          <a:noFill/>
          <a:ln/>
        </p:spPr>
        <p:txBody>
          <a:bodyPr wrap="square" lIns="0" tIns="0" rIns="0" bIns="0" rtlCol="0" anchor="ctr"/>
          <a:lstStyle/>
          <a:p>
            <a:pPr marL="0" indent="0">
              <a:buNone/>
            </a:pPr>
            <a:r>
              <a:rPr lang="en-US" sz="2200" b="1" kern="0" spc="400" dirty="0">
                <a:solidFill>
                  <a:srgbClr val="A9C4E8"/>
                </a:solidFill>
                <a:latin typeface="Arial" pitchFamily="34" charset="0"/>
                <a:ea typeface="Arial" pitchFamily="34" charset="-122"/>
                <a:cs typeface="Arial" pitchFamily="34" charset="-120"/>
              </a:rPr>
              <a:t>OPTIONAL: ON PAPER</a:t>
            </a:r>
            <a:endParaRPr lang="en-US" sz="2200" dirty="0"/>
          </a:p>
        </p:txBody>
      </p:sp>
      <p:sp>
        <p:nvSpPr>
          <p:cNvPr id="4" name="Text 2"/>
          <p:cNvSpPr txBox="1"/>
          <p:nvPr/>
        </p:nvSpPr>
        <p:spPr>
          <a:xfrm>
            <a:off x="548640" y="2743200"/>
            <a:ext cx="5852160" cy="914400"/>
          </a:xfrm>
          <a:prstGeom prst="rect">
            <a:avLst/>
          </a:prstGeom>
          <a:noFill/>
          <a:ln/>
        </p:spPr>
        <p:txBody>
          <a:bodyPr wrap="square" lIns="0" tIns="0" rIns="0" bIns="0" rtlCol="0" anchor="t"/>
          <a:lstStyle/>
          <a:p>
            <a:pPr marL="0" indent="0">
              <a:buNone/>
            </a:pPr>
            <a:r>
              <a:rPr lang="en-US" sz="1800" dirty="0">
                <a:solidFill>
                  <a:srgbClr val="C5D1E3"/>
                </a:solidFill>
                <a:latin typeface="Arial" pitchFamily="34" charset="0"/>
                <a:ea typeface="Arial" pitchFamily="34" charset="-122"/>
                <a:cs typeface="Arial" pitchFamily="34" charset="-120"/>
              </a:rPr>
              <a:t>Three tiny 3 x 3 images. Add the red numbers, take the total % 26, look up the letter. Watch how long it takes you.</a:t>
            </a:r>
            <a:endParaRPr lang="en-US" sz="1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Oh no.</a:t>
            </a:r>
            <a:endParaRPr lang="en-US" sz="3400" dirty="0"/>
          </a:p>
        </p:txBody>
      </p:sp>
      <p:sp>
        <p:nvSpPr>
          <p:cNvPr id="3" name="Text 1"/>
          <p:cNvSpPr txBox="1"/>
          <p:nvPr/>
        </p:nvSpPr>
        <p:spPr>
          <a:xfrm>
            <a:off x="548640" y="2468880"/>
            <a:ext cx="7315200" cy="457200"/>
          </a:xfrm>
          <a:prstGeom prst="rect">
            <a:avLst/>
          </a:prstGeom>
          <a:noFill/>
          <a:ln/>
        </p:spPr>
        <p:txBody>
          <a:bodyPr wrap="square" lIns="0" tIns="0" rIns="0" bIns="0" rtlCol="0" anchor="ctr"/>
          <a:lstStyle/>
          <a:p>
            <a:pPr marL="0" indent="0">
              <a:buNone/>
            </a:pPr>
            <a:r>
              <a:rPr lang="en-US" sz="2000" dirty="0">
                <a:solidFill>
                  <a:srgbClr val="C5D1E3"/>
                </a:solidFill>
                <a:latin typeface="Arial" pitchFamily="34" charset="0"/>
                <a:ea typeface="Arial" pitchFamily="34" charset="-122"/>
                <a:cs typeface="Arial" pitchFamily="34" charset="-120"/>
              </a:rPr>
              <a:t>How long did a tiny 3 x 3 image take you?</a:t>
            </a:r>
            <a:endParaRPr lang="en-US" sz="2000" dirty="0"/>
          </a:p>
        </p:txBody>
      </p:sp>
      <p:sp>
        <p:nvSpPr>
          <p:cNvPr id="4" name="@1 Card"/>
          <p:cNvSpPr/>
          <p:nvPr/>
        </p:nvSpPr>
        <p:spPr>
          <a:xfrm>
            <a:off x="548640" y="3108960"/>
            <a:ext cx="5029200" cy="384048"/>
          </a:xfrm>
          <a:prstGeom prst="roundRect">
            <a:avLst>
              <a:gd name="adj" fmla="val 28571"/>
            </a:avLst>
          </a:prstGeom>
          <a:solidFill>
            <a:srgbClr val="002D6A"/>
          </a:solidFill>
          <a:ln w="9525">
            <a:solidFill>
              <a:srgbClr val="5D79A0"/>
            </a:solidFill>
            <a:prstDash val="solid"/>
          </a:ln>
        </p:spPr>
        <p:txBody>
          <a:bodyPr/>
          <a:lstStyle/>
          <a:p>
            <a:endParaRPr lang="en-GB"/>
          </a:p>
        </p:txBody>
      </p:sp>
      <p:sp>
        <p:nvSpPr>
          <p:cNvPr id="5" name="@1 addText"/>
          <p:cNvSpPr txBox="1"/>
          <p:nvPr/>
        </p:nvSpPr>
        <p:spPr>
          <a:xfrm>
            <a:off x="731520" y="3108960"/>
            <a:ext cx="4754880" cy="384048"/>
          </a:xfrm>
          <a:prstGeom prst="rect">
            <a:avLst/>
          </a:prstGeom>
          <a:noFill/>
          <a:ln/>
        </p:spPr>
        <p:txBody>
          <a:bodyPr wrap="square" lIns="0" tIns="0" rIns="0" bIns="0" rtlCol="0" anchor="ctr"/>
          <a:lstStyle/>
          <a:p>
            <a:pPr marL="0" indent="0">
              <a:buNone/>
            </a:pPr>
            <a:r>
              <a:rPr lang="en-US" sz="1600" dirty="0">
                <a:solidFill>
                  <a:srgbClr val="FFFFFF"/>
                </a:solidFill>
                <a:latin typeface="Courier New" pitchFamily="34" charset="0"/>
                <a:ea typeface="Courier New" pitchFamily="34" charset="-122"/>
                <a:cs typeface="Courier New" pitchFamily="34" charset="-120"/>
              </a:rPr>
              <a:t>3 x 3: 9 red numbers</a:t>
            </a:r>
            <a:endParaRPr lang="en-US" sz="1600" dirty="0"/>
          </a:p>
        </p:txBody>
      </p:sp>
      <p:sp>
        <p:nvSpPr>
          <p:cNvPr id="6" name="@2 Card"/>
          <p:cNvSpPr/>
          <p:nvPr/>
        </p:nvSpPr>
        <p:spPr>
          <a:xfrm>
            <a:off x="548640" y="3566160"/>
            <a:ext cx="5029200" cy="384048"/>
          </a:xfrm>
          <a:prstGeom prst="roundRect">
            <a:avLst>
              <a:gd name="adj" fmla="val 28571"/>
            </a:avLst>
          </a:prstGeom>
          <a:solidFill>
            <a:srgbClr val="002D6A"/>
          </a:solidFill>
          <a:ln w="9525">
            <a:solidFill>
              <a:srgbClr val="5D79A0"/>
            </a:solidFill>
            <a:prstDash val="solid"/>
          </a:ln>
        </p:spPr>
        <p:txBody>
          <a:bodyPr/>
          <a:lstStyle/>
          <a:p>
            <a:endParaRPr lang="en-GB"/>
          </a:p>
        </p:txBody>
      </p:sp>
      <p:sp>
        <p:nvSpPr>
          <p:cNvPr id="7" name="@2 addText"/>
          <p:cNvSpPr txBox="1"/>
          <p:nvPr/>
        </p:nvSpPr>
        <p:spPr>
          <a:xfrm>
            <a:off x="731520" y="3566160"/>
            <a:ext cx="4754880" cy="384048"/>
          </a:xfrm>
          <a:prstGeom prst="rect">
            <a:avLst/>
          </a:prstGeom>
          <a:noFill/>
          <a:ln/>
        </p:spPr>
        <p:txBody>
          <a:bodyPr wrap="square" lIns="0" tIns="0" rIns="0" bIns="0" rtlCol="0" anchor="ctr"/>
          <a:lstStyle/>
          <a:p>
            <a:pPr marL="0" indent="0">
              <a:buNone/>
            </a:pPr>
            <a:r>
              <a:rPr lang="en-US" sz="1600" dirty="0">
                <a:solidFill>
                  <a:srgbClr val="FFFFFF"/>
                </a:solidFill>
                <a:latin typeface="Courier New" pitchFamily="34" charset="0"/>
                <a:ea typeface="Courier New" pitchFamily="34" charset="-122"/>
                <a:cs typeface="Courier New" pitchFamily="34" charset="-120"/>
              </a:rPr>
              <a:t>puzzle photo: 640 x 640 = 409,600</a:t>
            </a:r>
            <a:endParaRPr lang="en-US" sz="1600" dirty="0"/>
          </a:p>
        </p:txBody>
      </p:sp>
      <p:sp>
        <p:nvSpPr>
          <p:cNvPr id="8" name="@3 Card"/>
          <p:cNvSpPr/>
          <p:nvPr/>
        </p:nvSpPr>
        <p:spPr>
          <a:xfrm>
            <a:off x="548640" y="4023360"/>
            <a:ext cx="5029200" cy="384048"/>
          </a:xfrm>
          <a:prstGeom prst="roundRect">
            <a:avLst>
              <a:gd name="adj" fmla="val 28571"/>
            </a:avLst>
          </a:prstGeom>
          <a:solidFill>
            <a:srgbClr val="002D6A"/>
          </a:solidFill>
          <a:ln w="9525">
            <a:solidFill>
              <a:srgbClr val="5D79A0"/>
            </a:solidFill>
            <a:prstDash val="solid"/>
          </a:ln>
        </p:spPr>
        <p:txBody>
          <a:bodyPr/>
          <a:lstStyle/>
          <a:p>
            <a:endParaRPr lang="en-GB"/>
          </a:p>
        </p:txBody>
      </p:sp>
      <p:sp>
        <p:nvSpPr>
          <p:cNvPr id="9" name="@3 addText"/>
          <p:cNvSpPr txBox="1"/>
          <p:nvPr/>
        </p:nvSpPr>
        <p:spPr>
          <a:xfrm>
            <a:off x="731520" y="4023360"/>
            <a:ext cx="4754880" cy="384048"/>
          </a:xfrm>
          <a:prstGeom prst="rect">
            <a:avLst/>
          </a:prstGeom>
          <a:noFill/>
          <a:ln/>
        </p:spPr>
        <p:txBody>
          <a:bodyPr wrap="square" lIns="0" tIns="0" rIns="0" bIns="0" rtlCol="0" anchor="ctr"/>
          <a:lstStyle/>
          <a:p>
            <a:pPr marL="0" indent="0">
              <a:buNone/>
            </a:pPr>
            <a:r>
              <a:rPr lang="en-US" sz="1600" dirty="0">
                <a:solidFill>
                  <a:srgbClr val="FFFFFF"/>
                </a:solidFill>
                <a:latin typeface="Courier New" pitchFamily="34" charset="0"/>
                <a:ea typeface="Courier New" pitchFamily="34" charset="-122"/>
                <a:cs typeface="Courier New" pitchFamily="34" charset="-120"/>
              </a:rPr>
              <a:t>x 37 photos = 15,155,200</a:t>
            </a:r>
            <a:endParaRPr lang="en-US" sz="1600" dirty="0"/>
          </a:p>
        </p:txBody>
      </p:sp>
      <p:sp>
        <p:nvSpPr>
          <p:cNvPr id="10" name="Timer pill"/>
          <p:cNvSpPr/>
          <p:nvPr/>
        </p:nvSpPr>
        <p:spPr>
          <a:xfrm>
            <a:off x="6035040" y="3200400"/>
            <a:ext cx="2194560" cy="640080"/>
          </a:xfrm>
          <a:prstGeom prst="roundRect">
            <a:avLst>
              <a:gd name="adj" fmla="val 50000"/>
            </a:avLst>
          </a:prstGeom>
          <a:solidFill>
            <a:srgbClr val="A9C4E8"/>
          </a:solidFill>
          <a:ln w="12700">
            <a:solidFill>
              <a:srgbClr val="A9C4E8"/>
            </a:solidFill>
            <a:prstDash val="solid"/>
          </a:ln>
        </p:spPr>
        <p:txBody>
          <a:bodyPr/>
          <a:lstStyle/>
          <a:p>
            <a:endParaRPr lang="en-GB"/>
          </a:p>
        </p:txBody>
      </p:sp>
      <p:pic>
        <p:nvPicPr>
          <p:cNvPr id="11" name="Image 0" descr="clock"/>
          <p:cNvPicPr>
            <a:picLocks noChangeAspect="1"/>
          </p:cNvPicPr>
          <p:nvPr/>
        </p:nvPicPr>
        <p:blipFill>
          <a:blip r:embed="rId3"/>
          <a:stretch>
            <a:fillRect/>
          </a:stretch>
        </p:blipFill>
        <p:spPr>
          <a:xfrm>
            <a:off x="6236208" y="3355848"/>
            <a:ext cx="329184" cy="329184"/>
          </a:xfrm>
          <a:prstGeom prst="rect">
            <a:avLst/>
          </a:prstGeom>
        </p:spPr>
      </p:pic>
      <p:sp>
        <p:nvSpPr>
          <p:cNvPr id="12" name="Text 9"/>
          <p:cNvSpPr txBox="1"/>
          <p:nvPr/>
        </p:nvSpPr>
        <p:spPr>
          <a:xfrm>
            <a:off x="6656832" y="3200400"/>
            <a:ext cx="1463040" cy="640080"/>
          </a:xfrm>
          <a:prstGeom prst="rect">
            <a:avLst/>
          </a:prstGeom>
          <a:noFill/>
          <a:ln/>
        </p:spPr>
        <p:txBody>
          <a:bodyPr wrap="square" lIns="0" tIns="0" rIns="0" bIns="0" rtlCol="0" anchor="ctr"/>
          <a:lstStyle/>
          <a:p>
            <a:pPr marL="0" indent="0">
              <a:buNone/>
            </a:pPr>
            <a:r>
              <a:rPr lang="en-US" sz="2000" b="1" dirty="0">
                <a:solidFill>
                  <a:srgbClr val="001B40"/>
                </a:solidFill>
                <a:latin typeface="Arial" pitchFamily="34" charset="0"/>
                <a:ea typeface="Arial" pitchFamily="34" charset="-122"/>
                <a:cs typeface="Arial" pitchFamily="34" charset="-120"/>
              </a:rPr>
              <a:t>2 min talk</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2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2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20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2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200"/>
                                        <p:tgtEl>
                                          <p:spTgt spid="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2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Careful: Two Different Photos</a:t>
            </a:r>
            <a:endParaRPr lang="en-US" sz="3000" dirty="0"/>
          </a:p>
        </p:txBody>
      </p:sp>
      <p:sp>
        <p:nvSpPr>
          <p:cNvPr id="3" name="@1 Card"/>
          <p:cNvSpPr/>
          <p:nvPr/>
        </p:nvSpPr>
        <p:spPr>
          <a:xfrm>
            <a:off x="457200" y="1371600"/>
            <a:ext cx="4023360" cy="1463040"/>
          </a:xfrm>
          <a:prstGeom prst="roundRect">
            <a:avLst>
              <a:gd name="adj" fmla="val 7500"/>
            </a:avLst>
          </a:prstGeom>
          <a:solidFill>
            <a:srgbClr val="FFFFFF"/>
          </a:solidFill>
          <a:ln w="9525">
            <a:solidFill>
              <a:srgbClr val="C5D1E3"/>
            </a:solidFill>
            <a:prstDash val="solid"/>
          </a:ln>
        </p:spPr>
        <p:txBody>
          <a:bodyPr/>
          <a:lstStyle/>
          <a:p>
            <a:endParaRPr lang="en-GB"/>
          </a:p>
        </p:txBody>
      </p:sp>
      <p:sp>
        <p:nvSpPr>
          <p:cNvPr id="4" name="@1 addText"/>
          <p:cNvSpPr txBox="1"/>
          <p:nvPr/>
        </p:nvSpPr>
        <p:spPr>
          <a:xfrm>
            <a:off x="457200" y="1463040"/>
            <a:ext cx="4023360" cy="640080"/>
          </a:xfrm>
          <a:prstGeom prst="rect">
            <a:avLst/>
          </a:prstGeom>
          <a:noFill/>
          <a:ln/>
        </p:spPr>
        <p:txBody>
          <a:bodyPr wrap="square" lIns="0" tIns="0" rIns="0" bIns="0" rtlCol="0" anchor="ctr"/>
          <a:lstStyle/>
          <a:p>
            <a:pPr marL="0" indent="0" algn="ctr">
              <a:buNone/>
            </a:pPr>
            <a:r>
              <a:rPr lang="en-US" sz="2200" b="1" dirty="0">
                <a:solidFill>
                  <a:srgbClr val="002D6A"/>
                </a:solidFill>
                <a:latin typeface="Courier New" pitchFamily="34" charset="0"/>
                <a:ea typeface="Courier New" pitchFamily="34" charset="-122"/>
                <a:cs typeface="Courier New" pitchFamily="34" charset="-120"/>
              </a:rPr>
              <a:t>cow-demo.jpg</a:t>
            </a:r>
            <a:endParaRPr lang="en-US" sz="2200" dirty="0"/>
          </a:p>
        </p:txBody>
      </p:sp>
      <p:sp>
        <p:nvSpPr>
          <p:cNvPr id="5" name="@1 addText"/>
          <p:cNvSpPr txBox="1"/>
          <p:nvPr/>
        </p:nvSpPr>
        <p:spPr>
          <a:xfrm>
            <a:off x="457200" y="2103120"/>
            <a:ext cx="4023360" cy="548640"/>
          </a:xfrm>
          <a:prstGeom prst="rect">
            <a:avLst/>
          </a:prstGeom>
          <a:noFill/>
          <a:ln/>
        </p:spPr>
        <p:txBody>
          <a:bodyPr wrap="square" lIns="0" tIns="0" rIns="0" bIns="0" rtlCol="0" anchor="ctr"/>
          <a:lstStyle/>
          <a:p>
            <a:pPr marL="0" indent="0" algn="ctr">
              <a:buNone/>
            </a:pPr>
            <a:r>
              <a:rPr lang="en-US" sz="1600" dirty="0">
                <a:solidFill>
                  <a:srgbClr val="22262E"/>
                </a:solidFill>
                <a:latin typeface="Arial" pitchFamily="34" charset="0"/>
                <a:ea typeface="Arial" pitchFamily="34" charset="-122"/>
                <a:cs typeface="Arial" pitchFamily="34" charset="-120"/>
              </a:rPr>
              <a:t>320 x 320, our practice photo</a:t>
            </a:r>
            <a:endParaRPr lang="en-US" sz="1600" dirty="0"/>
          </a:p>
        </p:txBody>
      </p:sp>
      <p:sp>
        <p:nvSpPr>
          <p:cNvPr id="6" name="@2 Card"/>
          <p:cNvSpPr/>
          <p:nvPr/>
        </p:nvSpPr>
        <p:spPr>
          <a:xfrm>
            <a:off x="4663440" y="1371600"/>
            <a:ext cx="4023360" cy="1463040"/>
          </a:xfrm>
          <a:prstGeom prst="roundRect">
            <a:avLst>
              <a:gd name="adj" fmla="val 7500"/>
            </a:avLst>
          </a:prstGeom>
          <a:solidFill>
            <a:srgbClr val="FFFFFF"/>
          </a:solidFill>
          <a:ln w="9525">
            <a:solidFill>
              <a:srgbClr val="C5D1E3"/>
            </a:solidFill>
            <a:prstDash val="solid"/>
          </a:ln>
        </p:spPr>
        <p:txBody>
          <a:bodyPr/>
          <a:lstStyle/>
          <a:p>
            <a:endParaRPr lang="en-GB"/>
          </a:p>
        </p:txBody>
      </p:sp>
      <p:sp>
        <p:nvSpPr>
          <p:cNvPr id="7" name="@2 addText"/>
          <p:cNvSpPr txBox="1"/>
          <p:nvPr/>
        </p:nvSpPr>
        <p:spPr>
          <a:xfrm>
            <a:off x="4663440" y="1463040"/>
            <a:ext cx="4023360" cy="640080"/>
          </a:xfrm>
          <a:prstGeom prst="rect">
            <a:avLst/>
          </a:prstGeom>
          <a:noFill/>
          <a:ln/>
        </p:spPr>
        <p:txBody>
          <a:bodyPr wrap="square" lIns="0" tIns="0" rIns="0" bIns="0" rtlCol="0" anchor="ctr"/>
          <a:lstStyle/>
          <a:p>
            <a:pPr marL="0" indent="0" algn="ctr">
              <a:buNone/>
            </a:pPr>
            <a:r>
              <a:rPr lang="en-US" sz="2200" b="1" dirty="0">
                <a:solidFill>
                  <a:srgbClr val="002D6A"/>
                </a:solidFill>
                <a:latin typeface="Courier New" pitchFamily="34" charset="0"/>
                <a:ea typeface="Courier New" pitchFamily="34" charset="-122"/>
                <a:cs typeface="Courier New" pitchFamily="34" charset="-120"/>
              </a:rPr>
              <a:t>cow_message/</a:t>
            </a:r>
            <a:endParaRPr lang="en-US" sz="2200" dirty="0"/>
          </a:p>
        </p:txBody>
      </p:sp>
      <p:sp>
        <p:nvSpPr>
          <p:cNvPr id="8" name="@2 addText"/>
          <p:cNvSpPr txBox="1"/>
          <p:nvPr/>
        </p:nvSpPr>
        <p:spPr>
          <a:xfrm>
            <a:off x="4663440" y="2103120"/>
            <a:ext cx="4023360" cy="548640"/>
          </a:xfrm>
          <a:prstGeom prst="rect">
            <a:avLst/>
          </a:prstGeom>
          <a:noFill/>
          <a:ln/>
        </p:spPr>
        <p:txBody>
          <a:bodyPr wrap="square" lIns="0" tIns="0" rIns="0" bIns="0" rtlCol="0" anchor="ctr"/>
          <a:lstStyle/>
          <a:p>
            <a:pPr marL="0" indent="0" algn="ctr">
              <a:buNone/>
            </a:pPr>
            <a:r>
              <a:rPr lang="en-US" sz="1600" dirty="0">
                <a:solidFill>
                  <a:srgbClr val="22262E"/>
                </a:solidFill>
                <a:latin typeface="Arial" pitchFamily="34" charset="0"/>
                <a:ea typeface="Arial" pitchFamily="34" charset="-122"/>
                <a:cs typeface="Arial" pitchFamily="34" charset="-120"/>
              </a:rPr>
              <a:t>37 photos, 640 x 640 each</a:t>
            </a:r>
            <a:endParaRPr lang="en-US" sz="1600" dirty="0"/>
          </a:p>
        </p:txBody>
      </p:sp>
      <p:sp>
        <p:nvSpPr>
          <p:cNvPr id="9" name="@3 addText"/>
          <p:cNvSpPr txBox="1"/>
          <p:nvPr/>
        </p:nvSpPr>
        <p:spPr>
          <a:xfrm>
            <a:off x="457200" y="329184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same code works on both. Practise on the demo, then solve the puzzle.</a:t>
            </a:r>
            <a:endParaRPr lang="en-US" sz="1400" dirty="0"/>
          </a:p>
        </p:txBody>
      </p:sp>
      <p:sp>
        <p:nvSpPr>
          <p:cNvPr id="10"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47</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2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200"/>
                                        <p:tgtEl>
                                          <p:spTgt spid="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200"/>
                                        <p:tgtEl>
                                          <p:spTgt spid="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2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2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Let the Computer Do It</a:t>
            </a:r>
            <a:endParaRPr lang="en-US" sz="3000" dirty="0"/>
          </a:p>
        </p:txBody>
      </p:sp>
      <p:sp>
        <p:nvSpPr>
          <p:cNvPr id="3" name="3 MIN TALK pill"/>
          <p:cNvSpPr/>
          <p:nvPr/>
        </p:nvSpPr>
        <p:spPr>
          <a:xfrm>
            <a:off x="7132320" y="411480"/>
            <a:ext cx="15544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132320" y="411480"/>
            <a:ext cx="15544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3 MIN TALK</a:t>
            </a:r>
            <a:endParaRPr lang="en-US" sz="1200" dirty="0"/>
          </a:p>
        </p:txBody>
      </p:sp>
      <p:sp>
        <p:nvSpPr>
          <p:cNvPr id="5" name="Text 3"/>
          <p:cNvSpPr txBox="1"/>
          <p:nvPr/>
        </p:nvSpPr>
        <p:spPr>
          <a:xfrm>
            <a:off x="457200" y="1097280"/>
            <a:ext cx="8229600" cy="457200"/>
          </a:xfrm>
          <a:prstGeom prst="rect">
            <a:avLst/>
          </a:prstGeom>
          <a:noFill/>
          <a:ln/>
        </p:spPr>
        <p:txBody>
          <a:bodyPr wrap="square" lIns="0" tIns="0" rIns="0" bIns="0" rtlCol="0" anchor="ctr"/>
          <a:lstStyle/>
          <a:p>
            <a:pPr marL="0" indent="0">
              <a:buNone/>
            </a:pPr>
            <a:r>
              <a:rPr lang="en-US" sz="2000" b="1" dirty="0">
                <a:solidFill>
                  <a:srgbClr val="002D6A"/>
                </a:solidFill>
                <a:latin typeface="Arial" pitchFamily="34" charset="0"/>
                <a:ea typeface="Arial" pitchFamily="34" charset="-122"/>
                <a:cs typeface="Arial" pitchFamily="34" charset="-120"/>
              </a:rPr>
              <a:t>You already know how: functions and loops.</a:t>
            </a:r>
            <a:endParaRPr lang="en-US" sz="2000" dirty="0"/>
          </a:p>
        </p:txBody>
      </p:sp>
      <p:sp>
        <p:nvSpPr>
          <p:cNvPr id="6" name="@1 Card"/>
          <p:cNvSpPr/>
          <p:nvPr/>
        </p:nvSpPr>
        <p:spPr>
          <a:xfrm>
            <a:off x="457200" y="1737360"/>
            <a:ext cx="8229600" cy="658368"/>
          </a:xfrm>
          <a:prstGeom prst="roundRect">
            <a:avLst>
              <a:gd name="adj" fmla="val 16667"/>
            </a:avLst>
          </a:prstGeom>
          <a:solidFill>
            <a:srgbClr val="FFFFFF"/>
          </a:solidFill>
          <a:ln w="9525">
            <a:solidFill>
              <a:srgbClr val="C5D1E3"/>
            </a:solidFill>
            <a:prstDash val="solid"/>
          </a:ln>
        </p:spPr>
        <p:txBody>
          <a:bodyPr/>
          <a:lstStyle/>
          <a:p>
            <a:endParaRPr lang="en-GB"/>
          </a:p>
        </p:txBody>
      </p:sp>
      <p:sp>
        <p:nvSpPr>
          <p:cNvPr id="7" name="@1 addText"/>
          <p:cNvSpPr txBox="1"/>
          <p:nvPr/>
        </p:nvSpPr>
        <p:spPr>
          <a:xfrm>
            <a:off x="731520" y="1737360"/>
            <a:ext cx="4572000" cy="658368"/>
          </a:xfrm>
          <a:prstGeom prst="rect">
            <a:avLst/>
          </a:prstGeom>
          <a:noFill/>
          <a:ln/>
        </p:spPr>
        <p:txBody>
          <a:bodyPr wrap="square" lIns="0" tIns="0" rIns="0" bIns="0" rtlCol="0" anchor="ctr"/>
          <a:lstStyle/>
          <a:p>
            <a:pPr marL="0" indent="0">
              <a:buNone/>
            </a:pPr>
            <a:r>
              <a:rPr lang="en-US" sz="1800" b="1" dirty="0">
                <a:solidFill>
                  <a:srgbClr val="002D6A"/>
                </a:solidFill>
                <a:latin typeface="Courier New" pitchFamily="34" charset="0"/>
                <a:ea typeface="Courier New" pitchFamily="34" charset="-122"/>
                <a:cs typeface="Courier New" pitchFamily="34" charset="-120"/>
              </a:rPr>
              <a:t>STEP 2: total_red(path)</a:t>
            </a:r>
            <a:endParaRPr lang="en-US" sz="1800" dirty="0"/>
          </a:p>
        </p:txBody>
      </p:sp>
      <p:sp>
        <p:nvSpPr>
          <p:cNvPr id="8" name="@1 addText"/>
          <p:cNvSpPr txBox="1"/>
          <p:nvPr/>
        </p:nvSpPr>
        <p:spPr>
          <a:xfrm>
            <a:off x="5486400" y="1737360"/>
            <a:ext cx="3017520" cy="658368"/>
          </a:xfrm>
          <a:prstGeom prst="rect">
            <a:avLst/>
          </a:prstGeom>
          <a:noFill/>
          <a:ln/>
        </p:spPr>
        <p:txBody>
          <a:bodyPr wrap="square" lIns="0" tIns="0" rIns="0" bIns="0" rtlCol="0" anchor="ctr"/>
          <a:lstStyle/>
          <a:p>
            <a:pPr marL="0" indent="0">
              <a:buNone/>
            </a:pPr>
            <a:r>
              <a:rPr lang="en-US" sz="1600" dirty="0">
                <a:solidFill>
                  <a:srgbClr val="22262E"/>
                </a:solidFill>
                <a:latin typeface="Arial" pitchFamily="34" charset="0"/>
                <a:ea typeface="Arial" pitchFamily="34" charset="-122"/>
                <a:cs typeface="Arial" pitchFamily="34" charset="-120"/>
              </a:rPr>
              <a:t>gives one number</a:t>
            </a:r>
            <a:endParaRPr lang="en-US" sz="1600" dirty="0"/>
          </a:p>
        </p:txBody>
      </p:sp>
      <p:sp>
        <p:nvSpPr>
          <p:cNvPr id="9" name="@2 Card"/>
          <p:cNvSpPr/>
          <p:nvPr/>
        </p:nvSpPr>
        <p:spPr>
          <a:xfrm>
            <a:off x="457200" y="2514600"/>
            <a:ext cx="8229600" cy="658368"/>
          </a:xfrm>
          <a:prstGeom prst="roundRect">
            <a:avLst>
              <a:gd name="adj" fmla="val 16667"/>
            </a:avLst>
          </a:prstGeom>
          <a:solidFill>
            <a:srgbClr val="FFFFFF"/>
          </a:solidFill>
          <a:ln w="9525">
            <a:solidFill>
              <a:srgbClr val="C5D1E3"/>
            </a:solidFill>
            <a:prstDash val="solid"/>
          </a:ln>
        </p:spPr>
        <p:txBody>
          <a:bodyPr/>
          <a:lstStyle/>
          <a:p>
            <a:endParaRPr lang="en-GB"/>
          </a:p>
        </p:txBody>
      </p:sp>
      <p:sp>
        <p:nvSpPr>
          <p:cNvPr id="10" name="@2 addText"/>
          <p:cNvSpPr txBox="1"/>
          <p:nvPr/>
        </p:nvSpPr>
        <p:spPr>
          <a:xfrm>
            <a:off x="731520" y="2514600"/>
            <a:ext cx="4572000" cy="658368"/>
          </a:xfrm>
          <a:prstGeom prst="rect">
            <a:avLst/>
          </a:prstGeom>
          <a:noFill/>
          <a:ln/>
        </p:spPr>
        <p:txBody>
          <a:bodyPr wrap="square" lIns="0" tIns="0" rIns="0" bIns="0" rtlCol="0" anchor="ctr"/>
          <a:lstStyle/>
          <a:p>
            <a:pPr marL="0" indent="0">
              <a:buNone/>
            </a:pPr>
            <a:r>
              <a:rPr lang="en-US" sz="1800" b="1" dirty="0">
                <a:solidFill>
                  <a:srgbClr val="002D6A"/>
                </a:solidFill>
                <a:latin typeface="Courier New" pitchFamily="34" charset="0"/>
                <a:ea typeface="Courier New" pitchFamily="34" charset="-122"/>
                <a:cs typeface="Courier New" pitchFamily="34" charset="-120"/>
              </a:rPr>
              <a:t>STEP 3: letter_for(path)</a:t>
            </a:r>
            <a:endParaRPr lang="en-US" sz="1800" dirty="0"/>
          </a:p>
        </p:txBody>
      </p:sp>
      <p:sp>
        <p:nvSpPr>
          <p:cNvPr id="11" name="@2 addText"/>
          <p:cNvSpPr txBox="1"/>
          <p:nvPr/>
        </p:nvSpPr>
        <p:spPr>
          <a:xfrm>
            <a:off x="5486400" y="2514600"/>
            <a:ext cx="3017520" cy="658368"/>
          </a:xfrm>
          <a:prstGeom prst="rect">
            <a:avLst/>
          </a:prstGeom>
          <a:noFill/>
          <a:ln/>
        </p:spPr>
        <p:txBody>
          <a:bodyPr wrap="square" lIns="0" tIns="0" rIns="0" bIns="0" rtlCol="0" anchor="ctr"/>
          <a:lstStyle/>
          <a:p>
            <a:pPr marL="0" indent="0">
              <a:buNone/>
            </a:pPr>
            <a:r>
              <a:rPr lang="en-US" sz="1600" dirty="0">
                <a:solidFill>
                  <a:srgbClr val="22262E"/>
                </a:solidFill>
                <a:latin typeface="Arial" pitchFamily="34" charset="0"/>
                <a:ea typeface="Arial" pitchFamily="34" charset="-122"/>
                <a:cs typeface="Arial" pitchFamily="34" charset="-120"/>
              </a:rPr>
              <a:t>gives one letter</a:t>
            </a:r>
            <a:endParaRPr lang="en-US" sz="1600" dirty="0"/>
          </a:p>
        </p:txBody>
      </p:sp>
      <p:sp>
        <p:nvSpPr>
          <p:cNvPr id="12" name="@3 Card"/>
          <p:cNvSpPr/>
          <p:nvPr/>
        </p:nvSpPr>
        <p:spPr>
          <a:xfrm>
            <a:off x="457200" y="3291840"/>
            <a:ext cx="8229600" cy="658368"/>
          </a:xfrm>
          <a:prstGeom prst="roundRect">
            <a:avLst>
              <a:gd name="adj" fmla="val 16667"/>
            </a:avLst>
          </a:prstGeom>
          <a:solidFill>
            <a:srgbClr val="FFFFFF"/>
          </a:solidFill>
          <a:ln w="9525">
            <a:solidFill>
              <a:srgbClr val="C5D1E3"/>
            </a:solidFill>
            <a:prstDash val="solid"/>
          </a:ln>
        </p:spPr>
        <p:txBody>
          <a:bodyPr/>
          <a:lstStyle/>
          <a:p>
            <a:endParaRPr lang="en-GB"/>
          </a:p>
        </p:txBody>
      </p:sp>
      <p:sp>
        <p:nvSpPr>
          <p:cNvPr id="13" name="@3 addText"/>
          <p:cNvSpPr txBox="1"/>
          <p:nvPr/>
        </p:nvSpPr>
        <p:spPr>
          <a:xfrm>
            <a:off x="731520" y="3291840"/>
            <a:ext cx="4572000" cy="658368"/>
          </a:xfrm>
          <a:prstGeom prst="rect">
            <a:avLst/>
          </a:prstGeom>
          <a:noFill/>
          <a:ln/>
        </p:spPr>
        <p:txBody>
          <a:bodyPr wrap="square" lIns="0" tIns="0" rIns="0" bIns="0" rtlCol="0" anchor="ctr"/>
          <a:lstStyle/>
          <a:p>
            <a:pPr marL="0" indent="0">
              <a:buNone/>
            </a:pPr>
            <a:r>
              <a:rPr lang="en-US" sz="1800" b="1" dirty="0">
                <a:solidFill>
                  <a:srgbClr val="002D6A"/>
                </a:solidFill>
                <a:latin typeface="Courier New" pitchFamily="34" charset="0"/>
                <a:ea typeface="Courier New" pitchFamily="34" charset="-122"/>
                <a:cs typeface="Courier New" pitchFamily="34" charset="-120"/>
              </a:rPr>
              <a:t>STEP 4: decode_message()</a:t>
            </a:r>
            <a:endParaRPr lang="en-US" sz="1800" dirty="0"/>
          </a:p>
        </p:txBody>
      </p:sp>
      <p:sp>
        <p:nvSpPr>
          <p:cNvPr id="14" name="@3 addText"/>
          <p:cNvSpPr txBox="1"/>
          <p:nvPr/>
        </p:nvSpPr>
        <p:spPr>
          <a:xfrm>
            <a:off x="5486400" y="3291840"/>
            <a:ext cx="3017520" cy="658368"/>
          </a:xfrm>
          <a:prstGeom prst="rect">
            <a:avLst/>
          </a:prstGeom>
          <a:noFill/>
          <a:ln/>
        </p:spPr>
        <p:txBody>
          <a:bodyPr wrap="square" lIns="0" tIns="0" rIns="0" bIns="0" rtlCol="0" anchor="ctr"/>
          <a:lstStyle/>
          <a:p>
            <a:pPr marL="0" indent="0">
              <a:buNone/>
            </a:pPr>
            <a:r>
              <a:rPr lang="en-US" sz="1600" dirty="0">
                <a:solidFill>
                  <a:srgbClr val="22262E"/>
                </a:solidFill>
                <a:latin typeface="Arial" pitchFamily="34" charset="0"/>
                <a:ea typeface="Arial" pitchFamily="34" charset="-122"/>
                <a:cs typeface="Arial" pitchFamily="34" charset="-120"/>
              </a:rPr>
              <a:t>gives the sentence</a:t>
            </a:r>
            <a:endParaRPr lang="en-US" sz="1600" dirty="0"/>
          </a:p>
        </p:txBody>
      </p:sp>
      <p:sp>
        <p:nvSpPr>
          <p:cNvPr id="15" name="@4 addText"/>
          <p:cNvSpPr txBox="1"/>
          <p:nvPr/>
        </p:nvSpPr>
        <p:spPr>
          <a:xfrm>
            <a:off x="457200" y="411480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in image_starter.py. Each one uses the one before. Test each before you move on.</a:t>
            </a:r>
            <a:endParaRPr lang="en-US" sz="1400" dirty="0"/>
          </a:p>
        </p:txBody>
      </p:sp>
      <p:sp>
        <p:nvSpPr>
          <p:cNvPr id="16"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48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2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2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200"/>
                                        <p:tgtEl>
                                          <p:spTgt spid="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200"/>
                                        <p:tgtEl>
                                          <p:spTgt spid="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200"/>
                                        <p:tgtEl>
                                          <p:spTgt spid="1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1"/>
                                        </p:tgtEl>
                                        <p:attrNameLst>
                                          <p:attrName>style.visibility</p:attrName>
                                        </p:attrNameLst>
                                      </p:cBhvr>
                                      <p:to>
                                        <p:strVal val="visible"/>
                                      </p:to>
                                    </p:set>
                                    <p:animEffect transition="in" filter="fade">
                                      <p:cBhvr>
                                        <p:cTn id="24" dur="200"/>
                                        <p:tgtEl>
                                          <p:spTgt spid="1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200"/>
                                        <p:tgtEl>
                                          <p:spTgt spid="1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200"/>
                                        <p:tgtEl>
                                          <p:spTgt spid="1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200"/>
                                        <p:tgtEl>
                                          <p:spTgt spid="1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2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Open image_starter.py</a:t>
            </a:r>
            <a:endParaRPr lang="en-US" sz="3000" dirty="0"/>
          </a:p>
        </p:txBody>
      </p:sp>
      <p:sp>
        <p:nvSpPr>
          <p:cNvPr id="3" name="3 MIN TALK pill"/>
          <p:cNvSpPr/>
          <p:nvPr/>
        </p:nvSpPr>
        <p:spPr>
          <a:xfrm>
            <a:off x="7132320" y="411480"/>
            <a:ext cx="15544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132320" y="411480"/>
            <a:ext cx="15544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3 MIN TALK</a:t>
            </a:r>
            <a:endParaRPr lang="en-US" sz="1200" dirty="0"/>
          </a:p>
        </p:txBody>
      </p:sp>
      <p:sp>
        <p:nvSpPr>
          <p:cNvPr id="5" name="Callout"/>
          <p:cNvSpPr/>
          <p:nvPr/>
        </p:nvSpPr>
        <p:spPr>
          <a:xfrm>
            <a:off x="457200" y="1280160"/>
            <a:ext cx="8229600" cy="914400"/>
          </a:xfrm>
          <a:prstGeom prst="roundRect">
            <a:avLst>
              <a:gd name="adj" fmla="val 10000"/>
            </a:avLst>
          </a:prstGeom>
          <a:solidFill>
            <a:srgbClr val="FFFFFF"/>
          </a:solidFill>
          <a:ln w="15875">
            <a:solidFill>
              <a:srgbClr val="5D79A0"/>
            </a:solidFill>
            <a:prstDash val="solid"/>
          </a:ln>
        </p:spPr>
        <p:txBody>
          <a:bodyPr/>
          <a:lstStyle/>
          <a:p>
            <a:endParaRPr lang="en-GB"/>
          </a:p>
        </p:txBody>
      </p:sp>
      <p:sp>
        <p:nvSpPr>
          <p:cNvPr id="6" name="Text 4"/>
          <p:cNvSpPr txBox="1"/>
          <p:nvPr/>
        </p:nvSpPr>
        <p:spPr>
          <a:xfrm>
            <a:off x="685800" y="1280160"/>
            <a:ext cx="7772400" cy="914400"/>
          </a:xfrm>
          <a:prstGeom prst="rect">
            <a:avLst/>
          </a:prstGeom>
          <a:noFill/>
          <a:ln/>
        </p:spPr>
        <p:txBody>
          <a:bodyPr wrap="square" lIns="0" tIns="0" rIns="0" bIns="0" rtlCol="0" anchor="ctr"/>
          <a:lstStyle/>
          <a:p>
            <a:pPr marL="0" indent="0">
              <a:buNone/>
            </a:pPr>
            <a:r>
              <a:rPr lang="en-US" sz="1200" b="1" kern="0" spc="200" dirty="0">
                <a:solidFill>
                  <a:srgbClr val="5D79A0"/>
                </a:solidFill>
                <a:latin typeface="Arial" pitchFamily="34" charset="0"/>
                <a:ea typeface="Arial" pitchFamily="34" charset="-122"/>
                <a:cs typeface="Arial" pitchFamily="34" charset="-120"/>
              </a:rPr>
              <a:t>NOTE  </a:t>
            </a:r>
            <a:r>
              <a:rPr lang="en-US" sz="1600" dirty="0">
                <a:solidFill>
                  <a:srgbClr val="22262E"/>
                </a:solidFill>
                <a:latin typeface="Arial" pitchFamily="34" charset="0"/>
                <a:ea typeface="Arial" pitchFamily="34" charset="-122"/>
                <a:cs typeface="Arial" pitchFamily="34" charset="-120"/>
              </a:rPr>
              <a:t>STEP 1 is done for you. Run it: it prints size, shape and first pixel, then draws a colour.</a:t>
            </a:r>
            <a:endParaRPr lang="en-US" sz="1200" dirty="0"/>
          </a:p>
        </p:txBody>
      </p:sp>
      <p:sp>
        <p:nvSpPr>
          <p:cNvPr id="7" name="@1 addText"/>
          <p:cNvSpPr txBox="1"/>
          <p:nvPr/>
        </p:nvSpPr>
        <p:spPr>
          <a:xfrm>
            <a:off x="457200" y="256032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put it in the SAME folder as cow-demo.jpg and the cow_message folder</a:t>
            </a:r>
            <a:endParaRPr lang="en-US" sz="1400" dirty="0"/>
          </a:p>
        </p:txBody>
      </p:sp>
      <p:sp>
        <p:nvSpPr>
          <p:cNvPr id="8"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49</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2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STEP 2: total_red</a:t>
            </a:r>
            <a:endParaRPr lang="en-US" sz="3000" dirty="0"/>
          </a:p>
        </p:txBody>
      </p:sp>
      <p:sp>
        <p:nvSpPr>
          <p:cNvPr id="3" name="5 MIN pill"/>
          <p:cNvSpPr/>
          <p:nvPr/>
        </p:nvSpPr>
        <p:spPr>
          <a:xfrm>
            <a:off x="7589520" y="411480"/>
            <a:ext cx="10972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589520" y="411480"/>
            <a:ext cx="10972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5 MIN</a:t>
            </a:r>
            <a:endParaRPr lang="en-US" sz="1200" dirty="0"/>
          </a:p>
        </p:txBody>
      </p:sp>
      <p:sp>
        <p:nvSpPr>
          <p:cNvPr id="5" name="code bg"/>
          <p:cNvSpPr/>
          <p:nvPr/>
        </p:nvSpPr>
        <p:spPr>
          <a:xfrm>
            <a:off x="457200" y="1051560"/>
            <a:ext cx="8229600" cy="3291840"/>
          </a:xfrm>
          <a:prstGeom prst="rect">
            <a:avLst/>
          </a:prstGeom>
          <a:solidFill>
            <a:srgbClr val="0B2A57"/>
          </a:solidFill>
          <a:ln w="12700">
            <a:solidFill>
              <a:srgbClr val="0B2A57"/>
            </a:solidFill>
            <a:prstDash val="solid"/>
          </a:ln>
        </p:spPr>
        <p:txBody>
          <a:bodyPr/>
          <a:lstStyle/>
          <a:p>
            <a:endParaRPr lang="en-GB"/>
          </a:p>
        </p:txBody>
      </p:sp>
      <p:sp>
        <p:nvSpPr>
          <p:cNvPr id="6" name="code bar"/>
          <p:cNvSpPr/>
          <p:nvPr/>
        </p:nvSpPr>
        <p:spPr>
          <a:xfrm>
            <a:off x="457200" y="1051560"/>
            <a:ext cx="54864" cy="3291840"/>
          </a:xfrm>
          <a:prstGeom prst="rect">
            <a:avLst/>
          </a:prstGeom>
          <a:solidFill>
            <a:srgbClr val="5D79A0"/>
          </a:solidFill>
          <a:ln w="12700">
            <a:solidFill>
              <a:srgbClr val="5D79A0"/>
            </a:solidFill>
            <a:prstDash val="solid"/>
          </a:ln>
        </p:spPr>
        <p:txBody>
          <a:bodyPr/>
          <a:lstStyle/>
          <a:p>
            <a:endParaRPr lang="en-GB"/>
          </a:p>
        </p:txBody>
      </p:sp>
      <p:sp>
        <p:nvSpPr>
          <p:cNvPr id="7" name="code line 1"/>
          <p:cNvSpPr txBox="1"/>
          <p:nvPr/>
        </p:nvSpPr>
        <p:spPr>
          <a:xfrm>
            <a:off x="640080" y="118872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1  </a:t>
            </a:r>
            <a:r>
              <a:rPr lang="en-US" sz="1600" dirty="0">
                <a:solidFill>
                  <a:srgbClr val="E6ECF5"/>
                </a:solidFill>
                <a:latin typeface="Courier New" pitchFamily="34" charset="0"/>
                <a:ea typeface="Courier New" pitchFamily="34" charset="-122"/>
                <a:cs typeface="Courier New" pitchFamily="34" charset="-120"/>
              </a:rPr>
              <a:t>def total_red(path):</a:t>
            </a:r>
            <a:endParaRPr lang="en-US" sz="1600" dirty="0"/>
          </a:p>
        </p:txBody>
      </p:sp>
      <p:sp>
        <p:nvSpPr>
          <p:cNvPr id="8" name="code line 2"/>
          <p:cNvSpPr txBox="1"/>
          <p:nvPr/>
        </p:nvSpPr>
        <p:spPr>
          <a:xfrm>
            <a:off x="640080" y="146304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2  </a:t>
            </a:r>
            <a:r>
              <a:rPr lang="en-US" sz="1600" dirty="0">
                <a:solidFill>
                  <a:srgbClr val="E6ECF5"/>
                </a:solidFill>
                <a:latin typeface="Courier New" pitchFamily="34" charset="0"/>
                <a:ea typeface="Courier New" pitchFamily="34" charset="-122"/>
                <a:cs typeface="Courier New" pitchFamily="34" charset="-120"/>
              </a:rPr>
              <a:t>    img = Image.open(path)</a:t>
            </a:r>
            <a:endParaRPr lang="en-US" sz="1600" dirty="0"/>
          </a:p>
        </p:txBody>
      </p:sp>
      <p:sp>
        <p:nvSpPr>
          <p:cNvPr id="9" name="code line 3"/>
          <p:cNvSpPr txBox="1"/>
          <p:nvPr/>
        </p:nvSpPr>
        <p:spPr>
          <a:xfrm>
            <a:off x="640080" y="173736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3  </a:t>
            </a:r>
            <a:r>
              <a:rPr lang="en-US" sz="1600" dirty="0">
                <a:solidFill>
                  <a:srgbClr val="E6ECF5"/>
                </a:solidFill>
                <a:latin typeface="Courier New" pitchFamily="34" charset="0"/>
                <a:ea typeface="Courier New" pitchFamily="34" charset="-122"/>
                <a:cs typeface="Courier New" pitchFamily="34" charset="-120"/>
              </a:rPr>
              <a:t>    pixels = np.array(img)</a:t>
            </a:r>
            <a:endParaRPr lang="en-US" sz="1600" dirty="0"/>
          </a:p>
        </p:txBody>
      </p:sp>
      <p:sp>
        <p:nvSpPr>
          <p:cNvPr id="10" name="code line 4"/>
          <p:cNvSpPr txBox="1"/>
          <p:nvPr/>
        </p:nvSpPr>
        <p:spPr>
          <a:xfrm>
            <a:off x="640080" y="201168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4  </a:t>
            </a:r>
            <a:r>
              <a:rPr lang="en-US" sz="1600" dirty="0">
                <a:solidFill>
                  <a:srgbClr val="E6ECF5"/>
                </a:solidFill>
                <a:latin typeface="Courier New" pitchFamily="34" charset="0"/>
                <a:ea typeface="Courier New" pitchFamily="34" charset="-122"/>
                <a:cs typeface="Courier New" pitchFamily="34" charset="-120"/>
              </a:rPr>
              <a:t>    </a:t>
            </a:r>
            <a:r>
              <a:rPr lang="en-US" sz="1600" dirty="0">
                <a:solidFill>
                  <a:srgbClr val="8EA3C0"/>
                </a:solidFill>
                <a:latin typeface="Courier New" pitchFamily="34" charset="0"/>
                <a:ea typeface="Courier New" pitchFamily="34" charset="-122"/>
                <a:cs typeface="Courier New" pitchFamily="34" charset="-120"/>
              </a:rPr>
              <a:t># TODO: get just the red channel</a:t>
            </a:r>
            <a:endParaRPr lang="en-US" sz="1600" dirty="0"/>
          </a:p>
        </p:txBody>
      </p:sp>
      <p:sp>
        <p:nvSpPr>
          <p:cNvPr id="11" name="code line 5"/>
          <p:cNvSpPr txBox="1"/>
          <p:nvPr/>
        </p:nvSpPr>
        <p:spPr>
          <a:xfrm>
            <a:off x="640080" y="228600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5  </a:t>
            </a:r>
            <a:r>
              <a:rPr lang="en-US" sz="1600" dirty="0">
                <a:solidFill>
                  <a:srgbClr val="E6ECF5"/>
                </a:solidFill>
                <a:latin typeface="Courier New" pitchFamily="34" charset="0"/>
                <a:ea typeface="Courier New" pitchFamily="34" charset="-122"/>
                <a:cs typeface="Courier New" pitchFamily="34" charset="-120"/>
              </a:rPr>
              <a:t>    </a:t>
            </a:r>
            <a:r>
              <a:rPr lang="en-US" sz="1600" dirty="0">
                <a:solidFill>
                  <a:srgbClr val="8EA3C0"/>
                </a:solidFill>
                <a:latin typeface="Courier New" pitchFamily="34" charset="0"/>
                <a:ea typeface="Courier New" pitchFamily="34" charset="-122"/>
                <a:cs typeface="Courier New" pitchFamily="34" charset="-120"/>
              </a:rPr>
              <a:t>#   hint: pixels[:, :, 0]</a:t>
            </a:r>
            <a:endParaRPr lang="en-US" sz="1600" dirty="0"/>
          </a:p>
        </p:txBody>
      </p:sp>
      <p:sp>
        <p:nvSpPr>
          <p:cNvPr id="12" name="code line 6"/>
          <p:cNvSpPr txBox="1"/>
          <p:nvPr/>
        </p:nvSpPr>
        <p:spPr>
          <a:xfrm>
            <a:off x="640080" y="256032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6  </a:t>
            </a:r>
            <a:r>
              <a:rPr lang="en-US" sz="1600" dirty="0">
                <a:solidFill>
                  <a:srgbClr val="E6ECF5"/>
                </a:solidFill>
                <a:latin typeface="Courier New" pitchFamily="34" charset="0"/>
                <a:ea typeface="Courier New" pitchFamily="34" charset="-122"/>
                <a:cs typeface="Courier New" pitchFamily="34" charset="-120"/>
              </a:rPr>
              <a:t>    </a:t>
            </a:r>
            <a:r>
              <a:rPr lang="en-US" sz="1600" dirty="0">
                <a:solidFill>
                  <a:srgbClr val="8EA3C0"/>
                </a:solidFill>
                <a:latin typeface="Courier New" pitchFamily="34" charset="0"/>
                <a:ea typeface="Courier New" pitchFamily="34" charset="-122"/>
                <a:cs typeface="Courier New" pitchFamily="34" charset="-120"/>
              </a:rPr>
              <a:t># TODO: add up every red value</a:t>
            </a:r>
            <a:endParaRPr lang="en-US" sz="1600" dirty="0"/>
          </a:p>
        </p:txBody>
      </p:sp>
      <p:sp>
        <p:nvSpPr>
          <p:cNvPr id="13" name="code line 7"/>
          <p:cNvSpPr txBox="1"/>
          <p:nvPr/>
        </p:nvSpPr>
        <p:spPr>
          <a:xfrm>
            <a:off x="640080" y="283464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7  </a:t>
            </a:r>
            <a:r>
              <a:rPr lang="en-US" sz="1600" dirty="0">
                <a:solidFill>
                  <a:srgbClr val="E6ECF5"/>
                </a:solidFill>
                <a:latin typeface="Courier New" pitchFamily="34" charset="0"/>
                <a:ea typeface="Courier New" pitchFamily="34" charset="-122"/>
                <a:cs typeface="Courier New" pitchFamily="34" charset="-120"/>
              </a:rPr>
              <a:t>    </a:t>
            </a:r>
            <a:r>
              <a:rPr lang="en-US" sz="1600" dirty="0">
                <a:solidFill>
                  <a:srgbClr val="8EA3C0"/>
                </a:solidFill>
                <a:latin typeface="Courier New" pitchFamily="34" charset="0"/>
                <a:ea typeface="Courier New" pitchFamily="34" charset="-122"/>
                <a:cs typeface="Courier New" pitchFamily="34" charset="-120"/>
              </a:rPr>
              <a:t>#   hint: .sum()</a:t>
            </a:r>
            <a:endParaRPr lang="en-US" sz="1600" dirty="0"/>
          </a:p>
        </p:txBody>
      </p:sp>
      <p:sp>
        <p:nvSpPr>
          <p:cNvPr id="14" name="code line 8"/>
          <p:cNvSpPr txBox="1"/>
          <p:nvPr/>
        </p:nvSpPr>
        <p:spPr>
          <a:xfrm>
            <a:off x="640080" y="310896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8  </a:t>
            </a:r>
            <a:r>
              <a:rPr lang="en-US" sz="1600" dirty="0">
                <a:solidFill>
                  <a:srgbClr val="E6ECF5"/>
                </a:solidFill>
                <a:latin typeface="Courier New" pitchFamily="34" charset="0"/>
                <a:ea typeface="Courier New" pitchFamily="34" charset="-122"/>
                <a:cs typeface="Courier New" pitchFamily="34" charset="-120"/>
              </a:rPr>
              <a:t>    </a:t>
            </a:r>
            <a:r>
              <a:rPr lang="en-US" sz="1600" dirty="0">
                <a:solidFill>
                  <a:srgbClr val="8EA3C0"/>
                </a:solidFill>
                <a:latin typeface="Courier New" pitchFamily="34" charset="0"/>
                <a:ea typeface="Courier New" pitchFamily="34" charset="-122"/>
                <a:cs typeface="Courier New" pitchFamily="34" charset="-120"/>
              </a:rPr>
              <a:t># TODO: return that total</a:t>
            </a:r>
            <a:endParaRPr lang="en-US" sz="1600" dirty="0"/>
          </a:p>
        </p:txBody>
      </p:sp>
      <p:sp>
        <p:nvSpPr>
          <p:cNvPr id="15" name="code line 9"/>
          <p:cNvSpPr txBox="1"/>
          <p:nvPr/>
        </p:nvSpPr>
        <p:spPr>
          <a:xfrm>
            <a:off x="640080" y="338328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9  </a:t>
            </a:r>
            <a:r>
              <a:rPr lang="en-US" sz="1600" dirty="0">
                <a:solidFill>
                  <a:srgbClr val="E6ECF5"/>
                </a:solidFill>
                <a:latin typeface="Courier New" pitchFamily="34" charset="0"/>
                <a:ea typeface="Courier New" pitchFamily="34" charset="-122"/>
                <a:cs typeface="Courier New" pitchFamily="34" charset="-120"/>
              </a:rPr>
              <a:t>    return 0</a:t>
            </a:r>
            <a:endParaRPr lang="en-US" sz="1600" dirty="0"/>
          </a:p>
        </p:txBody>
      </p:sp>
      <p:sp>
        <p:nvSpPr>
          <p:cNvPr id="16" name="code line 11"/>
          <p:cNvSpPr txBox="1"/>
          <p:nvPr/>
        </p:nvSpPr>
        <p:spPr>
          <a:xfrm>
            <a:off x="640080" y="393192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11  </a:t>
            </a:r>
            <a:r>
              <a:rPr lang="en-US" sz="1600" dirty="0">
                <a:solidFill>
                  <a:srgbClr val="E6ECF5"/>
                </a:solidFill>
                <a:latin typeface="Courier New" pitchFamily="34" charset="0"/>
                <a:ea typeface="Courier New" pitchFamily="34" charset="-122"/>
                <a:cs typeface="Courier New" pitchFamily="34" charset="-120"/>
              </a:rPr>
              <a:t>print(total_red("cow-demo.jpg"))   </a:t>
            </a:r>
            <a:r>
              <a:rPr lang="en-US" sz="1600" dirty="0">
                <a:solidFill>
                  <a:srgbClr val="8EA3C0"/>
                </a:solidFill>
                <a:latin typeface="Courier New" pitchFamily="34" charset="0"/>
                <a:ea typeface="Courier New" pitchFamily="34" charset="-122"/>
                <a:cs typeface="Courier New" pitchFamily="34" charset="-120"/>
              </a:rPr>
              <a:t># should print 10218857</a:t>
            </a:r>
            <a:endParaRPr lang="en-US" sz="1600" dirty="0"/>
          </a:p>
        </p:txBody>
      </p:sp>
      <p:sp>
        <p:nvSpPr>
          <p:cNvPr id="17" name="Text 15"/>
          <p:cNvSpPr txBox="1"/>
          <p:nvPr/>
        </p:nvSpPr>
        <p:spPr>
          <a:xfrm>
            <a:off x="457200" y="448056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prints 0? You forgot to change return 0.</a:t>
            </a:r>
            <a:endParaRPr lang="en-US" sz="1400" dirty="0"/>
          </a:p>
        </p:txBody>
      </p:sp>
      <p:sp>
        <p:nvSpPr>
          <p:cNvPr id="18"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STEP 3: letter_for</a:t>
            </a:r>
            <a:endParaRPr lang="en-US" sz="3000" dirty="0"/>
          </a:p>
        </p:txBody>
      </p:sp>
      <p:sp>
        <p:nvSpPr>
          <p:cNvPr id="3" name="2 + 5 MIN pill"/>
          <p:cNvSpPr/>
          <p:nvPr/>
        </p:nvSpPr>
        <p:spPr>
          <a:xfrm>
            <a:off x="7315200" y="411480"/>
            <a:ext cx="137160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315200" y="411480"/>
            <a:ext cx="137160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2 + 5 MIN</a:t>
            </a:r>
            <a:endParaRPr lang="en-US" sz="1200" dirty="0"/>
          </a:p>
        </p:txBody>
      </p:sp>
      <p:sp>
        <p:nvSpPr>
          <p:cNvPr id="5" name="code bg"/>
          <p:cNvSpPr/>
          <p:nvPr/>
        </p:nvSpPr>
        <p:spPr>
          <a:xfrm>
            <a:off x="457200" y="1051560"/>
            <a:ext cx="8229600" cy="2743200"/>
          </a:xfrm>
          <a:prstGeom prst="rect">
            <a:avLst/>
          </a:prstGeom>
          <a:solidFill>
            <a:srgbClr val="0B2A57"/>
          </a:solidFill>
          <a:ln w="12700">
            <a:solidFill>
              <a:srgbClr val="0B2A57"/>
            </a:solidFill>
            <a:prstDash val="solid"/>
          </a:ln>
        </p:spPr>
        <p:txBody>
          <a:bodyPr/>
          <a:lstStyle/>
          <a:p>
            <a:endParaRPr lang="en-GB"/>
          </a:p>
        </p:txBody>
      </p:sp>
      <p:sp>
        <p:nvSpPr>
          <p:cNvPr id="6" name="code bar"/>
          <p:cNvSpPr/>
          <p:nvPr/>
        </p:nvSpPr>
        <p:spPr>
          <a:xfrm>
            <a:off x="457200" y="1051560"/>
            <a:ext cx="54864" cy="2743200"/>
          </a:xfrm>
          <a:prstGeom prst="rect">
            <a:avLst/>
          </a:prstGeom>
          <a:solidFill>
            <a:srgbClr val="5D79A0"/>
          </a:solidFill>
          <a:ln w="12700">
            <a:solidFill>
              <a:srgbClr val="5D79A0"/>
            </a:solidFill>
            <a:prstDash val="solid"/>
          </a:ln>
        </p:spPr>
        <p:txBody>
          <a:bodyPr/>
          <a:lstStyle/>
          <a:p>
            <a:endParaRPr lang="en-GB"/>
          </a:p>
        </p:txBody>
      </p:sp>
      <p:sp>
        <p:nvSpPr>
          <p:cNvPr id="7" name="code line 1"/>
          <p:cNvSpPr txBox="1"/>
          <p:nvPr/>
        </p:nvSpPr>
        <p:spPr>
          <a:xfrm>
            <a:off x="640080" y="118872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1  </a:t>
            </a:r>
            <a:r>
              <a:rPr lang="en-US" sz="1600" dirty="0">
                <a:solidFill>
                  <a:srgbClr val="E6ECF5"/>
                </a:solidFill>
                <a:latin typeface="Courier New" pitchFamily="34" charset="0"/>
                <a:ea typeface="Courier New" pitchFamily="34" charset="-122"/>
                <a:cs typeface="Courier New" pitchFamily="34" charset="-120"/>
              </a:rPr>
              <a:t>def letter_for(path):</a:t>
            </a:r>
            <a:endParaRPr lang="en-US" sz="1600" dirty="0"/>
          </a:p>
        </p:txBody>
      </p:sp>
      <p:sp>
        <p:nvSpPr>
          <p:cNvPr id="8" name="code line 2"/>
          <p:cNvSpPr txBox="1"/>
          <p:nvPr/>
        </p:nvSpPr>
        <p:spPr>
          <a:xfrm>
            <a:off x="640080" y="146304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2  </a:t>
            </a:r>
            <a:r>
              <a:rPr lang="en-US" sz="1600" dirty="0">
                <a:solidFill>
                  <a:srgbClr val="E6ECF5"/>
                </a:solidFill>
                <a:latin typeface="Courier New" pitchFamily="34" charset="0"/>
                <a:ea typeface="Courier New" pitchFamily="34" charset="-122"/>
                <a:cs typeface="Courier New" pitchFamily="34" charset="-120"/>
              </a:rPr>
              <a:t>    </a:t>
            </a:r>
            <a:r>
              <a:rPr lang="en-US" sz="1600" dirty="0">
                <a:solidFill>
                  <a:srgbClr val="8EA3C0"/>
                </a:solidFill>
                <a:latin typeface="Courier New" pitchFamily="34" charset="0"/>
                <a:ea typeface="Courier New" pitchFamily="34" charset="-122"/>
                <a:cs typeface="Courier New" pitchFamily="34" charset="-120"/>
              </a:rPr>
              <a:t># TODO: 1. get the red total (you wrote a function!)</a:t>
            </a:r>
            <a:endParaRPr lang="en-US" sz="1600" dirty="0"/>
          </a:p>
        </p:txBody>
      </p:sp>
      <p:sp>
        <p:nvSpPr>
          <p:cNvPr id="9" name="code line 3"/>
          <p:cNvSpPr txBox="1"/>
          <p:nvPr/>
        </p:nvSpPr>
        <p:spPr>
          <a:xfrm>
            <a:off x="640080" y="173736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3  </a:t>
            </a:r>
            <a:r>
              <a:rPr lang="en-US" sz="1600" dirty="0">
                <a:solidFill>
                  <a:srgbClr val="E6ECF5"/>
                </a:solidFill>
                <a:latin typeface="Courier New" pitchFamily="34" charset="0"/>
                <a:ea typeface="Courier New" pitchFamily="34" charset="-122"/>
                <a:cs typeface="Courier New" pitchFamily="34" charset="-120"/>
              </a:rPr>
              <a:t>    </a:t>
            </a:r>
            <a:r>
              <a:rPr lang="en-US" sz="1600" dirty="0">
                <a:solidFill>
                  <a:srgbClr val="8EA3C0"/>
                </a:solidFill>
                <a:latin typeface="Courier New" pitchFamily="34" charset="0"/>
                <a:ea typeface="Courier New" pitchFamily="34" charset="-122"/>
                <a:cs typeface="Courier New" pitchFamily="34" charset="-120"/>
              </a:rPr>
              <a:t>#       2. take it % 26</a:t>
            </a:r>
            <a:endParaRPr lang="en-US" sz="1600" dirty="0"/>
          </a:p>
        </p:txBody>
      </p:sp>
      <p:sp>
        <p:nvSpPr>
          <p:cNvPr id="10" name="code line 4"/>
          <p:cNvSpPr txBox="1"/>
          <p:nvPr/>
        </p:nvSpPr>
        <p:spPr>
          <a:xfrm>
            <a:off x="640080" y="201168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4  </a:t>
            </a:r>
            <a:r>
              <a:rPr lang="en-US" sz="1600" dirty="0">
                <a:solidFill>
                  <a:srgbClr val="E6ECF5"/>
                </a:solidFill>
                <a:latin typeface="Courier New" pitchFamily="34" charset="0"/>
                <a:ea typeface="Courier New" pitchFamily="34" charset="-122"/>
                <a:cs typeface="Courier New" pitchFamily="34" charset="-120"/>
              </a:rPr>
              <a:t>    </a:t>
            </a:r>
            <a:r>
              <a:rPr lang="en-US" sz="1600" dirty="0">
                <a:solidFill>
                  <a:srgbClr val="8EA3C0"/>
                </a:solidFill>
                <a:latin typeface="Courier New" pitchFamily="34" charset="0"/>
                <a:ea typeface="Courier New" pitchFamily="34" charset="-122"/>
                <a:cs typeface="Courier New" pitchFamily="34" charset="-120"/>
              </a:rPr>
              <a:t>#       3. pick a letter from ALPHABET</a:t>
            </a:r>
            <a:endParaRPr lang="en-US" sz="1600" dirty="0"/>
          </a:p>
        </p:txBody>
      </p:sp>
      <p:sp>
        <p:nvSpPr>
          <p:cNvPr id="11" name="code line 5"/>
          <p:cNvSpPr txBox="1"/>
          <p:nvPr/>
        </p:nvSpPr>
        <p:spPr>
          <a:xfrm>
            <a:off x="640080" y="228600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5  </a:t>
            </a:r>
            <a:r>
              <a:rPr lang="en-US" sz="1600" dirty="0">
                <a:solidFill>
                  <a:srgbClr val="E6ECF5"/>
                </a:solidFill>
                <a:latin typeface="Courier New" pitchFamily="34" charset="0"/>
                <a:ea typeface="Courier New" pitchFamily="34" charset="-122"/>
                <a:cs typeface="Courier New" pitchFamily="34" charset="-120"/>
              </a:rPr>
              <a:t>    </a:t>
            </a:r>
            <a:r>
              <a:rPr lang="en-US" sz="1600" dirty="0">
                <a:solidFill>
                  <a:srgbClr val="8EA3C0"/>
                </a:solidFill>
                <a:latin typeface="Courier New" pitchFamily="34" charset="0"/>
                <a:ea typeface="Courier New" pitchFamily="34" charset="-122"/>
                <a:cs typeface="Courier New" pitchFamily="34" charset="-120"/>
              </a:rPr>
              <a:t>#          hint: ALPHABET[2] is "C"</a:t>
            </a:r>
            <a:endParaRPr lang="en-US" sz="1600" dirty="0"/>
          </a:p>
        </p:txBody>
      </p:sp>
      <p:sp>
        <p:nvSpPr>
          <p:cNvPr id="12" name="code line 6"/>
          <p:cNvSpPr txBox="1"/>
          <p:nvPr/>
        </p:nvSpPr>
        <p:spPr>
          <a:xfrm>
            <a:off x="640080" y="256032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6  </a:t>
            </a:r>
            <a:r>
              <a:rPr lang="en-US" sz="1600" dirty="0">
                <a:solidFill>
                  <a:srgbClr val="E6ECF5"/>
                </a:solidFill>
                <a:latin typeface="Courier New" pitchFamily="34" charset="0"/>
                <a:ea typeface="Courier New" pitchFamily="34" charset="-122"/>
                <a:cs typeface="Courier New" pitchFamily="34" charset="-120"/>
              </a:rPr>
              <a:t>    </a:t>
            </a:r>
            <a:r>
              <a:rPr lang="en-US" sz="1600" dirty="0">
                <a:solidFill>
                  <a:srgbClr val="8EA3C0"/>
                </a:solidFill>
                <a:latin typeface="Courier New" pitchFamily="34" charset="0"/>
                <a:ea typeface="Courier New" pitchFamily="34" charset="-122"/>
                <a:cs typeface="Courier New" pitchFamily="34" charset="-120"/>
              </a:rPr>
              <a:t>#       4. return the letter</a:t>
            </a:r>
            <a:endParaRPr lang="en-US" sz="1600" dirty="0"/>
          </a:p>
        </p:txBody>
      </p:sp>
      <p:sp>
        <p:nvSpPr>
          <p:cNvPr id="13" name="code line 7"/>
          <p:cNvSpPr txBox="1"/>
          <p:nvPr/>
        </p:nvSpPr>
        <p:spPr>
          <a:xfrm>
            <a:off x="640080" y="283464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7  </a:t>
            </a:r>
            <a:r>
              <a:rPr lang="en-US" sz="1600" dirty="0">
                <a:solidFill>
                  <a:srgbClr val="E6ECF5"/>
                </a:solidFill>
                <a:latin typeface="Courier New" pitchFamily="34" charset="0"/>
                <a:ea typeface="Courier New" pitchFamily="34" charset="-122"/>
                <a:cs typeface="Courier New" pitchFamily="34" charset="-120"/>
              </a:rPr>
              <a:t>    return ""</a:t>
            </a:r>
            <a:endParaRPr lang="en-US" sz="1600" dirty="0"/>
          </a:p>
        </p:txBody>
      </p:sp>
      <p:sp>
        <p:nvSpPr>
          <p:cNvPr id="14" name="code line 9"/>
          <p:cNvSpPr txBox="1"/>
          <p:nvPr/>
        </p:nvSpPr>
        <p:spPr>
          <a:xfrm>
            <a:off x="640080" y="338328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9  </a:t>
            </a:r>
            <a:r>
              <a:rPr lang="en-US" sz="1600" dirty="0">
                <a:solidFill>
                  <a:srgbClr val="E6ECF5"/>
                </a:solidFill>
                <a:latin typeface="Courier New" pitchFamily="34" charset="0"/>
                <a:ea typeface="Courier New" pitchFamily="34" charset="-122"/>
                <a:cs typeface="Courier New" pitchFamily="34" charset="-120"/>
              </a:rPr>
              <a:t>print(letter_for("cow-demo.jpg"))   </a:t>
            </a:r>
            <a:r>
              <a:rPr lang="en-US" sz="1600" dirty="0">
                <a:solidFill>
                  <a:srgbClr val="8EA3C0"/>
                </a:solidFill>
                <a:latin typeface="Courier New" pitchFamily="34" charset="0"/>
                <a:ea typeface="Courier New" pitchFamily="34" charset="-122"/>
                <a:cs typeface="Courier New" pitchFamily="34" charset="-120"/>
              </a:rPr>
              <a:t># should print Z</a:t>
            </a:r>
            <a:endParaRPr lang="en-US" sz="1600" dirty="0"/>
          </a:p>
        </p:txBody>
      </p:sp>
      <p:sp>
        <p:nvSpPr>
          <p:cNvPr id="15" name="Text 13"/>
          <p:cNvSpPr txBox="1"/>
          <p:nvPr/>
        </p:nvSpPr>
        <p:spPr>
          <a:xfrm>
            <a:off x="457200" y="393192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wrong letter? Test total_red again first. ALPHABET is at the top of your file.</a:t>
            </a:r>
            <a:endParaRPr lang="en-US" sz="1400" dirty="0"/>
          </a:p>
        </p:txBody>
      </p:sp>
      <p:sp>
        <p:nvSpPr>
          <p:cNvPr id="16"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STEP 4: decode_message</a:t>
            </a:r>
            <a:endParaRPr lang="en-US" sz="3000" dirty="0"/>
          </a:p>
        </p:txBody>
      </p:sp>
      <p:sp>
        <p:nvSpPr>
          <p:cNvPr id="3" name="3 MIN TALK pill"/>
          <p:cNvSpPr/>
          <p:nvPr/>
        </p:nvSpPr>
        <p:spPr>
          <a:xfrm>
            <a:off x="7132320" y="411480"/>
            <a:ext cx="15544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132320" y="411480"/>
            <a:ext cx="15544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3 MIN TALK</a:t>
            </a:r>
            <a:endParaRPr lang="en-US" sz="1200" dirty="0"/>
          </a:p>
        </p:txBody>
      </p:sp>
      <p:sp>
        <p:nvSpPr>
          <p:cNvPr id="5" name="code bg"/>
          <p:cNvSpPr/>
          <p:nvPr/>
        </p:nvSpPr>
        <p:spPr>
          <a:xfrm>
            <a:off x="457200" y="1188720"/>
            <a:ext cx="8229600" cy="1028700"/>
          </a:xfrm>
          <a:prstGeom prst="rect">
            <a:avLst/>
          </a:prstGeom>
          <a:solidFill>
            <a:srgbClr val="0B2A57"/>
          </a:solidFill>
          <a:ln w="12700">
            <a:solidFill>
              <a:srgbClr val="0B2A57"/>
            </a:solidFill>
            <a:prstDash val="solid"/>
          </a:ln>
        </p:spPr>
        <p:txBody>
          <a:bodyPr/>
          <a:lstStyle/>
          <a:p>
            <a:endParaRPr lang="en-GB"/>
          </a:p>
        </p:txBody>
      </p:sp>
      <p:sp>
        <p:nvSpPr>
          <p:cNvPr id="6" name="code bar"/>
          <p:cNvSpPr/>
          <p:nvPr/>
        </p:nvSpPr>
        <p:spPr>
          <a:xfrm>
            <a:off x="457200" y="1188720"/>
            <a:ext cx="54864" cy="1028700"/>
          </a:xfrm>
          <a:prstGeom prst="rect">
            <a:avLst/>
          </a:prstGeom>
          <a:solidFill>
            <a:srgbClr val="A9C4E8"/>
          </a:solidFill>
          <a:ln w="12700">
            <a:solidFill>
              <a:srgbClr val="5D79A0"/>
            </a:solidFill>
            <a:prstDash val="solid"/>
          </a:ln>
        </p:spPr>
        <p:txBody>
          <a:bodyPr/>
          <a:lstStyle/>
          <a:p>
            <a:endParaRPr lang="en-GB"/>
          </a:p>
        </p:txBody>
      </p:sp>
      <p:sp>
        <p:nvSpPr>
          <p:cNvPr id="7" name="code line 1"/>
          <p:cNvSpPr txBox="1"/>
          <p:nvPr/>
        </p:nvSpPr>
        <p:spPr>
          <a:xfrm>
            <a:off x="640080" y="1325880"/>
            <a:ext cx="7955280" cy="377190"/>
          </a:xfrm>
          <a:prstGeom prst="rect">
            <a:avLst/>
          </a:prstGeom>
          <a:noFill/>
          <a:ln/>
        </p:spPr>
        <p:txBody>
          <a:bodyPr wrap="square" lIns="0" tIns="0" rIns="0" bIns="0" rtlCol="0" anchor="ctr"/>
          <a:lstStyle/>
          <a:p>
            <a:pPr marL="0" indent="0">
              <a:buNone/>
            </a:pPr>
            <a:r>
              <a:rPr lang="en-US" sz="2200" dirty="0">
                <a:solidFill>
                  <a:srgbClr val="B8E0B0"/>
                </a:solidFill>
                <a:latin typeface="Courier New" pitchFamily="34" charset="0"/>
                <a:ea typeface="Courier New" pitchFamily="34" charset="-122"/>
                <a:cs typeface="Courier New" pitchFamily="34" charset="-120"/>
              </a:rPr>
              <a:t>decode_message()</a:t>
            </a:r>
            <a:endParaRPr lang="en-US" sz="2200" dirty="0"/>
          </a:p>
        </p:txBody>
      </p:sp>
      <p:sp>
        <p:nvSpPr>
          <p:cNvPr id="8" name="code line 2"/>
          <p:cNvSpPr txBox="1"/>
          <p:nvPr/>
        </p:nvSpPr>
        <p:spPr>
          <a:xfrm>
            <a:off x="640080" y="1703070"/>
            <a:ext cx="7955280" cy="377190"/>
          </a:xfrm>
          <a:prstGeom prst="rect">
            <a:avLst/>
          </a:prstGeom>
          <a:noFill/>
          <a:ln/>
        </p:spPr>
        <p:txBody>
          <a:bodyPr wrap="square" lIns="0" tIns="0" rIns="0" bIns="0" rtlCol="0" anchor="ctr"/>
          <a:lstStyle/>
          <a:p>
            <a:pPr marL="0" indent="0">
              <a:buNone/>
            </a:pPr>
            <a:r>
              <a:rPr lang="en-US" sz="2200" dirty="0">
                <a:solidFill>
                  <a:srgbClr val="B8E0B0"/>
                </a:solidFill>
                <a:latin typeface="Courier New" pitchFamily="34" charset="0"/>
                <a:ea typeface="Courier New" pitchFamily="34" charset="-122"/>
                <a:cs typeface="Courier New" pitchFamily="34" charset="-120"/>
              </a:rPr>
              <a:t>gives the sentence</a:t>
            </a:r>
            <a:endParaRPr lang="en-US" sz="2200" dirty="0"/>
          </a:p>
        </p:txBody>
      </p:sp>
      <p:sp>
        <p:nvSpPr>
          <p:cNvPr id="9" name="@1 addText"/>
          <p:cNvSpPr txBox="1"/>
          <p:nvPr/>
        </p:nvSpPr>
        <p:spPr>
          <a:xfrm>
            <a:off x="457200" y="265176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in image_starter.py. It uses letter_for, once for each of the 37 photos.</a:t>
            </a:r>
            <a:endParaRPr lang="en-US" sz="1400" dirty="0"/>
          </a:p>
        </p:txBody>
      </p:sp>
      <p:sp>
        <p:nvSpPr>
          <p:cNvPr id="10" name="@2 Callout"/>
          <p:cNvSpPr/>
          <p:nvPr/>
        </p:nvSpPr>
        <p:spPr>
          <a:xfrm>
            <a:off x="457200" y="3291840"/>
            <a:ext cx="8229600" cy="640080"/>
          </a:xfrm>
          <a:prstGeom prst="roundRect">
            <a:avLst>
              <a:gd name="adj" fmla="val 14286"/>
            </a:avLst>
          </a:prstGeom>
          <a:solidFill>
            <a:srgbClr val="FFFFFF"/>
          </a:solidFill>
          <a:ln w="15875">
            <a:solidFill>
              <a:srgbClr val="5D79A0"/>
            </a:solidFill>
            <a:prstDash val="solid"/>
          </a:ln>
        </p:spPr>
        <p:txBody>
          <a:bodyPr/>
          <a:lstStyle/>
          <a:p>
            <a:endParaRPr lang="en-GB"/>
          </a:p>
        </p:txBody>
      </p:sp>
      <p:sp>
        <p:nvSpPr>
          <p:cNvPr id="11" name="@2 addText"/>
          <p:cNvSpPr txBox="1"/>
          <p:nvPr/>
        </p:nvSpPr>
        <p:spPr>
          <a:xfrm>
            <a:off x="685800" y="3291840"/>
            <a:ext cx="7772400" cy="640080"/>
          </a:xfrm>
          <a:prstGeom prst="rect">
            <a:avLst/>
          </a:prstGeom>
          <a:noFill/>
          <a:ln/>
        </p:spPr>
        <p:txBody>
          <a:bodyPr wrap="square" lIns="0" tIns="0" rIns="0" bIns="0" rtlCol="0" anchor="ctr"/>
          <a:lstStyle/>
          <a:p>
            <a:pPr marL="0" indent="0">
              <a:buNone/>
            </a:pPr>
            <a:r>
              <a:rPr lang="en-US" sz="1200" b="1" kern="0" spc="200" dirty="0">
                <a:solidFill>
                  <a:srgbClr val="5D79A0"/>
                </a:solidFill>
                <a:latin typeface="Arial" pitchFamily="34" charset="0"/>
                <a:ea typeface="Arial" pitchFamily="34" charset="-122"/>
                <a:cs typeface="Arial" pitchFamily="34" charset="-120"/>
              </a:rPr>
              <a:t>NOTE  </a:t>
            </a:r>
            <a:r>
              <a:rPr lang="en-US" sz="1600" dirty="0">
                <a:solidFill>
                  <a:srgbClr val="22262E"/>
                </a:solidFill>
                <a:latin typeface="Arial" pitchFamily="34" charset="0"/>
                <a:ea typeface="Arial" pitchFamily="34" charset="-122"/>
                <a:cs typeface="Arial" pitchFamily="34" charset="-120"/>
              </a:rPr>
              <a:t>Does it read like English? Then it worked.</a:t>
            </a:r>
            <a:endParaRPr lang="en-US" sz="1200" dirty="0"/>
          </a:p>
        </p:txBody>
      </p:sp>
      <p:sp>
        <p:nvSpPr>
          <p:cNvPr id="12"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52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200"/>
                                        <p:tgtEl>
                                          <p:spTgt spid="10"/>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2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A Function We Give You</a:t>
            </a:r>
            <a:endParaRPr lang="en-US" sz="3000" dirty="0"/>
          </a:p>
        </p:txBody>
      </p:sp>
      <p:sp>
        <p:nvSpPr>
          <p:cNvPr id="3" name="code bg"/>
          <p:cNvSpPr/>
          <p:nvPr/>
        </p:nvSpPr>
        <p:spPr>
          <a:xfrm>
            <a:off x="457200" y="1097280"/>
            <a:ext cx="8229600" cy="822960"/>
          </a:xfrm>
          <a:prstGeom prst="rect">
            <a:avLst/>
          </a:prstGeom>
          <a:solidFill>
            <a:srgbClr val="0B2A57"/>
          </a:solidFill>
          <a:ln w="12700">
            <a:solidFill>
              <a:srgbClr val="0B2A57"/>
            </a:solidFill>
            <a:prstDash val="solid"/>
          </a:ln>
        </p:spPr>
        <p:txBody>
          <a:bodyPr/>
          <a:lstStyle/>
          <a:p>
            <a:endParaRPr lang="en-GB"/>
          </a:p>
        </p:txBody>
      </p:sp>
      <p:sp>
        <p:nvSpPr>
          <p:cNvPr id="4" name="code bar"/>
          <p:cNvSpPr/>
          <p:nvPr/>
        </p:nvSpPr>
        <p:spPr>
          <a:xfrm>
            <a:off x="457200" y="1097280"/>
            <a:ext cx="54864" cy="822960"/>
          </a:xfrm>
          <a:prstGeom prst="rect">
            <a:avLst/>
          </a:prstGeom>
          <a:solidFill>
            <a:srgbClr val="5D79A0"/>
          </a:solidFill>
          <a:ln w="12700">
            <a:solidFill>
              <a:srgbClr val="5D79A0"/>
            </a:solidFill>
            <a:prstDash val="solid"/>
          </a:ln>
        </p:spPr>
        <p:txBody>
          <a:bodyPr/>
          <a:lstStyle/>
          <a:p>
            <a:endParaRPr lang="en-GB"/>
          </a:p>
        </p:txBody>
      </p:sp>
      <p:sp>
        <p:nvSpPr>
          <p:cNvPr id="5" name="code line 1"/>
          <p:cNvSpPr txBox="1"/>
          <p:nvPr/>
        </p:nvSpPr>
        <p:spPr>
          <a:xfrm>
            <a:off x="640080" y="123444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1  </a:t>
            </a:r>
            <a:r>
              <a:rPr lang="en-US" sz="1600" dirty="0">
                <a:solidFill>
                  <a:srgbClr val="E6ECF5"/>
                </a:solidFill>
                <a:latin typeface="Courier New" pitchFamily="34" charset="0"/>
                <a:ea typeface="Courier New" pitchFamily="34" charset="-122"/>
                <a:cs typeface="Courier New" pitchFamily="34" charset="-120"/>
              </a:rPr>
              <a:t>def image_path(number):</a:t>
            </a:r>
            <a:endParaRPr lang="en-US" sz="1600" dirty="0"/>
          </a:p>
        </p:txBody>
      </p:sp>
      <p:sp>
        <p:nvSpPr>
          <p:cNvPr id="6" name="code line 2"/>
          <p:cNvSpPr txBox="1"/>
          <p:nvPr/>
        </p:nvSpPr>
        <p:spPr>
          <a:xfrm>
            <a:off x="640080" y="150876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2  </a:t>
            </a:r>
            <a:r>
              <a:rPr lang="en-US" sz="1600" dirty="0">
                <a:solidFill>
                  <a:srgbClr val="E6ECF5"/>
                </a:solidFill>
                <a:latin typeface="Courier New" pitchFamily="34" charset="0"/>
                <a:ea typeface="Courier New" pitchFamily="34" charset="-122"/>
                <a:cs typeface="Courier New" pitchFamily="34" charset="-120"/>
              </a:rPr>
              <a:t>    return "cow_message/" + str(number).zfill(2) + ".png"</a:t>
            </a:r>
            <a:endParaRPr lang="en-US" sz="1600" dirty="0"/>
          </a:p>
        </p:txBody>
      </p:sp>
      <p:sp>
        <p:nvSpPr>
          <p:cNvPr id="7" name="code bg"/>
          <p:cNvSpPr/>
          <p:nvPr/>
        </p:nvSpPr>
        <p:spPr>
          <a:xfrm>
            <a:off x="457200" y="2286000"/>
            <a:ext cx="8229600" cy="1508760"/>
          </a:xfrm>
          <a:prstGeom prst="rect">
            <a:avLst/>
          </a:prstGeom>
          <a:solidFill>
            <a:srgbClr val="0B2A57"/>
          </a:solidFill>
          <a:ln w="12700">
            <a:solidFill>
              <a:srgbClr val="0B2A57"/>
            </a:solidFill>
            <a:prstDash val="solid"/>
          </a:ln>
        </p:spPr>
        <p:txBody>
          <a:bodyPr/>
          <a:lstStyle/>
          <a:p>
            <a:endParaRPr lang="en-GB"/>
          </a:p>
        </p:txBody>
      </p:sp>
      <p:sp>
        <p:nvSpPr>
          <p:cNvPr id="8" name="code bar"/>
          <p:cNvSpPr/>
          <p:nvPr/>
        </p:nvSpPr>
        <p:spPr>
          <a:xfrm>
            <a:off x="457200" y="2286000"/>
            <a:ext cx="54864" cy="1508760"/>
          </a:xfrm>
          <a:prstGeom prst="rect">
            <a:avLst/>
          </a:prstGeom>
          <a:solidFill>
            <a:srgbClr val="A9C4E8"/>
          </a:solidFill>
          <a:ln w="12700">
            <a:solidFill>
              <a:srgbClr val="5D79A0"/>
            </a:solidFill>
            <a:prstDash val="solid"/>
          </a:ln>
        </p:spPr>
        <p:txBody>
          <a:bodyPr/>
          <a:lstStyle/>
          <a:p>
            <a:endParaRPr lang="en-GB"/>
          </a:p>
        </p:txBody>
      </p:sp>
      <p:sp>
        <p:nvSpPr>
          <p:cNvPr id="9" name="code line 1"/>
          <p:cNvSpPr txBox="1"/>
          <p:nvPr/>
        </p:nvSpPr>
        <p:spPr>
          <a:xfrm>
            <a:off x="640080" y="242316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&gt;&gt;&gt; </a:t>
            </a:r>
            <a:r>
              <a:rPr lang="en-US" sz="1800" dirty="0">
                <a:solidFill>
                  <a:srgbClr val="E6ECF5"/>
                </a:solidFill>
                <a:latin typeface="Courier New" pitchFamily="34" charset="0"/>
                <a:ea typeface="Courier New" pitchFamily="34" charset="-122"/>
                <a:cs typeface="Courier New" pitchFamily="34" charset="-120"/>
              </a:rPr>
              <a:t>image_path(1)</a:t>
            </a:r>
            <a:endParaRPr lang="en-US" sz="1800" dirty="0"/>
          </a:p>
        </p:txBody>
      </p:sp>
      <p:sp>
        <p:nvSpPr>
          <p:cNvPr id="10" name="@1 code line 2"/>
          <p:cNvSpPr txBox="1"/>
          <p:nvPr/>
        </p:nvSpPr>
        <p:spPr>
          <a:xfrm>
            <a:off x="640080" y="2731770"/>
            <a:ext cx="7955280" cy="308610"/>
          </a:xfrm>
          <a:prstGeom prst="rect">
            <a:avLst/>
          </a:prstGeom>
          <a:noFill/>
          <a:ln/>
        </p:spPr>
        <p:txBody>
          <a:bodyPr wrap="square" lIns="0" tIns="0" rIns="0" bIns="0" rtlCol="0" anchor="ctr"/>
          <a:lstStyle/>
          <a:p>
            <a:pPr marL="0" indent="0">
              <a:buNone/>
            </a:pPr>
            <a:r>
              <a:rPr lang="en-US" sz="1800" dirty="0">
                <a:solidFill>
                  <a:srgbClr val="B8E0B0"/>
                </a:solidFill>
                <a:latin typeface="Courier New" pitchFamily="34" charset="0"/>
                <a:ea typeface="Courier New" pitchFamily="34" charset="-122"/>
                <a:cs typeface="Courier New" pitchFamily="34" charset="-120"/>
              </a:rPr>
              <a:t>'cow_message/01.png'</a:t>
            </a:r>
            <a:endParaRPr lang="en-US" sz="1800" dirty="0"/>
          </a:p>
        </p:txBody>
      </p:sp>
      <p:sp>
        <p:nvSpPr>
          <p:cNvPr id="11" name="code line 3"/>
          <p:cNvSpPr txBox="1"/>
          <p:nvPr/>
        </p:nvSpPr>
        <p:spPr>
          <a:xfrm>
            <a:off x="640080" y="304038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&gt;&gt;&gt; </a:t>
            </a:r>
            <a:r>
              <a:rPr lang="en-US" sz="1800" dirty="0">
                <a:solidFill>
                  <a:srgbClr val="E6ECF5"/>
                </a:solidFill>
                <a:latin typeface="Courier New" pitchFamily="34" charset="0"/>
                <a:ea typeface="Courier New" pitchFamily="34" charset="-122"/>
                <a:cs typeface="Courier New" pitchFamily="34" charset="-120"/>
              </a:rPr>
              <a:t>image_path(12)</a:t>
            </a:r>
            <a:endParaRPr lang="en-US" sz="1800" dirty="0"/>
          </a:p>
        </p:txBody>
      </p:sp>
      <p:sp>
        <p:nvSpPr>
          <p:cNvPr id="12" name="@2 code line 4"/>
          <p:cNvSpPr txBox="1"/>
          <p:nvPr/>
        </p:nvSpPr>
        <p:spPr>
          <a:xfrm>
            <a:off x="640080" y="3348990"/>
            <a:ext cx="7955280" cy="308610"/>
          </a:xfrm>
          <a:prstGeom prst="rect">
            <a:avLst/>
          </a:prstGeom>
          <a:noFill/>
          <a:ln/>
        </p:spPr>
        <p:txBody>
          <a:bodyPr wrap="square" lIns="0" tIns="0" rIns="0" bIns="0" rtlCol="0" anchor="ctr"/>
          <a:lstStyle/>
          <a:p>
            <a:pPr marL="0" indent="0">
              <a:buNone/>
            </a:pPr>
            <a:r>
              <a:rPr lang="en-US" sz="1800" dirty="0">
                <a:solidFill>
                  <a:srgbClr val="B8E0B0"/>
                </a:solidFill>
                <a:latin typeface="Courier New" pitchFamily="34" charset="0"/>
                <a:ea typeface="Courier New" pitchFamily="34" charset="-122"/>
                <a:cs typeface="Courier New" pitchFamily="34" charset="-120"/>
              </a:rPr>
              <a:t>'cow_message/12.png'</a:t>
            </a:r>
            <a:endParaRPr lang="en-US" sz="1800" dirty="0"/>
          </a:p>
        </p:txBody>
      </p:sp>
      <p:sp>
        <p:nvSpPr>
          <p:cNvPr id="13" name="@2 addText"/>
          <p:cNvSpPr txBox="1"/>
          <p:nvPr/>
        </p:nvSpPr>
        <p:spPr>
          <a:xfrm>
            <a:off x="457200" y="393192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number in, file name out. You do not need to understand the zfill line. Just use it.</a:t>
            </a:r>
            <a:endParaRPr lang="en-US" sz="1400" dirty="0"/>
          </a:p>
        </p:txBody>
      </p:sp>
      <p:sp>
        <p:nvSpPr>
          <p:cNvPr id="14"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53</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2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200"/>
                                        <p:tgtEl>
                                          <p:spTgt spid="12"/>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3"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Building a String: +=</a:t>
            </a:r>
            <a:endParaRPr lang="en-US" sz="3000" dirty="0"/>
          </a:p>
        </p:txBody>
      </p:sp>
      <p:sp>
        <p:nvSpPr>
          <p:cNvPr id="3" name="code bg"/>
          <p:cNvSpPr/>
          <p:nvPr/>
        </p:nvSpPr>
        <p:spPr>
          <a:xfrm>
            <a:off x="457200" y="1143000"/>
            <a:ext cx="8229600" cy="1817370"/>
          </a:xfrm>
          <a:prstGeom prst="rect">
            <a:avLst/>
          </a:prstGeom>
          <a:solidFill>
            <a:srgbClr val="0B2A57"/>
          </a:solidFill>
          <a:ln w="12700">
            <a:solidFill>
              <a:srgbClr val="0B2A57"/>
            </a:solidFill>
            <a:prstDash val="solid"/>
          </a:ln>
        </p:spPr>
        <p:txBody>
          <a:bodyPr/>
          <a:lstStyle/>
          <a:p>
            <a:endParaRPr lang="en-GB"/>
          </a:p>
        </p:txBody>
      </p:sp>
      <p:sp>
        <p:nvSpPr>
          <p:cNvPr id="4" name="code bar"/>
          <p:cNvSpPr/>
          <p:nvPr/>
        </p:nvSpPr>
        <p:spPr>
          <a:xfrm>
            <a:off x="457200" y="1143000"/>
            <a:ext cx="54864" cy="1817370"/>
          </a:xfrm>
          <a:prstGeom prst="rect">
            <a:avLst/>
          </a:prstGeom>
          <a:solidFill>
            <a:srgbClr val="A9C4E8"/>
          </a:solidFill>
          <a:ln w="12700">
            <a:solidFill>
              <a:srgbClr val="5D79A0"/>
            </a:solidFill>
            <a:prstDash val="solid"/>
          </a:ln>
        </p:spPr>
        <p:txBody>
          <a:bodyPr/>
          <a:lstStyle/>
          <a:p>
            <a:endParaRPr lang="en-GB"/>
          </a:p>
        </p:txBody>
      </p:sp>
      <p:sp>
        <p:nvSpPr>
          <p:cNvPr id="5" name="code line 1"/>
          <p:cNvSpPr txBox="1"/>
          <p:nvPr/>
        </p:nvSpPr>
        <p:spPr>
          <a:xfrm>
            <a:off x="640080" y="128016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&gt;&gt;&gt; </a:t>
            </a:r>
            <a:r>
              <a:rPr lang="en-US" sz="1800" dirty="0">
                <a:solidFill>
                  <a:srgbClr val="E6ECF5"/>
                </a:solidFill>
                <a:latin typeface="Courier New" pitchFamily="34" charset="0"/>
                <a:ea typeface="Courier New" pitchFamily="34" charset="-122"/>
                <a:cs typeface="Courier New" pitchFamily="34" charset="-120"/>
              </a:rPr>
              <a:t>message = ""</a:t>
            </a:r>
            <a:endParaRPr lang="en-US" sz="1800" dirty="0"/>
          </a:p>
        </p:txBody>
      </p:sp>
      <p:sp>
        <p:nvSpPr>
          <p:cNvPr id="6" name="@1 code line 2"/>
          <p:cNvSpPr txBox="1"/>
          <p:nvPr/>
        </p:nvSpPr>
        <p:spPr>
          <a:xfrm>
            <a:off x="640080" y="158877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&gt;&gt;&gt; </a:t>
            </a:r>
            <a:r>
              <a:rPr lang="en-US" sz="1800" dirty="0">
                <a:solidFill>
                  <a:srgbClr val="E6ECF5"/>
                </a:solidFill>
                <a:latin typeface="Courier New" pitchFamily="34" charset="0"/>
                <a:ea typeface="Courier New" pitchFamily="34" charset="-122"/>
                <a:cs typeface="Courier New" pitchFamily="34" charset="-120"/>
              </a:rPr>
              <a:t>message += "C"</a:t>
            </a:r>
            <a:endParaRPr lang="en-US" sz="1800" dirty="0"/>
          </a:p>
        </p:txBody>
      </p:sp>
      <p:sp>
        <p:nvSpPr>
          <p:cNvPr id="7" name="@2 code line 3"/>
          <p:cNvSpPr txBox="1"/>
          <p:nvPr/>
        </p:nvSpPr>
        <p:spPr>
          <a:xfrm>
            <a:off x="640080" y="189738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&gt;&gt;&gt; </a:t>
            </a:r>
            <a:r>
              <a:rPr lang="en-US" sz="1800" dirty="0">
                <a:solidFill>
                  <a:srgbClr val="E6ECF5"/>
                </a:solidFill>
                <a:latin typeface="Courier New" pitchFamily="34" charset="0"/>
                <a:ea typeface="Courier New" pitchFamily="34" charset="-122"/>
                <a:cs typeface="Courier New" pitchFamily="34" charset="-120"/>
              </a:rPr>
              <a:t>message += "A"</a:t>
            </a:r>
            <a:endParaRPr lang="en-US" sz="1800" dirty="0"/>
          </a:p>
        </p:txBody>
      </p:sp>
      <p:sp>
        <p:nvSpPr>
          <p:cNvPr id="8" name="@3 code line 4"/>
          <p:cNvSpPr txBox="1"/>
          <p:nvPr/>
        </p:nvSpPr>
        <p:spPr>
          <a:xfrm>
            <a:off x="640080" y="220599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&gt;&gt;&gt; </a:t>
            </a:r>
            <a:r>
              <a:rPr lang="en-US" sz="1800" dirty="0">
                <a:solidFill>
                  <a:srgbClr val="E6ECF5"/>
                </a:solidFill>
                <a:latin typeface="Courier New" pitchFamily="34" charset="0"/>
                <a:ea typeface="Courier New" pitchFamily="34" charset="-122"/>
                <a:cs typeface="Courier New" pitchFamily="34" charset="-120"/>
              </a:rPr>
              <a:t>message</a:t>
            </a:r>
            <a:endParaRPr lang="en-US" sz="1800" dirty="0"/>
          </a:p>
        </p:txBody>
      </p:sp>
      <p:sp>
        <p:nvSpPr>
          <p:cNvPr id="9" name="@3 code line 5"/>
          <p:cNvSpPr txBox="1"/>
          <p:nvPr/>
        </p:nvSpPr>
        <p:spPr>
          <a:xfrm>
            <a:off x="640080" y="2514600"/>
            <a:ext cx="7955280" cy="308610"/>
          </a:xfrm>
          <a:prstGeom prst="rect">
            <a:avLst/>
          </a:prstGeom>
          <a:noFill/>
          <a:ln/>
        </p:spPr>
        <p:txBody>
          <a:bodyPr wrap="square" lIns="0" tIns="0" rIns="0" bIns="0" rtlCol="0" anchor="ctr"/>
          <a:lstStyle/>
          <a:p>
            <a:pPr marL="0" indent="0">
              <a:buNone/>
            </a:pPr>
            <a:r>
              <a:rPr lang="en-US" sz="1800" dirty="0">
                <a:solidFill>
                  <a:srgbClr val="B8E0B0"/>
                </a:solidFill>
                <a:latin typeface="Courier New" pitchFamily="34" charset="0"/>
                <a:ea typeface="Courier New" pitchFamily="34" charset="-122"/>
                <a:cs typeface="Courier New" pitchFamily="34" charset="-120"/>
              </a:rPr>
              <a:t>'CA'</a:t>
            </a:r>
            <a:endParaRPr lang="en-US" sz="1800" dirty="0"/>
          </a:p>
        </p:txBody>
      </p:sp>
      <p:sp>
        <p:nvSpPr>
          <p:cNvPr id="10" name="@4 addText"/>
          <p:cNvSpPr txBox="1"/>
          <p:nvPr/>
        </p:nvSpPr>
        <p:spPr>
          <a:xfrm>
            <a:off x="457200" y="338328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start empty, stick one letter on the end each time</a:t>
            </a:r>
            <a:endParaRPr lang="en-US" sz="1400" dirty="0"/>
          </a:p>
        </p:txBody>
      </p:sp>
      <p:sp>
        <p:nvSpPr>
          <p:cNvPr id="11"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54</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2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2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200"/>
                                        <p:tgtEl>
                                          <p:spTgt spid="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200"/>
                                        <p:tgtEl>
                                          <p:spTgt spid="9"/>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Building a String in a Loop</a:t>
            </a:r>
            <a:endParaRPr lang="en-US" sz="3000" dirty="0"/>
          </a:p>
        </p:txBody>
      </p:sp>
      <p:sp>
        <p:nvSpPr>
          <p:cNvPr id="3" name="code bg"/>
          <p:cNvSpPr/>
          <p:nvPr/>
        </p:nvSpPr>
        <p:spPr>
          <a:xfrm>
            <a:off x="457200" y="1143000"/>
            <a:ext cx="8229600" cy="1508760"/>
          </a:xfrm>
          <a:prstGeom prst="rect">
            <a:avLst/>
          </a:prstGeom>
          <a:solidFill>
            <a:srgbClr val="0B2A57"/>
          </a:solidFill>
          <a:ln w="12700">
            <a:solidFill>
              <a:srgbClr val="0B2A57"/>
            </a:solidFill>
            <a:prstDash val="solid"/>
          </a:ln>
        </p:spPr>
        <p:txBody>
          <a:bodyPr/>
          <a:lstStyle/>
          <a:p>
            <a:endParaRPr lang="en-GB"/>
          </a:p>
        </p:txBody>
      </p:sp>
      <p:sp>
        <p:nvSpPr>
          <p:cNvPr id="4" name="code bar"/>
          <p:cNvSpPr/>
          <p:nvPr/>
        </p:nvSpPr>
        <p:spPr>
          <a:xfrm>
            <a:off x="457200" y="1143000"/>
            <a:ext cx="54864" cy="1508760"/>
          </a:xfrm>
          <a:prstGeom prst="rect">
            <a:avLst/>
          </a:prstGeom>
          <a:solidFill>
            <a:srgbClr val="5D79A0"/>
          </a:solidFill>
          <a:ln w="12700">
            <a:solidFill>
              <a:srgbClr val="5D79A0"/>
            </a:solidFill>
            <a:prstDash val="solid"/>
          </a:ln>
        </p:spPr>
        <p:txBody>
          <a:bodyPr/>
          <a:lstStyle/>
          <a:p>
            <a:endParaRPr lang="en-GB"/>
          </a:p>
        </p:txBody>
      </p:sp>
      <p:sp>
        <p:nvSpPr>
          <p:cNvPr id="5" name="code line 1"/>
          <p:cNvSpPr txBox="1"/>
          <p:nvPr/>
        </p:nvSpPr>
        <p:spPr>
          <a:xfrm>
            <a:off x="640080" y="128016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 1  </a:t>
            </a:r>
            <a:r>
              <a:rPr lang="en-US" sz="1800" dirty="0">
                <a:solidFill>
                  <a:srgbClr val="E6ECF5"/>
                </a:solidFill>
                <a:latin typeface="Courier New" pitchFamily="34" charset="0"/>
                <a:ea typeface="Courier New" pitchFamily="34" charset="-122"/>
                <a:cs typeface="Courier New" pitchFamily="34" charset="-120"/>
              </a:rPr>
              <a:t>message = ""</a:t>
            </a:r>
            <a:endParaRPr lang="en-US" sz="1800" dirty="0"/>
          </a:p>
        </p:txBody>
      </p:sp>
      <p:sp>
        <p:nvSpPr>
          <p:cNvPr id="6" name="code line 2"/>
          <p:cNvSpPr txBox="1"/>
          <p:nvPr/>
        </p:nvSpPr>
        <p:spPr>
          <a:xfrm>
            <a:off x="640080" y="158877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 2  </a:t>
            </a:r>
            <a:r>
              <a:rPr lang="en-US" sz="1800" dirty="0">
                <a:solidFill>
                  <a:srgbClr val="E6ECF5"/>
                </a:solidFill>
                <a:latin typeface="Courier New" pitchFamily="34" charset="0"/>
                <a:ea typeface="Courier New" pitchFamily="34" charset="-122"/>
                <a:cs typeface="Courier New" pitchFamily="34" charset="-120"/>
              </a:rPr>
              <a:t>for letter in ["C", "A", "T"]:</a:t>
            </a:r>
            <a:endParaRPr lang="en-US" sz="1800" dirty="0"/>
          </a:p>
        </p:txBody>
      </p:sp>
      <p:sp>
        <p:nvSpPr>
          <p:cNvPr id="7" name="code line 3"/>
          <p:cNvSpPr txBox="1"/>
          <p:nvPr/>
        </p:nvSpPr>
        <p:spPr>
          <a:xfrm>
            <a:off x="640080" y="189738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 3  </a:t>
            </a:r>
            <a:r>
              <a:rPr lang="en-US" sz="1800" dirty="0">
                <a:solidFill>
                  <a:srgbClr val="E6ECF5"/>
                </a:solidFill>
                <a:latin typeface="Courier New" pitchFamily="34" charset="0"/>
                <a:ea typeface="Courier New" pitchFamily="34" charset="-122"/>
                <a:cs typeface="Courier New" pitchFamily="34" charset="-120"/>
              </a:rPr>
              <a:t>    message += letter</a:t>
            </a:r>
            <a:endParaRPr lang="en-US" sz="1800" dirty="0"/>
          </a:p>
        </p:txBody>
      </p:sp>
      <p:sp>
        <p:nvSpPr>
          <p:cNvPr id="8" name="code line 4"/>
          <p:cNvSpPr txBox="1"/>
          <p:nvPr/>
        </p:nvSpPr>
        <p:spPr>
          <a:xfrm>
            <a:off x="640080" y="2205990"/>
            <a:ext cx="7955280" cy="308610"/>
          </a:xfrm>
          <a:prstGeom prst="rect">
            <a:avLst/>
          </a:prstGeom>
          <a:noFill/>
          <a:ln/>
        </p:spPr>
        <p:txBody>
          <a:bodyPr wrap="square" lIns="0" tIns="0" rIns="0" bIns="0" rtlCol="0" anchor="ctr"/>
          <a:lstStyle/>
          <a:p>
            <a:pPr marL="0" indent="0">
              <a:buNone/>
            </a:pPr>
            <a:r>
              <a:rPr lang="en-US" sz="1800" dirty="0">
                <a:solidFill>
                  <a:srgbClr val="6F86A8"/>
                </a:solidFill>
                <a:latin typeface="Courier New" pitchFamily="34" charset="0"/>
                <a:ea typeface="Courier New" pitchFamily="34" charset="-122"/>
                <a:cs typeface="Courier New" pitchFamily="34" charset="-120"/>
              </a:rPr>
              <a:t> 4  </a:t>
            </a:r>
            <a:r>
              <a:rPr lang="en-US" sz="1800" dirty="0">
                <a:solidFill>
                  <a:srgbClr val="E6ECF5"/>
                </a:solidFill>
                <a:latin typeface="Courier New" pitchFamily="34" charset="0"/>
                <a:ea typeface="Courier New" pitchFamily="34" charset="-122"/>
                <a:cs typeface="Courier New" pitchFamily="34" charset="-120"/>
              </a:rPr>
              <a:t>print(message)   </a:t>
            </a:r>
            <a:r>
              <a:rPr lang="en-US" sz="1800" dirty="0">
                <a:solidFill>
                  <a:srgbClr val="8EA3C0"/>
                </a:solidFill>
                <a:latin typeface="Courier New" pitchFamily="34" charset="0"/>
                <a:ea typeface="Courier New" pitchFamily="34" charset="-122"/>
                <a:cs typeface="Courier New" pitchFamily="34" charset="-120"/>
              </a:rPr>
              <a:t># CAT</a:t>
            </a:r>
            <a:endParaRPr lang="en-US" sz="1800" dirty="0"/>
          </a:p>
        </p:txBody>
      </p:sp>
      <p:sp>
        <p:nvSpPr>
          <p:cNvPr id="9" name="@1 addText"/>
          <p:cNvSpPr txBox="1"/>
          <p:nvPr/>
        </p:nvSpPr>
        <p:spPr>
          <a:xfrm>
            <a:off x="457200" y="320040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range(1, 38) counts 1 to 37: it stops before 38.</a:t>
            </a:r>
            <a:endParaRPr lang="en-US" sz="1400" dirty="0"/>
          </a:p>
        </p:txBody>
      </p:sp>
      <p:sp>
        <p:nvSpPr>
          <p:cNvPr id="10"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55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2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STEP 4: decode_message</a:t>
            </a:r>
            <a:endParaRPr lang="en-US" sz="3000" dirty="0"/>
          </a:p>
        </p:txBody>
      </p:sp>
      <p:sp>
        <p:nvSpPr>
          <p:cNvPr id="3" name="5 MIN pill"/>
          <p:cNvSpPr/>
          <p:nvPr/>
        </p:nvSpPr>
        <p:spPr>
          <a:xfrm>
            <a:off x="7589520" y="411480"/>
            <a:ext cx="10972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589520" y="411480"/>
            <a:ext cx="10972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5 MIN</a:t>
            </a:r>
            <a:endParaRPr lang="en-US" sz="1200" dirty="0"/>
          </a:p>
        </p:txBody>
      </p:sp>
      <p:sp>
        <p:nvSpPr>
          <p:cNvPr id="5" name="code bg"/>
          <p:cNvSpPr/>
          <p:nvPr/>
        </p:nvSpPr>
        <p:spPr>
          <a:xfrm>
            <a:off x="457200" y="1051560"/>
            <a:ext cx="8229600" cy="3017520"/>
          </a:xfrm>
          <a:prstGeom prst="rect">
            <a:avLst/>
          </a:prstGeom>
          <a:solidFill>
            <a:srgbClr val="0B2A57"/>
          </a:solidFill>
          <a:ln w="12700">
            <a:solidFill>
              <a:srgbClr val="0B2A57"/>
            </a:solidFill>
            <a:prstDash val="solid"/>
          </a:ln>
        </p:spPr>
        <p:txBody>
          <a:bodyPr/>
          <a:lstStyle/>
          <a:p>
            <a:endParaRPr lang="en-GB"/>
          </a:p>
        </p:txBody>
      </p:sp>
      <p:sp>
        <p:nvSpPr>
          <p:cNvPr id="6" name="code bar"/>
          <p:cNvSpPr/>
          <p:nvPr/>
        </p:nvSpPr>
        <p:spPr>
          <a:xfrm>
            <a:off x="457200" y="1051560"/>
            <a:ext cx="54864" cy="3017520"/>
          </a:xfrm>
          <a:prstGeom prst="rect">
            <a:avLst/>
          </a:prstGeom>
          <a:solidFill>
            <a:srgbClr val="5D79A0"/>
          </a:solidFill>
          <a:ln w="12700">
            <a:solidFill>
              <a:srgbClr val="5D79A0"/>
            </a:solidFill>
            <a:prstDash val="solid"/>
          </a:ln>
        </p:spPr>
        <p:txBody>
          <a:bodyPr/>
          <a:lstStyle/>
          <a:p>
            <a:endParaRPr lang="en-GB"/>
          </a:p>
        </p:txBody>
      </p:sp>
      <p:sp>
        <p:nvSpPr>
          <p:cNvPr id="7" name="code line 1"/>
          <p:cNvSpPr txBox="1"/>
          <p:nvPr/>
        </p:nvSpPr>
        <p:spPr>
          <a:xfrm>
            <a:off x="640080" y="118872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1  </a:t>
            </a:r>
            <a:r>
              <a:rPr lang="en-US" sz="1600" dirty="0">
                <a:solidFill>
                  <a:srgbClr val="E6ECF5"/>
                </a:solidFill>
                <a:latin typeface="Courier New" pitchFamily="34" charset="0"/>
                <a:ea typeface="Courier New" pitchFamily="34" charset="-122"/>
                <a:cs typeface="Courier New" pitchFamily="34" charset="-120"/>
              </a:rPr>
              <a:t>def decode_message():</a:t>
            </a:r>
            <a:endParaRPr lang="en-US" sz="1600" dirty="0"/>
          </a:p>
        </p:txBody>
      </p:sp>
      <p:sp>
        <p:nvSpPr>
          <p:cNvPr id="8" name="code line 2"/>
          <p:cNvSpPr txBox="1"/>
          <p:nvPr/>
        </p:nvSpPr>
        <p:spPr>
          <a:xfrm>
            <a:off x="640080" y="146304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2  </a:t>
            </a:r>
            <a:r>
              <a:rPr lang="en-US" sz="1600" dirty="0">
                <a:solidFill>
                  <a:srgbClr val="E6ECF5"/>
                </a:solidFill>
                <a:latin typeface="Courier New" pitchFamily="34" charset="0"/>
                <a:ea typeface="Courier New" pitchFamily="34" charset="-122"/>
                <a:cs typeface="Courier New" pitchFamily="34" charset="-120"/>
              </a:rPr>
              <a:t>    message = ""   </a:t>
            </a:r>
            <a:r>
              <a:rPr lang="en-US" sz="1600" dirty="0">
                <a:solidFill>
                  <a:srgbClr val="8EA3C0"/>
                </a:solidFill>
                <a:latin typeface="Courier New" pitchFamily="34" charset="0"/>
                <a:ea typeface="Courier New" pitchFamily="34" charset="-122"/>
                <a:cs typeface="Courier New" pitchFamily="34" charset="-120"/>
              </a:rPr>
              <a:t># starts empty</a:t>
            </a:r>
            <a:endParaRPr lang="en-US" sz="1600" dirty="0"/>
          </a:p>
        </p:txBody>
      </p:sp>
      <p:sp>
        <p:nvSpPr>
          <p:cNvPr id="9" name="code line 3"/>
          <p:cNvSpPr txBox="1"/>
          <p:nvPr/>
        </p:nvSpPr>
        <p:spPr>
          <a:xfrm>
            <a:off x="640080" y="173736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3  </a:t>
            </a:r>
            <a:r>
              <a:rPr lang="en-US" sz="1600" dirty="0">
                <a:solidFill>
                  <a:srgbClr val="E6ECF5"/>
                </a:solidFill>
                <a:latin typeface="Courier New" pitchFamily="34" charset="0"/>
                <a:ea typeface="Courier New" pitchFamily="34" charset="-122"/>
                <a:cs typeface="Courier New" pitchFamily="34" charset="-120"/>
              </a:rPr>
              <a:t>    </a:t>
            </a:r>
            <a:r>
              <a:rPr lang="en-US" sz="1600" dirty="0">
                <a:solidFill>
                  <a:srgbClr val="8EA3C0"/>
                </a:solidFill>
                <a:latin typeface="Courier New" pitchFamily="34" charset="0"/>
                <a:ea typeface="Courier New" pitchFamily="34" charset="-122"/>
                <a:cs typeface="Courier New" pitchFamily="34" charset="-120"/>
              </a:rPr>
              <a:t># TODO: for each number 1 to 37</a:t>
            </a:r>
            <a:endParaRPr lang="en-US" sz="1600" dirty="0"/>
          </a:p>
        </p:txBody>
      </p:sp>
      <p:sp>
        <p:nvSpPr>
          <p:cNvPr id="10" name="code line 4"/>
          <p:cNvSpPr txBox="1"/>
          <p:nvPr/>
        </p:nvSpPr>
        <p:spPr>
          <a:xfrm>
            <a:off x="640080" y="201168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4  </a:t>
            </a:r>
            <a:r>
              <a:rPr lang="en-US" sz="1600" dirty="0">
                <a:solidFill>
                  <a:srgbClr val="E6ECF5"/>
                </a:solidFill>
                <a:latin typeface="Courier New" pitchFamily="34" charset="0"/>
                <a:ea typeface="Courier New" pitchFamily="34" charset="-122"/>
                <a:cs typeface="Courier New" pitchFamily="34" charset="-120"/>
              </a:rPr>
              <a:t>    </a:t>
            </a:r>
            <a:r>
              <a:rPr lang="en-US" sz="1600" dirty="0">
                <a:solidFill>
                  <a:srgbClr val="8EA3C0"/>
                </a:solidFill>
                <a:latin typeface="Courier New" pitchFamily="34" charset="0"/>
                <a:ea typeface="Courier New" pitchFamily="34" charset="-122"/>
                <a:cs typeface="Courier New" pitchFamily="34" charset="-120"/>
              </a:rPr>
              <a:t>#   (hint: range(1, 38))</a:t>
            </a:r>
            <a:endParaRPr lang="en-US" sz="1600" dirty="0"/>
          </a:p>
        </p:txBody>
      </p:sp>
      <p:sp>
        <p:nvSpPr>
          <p:cNvPr id="11" name="code line 5"/>
          <p:cNvSpPr txBox="1"/>
          <p:nvPr/>
        </p:nvSpPr>
        <p:spPr>
          <a:xfrm>
            <a:off x="640080" y="228600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5  </a:t>
            </a:r>
            <a:r>
              <a:rPr lang="en-US" sz="1600" dirty="0">
                <a:solidFill>
                  <a:srgbClr val="E6ECF5"/>
                </a:solidFill>
                <a:latin typeface="Courier New" pitchFamily="34" charset="0"/>
                <a:ea typeface="Courier New" pitchFamily="34" charset="-122"/>
                <a:cs typeface="Courier New" pitchFamily="34" charset="-120"/>
              </a:rPr>
              <a:t>    </a:t>
            </a:r>
            <a:r>
              <a:rPr lang="en-US" sz="1600" dirty="0">
                <a:solidFill>
                  <a:srgbClr val="8EA3C0"/>
                </a:solidFill>
                <a:latin typeface="Courier New" pitchFamily="34" charset="0"/>
                <a:ea typeface="Courier New" pitchFamily="34" charset="-122"/>
                <a:cs typeface="Courier New" pitchFamily="34" charset="-120"/>
              </a:rPr>
              <a:t>#   1. find the picture: image_path(number)</a:t>
            </a:r>
            <a:endParaRPr lang="en-US" sz="1600" dirty="0"/>
          </a:p>
        </p:txBody>
      </p:sp>
      <p:sp>
        <p:nvSpPr>
          <p:cNvPr id="12" name="code line 6"/>
          <p:cNvSpPr txBox="1"/>
          <p:nvPr/>
        </p:nvSpPr>
        <p:spPr>
          <a:xfrm>
            <a:off x="640080" y="256032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6  </a:t>
            </a:r>
            <a:r>
              <a:rPr lang="en-US" sz="1600" dirty="0">
                <a:solidFill>
                  <a:srgbClr val="E6ECF5"/>
                </a:solidFill>
                <a:latin typeface="Courier New" pitchFamily="34" charset="0"/>
                <a:ea typeface="Courier New" pitchFamily="34" charset="-122"/>
                <a:cs typeface="Courier New" pitchFamily="34" charset="-120"/>
              </a:rPr>
              <a:t>    </a:t>
            </a:r>
            <a:r>
              <a:rPr lang="en-US" sz="1600" dirty="0">
                <a:solidFill>
                  <a:srgbClr val="8EA3C0"/>
                </a:solidFill>
                <a:latin typeface="Courier New" pitchFamily="34" charset="0"/>
                <a:ea typeface="Courier New" pitchFamily="34" charset="-122"/>
                <a:cs typeface="Courier New" pitchFamily="34" charset="-120"/>
              </a:rPr>
              <a:t>#   2. work out its letter</a:t>
            </a:r>
            <a:endParaRPr lang="en-US" sz="1600" dirty="0"/>
          </a:p>
        </p:txBody>
      </p:sp>
      <p:sp>
        <p:nvSpPr>
          <p:cNvPr id="13" name="code line 7"/>
          <p:cNvSpPr txBox="1"/>
          <p:nvPr/>
        </p:nvSpPr>
        <p:spPr>
          <a:xfrm>
            <a:off x="640080" y="283464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7  </a:t>
            </a:r>
            <a:r>
              <a:rPr lang="en-US" sz="1600" dirty="0">
                <a:solidFill>
                  <a:srgbClr val="E6ECF5"/>
                </a:solidFill>
                <a:latin typeface="Courier New" pitchFamily="34" charset="0"/>
                <a:ea typeface="Courier New" pitchFamily="34" charset="-122"/>
                <a:cs typeface="Courier New" pitchFamily="34" charset="-120"/>
              </a:rPr>
              <a:t>    </a:t>
            </a:r>
            <a:r>
              <a:rPr lang="en-US" sz="1600" dirty="0">
                <a:solidFill>
                  <a:srgbClr val="8EA3C0"/>
                </a:solidFill>
                <a:latin typeface="Courier New" pitchFamily="34" charset="0"/>
                <a:ea typeface="Courier New" pitchFamily="34" charset="-122"/>
                <a:cs typeface="Courier New" pitchFamily="34" charset="-120"/>
              </a:rPr>
              <a:t>#   3. message += letter</a:t>
            </a:r>
            <a:endParaRPr lang="en-US" sz="1600" dirty="0"/>
          </a:p>
        </p:txBody>
      </p:sp>
      <p:sp>
        <p:nvSpPr>
          <p:cNvPr id="14" name="code line 8"/>
          <p:cNvSpPr txBox="1"/>
          <p:nvPr/>
        </p:nvSpPr>
        <p:spPr>
          <a:xfrm>
            <a:off x="640080" y="310896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 8  </a:t>
            </a:r>
            <a:r>
              <a:rPr lang="en-US" sz="1600" dirty="0">
                <a:solidFill>
                  <a:srgbClr val="E6ECF5"/>
                </a:solidFill>
                <a:latin typeface="Courier New" pitchFamily="34" charset="0"/>
                <a:ea typeface="Courier New" pitchFamily="34" charset="-122"/>
                <a:cs typeface="Courier New" pitchFamily="34" charset="-120"/>
              </a:rPr>
              <a:t>    return message</a:t>
            </a:r>
            <a:endParaRPr lang="en-US" sz="1600" dirty="0"/>
          </a:p>
        </p:txBody>
      </p:sp>
      <p:sp>
        <p:nvSpPr>
          <p:cNvPr id="15" name="code line 10"/>
          <p:cNvSpPr txBox="1"/>
          <p:nvPr/>
        </p:nvSpPr>
        <p:spPr>
          <a:xfrm>
            <a:off x="640080" y="3657600"/>
            <a:ext cx="7955280" cy="274320"/>
          </a:xfrm>
          <a:prstGeom prst="rect">
            <a:avLst/>
          </a:prstGeom>
          <a:noFill/>
          <a:ln/>
        </p:spPr>
        <p:txBody>
          <a:bodyPr wrap="square" lIns="0" tIns="0" rIns="0" bIns="0" rtlCol="0" anchor="ctr"/>
          <a:lstStyle/>
          <a:p>
            <a:pPr marL="0" indent="0">
              <a:buNone/>
            </a:pPr>
            <a:r>
              <a:rPr lang="en-US" sz="1600" dirty="0">
                <a:solidFill>
                  <a:srgbClr val="6F86A8"/>
                </a:solidFill>
                <a:latin typeface="Courier New" pitchFamily="34" charset="0"/>
                <a:ea typeface="Courier New" pitchFamily="34" charset="-122"/>
                <a:cs typeface="Courier New" pitchFamily="34" charset="-120"/>
              </a:rPr>
              <a:t>10  </a:t>
            </a:r>
            <a:r>
              <a:rPr lang="en-US" sz="1600" dirty="0">
                <a:solidFill>
                  <a:srgbClr val="E6ECF5"/>
                </a:solidFill>
                <a:latin typeface="Courier New" pitchFamily="34" charset="0"/>
                <a:ea typeface="Courier New" pitchFamily="34" charset="-122"/>
                <a:cs typeface="Courier New" pitchFamily="34" charset="-120"/>
              </a:rPr>
              <a:t>print(decode_message())   </a:t>
            </a:r>
            <a:r>
              <a:rPr lang="en-US" sz="1600" dirty="0">
                <a:solidFill>
                  <a:srgbClr val="8EA3C0"/>
                </a:solidFill>
                <a:latin typeface="Courier New" pitchFamily="34" charset="0"/>
                <a:ea typeface="Courier New" pitchFamily="34" charset="-122"/>
                <a:cs typeface="Courier New" pitchFamily="34" charset="-120"/>
              </a:rPr>
              <a:t># remove the # to run</a:t>
            </a:r>
            <a:endParaRPr lang="en-US" sz="1600" dirty="0"/>
          </a:p>
        </p:txBody>
      </p:sp>
      <p:sp>
        <p:nvSpPr>
          <p:cNvPr id="16" name="Text 14"/>
          <p:cNvSpPr txBox="1"/>
          <p:nvPr/>
        </p:nvSpPr>
        <p:spPr>
          <a:xfrm>
            <a:off x="457200" y="4206240"/>
            <a:ext cx="8229600" cy="548640"/>
          </a:xfrm>
          <a:prstGeom prst="rect">
            <a:avLst/>
          </a:prstGeom>
          <a:noFill/>
          <a:ln/>
        </p:spPr>
        <p:txBody>
          <a:bodyPr wrap="square" lIns="0" tIns="0" rIns="0" bIns="0" rtlCol="0" anchor="t"/>
          <a:lstStyle/>
          <a:p>
            <a:pPr marL="0" indent="0">
              <a:buNone/>
            </a:pPr>
            <a:r>
              <a:rPr lang="en-US" sz="1400" i="1" dirty="0">
                <a:solidFill>
                  <a:srgbClr val="5D6B80"/>
                </a:solidFill>
                <a:latin typeface="Arial" pitchFamily="34" charset="0"/>
                <a:ea typeface="Arial" pitchFamily="34" charset="-122"/>
                <a:cs typeface="Arial" pitchFamily="34" charset="-120"/>
              </a:rPr>
              <a:t>Does it read like English? Then it worked. Gibberish? Check STEP 2 and STEP 3.</a:t>
            </a:r>
            <a:endParaRPr lang="en-US" sz="1400" dirty="0"/>
          </a:p>
        </p:txBody>
      </p:sp>
      <p:sp>
        <p:nvSpPr>
          <p:cNvPr id="17"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Solve the Puzzle</a:t>
            </a:r>
            <a:endParaRPr lang="en-US" sz="3400" dirty="0"/>
          </a:p>
        </p:txBody>
      </p:sp>
      <p:sp>
        <p:nvSpPr>
          <p:cNvPr id="3" name="Text 1"/>
          <p:cNvSpPr txBox="1"/>
          <p:nvPr/>
        </p:nvSpPr>
        <p:spPr>
          <a:xfrm>
            <a:off x="548640" y="640080"/>
            <a:ext cx="3657600" cy="457200"/>
          </a:xfrm>
          <a:prstGeom prst="rect">
            <a:avLst/>
          </a:prstGeom>
          <a:noFill/>
          <a:ln/>
        </p:spPr>
        <p:txBody>
          <a:bodyPr wrap="square" lIns="0" tIns="0" rIns="0" bIns="0" rtlCol="0" anchor="ctr"/>
          <a:lstStyle/>
          <a:p>
            <a:pPr marL="0" indent="0">
              <a:buNone/>
            </a:pPr>
            <a:r>
              <a:rPr lang="en-US" sz="2200" b="1" kern="0" spc="400" dirty="0">
                <a:solidFill>
                  <a:srgbClr val="A9C4E8"/>
                </a:solidFill>
                <a:latin typeface="Arial" pitchFamily="34" charset="0"/>
                <a:ea typeface="Arial" pitchFamily="34" charset="-122"/>
                <a:cs typeface="Arial" pitchFamily="34" charset="-120"/>
              </a:rPr>
              <a:t>COMPUTER TIME</a:t>
            </a:r>
            <a:endParaRPr lang="en-US" sz="2200" dirty="0"/>
          </a:p>
        </p:txBody>
      </p:sp>
      <p:sp>
        <p:nvSpPr>
          <p:cNvPr id="4" name="Text 2"/>
          <p:cNvSpPr txBox="1"/>
          <p:nvPr/>
        </p:nvSpPr>
        <p:spPr>
          <a:xfrm>
            <a:off x="548640" y="2743200"/>
            <a:ext cx="5852160" cy="822960"/>
          </a:xfrm>
          <a:prstGeom prst="rect">
            <a:avLst/>
          </a:prstGeom>
          <a:noFill/>
          <a:ln/>
        </p:spPr>
        <p:txBody>
          <a:bodyPr wrap="square" lIns="0" tIns="0" rIns="0" bIns="0" rtlCol="0" anchor="t"/>
          <a:lstStyle/>
          <a:p>
            <a:pPr marL="0" indent="0">
              <a:buNone/>
            </a:pPr>
            <a:r>
              <a:rPr lang="en-US" sz="1800" dirty="0">
                <a:solidFill>
                  <a:srgbClr val="C5D1E3"/>
                </a:solidFill>
                <a:latin typeface="Arial" pitchFamily="34" charset="0"/>
                <a:ea typeface="Arial" pitchFamily="34" charset="-122"/>
                <a:cs typeface="Arial" pitchFamily="34" charset="-120"/>
              </a:rPr>
              <a:t>Work through STEP 1 to 4 in image_starter.py. Test each step before the next. Read the message aloud.</a:t>
            </a:r>
            <a:endParaRPr lang="en-US" sz="1800" dirty="0"/>
          </a:p>
        </p:txBody>
      </p:sp>
      <p:sp>
        <p:nvSpPr>
          <p:cNvPr id="5" name="Timer pill"/>
          <p:cNvSpPr/>
          <p:nvPr/>
        </p:nvSpPr>
        <p:spPr>
          <a:xfrm>
            <a:off x="548640" y="3840480"/>
            <a:ext cx="2194560" cy="640080"/>
          </a:xfrm>
          <a:prstGeom prst="roundRect">
            <a:avLst>
              <a:gd name="adj" fmla="val 50000"/>
            </a:avLst>
          </a:prstGeom>
          <a:solidFill>
            <a:srgbClr val="A9C4E8"/>
          </a:solidFill>
          <a:ln w="12700">
            <a:solidFill>
              <a:srgbClr val="A9C4E8"/>
            </a:solidFill>
            <a:prstDash val="solid"/>
          </a:ln>
        </p:spPr>
        <p:txBody>
          <a:bodyPr/>
          <a:lstStyle/>
          <a:p>
            <a:endParaRPr lang="en-GB"/>
          </a:p>
        </p:txBody>
      </p:sp>
      <p:pic>
        <p:nvPicPr>
          <p:cNvPr id="6" name="Image 0" descr="clock"/>
          <p:cNvPicPr>
            <a:picLocks noChangeAspect="1"/>
          </p:cNvPicPr>
          <p:nvPr/>
        </p:nvPicPr>
        <p:blipFill>
          <a:blip r:embed="rId3"/>
          <a:stretch>
            <a:fillRect/>
          </a:stretch>
        </p:blipFill>
        <p:spPr>
          <a:xfrm>
            <a:off x="749808" y="3995928"/>
            <a:ext cx="329184" cy="329184"/>
          </a:xfrm>
          <a:prstGeom prst="rect">
            <a:avLst/>
          </a:prstGeom>
        </p:spPr>
      </p:pic>
      <p:sp>
        <p:nvSpPr>
          <p:cNvPr id="7" name="Text 4"/>
          <p:cNvSpPr txBox="1"/>
          <p:nvPr/>
        </p:nvSpPr>
        <p:spPr>
          <a:xfrm>
            <a:off x="1170432" y="3840480"/>
            <a:ext cx="1463040" cy="640080"/>
          </a:xfrm>
          <a:prstGeom prst="rect">
            <a:avLst/>
          </a:prstGeom>
          <a:noFill/>
          <a:ln/>
        </p:spPr>
        <p:txBody>
          <a:bodyPr wrap="square" lIns="0" tIns="0" rIns="0" bIns="0" rtlCol="0" anchor="ctr"/>
          <a:lstStyle/>
          <a:p>
            <a:pPr marL="0" indent="0">
              <a:buNone/>
            </a:pPr>
            <a:r>
              <a:rPr lang="en-US" sz="2000" b="1" dirty="0">
                <a:solidFill>
                  <a:srgbClr val="001B40"/>
                </a:solidFill>
                <a:latin typeface="Arial" pitchFamily="34" charset="0"/>
                <a:ea typeface="Arial" pitchFamily="34" charset="-122"/>
                <a:cs typeface="Arial" pitchFamily="34" charset="-120"/>
              </a:rPr>
              <a:t>5 min</a:t>
            </a:r>
            <a:endParaRPr lang="en-US" sz="2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Stuck? Use the Booklet</a:t>
            </a:r>
            <a:endParaRPr lang="en-US" sz="3000" dirty="0"/>
          </a:p>
        </p:txBody>
      </p:sp>
      <p:sp>
        <p:nvSpPr>
          <p:cNvPr id="3" name="@1 Card"/>
          <p:cNvSpPr/>
          <p:nvPr/>
        </p:nvSpPr>
        <p:spPr>
          <a:xfrm>
            <a:off x="457200" y="1280160"/>
            <a:ext cx="4023360" cy="1188720"/>
          </a:xfrm>
          <a:prstGeom prst="roundRect">
            <a:avLst>
              <a:gd name="adj" fmla="val 9231"/>
            </a:avLst>
          </a:prstGeom>
          <a:solidFill>
            <a:srgbClr val="FFFFFF"/>
          </a:solidFill>
          <a:ln w="9525">
            <a:solidFill>
              <a:srgbClr val="C5D1E3"/>
            </a:solidFill>
            <a:prstDash val="solid"/>
          </a:ln>
        </p:spPr>
        <p:txBody>
          <a:bodyPr/>
          <a:lstStyle/>
          <a:p>
            <a:endParaRPr lang="en-GB"/>
          </a:p>
        </p:txBody>
      </p:sp>
      <p:sp>
        <p:nvSpPr>
          <p:cNvPr id="4" name="@1 addText"/>
          <p:cNvSpPr txBox="1"/>
          <p:nvPr/>
        </p:nvSpPr>
        <p:spPr>
          <a:xfrm>
            <a:off x="457200" y="1417320"/>
            <a:ext cx="4023360" cy="502920"/>
          </a:xfrm>
          <a:prstGeom prst="rect">
            <a:avLst/>
          </a:prstGeom>
          <a:noFill/>
          <a:ln/>
        </p:spPr>
        <p:txBody>
          <a:bodyPr wrap="square" lIns="0" tIns="0" rIns="0" bIns="0" rtlCol="0" anchor="ctr"/>
          <a:lstStyle/>
          <a:p>
            <a:pPr marL="0" indent="0" algn="ctr">
              <a:buNone/>
            </a:pPr>
            <a:r>
              <a:rPr lang="en-US" sz="1800" b="1" dirty="0">
                <a:solidFill>
                  <a:srgbClr val="002D6A"/>
                </a:solidFill>
                <a:latin typeface="Arial" pitchFamily="34" charset="0"/>
                <a:ea typeface="Arial" pitchFamily="34" charset="-122"/>
                <a:cs typeface="Arial" pitchFamily="34" charset="-120"/>
              </a:rPr>
              <a:t>Plan before you type</a:t>
            </a:r>
            <a:endParaRPr lang="en-US" sz="1800" dirty="0"/>
          </a:p>
        </p:txBody>
      </p:sp>
      <p:sp>
        <p:nvSpPr>
          <p:cNvPr id="5" name="@1 addText"/>
          <p:cNvSpPr txBox="1"/>
          <p:nvPr/>
        </p:nvSpPr>
        <p:spPr>
          <a:xfrm>
            <a:off x="457200" y="1920240"/>
            <a:ext cx="4023360" cy="36576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work it out on paper</a:t>
            </a:r>
            <a:endParaRPr lang="en-US" sz="1400" dirty="0"/>
          </a:p>
        </p:txBody>
      </p:sp>
      <p:sp>
        <p:nvSpPr>
          <p:cNvPr id="6" name="@2 Card"/>
          <p:cNvSpPr/>
          <p:nvPr/>
        </p:nvSpPr>
        <p:spPr>
          <a:xfrm>
            <a:off x="4663440" y="1280160"/>
            <a:ext cx="4023360" cy="1188720"/>
          </a:xfrm>
          <a:prstGeom prst="roundRect">
            <a:avLst>
              <a:gd name="adj" fmla="val 9231"/>
            </a:avLst>
          </a:prstGeom>
          <a:solidFill>
            <a:srgbClr val="FFFFFF"/>
          </a:solidFill>
          <a:ln w="9525">
            <a:solidFill>
              <a:srgbClr val="C5D1E3"/>
            </a:solidFill>
            <a:prstDash val="solid"/>
          </a:ln>
        </p:spPr>
        <p:txBody>
          <a:bodyPr/>
          <a:lstStyle/>
          <a:p>
            <a:endParaRPr lang="en-GB"/>
          </a:p>
        </p:txBody>
      </p:sp>
      <p:sp>
        <p:nvSpPr>
          <p:cNvPr id="7" name="@2 addText"/>
          <p:cNvSpPr txBox="1"/>
          <p:nvPr/>
        </p:nvSpPr>
        <p:spPr>
          <a:xfrm>
            <a:off x="4663440" y="1417320"/>
            <a:ext cx="4023360" cy="502920"/>
          </a:xfrm>
          <a:prstGeom prst="rect">
            <a:avLst/>
          </a:prstGeom>
          <a:noFill/>
          <a:ln/>
        </p:spPr>
        <p:txBody>
          <a:bodyPr wrap="square" lIns="0" tIns="0" rIns="0" bIns="0" rtlCol="0" anchor="ctr"/>
          <a:lstStyle/>
          <a:p>
            <a:pPr marL="0" indent="0" algn="ctr">
              <a:buNone/>
            </a:pPr>
            <a:r>
              <a:rPr lang="en-US" sz="1800" b="1" dirty="0">
                <a:solidFill>
                  <a:srgbClr val="002D6A"/>
                </a:solidFill>
                <a:latin typeface="Arial" pitchFamily="34" charset="0"/>
                <a:ea typeface="Arial" pitchFamily="34" charset="-122"/>
                <a:cs typeface="Arial" pitchFamily="34" charset="-120"/>
              </a:rPr>
              <a:t>Fill in the functions</a:t>
            </a:r>
            <a:endParaRPr lang="en-US" sz="1800" dirty="0"/>
          </a:p>
        </p:txBody>
      </p:sp>
      <p:sp>
        <p:nvSpPr>
          <p:cNvPr id="8" name="@2 addText"/>
          <p:cNvSpPr txBox="1"/>
          <p:nvPr/>
        </p:nvSpPr>
        <p:spPr>
          <a:xfrm>
            <a:off x="4663440" y="1920240"/>
            <a:ext cx="4023360" cy="36576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the shape of each STEP</a:t>
            </a:r>
            <a:endParaRPr lang="en-US" sz="1400" dirty="0"/>
          </a:p>
        </p:txBody>
      </p:sp>
      <p:sp>
        <p:nvSpPr>
          <p:cNvPr id="9" name="@3 Card"/>
          <p:cNvSpPr/>
          <p:nvPr/>
        </p:nvSpPr>
        <p:spPr>
          <a:xfrm>
            <a:off x="457200" y="2651760"/>
            <a:ext cx="4023360" cy="1188720"/>
          </a:xfrm>
          <a:prstGeom prst="roundRect">
            <a:avLst>
              <a:gd name="adj" fmla="val 9231"/>
            </a:avLst>
          </a:prstGeom>
          <a:solidFill>
            <a:srgbClr val="FFFFFF"/>
          </a:solidFill>
          <a:ln w="9525">
            <a:solidFill>
              <a:srgbClr val="C5D1E3"/>
            </a:solidFill>
            <a:prstDash val="solid"/>
          </a:ln>
        </p:spPr>
        <p:txBody>
          <a:bodyPr/>
          <a:lstStyle/>
          <a:p>
            <a:endParaRPr lang="en-GB"/>
          </a:p>
        </p:txBody>
      </p:sp>
      <p:sp>
        <p:nvSpPr>
          <p:cNvPr id="10" name="@3 addText"/>
          <p:cNvSpPr txBox="1"/>
          <p:nvPr/>
        </p:nvSpPr>
        <p:spPr>
          <a:xfrm>
            <a:off x="457200" y="2788920"/>
            <a:ext cx="4023360" cy="502920"/>
          </a:xfrm>
          <a:prstGeom prst="rect">
            <a:avLst/>
          </a:prstGeom>
          <a:noFill/>
          <a:ln/>
        </p:spPr>
        <p:txBody>
          <a:bodyPr wrap="square" lIns="0" tIns="0" rIns="0" bIns="0" rtlCol="0" anchor="ctr"/>
          <a:lstStyle/>
          <a:p>
            <a:pPr marL="0" indent="0" algn="ctr">
              <a:buNone/>
            </a:pPr>
            <a:r>
              <a:rPr lang="en-US" sz="1800" b="1" dirty="0">
                <a:solidFill>
                  <a:srgbClr val="002D6A"/>
                </a:solidFill>
                <a:latin typeface="Arial" pitchFamily="34" charset="0"/>
                <a:ea typeface="Arial" pitchFamily="34" charset="-122"/>
                <a:cs typeface="Arial" pitchFamily="34" charset="-120"/>
              </a:rPr>
              <a:t>The starter code</a:t>
            </a:r>
            <a:endParaRPr lang="en-US" sz="1800" dirty="0"/>
          </a:p>
        </p:txBody>
      </p:sp>
      <p:sp>
        <p:nvSpPr>
          <p:cNvPr id="11" name="@3 addText"/>
          <p:cNvSpPr txBox="1"/>
          <p:nvPr/>
        </p:nvSpPr>
        <p:spPr>
          <a:xfrm>
            <a:off x="457200" y="3291840"/>
            <a:ext cx="4023360" cy="36576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what each line does</a:t>
            </a:r>
            <a:endParaRPr lang="en-US" sz="1400" dirty="0"/>
          </a:p>
        </p:txBody>
      </p:sp>
      <p:sp>
        <p:nvSpPr>
          <p:cNvPr id="12" name="@4 Card"/>
          <p:cNvSpPr/>
          <p:nvPr/>
        </p:nvSpPr>
        <p:spPr>
          <a:xfrm>
            <a:off x="4663440" y="2651760"/>
            <a:ext cx="4023360" cy="1188720"/>
          </a:xfrm>
          <a:prstGeom prst="roundRect">
            <a:avLst>
              <a:gd name="adj" fmla="val 9231"/>
            </a:avLst>
          </a:prstGeom>
          <a:solidFill>
            <a:srgbClr val="FFFFFF"/>
          </a:solidFill>
          <a:ln w="9525">
            <a:solidFill>
              <a:srgbClr val="C5D1E3"/>
            </a:solidFill>
            <a:prstDash val="solid"/>
          </a:ln>
        </p:spPr>
        <p:txBody>
          <a:bodyPr/>
          <a:lstStyle/>
          <a:p>
            <a:endParaRPr lang="en-GB"/>
          </a:p>
        </p:txBody>
      </p:sp>
      <p:sp>
        <p:nvSpPr>
          <p:cNvPr id="13" name="@4 addText"/>
          <p:cNvSpPr txBox="1"/>
          <p:nvPr/>
        </p:nvSpPr>
        <p:spPr>
          <a:xfrm>
            <a:off x="4663440" y="2788920"/>
            <a:ext cx="4023360" cy="502920"/>
          </a:xfrm>
          <a:prstGeom prst="rect">
            <a:avLst/>
          </a:prstGeom>
          <a:noFill/>
          <a:ln/>
        </p:spPr>
        <p:txBody>
          <a:bodyPr wrap="square" lIns="0" tIns="0" rIns="0" bIns="0" rtlCol="0" anchor="ctr"/>
          <a:lstStyle/>
          <a:p>
            <a:pPr marL="0" indent="0" algn="ctr">
              <a:buNone/>
            </a:pPr>
            <a:r>
              <a:rPr lang="en-US" sz="1800" b="1" dirty="0">
                <a:solidFill>
                  <a:srgbClr val="002D6A"/>
                </a:solidFill>
                <a:latin typeface="Arial" pitchFamily="34" charset="0"/>
                <a:ea typeface="Arial" pitchFamily="34" charset="-122"/>
                <a:cs typeface="Arial" pitchFamily="34" charset="-120"/>
              </a:rPr>
              <a:t>Message tracker</a:t>
            </a:r>
            <a:endParaRPr lang="en-US" sz="1800" dirty="0"/>
          </a:p>
        </p:txBody>
      </p:sp>
      <p:sp>
        <p:nvSpPr>
          <p:cNvPr id="14" name="@4 addText"/>
          <p:cNvSpPr txBox="1"/>
          <p:nvPr/>
        </p:nvSpPr>
        <p:spPr>
          <a:xfrm>
            <a:off x="4663440" y="3291840"/>
            <a:ext cx="4023360" cy="365760"/>
          </a:xfrm>
          <a:prstGeom prst="rect">
            <a:avLst/>
          </a:prstGeom>
          <a:noFill/>
          <a:ln/>
        </p:spPr>
        <p:txBody>
          <a:bodyPr wrap="square" lIns="0" tIns="0" rIns="0" bIns="0" rtlCol="0" anchor="ctr"/>
          <a:lstStyle/>
          <a:p>
            <a:pPr marL="0" indent="0" algn="ctr">
              <a:buNone/>
            </a:pPr>
            <a:r>
              <a:rPr lang="en-US" sz="1400" dirty="0">
                <a:solidFill>
                  <a:srgbClr val="5D6B80"/>
                </a:solidFill>
                <a:latin typeface="Arial" pitchFamily="34" charset="0"/>
                <a:ea typeface="Arial" pitchFamily="34" charset="-122"/>
                <a:cs typeface="Arial" pitchFamily="34" charset="-120"/>
              </a:rPr>
              <a:t>write down each letter</a:t>
            </a:r>
            <a:endParaRPr lang="en-US" sz="1400" dirty="0"/>
          </a:p>
        </p:txBody>
      </p:sp>
      <p:sp>
        <p:nvSpPr>
          <p:cNvPr id="1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58</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2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2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2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200"/>
                                        <p:tgtEl>
                                          <p:spTgt spid="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200"/>
                                        <p:tgtEl>
                                          <p:spTgt spid="7"/>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2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200"/>
                                        <p:tgtEl>
                                          <p:spTgt spid="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200"/>
                                        <p:tgtEl>
                                          <p:spTgt spid="1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200"/>
                                        <p:tgtEl>
                                          <p:spTgt spid="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200"/>
                                        <p:tgtEl>
                                          <p:spTgt spid="1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200"/>
                                        <p:tgtEl>
                                          <p:spTgt spid="13"/>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2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Stretch</a:t>
            </a:r>
            <a:endParaRPr lang="en-US" sz="3400" dirty="0"/>
          </a:p>
        </p:txBody>
      </p:sp>
      <p:sp>
        <p:nvSpPr>
          <p:cNvPr id="3" name="Text 1"/>
          <p:cNvSpPr txBox="1"/>
          <p:nvPr/>
        </p:nvSpPr>
        <p:spPr>
          <a:xfrm>
            <a:off x="548640" y="640080"/>
            <a:ext cx="4572000" cy="457200"/>
          </a:xfrm>
          <a:prstGeom prst="rect">
            <a:avLst/>
          </a:prstGeom>
          <a:noFill/>
          <a:ln/>
        </p:spPr>
        <p:txBody>
          <a:bodyPr wrap="square" lIns="0" tIns="0" rIns="0" bIns="0" rtlCol="0" anchor="ctr"/>
          <a:lstStyle/>
          <a:p>
            <a:pPr marL="0" indent="0">
              <a:buNone/>
            </a:pPr>
            <a:r>
              <a:rPr lang="en-US" sz="2200" b="1" kern="0" spc="400" dirty="0">
                <a:solidFill>
                  <a:srgbClr val="A9C4E8"/>
                </a:solidFill>
                <a:latin typeface="Arial" pitchFamily="34" charset="0"/>
                <a:ea typeface="Arial" pitchFamily="34" charset="-122"/>
                <a:cs typeface="Arial" pitchFamily="34" charset="-120"/>
              </a:rPr>
              <a:t>FINISHED EARLY?</a:t>
            </a:r>
            <a:endParaRPr lang="en-US" sz="2200" dirty="0"/>
          </a:p>
        </p:txBody>
      </p:sp>
      <p:sp>
        <p:nvSpPr>
          <p:cNvPr id="4" name="Text 2"/>
          <p:cNvSpPr txBox="1"/>
          <p:nvPr/>
        </p:nvSpPr>
        <p:spPr>
          <a:xfrm>
            <a:off x="548640" y="2743200"/>
            <a:ext cx="6766560" cy="1280160"/>
          </a:xfrm>
          <a:prstGeom prst="rect">
            <a:avLst/>
          </a:prstGeom>
          <a:noFill/>
          <a:ln/>
        </p:spPr>
        <p:txBody>
          <a:bodyPr wrap="square" lIns="0" tIns="0" rIns="0" bIns="0" rtlCol="0" anchor="t"/>
          <a:lstStyle/>
          <a:p>
            <a:pPr marL="0" indent="0">
              <a:buNone/>
            </a:pPr>
            <a:r>
              <a:rPr lang="en-US" sz="1800" dirty="0">
                <a:solidFill>
                  <a:srgbClr val="C5D1E3"/>
                </a:solidFill>
                <a:latin typeface="Arial" pitchFamily="34" charset="0"/>
                <a:ea typeface="Arial" pitchFamily="34" charset="-122"/>
                <a:cs typeface="Arial" pitchFamily="34" charset="-120"/>
              </a:rPr>
              <a:t>Add up green (channel 1) or blue (channel 2) instead. What message do you get? If a red total went up by 1, which letter comes next? By 26?</a:t>
            </a:r>
            <a:endParaRPr lang="en-US" sz="1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What You Learned Today</a:t>
            </a:r>
            <a:endParaRPr lang="en-US" sz="3000" dirty="0"/>
          </a:p>
        </p:txBody>
      </p:sp>
      <p:sp>
        <p:nvSpPr>
          <p:cNvPr id="3" name="2 MIN pill"/>
          <p:cNvSpPr/>
          <p:nvPr/>
        </p:nvSpPr>
        <p:spPr>
          <a:xfrm>
            <a:off x="7132320" y="411480"/>
            <a:ext cx="1554480" cy="365760"/>
          </a:xfrm>
          <a:prstGeom prst="roundRect">
            <a:avLst>
              <a:gd name="adj" fmla="val 50000"/>
            </a:avLst>
          </a:prstGeom>
          <a:solidFill>
            <a:srgbClr val="A9C4E8"/>
          </a:solidFill>
          <a:ln w="12700">
            <a:solidFill>
              <a:srgbClr val="A9C4E8"/>
            </a:solidFill>
            <a:prstDash val="solid"/>
          </a:ln>
        </p:spPr>
        <p:txBody>
          <a:bodyPr/>
          <a:lstStyle/>
          <a:p>
            <a:endParaRPr lang="en-GB"/>
          </a:p>
        </p:txBody>
      </p:sp>
      <p:sp>
        <p:nvSpPr>
          <p:cNvPr id="4" name="Text 2"/>
          <p:cNvSpPr txBox="1"/>
          <p:nvPr/>
        </p:nvSpPr>
        <p:spPr>
          <a:xfrm>
            <a:off x="7132320" y="411480"/>
            <a:ext cx="1554480" cy="365760"/>
          </a:xfrm>
          <a:prstGeom prst="rect">
            <a:avLst/>
          </a:prstGeom>
          <a:noFill/>
          <a:ln/>
        </p:spPr>
        <p:txBody>
          <a:bodyPr wrap="square" lIns="0" tIns="0" rIns="0" bIns="0" rtlCol="0" anchor="ctr"/>
          <a:lstStyle/>
          <a:p>
            <a:pPr marL="0" indent="0" algn="ctr">
              <a:buNone/>
            </a:pPr>
            <a:r>
              <a:rPr lang="en-US" sz="1200" b="1" kern="0" spc="200" dirty="0">
                <a:solidFill>
                  <a:srgbClr val="001B40"/>
                </a:solidFill>
                <a:latin typeface="Arial" pitchFamily="34" charset="0"/>
                <a:ea typeface="Arial" pitchFamily="34" charset="-122"/>
                <a:cs typeface="Arial" pitchFamily="34" charset="-120"/>
              </a:rPr>
              <a:t>2 MIN</a:t>
            </a:r>
            <a:endParaRPr lang="en-US" sz="1200" dirty="0"/>
          </a:p>
        </p:txBody>
      </p:sp>
      <p:sp>
        <p:nvSpPr>
          <p:cNvPr id="5" name="@1 dot"/>
          <p:cNvSpPr/>
          <p:nvPr/>
        </p:nvSpPr>
        <p:spPr>
          <a:xfrm>
            <a:off x="457200" y="1316736"/>
            <a:ext cx="109728" cy="109728"/>
          </a:xfrm>
          <a:prstGeom prst="ellipse">
            <a:avLst/>
          </a:prstGeom>
          <a:solidFill>
            <a:srgbClr val="002D6A"/>
          </a:solidFill>
          <a:ln w="12700">
            <a:solidFill>
              <a:srgbClr val="002D6A"/>
            </a:solidFill>
            <a:prstDash val="solid"/>
          </a:ln>
        </p:spPr>
        <p:txBody>
          <a:bodyPr/>
          <a:lstStyle/>
          <a:p>
            <a:endParaRPr lang="en-GB"/>
          </a:p>
        </p:txBody>
      </p:sp>
      <p:sp>
        <p:nvSpPr>
          <p:cNvPr id="6" name="@1 addText"/>
          <p:cNvSpPr txBox="1"/>
          <p:nvPr/>
        </p:nvSpPr>
        <p:spPr>
          <a:xfrm>
            <a:off x="731520" y="1188720"/>
            <a:ext cx="7955280" cy="612648"/>
          </a:xfrm>
          <a:prstGeom prst="rect">
            <a:avLst/>
          </a:prstGeom>
          <a:noFill/>
          <a:ln/>
        </p:spPr>
        <p:txBody>
          <a:bodyPr wrap="square" lIns="0" tIns="0" rIns="0" bIns="0" rtlCol="0" anchor="t"/>
          <a:lstStyle/>
          <a:p>
            <a:pPr marL="0" indent="0">
              <a:buNone/>
            </a:pPr>
            <a:r>
              <a:rPr lang="en-US" sz="1800" dirty="0">
                <a:solidFill>
                  <a:srgbClr val="22262E"/>
                </a:solidFill>
                <a:latin typeface="Arial" pitchFamily="34" charset="0"/>
                <a:ea typeface="Arial" pitchFamily="34" charset="-122"/>
                <a:cs typeface="Arial" pitchFamily="34" charset="-120"/>
              </a:rPr>
              <a:t>a picture is a grid of numbers: rows x columns x 3</a:t>
            </a:r>
            <a:endParaRPr lang="en-US" sz="1800" dirty="0"/>
          </a:p>
        </p:txBody>
      </p:sp>
      <p:sp>
        <p:nvSpPr>
          <p:cNvPr id="7" name="@2 dot"/>
          <p:cNvSpPr/>
          <p:nvPr/>
        </p:nvSpPr>
        <p:spPr>
          <a:xfrm>
            <a:off x="457200" y="1975104"/>
            <a:ext cx="109728" cy="109728"/>
          </a:xfrm>
          <a:prstGeom prst="ellipse">
            <a:avLst/>
          </a:prstGeom>
          <a:solidFill>
            <a:srgbClr val="002D6A"/>
          </a:solidFill>
          <a:ln w="12700">
            <a:solidFill>
              <a:srgbClr val="002D6A"/>
            </a:solidFill>
            <a:prstDash val="solid"/>
          </a:ln>
        </p:spPr>
        <p:txBody>
          <a:bodyPr/>
          <a:lstStyle/>
          <a:p>
            <a:endParaRPr lang="en-GB"/>
          </a:p>
        </p:txBody>
      </p:sp>
      <p:sp>
        <p:nvSpPr>
          <p:cNvPr id="8" name="@2 addText"/>
          <p:cNvSpPr txBox="1"/>
          <p:nvPr/>
        </p:nvSpPr>
        <p:spPr>
          <a:xfrm>
            <a:off x="731520" y="1847088"/>
            <a:ext cx="7955280" cy="612648"/>
          </a:xfrm>
          <a:prstGeom prst="rect">
            <a:avLst/>
          </a:prstGeom>
          <a:noFill/>
          <a:ln/>
        </p:spPr>
        <p:txBody>
          <a:bodyPr wrap="square" lIns="0" tIns="0" rIns="0" bIns="0" rtlCol="0" anchor="t"/>
          <a:lstStyle/>
          <a:p>
            <a:pPr marL="0" indent="0">
              <a:buNone/>
            </a:pPr>
            <a:r>
              <a:rPr lang="en-US" sz="1800" dirty="0">
                <a:solidFill>
                  <a:srgbClr val="22262E"/>
                </a:solidFill>
                <a:latin typeface="Arial" pitchFamily="34" charset="0"/>
                <a:ea typeface="Arial" pitchFamily="34" charset="-122"/>
                <a:cs typeface="Arial" pitchFamily="34" charset="-120"/>
              </a:rPr>
              <a:t>one pixel, a crop, channels, switching off, grey, negative</a:t>
            </a:r>
            <a:endParaRPr lang="en-US" sz="1800" dirty="0"/>
          </a:p>
        </p:txBody>
      </p:sp>
      <p:sp>
        <p:nvSpPr>
          <p:cNvPr id="9" name="@3 dot"/>
          <p:cNvSpPr/>
          <p:nvPr/>
        </p:nvSpPr>
        <p:spPr>
          <a:xfrm>
            <a:off x="457200" y="2633472"/>
            <a:ext cx="109728" cy="109728"/>
          </a:xfrm>
          <a:prstGeom prst="ellipse">
            <a:avLst/>
          </a:prstGeom>
          <a:solidFill>
            <a:srgbClr val="002D6A"/>
          </a:solidFill>
          <a:ln w="12700">
            <a:solidFill>
              <a:srgbClr val="002D6A"/>
            </a:solidFill>
            <a:prstDash val="solid"/>
          </a:ln>
        </p:spPr>
        <p:txBody>
          <a:bodyPr/>
          <a:lstStyle/>
          <a:p>
            <a:endParaRPr lang="en-GB"/>
          </a:p>
        </p:txBody>
      </p:sp>
      <p:sp>
        <p:nvSpPr>
          <p:cNvPr id="10" name="@3 addText"/>
          <p:cNvSpPr txBox="1"/>
          <p:nvPr/>
        </p:nvSpPr>
        <p:spPr>
          <a:xfrm>
            <a:off x="731520" y="2505456"/>
            <a:ext cx="7955280" cy="612648"/>
          </a:xfrm>
          <a:prstGeom prst="rect">
            <a:avLst/>
          </a:prstGeom>
          <a:noFill/>
          <a:ln/>
        </p:spPr>
        <p:txBody>
          <a:bodyPr wrap="square" lIns="0" tIns="0" rIns="0" bIns="0" rtlCol="0" anchor="t"/>
          <a:lstStyle/>
          <a:p>
            <a:pPr marL="0" indent="0">
              <a:buNone/>
            </a:pPr>
            <a:r>
              <a:rPr lang="en-US" sz="1800" dirty="0">
                <a:solidFill>
                  <a:srgbClr val="22262E"/>
                </a:solidFill>
                <a:latin typeface="Arial" pitchFamily="34" charset="0"/>
                <a:ea typeface="Arial" pitchFamily="34" charset="-122"/>
                <a:cs typeface="Arial" pitchFamily="34" charset="-120"/>
              </a:rPr>
              <a:t>counting, averages and histograms</a:t>
            </a:r>
            <a:endParaRPr lang="en-US" sz="1800" dirty="0"/>
          </a:p>
        </p:txBody>
      </p:sp>
      <p:sp>
        <p:nvSpPr>
          <p:cNvPr id="11" name="@4 dot"/>
          <p:cNvSpPr/>
          <p:nvPr/>
        </p:nvSpPr>
        <p:spPr>
          <a:xfrm>
            <a:off x="457200" y="3291840"/>
            <a:ext cx="109728" cy="109728"/>
          </a:xfrm>
          <a:prstGeom prst="ellipse">
            <a:avLst/>
          </a:prstGeom>
          <a:solidFill>
            <a:srgbClr val="002D6A"/>
          </a:solidFill>
          <a:ln w="12700">
            <a:solidFill>
              <a:srgbClr val="002D6A"/>
            </a:solidFill>
            <a:prstDash val="solid"/>
          </a:ln>
        </p:spPr>
        <p:txBody>
          <a:bodyPr/>
          <a:lstStyle/>
          <a:p>
            <a:endParaRPr lang="en-GB"/>
          </a:p>
        </p:txBody>
      </p:sp>
      <p:sp>
        <p:nvSpPr>
          <p:cNvPr id="12" name="@4 addText"/>
          <p:cNvSpPr txBox="1"/>
          <p:nvPr/>
        </p:nvSpPr>
        <p:spPr>
          <a:xfrm>
            <a:off x="731520" y="3163824"/>
            <a:ext cx="7955280" cy="612648"/>
          </a:xfrm>
          <a:prstGeom prst="rect">
            <a:avLst/>
          </a:prstGeom>
          <a:noFill/>
          <a:ln/>
        </p:spPr>
        <p:txBody>
          <a:bodyPr wrap="square" lIns="0" tIns="0" rIns="0" bIns="0" rtlCol="0" anchor="t"/>
          <a:lstStyle/>
          <a:p>
            <a:pPr marL="0" indent="0">
              <a:buNone/>
            </a:pPr>
            <a:r>
              <a:rPr lang="en-US" sz="1800" dirty="0">
                <a:solidFill>
                  <a:srgbClr val="22262E"/>
                </a:solidFill>
                <a:latin typeface="Arial" pitchFamily="34" charset="0"/>
                <a:ea typeface="Arial" pitchFamily="34" charset="-122"/>
                <a:cs typeface="Arial" pitchFamily="34" charset="-120"/>
              </a:rPr>
              <a:t>red total % 26 gives a letter: you solved a puzzle</a:t>
            </a:r>
            <a:endParaRPr lang="en-US" sz="1800" dirty="0"/>
          </a:p>
        </p:txBody>
      </p:sp>
      <p:sp>
        <p:nvSpPr>
          <p:cNvPr id="13" name="@5 dot"/>
          <p:cNvSpPr/>
          <p:nvPr/>
        </p:nvSpPr>
        <p:spPr>
          <a:xfrm>
            <a:off x="457200" y="3950208"/>
            <a:ext cx="109728" cy="109728"/>
          </a:xfrm>
          <a:prstGeom prst="ellipse">
            <a:avLst/>
          </a:prstGeom>
          <a:solidFill>
            <a:srgbClr val="002D6A"/>
          </a:solidFill>
          <a:ln w="12700">
            <a:solidFill>
              <a:srgbClr val="002D6A"/>
            </a:solidFill>
            <a:prstDash val="solid"/>
          </a:ln>
        </p:spPr>
        <p:txBody>
          <a:bodyPr/>
          <a:lstStyle/>
          <a:p>
            <a:endParaRPr lang="en-GB"/>
          </a:p>
        </p:txBody>
      </p:sp>
      <p:sp>
        <p:nvSpPr>
          <p:cNvPr id="14" name="@5 addText"/>
          <p:cNvSpPr txBox="1"/>
          <p:nvPr/>
        </p:nvSpPr>
        <p:spPr>
          <a:xfrm>
            <a:off x="731520" y="3822192"/>
            <a:ext cx="7955280" cy="612648"/>
          </a:xfrm>
          <a:prstGeom prst="rect">
            <a:avLst/>
          </a:prstGeom>
          <a:noFill/>
          <a:ln/>
        </p:spPr>
        <p:txBody>
          <a:bodyPr wrap="square" lIns="0" tIns="0" rIns="0" bIns="0" rtlCol="0" anchor="t"/>
          <a:lstStyle/>
          <a:p>
            <a:pPr marL="0" indent="0">
              <a:buNone/>
            </a:pPr>
            <a:r>
              <a:rPr lang="en-US" sz="1800" dirty="0">
                <a:solidFill>
                  <a:srgbClr val="22262E"/>
                </a:solidFill>
                <a:latin typeface="Arial" pitchFamily="34" charset="0"/>
                <a:ea typeface="Arial" pitchFamily="34" charset="-122"/>
                <a:cs typeface="Arial" pitchFamily="34" charset="-120"/>
              </a:rPr>
              <a:t>functions that call functions, and building a string</a:t>
            </a:r>
            <a:endParaRPr lang="en-US" sz="1800" dirty="0"/>
          </a:p>
        </p:txBody>
      </p:sp>
      <p:sp>
        <p:nvSpPr>
          <p:cNvPr id="1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60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2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2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200"/>
                                        <p:tgtEl>
                                          <p:spTgt spid="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2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2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200"/>
                                        <p:tgtEl>
                                          <p:spTgt spid="10"/>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20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200"/>
                                        <p:tgtEl>
                                          <p:spTgt spid="12"/>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200"/>
                                        <p:tgtEl>
                                          <p:spTgt spid="1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2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234440"/>
            <a:ext cx="6583680" cy="1371600"/>
          </a:xfrm>
          <a:prstGeom prst="rect">
            <a:avLst/>
          </a:prstGeom>
          <a:noFill/>
          <a:ln/>
        </p:spPr>
        <p:txBody>
          <a:bodyPr wrap="square" lIns="0" tIns="0" rIns="0" bIns="0" rtlCol="0" anchor="t"/>
          <a:lstStyle/>
          <a:p>
            <a:pPr marL="0" indent="0" algn="l">
              <a:buNone/>
            </a:pPr>
            <a:r>
              <a:rPr lang="en-US" sz="3400" b="1" dirty="0">
                <a:solidFill>
                  <a:srgbClr val="FFFFFF"/>
                </a:solidFill>
                <a:latin typeface="Arial" pitchFamily="34" charset="0"/>
                <a:ea typeface="Arial" pitchFamily="34" charset="-122"/>
                <a:cs typeface="Arial" pitchFamily="34" charset="-120"/>
              </a:rPr>
              <a:t>Think, Then Share</a:t>
            </a:r>
            <a:endParaRPr lang="en-US" sz="3400" dirty="0"/>
          </a:p>
        </p:txBody>
      </p:sp>
      <p:sp>
        <p:nvSpPr>
          <p:cNvPr id="3" name="Text 1"/>
          <p:cNvSpPr txBox="1"/>
          <p:nvPr/>
        </p:nvSpPr>
        <p:spPr>
          <a:xfrm>
            <a:off x="548640" y="640080"/>
            <a:ext cx="3657600" cy="457200"/>
          </a:xfrm>
          <a:prstGeom prst="rect">
            <a:avLst/>
          </a:prstGeom>
          <a:noFill/>
          <a:ln/>
        </p:spPr>
        <p:txBody>
          <a:bodyPr wrap="square" lIns="0" tIns="0" rIns="0" bIns="0" rtlCol="0" anchor="ctr"/>
          <a:lstStyle/>
          <a:p>
            <a:pPr marL="0" indent="0">
              <a:buNone/>
            </a:pPr>
            <a:r>
              <a:rPr lang="en-US" sz="2200" b="1" kern="0" spc="400" dirty="0">
                <a:solidFill>
                  <a:srgbClr val="A9C4E8"/>
                </a:solidFill>
                <a:latin typeface="Arial" pitchFamily="34" charset="0"/>
                <a:ea typeface="Arial" pitchFamily="34" charset="-122"/>
                <a:cs typeface="Arial" pitchFamily="34" charset="-120"/>
              </a:rPr>
              <a:t>REFLECT</a:t>
            </a:r>
            <a:endParaRPr lang="en-US" sz="2200" dirty="0"/>
          </a:p>
        </p:txBody>
      </p:sp>
      <p:sp>
        <p:nvSpPr>
          <p:cNvPr id="4" name="Text 2"/>
          <p:cNvSpPr txBox="1"/>
          <p:nvPr/>
        </p:nvSpPr>
        <p:spPr>
          <a:xfrm>
            <a:off x="548640" y="2743200"/>
            <a:ext cx="6766560" cy="1097280"/>
          </a:xfrm>
          <a:prstGeom prst="rect">
            <a:avLst/>
          </a:prstGeom>
          <a:noFill/>
          <a:ln/>
        </p:spPr>
        <p:txBody>
          <a:bodyPr wrap="square" lIns="0" tIns="0" rIns="0" bIns="0" rtlCol="0" anchor="t"/>
          <a:lstStyle/>
          <a:p>
            <a:pPr marL="0" indent="0">
              <a:buNone/>
            </a:pPr>
            <a:r>
              <a:rPr lang="en-US" sz="1800" dirty="0">
                <a:solidFill>
                  <a:srgbClr val="C5D1E3"/>
                </a:solidFill>
                <a:latin typeface="Arial" pitchFamily="34" charset="0"/>
                <a:ea typeface="Arial" pitchFamily="34" charset="-122"/>
                <a:cs typeface="Arial" pitchFamily="34" charset="-120"/>
              </a:rPr>
              <a:t>3 tiny images by hand, or 37 big ones with Python: how long did each take? Which task was hardest? Why?</a:t>
            </a:r>
            <a:endParaRPr lang="en-US" sz="18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Messages Hidden in Pictures</a:t>
            </a:r>
            <a:endParaRPr lang="en-US" sz="3000" dirty="0"/>
          </a:p>
        </p:txBody>
      </p:sp>
      <p:sp>
        <p:nvSpPr>
          <p:cNvPr id="3"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42</a:t>
            </a:fld>
            <a:endParaRPr lang="en-US"/>
          </a:p>
        </p:txBody>
      </p:sp>
      <p:sp>
        <p:nvSpPr>
          <p:cNvPr id="4" name="@1 Bar"/>
          <p:cNvSpPr/>
          <p:nvPr/>
        </p:nvSpPr>
        <p:spPr>
          <a:xfrm>
            <a:off x="457200" y="1143000"/>
            <a:ext cx="64008" cy="548640"/>
          </a:xfrm>
          <a:prstGeom prst="rect">
            <a:avLst/>
          </a:prstGeom>
          <a:solidFill>
            <a:srgbClr val="002D6A"/>
          </a:solidFill>
          <a:ln w="9525">
            <a:solidFill>
              <a:srgbClr val="002D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1 Idea 1"/>
          <p:cNvSpPr txBox="1"/>
          <p:nvPr/>
        </p:nvSpPr>
        <p:spPr>
          <a:xfrm>
            <a:off x="685800" y="1143000"/>
            <a:ext cx="7955279" cy="548640"/>
          </a:xfrm>
          <a:prstGeom prst="rect">
            <a:avLst/>
          </a:prstGeom>
          <a:noFill/>
        </p:spPr>
        <p:txBody>
          <a:bodyPr wrap="square" lIns="0" rIns="0" tIns="0" bIns="0" anchor="ctr">
            <a:spAutoFit/>
          </a:bodyPr>
          <a:lstStyle/>
          <a:p>
            <a:pPr algn="l"/>
            <a:r>
              <a:rPr sz="2200" b="1" i="0">
                <a:solidFill>
                  <a:srgbClr val="002D6A"/>
                </a:solidFill>
                <a:latin typeface="Arial"/>
              </a:rPr>
              <a:t>Cryptography</a:t>
            </a:r>
            <a:r>
              <a:rPr sz="2200" b="0" i="0">
                <a:solidFill>
                  <a:srgbClr val="22262E"/>
                </a:solidFill>
                <a:latin typeface="Arial"/>
              </a:rPr>
              <a:t> hides what a message says.</a:t>
            </a:r>
          </a:p>
        </p:txBody>
      </p:sp>
      <p:sp>
        <p:nvSpPr>
          <p:cNvPr id="6" name="@2 Bar"/>
          <p:cNvSpPr/>
          <p:nvPr/>
        </p:nvSpPr>
        <p:spPr>
          <a:xfrm>
            <a:off x="457200" y="1828800"/>
            <a:ext cx="64008" cy="548640"/>
          </a:xfrm>
          <a:prstGeom prst="rect">
            <a:avLst/>
          </a:prstGeom>
          <a:solidFill>
            <a:srgbClr val="002D6A"/>
          </a:solidFill>
          <a:ln w="9525">
            <a:solidFill>
              <a:srgbClr val="002D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2 Idea 2"/>
          <p:cNvSpPr txBox="1"/>
          <p:nvPr/>
        </p:nvSpPr>
        <p:spPr>
          <a:xfrm>
            <a:off x="685800" y="1828800"/>
            <a:ext cx="7955279" cy="548640"/>
          </a:xfrm>
          <a:prstGeom prst="rect">
            <a:avLst/>
          </a:prstGeom>
          <a:noFill/>
        </p:spPr>
        <p:txBody>
          <a:bodyPr wrap="square" lIns="0" rIns="0" tIns="0" bIns="0" anchor="ctr">
            <a:spAutoFit/>
          </a:bodyPr>
          <a:lstStyle/>
          <a:p>
            <a:pPr algn="l"/>
            <a:r>
              <a:rPr sz="2200" b="1" i="0">
                <a:solidFill>
                  <a:srgbClr val="002D6A"/>
                </a:solidFill>
                <a:latin typeface="Arial"/>
              </a:rPr>
              <a:t>Steganography</a:t>
            </a:r>
            <a:r>
              <a:rPr sz="2200" b="0" i="0">
                <a:solidFill>
                  <a:srgbClr val="22262E"/>
                </a:solidFill>
                <a:latin typeface="Arial"/>
              </a:rPr>
              <a:t> hides that there is a message at all.</a:t>
            </a:r>
          </a:p>
        </p:txBody>
      </p:sp>
      <p:sp>
        <p:nvSpPr>
          <p:cNvPr id="8" name="@3 Swatch"/>
          <p:cNvSpPr/>
          <p:nvPr/>
        </p:nvSpPr>
        <p:spPr>
          <a:xfrm>
            <a:off x="1097280" y="2651760"/>
            <a:ext cx="2377440" cy="914400"/>
          </a:xfrm>
          <a:prstGeom prst="rect">
            <a:avLst/>
          </a:prstGeom>
          <a:solidFill>
            <a:srgbClr val="C8503C"/>
          </a:solidFill>
          <a:ln w="9525">
            <a:solidFill>
              <a:srgbClr val="C5D1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3 Swatch label"/>
          <p:cNvSpPr txBox="1"/>
          <p:nvPr/>
        </p:nvSpPr>
        <p:spPr>
          <a:xfrm>
            <a:off x="1097280" y="3611880"/>
            <a:ext cx="2377440" cy="320040"/>
          </a:xfrm>
          <a:prstGeom prst="rect">
            <a:avLst/>
          </a:prstGeom>
          <a:noFill/>
        </p:spPr>
        <p:txBody>
          <a:bodyPr wrap="square" lIns="0" rIns="0" tIns="0" bIns="0" anchor="ctr">
            <a:spAutoFit/>
          </a:bodyPr>
          <a:lstStyle/>
          <a:p>
            <a:pPr algn="ctr"/>
            <a:r>
              <a:rPr sz="1500" b="1" i="0">
                <a:solidFill>
                  <a:srgbClr val="002D6A"/>
                </a:solidFill>
                <a:latin typeface="Courier New"/>
              </a:rPr>
              <a:t>R 200   G 80   B 60</a:t>
            </a:r>
          </a:p>
        </p:txBody>
      </p:sp>
      <p:sp>
        <p:nvSpPr>
          <p:cNvPr id="10" name="@3 Swatch"/>
          <p:cNvSpPr/>
          <p:nvPr/>
        </p:nvSpPr>
        <p:spPr>
          <a:xfrm>
            <a:off x="4389120" y="2651760"/>
            <a:ext cx="2377440" cy="914400"/>
          </a:xfrm>
          <a:prstGeom prst="rect">
            <a:avLst/>
          </a:prstGeom>
          <a:solidFill>
            <a:srgbClr val="C9503C"/>
          </a:solidFill>
          <a:ln w="9525">
            <a:solidFill>
              <a:srgbClr val="C5D1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3 Swatch label"/>
          <p:cNvSpPr txBox="1"/>
          <p:nvPr/>
        </p:nvSpPr>
        <p:spPr>
          <a:xfrm>
            <a:off x="4389120" y="3611880"/>
            <a:ext cx="2377440" cy="320040"/>
          </a:xfrm>
          <a:prstGeom prst="rect">
            <a:avLst/>
          </a:prstGeom>
          <a:noFill/>
        </p:spPr>
        <p:txBody>
          <a:bodyPr wrap="square" lIns="0" rIns="0" tIns="0" bIns="0" anchor="ctr">
            <a:spAutoFit/>
          </a:bodyPr>
          <a:lstStyle/>
          <a:p>
            <a:pPr algn="ctr"/>
            <a:r>
              <a:rPr sz="1500" b="1" i="0">
                <a:solidFill>
                  <a:srgbClr val="002D6A"/>
                </a:solidFill>
                <a:latin typeface="Courier New"/>
              </a:rPr>
              <a:t>R 201   G 80   B 60</a:t>
            </a:r>
          </a:p>
        </p:txBody>
      </p:sp>
      <p:sp>
        <p:nvSpPr>
          <p:cNvPr id="12" name="@4 Callout"/>
          <p:cNvSpPr/>
          <p:nvPr/>
        </p:nvSpPr>
        <p:spPr>
          <a:xfrm>
            <a:off x="457200" y="4023360"/>
            <a:ext cx="8229600" cy="640080"/>
          </a:xfrm>
          <a:prstGeom prst="roundRect">
            <a:avLst>
              <a:gd name="adj" fmla="val 12000"/>
            </a:avLst>
          </a:prstGeom>
          <a:solidFill>
            <a:srgbClr val="FFFFFF"/>
          </a:solidFill>
          <a:ln w="15875">
            <a:solidFill>
              <a:srgbClr val="5D79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4 Callout text"/>
          <p:cNvSpPr txBox="1"/>
          <p:nvPr/>
        </p:nvSpPr>
        <p:spPr>
          <a:xfrm>
            <a:off x="685800" y="4023360"/>
            <a:ext cx="7772400" cy="640080"/>
          </a:xfrm>
          <a:prstGeom prst="rect">
            <a:avLst/>
          </a:prstGeom>
          <a:noFill/>
        </p:spPr>
        <p:txBody>
          <a:bodyPr wrap="square" lIns="0" rIns="0" tIns="0" bIns="0" anchor="ctr">
            <a:spAutoFit/>
          </a:bodyPr>
          <a:lstStyle/>
          <a:p>
            <a:pPr algn="l"/>
            <a:r>
              <a:rPr sz="1600" b="1" i="0">
                <a:solidFill>
                  <a:srgbClr val="5D79A0"/>
                </a:solidFill>
                <a:latin typeface="Arial"/>
              </a:rPr>
              <a:t>TIP  </a:t>
            </a:r>
            <a:r>
              <a:rPr sz="1600" b="0" i="0">
                <a:solidFill>
                  <a:srgbClr val="22262E"/>
                </a:solidFill>
                <a:latin typeface="Arial"/>
              </a:rPr>
              <a:t>One number changed by 1. You cannot see it. A program can read it.</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2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200"/>
                                        <p:tgtEl>
                                          <p:spTgt spid="5"/>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2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200"/>
                                        <p:tgtEl>
                                          <p:spTgt spid="7"/>
                                        </p:tgtEl>
                                      </p:cBhvr>
                                    </p:animEffect>
                                  </p:childTnLst>
                                </p:cTn>
                              </p:par>
                            </p:childTnLst>
                          </p:cTn>
                        </p:par>
                      </p:childTnLst>
                    </p:cTn>
                  </p:par>
                  <p:par>
                    <p:cTn id="31" fill="hold">
                      <p:stCondLst>
                        <p:cond delay="indefinite"/>
                      </p:stCondLst>
                      <p:childTnLst>
                        <p:par>
                          <p:cTn id="32"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2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2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200"/>
                                        <p:tgtEl>
                                          <p:spTgt spid="11"/>
                                        </p:tgtEl>
                                      </p:cBhvr>
                                    </p:animEffect>
                                  </p:childTnLst>
                                </p:cTn>
                              </p:par>
                            </p:childTnLst>
                          </p:cTn>
                        </p:par>
                      </p:childTnLst>
                    </p:cTn>
                  </p:par>
                  <p:par>
                    <p:cTn id="39" fill="hold">
                      <p:stCondLst>
                        <p:cond delay="indefinite"/>
                      </p:stCondLst>
                      <p:childTnLst>
                        <p:par>
                          <p:cTn id="40"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20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2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People Really Do This</a:t>
            </a:r>
            <a:endParaRPr lang="en-US" sz="3000" dirty="0"/>
          </a:p>
        </p:txBody>
      </p:sp>
      <p:sp>
        <p:nvSpPr>
          <p:cNvPr id="3"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42</a:t>
            </a:fld>
            <a:endParaRPr lang="en-US"/>
          </a:p>
        </p:txBody>
      </p:sp>
      <p:sp>
        <p:nvSpPr>
          <p:cNvPr id="4" name="@1 Card"/>
          <p:cNvSpPr/>
          <p:nvPr/>
        </p:nvSpPr>
        <p:spPr>
          <a:xfrm>
            <a:off x="457200" y="1143000"/>
            <a:ext cx="8229600" cy="932688"/>
          </a:xfrm>
          <a:prstGeom prst="roundRect">
            <a:avLst>
              <a:gd name="adj" fmla="val 12000"/>
            </a:avLst>
          </a:prstGeom>
          <a:solidFill>
            <a:srgbClr val="FFFFFF"/>
          </a:solidFill>
          <a:ln w="9525">
            <a:solidFill>
              <a:srgbClr val="C5D1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1 Year pill"/>
          <p:cNvSpPr/>
          <p:nvPr/>
        </p:nvSpPr>
        <p:spPr>
          <a:xfrm>
            <a:off x="640080" y="1371600"/>
            <a:ext cx="1005840" cy="457200"/>
          </a:xfrm>
          <a:prstGeom prst="roundRect">
            <a:avLst>
              <a:gd name="adj" fmla="val 12000"/>
            </a:avLst>
          </a:prstGeom>
          <a:solidFill>
            <a:srgbClr val="002D6A"/>
          </a:solidFill>
          <a:ln w="9525">
            <a:solidFill>
              <a:srgbClr val="002D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1 Year"/>
          <p:cNvSpPr txBox="1"/>
          <p:nvPr/>
        </p:nvSpPr>
        <p:spPr>
          <a:xfrm>
            <a:off x="640080" y="1371600"/>
            <a:ext cx="1005840" cy="457200"/>
          </a:xfrm>
          <a:prstGeom prst="rect">
            <a:avLst/>
          </a:prstGeom>
          <a:noFill/>
        </p:spPr>
        <p:txBody>
          <a:bodyPr wrap="square" lIns="0" rIns="0" tIns="0" bIns="0" anchor="ctr">
            <a:spAutoFit/>
          </a:bodyPr>
          <a:lstStyle/>
          <a:p>
            <a:pPr algn="ctr"/>
            <a:r>
              <a:rPr sz="2000" b="1" i="0">
                <a:solidFill>
                  <a:srgbClr val="FFFFFF"/>
                </a:solidFill>
                <a:latin typeface="Arial"/>
              </a:rPr>
              <a:t>2010</a:t>
            </a:r>
          </a:p>
        </p:txBody>
      </p:sp>
      <p:sp>
        <p:nvSpPr>
          <p:cNvPr id="7" name="@1 Case"/>
          <p:cNvSpPr txBox="1"/>
          <p:nvPr/>
        </p:nvSpPr>
        <p:spPr>
          <a:xfrm>
            <a:off x="1874519" y="1143000"/>
            <a:ext cx="6675120" cy="932688"/>
          </a:xfrm>
          <a:prstGeom prst="rect">
            <a:avLst/>
          </a:prstGeom>
          <a:noFill/>
        </p:spPr>
        <p:txBody>
          <a:bodyPr wrap="square" lIns="0" rIns="0" tIns="0" bIns="0" anchor="ctr">
            <a:spAutoFit/>
          </a:bodyPr>
          <a:lstStyle/>
          <a:p>
            <a:pPr algn="l"/>
            <a:r>
              <a:rPr sz="1600" b="0" i="0">
                <a:solidFill>
                  <a:srgbClr val="22262E"/>
                </a:solidFill>
                <a:latin typeface="Arial"/>
              </a:rPr>
              <a:t>Russian agents living in the USA hid messages inside ordinary pictures on public websites. The FBI found out.</a:t>
            </a:r>
          </a:p>
        </p:txBody>
      </p:sp>
      <p:sp>
        <p:nvSpPr>
          <p:cNvPr id="8" name="@2 Card"/>
          <p:cNvSpPr/>
          <p:nvPr/>
        </p:nvSpPr>
        <p:spPr>
          <a:xfrm>
            <a:off x="457200" y="2212848"/>
            <a:ext cx="8229600" cy="932688"/>
          </a:xfrm>
          <a:prstGeom prst="roundRect">
            <a:avLst>
              <a:gd name="adj" fmla="val 12000"/>
            </a:avLst>
          </a:prstGeom>
          <a:solidFill>
            <a:srgbClr val="FFFFFF"/>
          </a:solidFill>
          <a:ln w="9525">
            <a:solidFill>
              <a:srgbClr val="C5D1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2 Year pill"/>
          <p:cNvSpPr/>
          <p:nvPr/>
        </p:nvSpPr>
        <p:spPr>
          <a:xfrm>
            <a:off x="640080" y="2441448"/>
            <a:ext cx="1005840" cy="457200"/>
          </a:xfrm>
          <a:prstGeom prst="roundRect">
            <a:avLst>
              <a:gd name="adj" fmla="val 12000"/>
            </a:avLst>
          </a:prstGeom>
          <a:solidFill>
            <a:srgbClr val="002D6A"/>
          </a:solidFill>
          <a:ln w="9525">
            <a:solidFill>
              <a:srgbClr val="002D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2 Year"/>
          <p:cNvSpPr txBox="1"/>
          <p:nvPr/>
        </p:nvSpPr>
        <p:spPr>
          <a:xfrm>
            <a:off x="640080" y="2441448"/>
            <a:ext cx="1005840" cy="457200"/>
          </a:xfrm>
          <a:prstGeom prst="rect">
            <a:avLst/>
          </a:prstGeom>
          <a:noFill/>
        </p:spPr>
        <p:txBody>
          <a:bodyPr wrap="square" lIns="0" rIns="0" tIns="0" bIns="0" anchor="ctr">
            <a:spAutoFit/>
          </a:bodyPr>
          <a:lstStyle/>
          <a:p>
            <a:pPr algn="ctr"/>
            <a:r>
              <a:rPr sz="2000" b="1" i="0">
                <a:solidFill>
                  <a:srgbClr val="FFFFFF"/>
                </a:solidFill>
                <a:latin typeface="Arial"/>
              </a:rPr>
              <a:t>2017</a:t>
            </a:r>
          </a:p>
        </p:txBody>
      </p:sp>
      <p:sp>
        <p:nvSpPr>
          <p:cNvPr id="11" name="@2 Case"/>
          <p:cNvSpPr txBox="1"/>
          <p:nvPr/>
        </p:nvSpPr>
        <p:spPr>
          <a:xfrm>
            <a:off x="1874519" y="2212848"/>
            <a:ext cx="6675120" cy="932688"/>
          </a:xfrm>
          <a:prstGeom prst="rect">
            <a:avLst/>
          </a:prstGeom>
          <a:noFill/>
        </p:spPr>
        <p:txBody>
          <a:bodyPr wrap="square" lIns="0" rIns="0" tIns="0" bIns="0" anchor="ctr">
            <a:spAutoFit/>
          </a:bodyPr>
          <a:lstStyle/>
          <a:p>
            <a:pPr algn="l"/>
            <a:r>
              <a:rPr sz="1600" b="0" i="0">
                <a:solidFill>
                  <a:srgbClr val="22262E"/>
                </a:solidFill>
                <a:latin typeface="Arial"/>
              </a:rPr>
              <a:t>A Russian hacking group, Turla, hid instructions in the comments under a pop star's Instagram photo. Security researchers at ESET worked out the trick.</a:t>
            </a:r>
          </a:p>
        </p:txBody>
      </p:sp>
      <p:sp>
        <p:nvSpPr>
          <p:cNvPr id="12" name="@3 Card"/>
          <p:cNvSpPr/>
          <p:nvPr/>
        </p:nvSpPr>
        <p:spPr>
          <a:xfrm>
            <a:off x="457200" y="3282696"/>
            <a:ext cx="8229600" cy="932688"/>
          </a:xfrm>
          <a:prstGeom prst="roundRect">
            <a:avLst>
              <a:gd name="adj" fmla="val 12000"/>
            </a:avLst>
          </a:prstGeom>
          <a:solidFill>
            <a:srgbClr val="FFFFFF"/>
          </a:solidFill>
          <a:ln w="9525">
            <a:solidFill>
              <a:srgbClr val="C5D1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3 Year pill"/>
          <p:cNvSpPr/>
          <p:nvPr/>
        </p:nvSpPr>
        <p:spPr>
          <a:xfrm>
            <a:off x="640080" y="3511296"/>
            <a:ext cx="1005840" cy="457200"/>
          </a:xfrm>
          <a:prstGeom prst="roundRect">
            <a:avLst>
              <a:gd name="adj" fmla="val 12000"/>
            </a:avLst>
          </a:prstGeom>
          <a:solidFill>
            <a:srgbClr val="002D6A"/>
          </a:solidFill>
          <a:ln w="9525">
            <a:solidFill>
              <a:srgbClr val="002D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3 Year"/>
          <p:cNvSpPr txBox="1"/>
          <p:nvPr/>
        </p:nvSpPr>
        <p:spPr>
          <a:xfrm>
            <a:off x="640080" y="3511296"/>
            <a:ext cx="1005840" cy="457200"/>
          </a:xfrm>
          <a:prstGeom prst="rect">
            <a:avLst/>
          </a:prstGeom>
          <a:noFill/>
        </p:spPr>
        <p:txBody>
          <a:bodyPr wrap="square" lIns="0" rIns="0" tIns="0" bIns="0" anchor="ctr">
            <a:spAutoFit/>
          </a:bodyPr>
          <a:lstStyle/>
          <a:p>
            <a:pPr algn="ctr"/>
            <a:r>
              <a:rPr sz="2000" b="1" i="0">
                <a:solidFill>
                  <a:srgbClr val="FFFFFF"/>
                </a:solidFill>
                <a:latin typeface="Arial"/>
              </a:rPr>
              <a:t>2022</a:t>
            </a:r>
          </a:p>
        </p:txBody>
      </p:sp>
      <p:sp>
        <p:nvSpPr>
          <p:cNvPr id="15" name="@3 Case"/>
          <p:cNvSpPr txBox="1"/>
          <p:nvPr/>
        </p:nvSpPr>
        <p:spPr>
          <a:xfrm>
            <a:off x="1874519" y="3282696"/>
            <a:ext cx="6675120" cy="932688"/>
          </a:xfrm>
          <a:prstGeom prst="rect">
            <a:avLst/>
          </a:prstGeom>
          <a:noFill/>
        </p:spPr>
        <p:txBody>
          <a:bodyPr wrap="square" lIns="0" rIns="0" tIns="0" bIns="0" anchor="ctr">
            <a:spAutoFit/>
          </a:bodyPr>
          <a:lstStyle/>
          <a:p>
            <a:pPr algn="l"/>
            <a:r>
              <a:rPr sz="1600" b="0" i="0">
                <a:solidFill>
                  <a:srgbClr val="22262E"/>
                </a:solidFill>
                <a:latin typeface="Arial"/>
              </a:rPr>
              <a:t>Malware was hidden inside a real picture from the James Webb Space Telescope. Security researchers at Securonix spotted it.</a:t>
            </a:r>
          </a:p>
        </p:txBody>
      </p:sp>
      <p:sp>
        <p:nvSpPr>
          <p:cNvPr id="16" name="@4 Caption"/>
          <p:cNvSpPr txBox="1"/>
          <p:nvPr/>
        </p:nvSpPr>
        <p:spPr>
          <a:xfrm>
            <a:off x="457200" y="4434840"/>
            <a:ext cx="8229600" cy="320040"/>
          </a:xfrm>
          <a:prstGeom prst="rect">
            <a:avLst/>
          </a:prstGeom>
          <a:noFill/>
        </p:spPr>
        <p:txBody>
          <a:bodyPr wrap="square" lIns="0" rIns="0" tIns="0" bIns="0" anchor="ctr">
            <a:spAutoFit/>
          </a:bodyPr>
          <a:lstStyle/>
          <a:p>
            <a:pPr algn="l"/>
            <a:r>
              <a:rPr sz="1400" b="0" i="1">
                <a:solidFill>
                  <a:srgbClr val="5D6B80"/>
                </a:solidFill>
                <a:latin typeface="Arial"/>
              </a:rPr>
              <a:t>Hidden in plain sight: nobody looks twice at a photo.</a:t>
            </a:r>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2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200"/>
                                        <p:tgtEl>
                                          <p:spTgt spid="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200"/>
                                        <p:tgtEl>
                                          <p:spTgt spid="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200"/>
                                        <p:tgtEl>
                                          <p:spTgt spid="7"/>
                                        </p:tgtEl>
                                      </p:cBhvr>
                                    </p:animEffect>
                                  </p:childTnLst>
                                </p:cTn>
                              </p:par>
                            </p:childTnLst>
                          </p:cTn>
                        </p:par>
                      </p:childTnLst>
                    </p:cTn>
                  </p:par>
                  <p:par>
                    <p:cTn id="29" fill="hold">
                      <p:stCondLst>
                        <p:cond delay="indefinite"/>
                      </p:stCondLst>
                      <p:childTnLst>
                        <p:par>
                          <p:cTn id="30"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2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2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2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200"/>
                                        <p:tgtEl>
                                          <p:spTgt spid="11"/>
                                        </p:tgtEl>
                                      </p:cBhvr>
                                    </p:animEffect>
                                  </p:childTnLst>
                                </p:cTn>
                              </p:par>
                            </p:childTnLst>
                          </p:cTn>
                        </p:par>
                      </p:childTnLst>
                    </p:cTn>
                  </p:par>
                  <p:par>
                    <p:cTn id="43" fill="hold">
                      <p:stCondLst>
                        <p:cond delay="indefinite"/>
                      </p:stCondLst>
                      <p:childTnLst>
                        <p:par>
                          <p:cTn id="44"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2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2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2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200"/>
                                        <p:tgtEl>
                                          <p:spTgt spid="15"/>
                                        </p:tgtEl>
                                      </p:cBhvr>
                                    </p:animEffect>
                                  </p:childTnLst>
                                </p:cTn>
                              </p:par>
                            </p:childTnLst>
                          </p:cTn>
                        </p:par>
                      </p:childTnLst>
                    </p:cTn>
                  </p:par>
                  <p:par>
                    <p:cTn id="48" fill="hold">
                      <p:stCondLst>
                        <p:cond delay="indefinite"/>
                      </p:stCondLst>
                      <p:childTnLst>
                        <p:par>
                          <p:cTn id="49"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2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How Researchers Find Them</a:t>
            </a:r>
            <a:endParaRPr lang="en-US" sz="3000" dirty="0"/>
          </a:p>
        </p:txBody>
      </p:sp>
      <p:sp>
        <p:nvSpPr>
          <p:cNvPr id="3"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42</a:t>
            </a:fld>
            <a:endParaRPr lang="en-US"/>
          </a:p>
        </p:txBody>
      </p:sp>
      <p:sp>
        <p:nvSpPr>
          <p:cNvPr id="4" name="@1 Point"/>
          <p:cNvSpPr txBox="1"/>
          <p:nvPr/>
        </p:nvSpPr>
        <p:spPr>
          <a:xfrm>
            <a:off x="548640" y="1097280"/>
            <a:ext cx="8138160" cy="566928"/>
          </a:xfrm>
          <a:prstGeom prst="rect">
            <a:avLst/>
          </a:prstGeom>
          <a:noFill/>
        </p:spPr>
        <p:txBody>
          <a:bodyPr wrap="square" lIns="0" rIns="0" tIns="0" bIns="0" anchor="t">
            <a:spAutoFit/>
          </a:bodyPr>
          <a:lstStyle/>
          <a:p>
            <a:pPr algn="l"/>
            <a:r>
              <a:rPr sz="1500" b="1" i="0">
                <a:solidFill>
                  <a:srgbClr val="002D6A"/>
                </a:solidFill>
                <a:latin typeface="Arial"/>
              </a:rPr>
              <a:t>•  Look at the numbers. </a:t>
            </a:r>
            <a:r>
              <a:rPr sz="1500" b="0" i="0">
                <a:solidFill>
                  <a:srgbClr val="22262E"/>
                </a:solidFill>
                <a:latin typeface="Arial"/>
              </a:rPr>
              <a:t>A normal photo has a pattern in its histogram. Hidden data can make it look odd.</a:t>
            </a:r>
          </a:p>
        </p:txBody>
      </p:sp>
      <p:sp>
        <p:nvSpPr>
          <p:cNvPr id="5" name="@2 Point"/>
          <p:cNvSpPr txBox="1"/>
          <p:nvPr/>
        </p:nvSpPr>
        <p:spPr>
          <a:xfrm>
            <a:off x="548640" y="1773936"/>
            <a:ext cx="8138160" cy="566928"/>
          </a:xfrm>
          <a:prstGeom prst="rect">
            <a:avLst/>
          </a:prstGeom>
          <a:noFill/>
        </p:spPr>
        <p:txBody>
          <a:bodyPr wrap="square" lIns="0" rIns="0" tIns="0" bIns="0" anchor="t">
            <a:spAutoFit/>
          </a:bodyPr>
          <a:lstStyle/>
          <a:p>
            <a:pPr algn="l"/>
            <a:r>
              <a:rPr sz="1500" b="1" i="0">
                <a:solidFill>
                  <a:srgbClr val="002D6A"/>
                </a:solidFill>
                <a:latin typeface="Arial"/>
              </a:rPr>
              <a:t>•  Compare with the original. </a:t>
            </a:r>
            <a:r>
              <a:rPr sz="1500" b="0" i="0">
                <a:solidFill>
                  <a:srgbClr val="22262E"/>
                </a:solidFill>
                <a:latin typeface="Arial"/>
              </a:rPr>
              <a:t>Subtract one picture from the other. Any change shows up.</a:t>
            </a:r>
          </a:p>
        </p:txBody>
      </p:sp>
      <p:sp>
        <p:nvSpPr>
          <p:cNvPr id="6" name="@3 Point"/>
          <p:cNvSpPr txBox="1"/>
          <p:nvPr/>
        </p:nvSpPr>
        <p:spPr>
          <a:xfrm>
            <a:off x="548640" y="2450591"/>
            <a:ext cx="8138160" cy="822960"/>
          </a:xfrm>
          <a:prstGeom prst="rect">
            <a:avLst/>
          </a:prstGeom>
          <a:noFill/>
        </p:spPr>
        <p:txBody>
          <a:bodyPr wrap="square" lIns="0" rIns="0" tIns="0" bIns="0" anchor="t">
            <a:spAutoFit/>
          </a:bodyPr>
          <a:lstStyle/>
          <a:p>
            <a:pPr algn="l"/>
            <a:r>
              <a:rPr sz="1500" b="1" i="0">
                <a:solidFill>
                  <a:srgbClr val="002D6A"/>
                </a:solidFill>
                <a:latin typeface="Arial"/>
              </a:rPr>
              <a:t>•  UK research. </a:t>
            </a:r>
            <a:r>
              <a:rPr sz="1500" b="0" i="0">
                <a:solidFill>
                  <a:srgbClr val="22262E"/>
                </a:solidFill>
                <a:latin typeface="Arial"/>
              </a:rPr>
              <a:t>Cambridge University's Computer Laboratory wrote some of the first papers on hiding information, and showed messages can hide inside ordinary internet traffic.</a:t>
            </a:r>
          </a:p>
        </p:txBody>
      </p:sp>
      <p:sp>
        <p:nvSpPr>
          <p:cNvPr id="7" name="@4 Point"/>
          <p:cNvSpPr txBox="1"/>
          <p:nvPr/>
        </p:nvSpPr>
        <p:spPr>
          <a:xfrm>
            <a:off x="548640" y="3383279"/>
            <a:ext cx="8138160" cy="566928"/>
          </a:xfrm>
          <a:prstGeom prst="rect">
            <a:avLst/>
          </a:prstGeom>
          <a:noFill/>
        </p:spPr>
        <p:txBody>
          <a:bodyPr wrap="square" lIns="0" rIns="0" tIns="0" bIns="0" anchor="t">
            <a:spAutoFit/>
          </a:bodyPr>
          <a:lstStyle/>
          <a:p>
            <a:pPr algn="l"/>
            <a:r>
              <a:rPr sz="1500" b="1" i="0">
                <a:solidFill>
                  <a:srgbClr val="002D6A"/>
                </a:solidFill>
                <a:latin typeface="Arial"/>
              </a:rPr>
              <a:t>•  UK defence. </a:t>
            </a:r>
            <a:r>
              <a:rPr sz="1500" b="0" i="0">
                <a:solidFill>
                  <a:srgbClr val="22262E"/>
                </a:solidFill>
                <a:latin typeface="Arial"/>
              </a:rPr>
              <a:t>The National Cyber Security Centre, part of GCHQ, helps protect the UK from hidden threats.</a:t>
            </a:r>
          </a:p>
        </p:txBody>
      </p:sp>
      <p:sp>
        <p:nvSpPr>
          <p:cNvPr id="8" name="@5 Point"/>
          <p:cNvSpPr txBox="1"/>
          <p:nvPr/>
        </p:nvSpPr>
        <p:spPr>
          <a:xfrm>
            <a:off x="548640" y="4059935"/>
            <a:ext cx="8138160" cy="566928"/>
          </a:xfrm>
          <a:prstGeom prst="rect">
            <a:avLst/>
          </a:prstGeom>
          <a:noFill/>
        </p:spPr>
        <p:txBody>
          <a:bodyPr wrap="square" lIns="0" rIns="0" tIns="0" bIns="0" anchor="t">
            <a:spAutoFit/>
          </a:bodyPr>
          <a:lstStyle/>
          <a:p>
            <a:pPr algn="l"/>
            <a:r>
              <a:rPr sz="1500" b="1" i="0">
                <a:solidFill>
                  <a:srgbClr val="002D6A"/>
                </a:solidFill>
                <a:latin typeface="Arial"/>
              </a:rPr>
              <a:t>•  History. </a:t>
            </a:r>
            <a:r>
              <a:rPr sz="1500" b="0" i="0">
                <a:solidFill>
                  <a:srgbClr val="22262E"/>
                </a:solidFill>
                <a:latin typeface="Arial"/>
              </a:rPr>
              <a:t>In World War 2, British censors checked letters for invisible ink and hidden writing.</a:t>
            </a:r>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200"/>
                                        <p:tgtEl>
                                          <p:spTgt spid="4"/>
                                        </p:tgtEl>
                                      </p:cBhvr>
                                    </p:animEffect>
                                  </p:childTnLst>
                                </p:cTn>
                              </p:par>
                            </p:childTnLst>
                          </p:cTn>
                        </p:par>
                      </p:childTnLst>
                    </p:cTn>
                  </p:par>
                  <p:par>
                    <p:cTn id="11" fill="hold">
                      <p:stCondLst>
                        <p:cond delay="indefinite"/>
                      </p:stCondLst>
                      <p:childTnLst>
                        <p:par>
                          <p:cTn id="12" fill="hold">
                            <p:stCondLst>
                              <p:cond delay="0"/>
                            </p:stCondLst>
                            <p:childTnLst>
                              <p:par>
                                <p:cTn id="8" presetID="10" presetClass="entr" presetSubtype="0" fill="hold" grpId="0" nodeType="click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200"/>
                                        <p:tgtEl>
                                          <p:spTgt spid="5"/>
                                        </p:tgtEl>
                                      </p:cBhvr>
                                    </p:animEffect>
                                  </p:childTnLst>
                                </p:cTn>
                              </p:par>
                            </p:childTnLst>
                          </p:cTn>
                        </p:par>
                      </p:childTnLst>
                    </p:cTn>
                  </p:par>
                  <p:par>
                    <p:cTn id="16" fill="hold">
                      <p:stCondLst>
                        <p:cond delay="indefinite"/>
                      </p:stCondLst>
                      <p:childTnLst>
                        <p:par>
                          <p:cTn id="17"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200"/>
                                        <p:tgtEl>
                                          <p:spTgt spid="6"/>
                                        </p:tgtEl>
                                      </p:cBhvr>
                                    </p:animEffect>
                                  </p:childTnLst>
                                </p:cTn>
                              </p:par>
                            </p:childTnLst>
                          </p:cTn>
                        </p:par>
                      </p:childTnLst>
                    </p:cTn>
                  </p:par>
                  <p:par>
                    <p:cTn id="21" fill="hold">
                      <p:stCondLst>
                        <p:cond delay="indefinite"/>
                      </p:stCondLst>
                      <p:childTnLst>
                        <p:par>
                          <p:cTn id="22"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200"/>
                                        <p:tgtEl>
                                          <p:spTgt spid="7"/>
                                        </p:tgtEl>
                                      </p:cBhvr>
                                    </p:animEffect>
                                  </p:childTnLst>
                                </p:cTn>
                              </p:par>
                            </p:childTnLst>
                          </p:cTn>
                        </p:par>
                      </p:childTnLst>
                    </p:cTn>
                  </p:par>
                  <p:par>
                    <p:cTn id="26" fill="hold">
                      <p:stCondLst>
                        <p:cond delay="indefinite"/>
                      </p:stCondLst>
                      <p:childTnLst>
                        <p:par>
                          <p:cTn id="27"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2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Lst>
  </p:timing>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idx="100" hasCustomPrompt="1"/>
          </p:nvPr>
        </p:nvSpPr>
        <p:spPr>
          <a:xfrm>
            <a:off x="457200" y="274320"/>
            <a:ext cx="8229600" cy="685800"/>
          </a:xfrm>
          <a:prstGeom prst="rect">
            <a:avLst/>
          </a:prstGeom>
          <a:noFill/>
          <a:ln/>
        </p:spPr>
        <p:txBody>
          <a:bodyPr wrap="square" lIns="0" tIns="0" rIns="0" bIns="0" rtlCol="0" anchor="ctr"/>
          <a:lstStyle/>
          <a:p>
            <a:pPr marL="0" indent="0" algn="l">
              <a:buNone/>
            </a:pPr>
            <a:r>
              <a:rPr lang="en-US" sz="3000" b="1" dirty="0">
                <a:solidFill>
                  <a:srgbClr val="001B40"/>
                </a:solidFill>
                <a:latin typeface="Arial" pitchFamily="34" charset="0"/>
                <a:ea typeface="Arial" pitchFamily="34" charset="-122"/>
                <a:cs typeface="Arial" pitchFamily="34" charset="-120"/>
              </a:rPr>
              <a:t>You Are the Analyst</a:t>
            </a:r>
            <a:endParaRPr lang="en-US" sz="3000" dirty="0"/>
          </a:p>
        </p:txBody>
      </p:sp>
      <p:sp>
        <p:nvSpPr>
          <p:cNvPr id="3"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D6B80"/>
                </a:solidFill>
                <a:latin typeface="Arial"/>
                <a:ea typeface="Arial"/>
                <a:cs typeface="Arial"/>
              </a:defRPr>
            </a:lvl1pPr>
          </a:lstStyle>
          <a:p>
            <a:pPr algn="l"/>
            <a:fld id="{F7021451-1387-4CA6-816F-3879F97B5CBC}" type="slidenum">
              <a:rPr lang="en-US" b="0"/>
              <a:t>42</a:t>
            </a:fld>
            <a:endParaRPr lang="en-US"/>
          </a:p>
        </p:txBody>
      </p:sp>
      <p:sp>
        <p:nvSpPr>
          <p:cNvPr id="4" name="@1 Card"/>
          <p:cNvSpPr/>
          <p:nvPr/>
        </p:nvSpPr>
        <p:spPr>
          <a:xfrm>
            <a:off x="457200" y="1188720"/>
            <a:ext cx="8229600" cy="731520"/>
          </a:xfrm>
          <a:prstGeom prst="roundRect">
            <a:avLst>
              <a:gd name="adj" fmla="val 12000"/>
            </a:avLst>
          </a:prstGeom>
          <a:solidFill>
            <a:srgbClr val="FFFFFF"/>
          </a:solidFill>
          <a:ln w="9525">
            <a:solidFill>
              <a:srgbClr val="C5D1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1 Scenario"/>
          <p:cNvSpPr txBox="1"/>
          <p:nvPr/>
        </p:nvSpPr>
        <p:spPr>
          <a:xfrm>
            <a:off x="731520" y="1188720"/>
            <a:ext cx="7680960" cy="731520"/>
          </a:xfrm>
          <a:prstGeom prst="rect">
            <a:avLst/>
          </a:prstGeom>
          <a:noFill/>
        </p:spPr>
        <p:txBody>
          <a:bodyPr wrap="square" lIns="0" rIns="0" tIns="0" bIns="0" anchor="ctr">
            <a:spAutoFit/>
          </a:bodyPr>
          <a:lstStyle/>
          <a:p>
            <a:pPr algn="l"/>
            <a:r>
              <a:rPr sz="1900" b="0" i="0">
                <a:solidFill>
                  <a:srgbClr val="22262E"/>
                </a:solidFill>
                <a:latin typeface="Arial"/>
              </a:rPr>
              <a:t>Imagine you work for a security team.</a:t>
            </a:r>
          </a:p>
        </p:txBody>
      </p:sp>
      <p:sp>
        <p:nvSpPr>
          <p:cNvPr id="6" name="@2 Card"/>
          <p:cNvSpPr/>
          <p:nvPr/>
        </p:nvSpPr>
        <p:spPr>
          <a:xfrm>
            <a:off x="457200" y="2057400"/>
            <a:ext cx="8229600" cy="731520"/>
          </a:xfrm>
          <a:prstGeom prst="roundRect">
            <a:avLst>
              <a:gd name="adj" fmla="val 12000"/>
            </a:avLst>
          </a:prstGeom>
          <a:solidFill>
            <a:srgbClr val="FFFFFF"/>
          </a:solidFill>
          <a:ln w="9525">
            <a:solidFill>
              <a:srgbClr val="C5D1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2 Scenario"/>
          <p:cNvSpPr txBox="1"/>
          <p:nvPr/>
        </p:nvSpPr>
        <p:spPr>
          <a:xfrm>
            <a:off x="731520" y="2057400"/>
            <a:ext cx="7680960" cy="731520"/>
          </a:xfrm>
          <a:prstGeom prst="rect">
            <a:avLst/>
          </a:prstGeom>
          <a:noFill/>
        </p:spPr>
        <p:txBody>
          <a:bodyPr wrap="square" lIns="0" rIns="0" tIns="0" bIns="0" anchor="ctr">
            <a:spAutoFit/>
          </a:bodyPr>
          <a:lstStyle/>
          <a:p>
            <a:pPr algn="l"/>
            <a:r>
              <a:rPr sz="1900" b="0" i="0">
                <a:solidFill>
                  <a:srgbClr val="22262E"/>
                </a:solidFill>
                <a:latin typeface="Arial"/>
              </a:rPr>
              <a:t>A website is posting 37 photos of cows. Nobody needs 37 cow photos... unless they are a message.</a:t>
            </a:r>
          </a:p>
        </p:txBody>
      </p:sp>
      <p:sp>
        <p:nvSpPr>
          <p:cNvPr id="8" name="@3 Card"/>
          <p:cNvSpPr/>
          <p:nvPr/>
        </p:nvSpPr>
        <p:spPr>
          <a:xfrm>
            <a:off x="457200" y="2926080"/>
            <a:ext cx="8229600" cy="731520"/>
          </a:xfrm>
          <a:prstGeom prst="roundRect">
            <a:avLst>
              <a:gd name="adj" fmla="val 12000"/>
            </a:avLst>
          </a:prstGeom>
          <a:solidFill>
            <a:srgbClr val="FFFFFF"/>
          </a:solidFill>
          <a:ln w="9525">
            <a:solidFill>
              <a:srgbClr val="C5D1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3 Scenario"/>
          <p:cNvSpPr txBox="1"/>
          <p:nvPr/>
        </p:nvSpPr>
        <p:spPr>
          <a:xfrm>
            <a:off x="731520" y="2926080"/>
            <a:ext cx="7680960" cy="731520"/>
          </a:xfrm>
          <a:prstGeom prst="rect">
            <a:avLst/>
          </a:prstGeom>
          <a:noFill/>
        </p:spPr>
        <p:txBody>
          <a:bodyPr wrap="square" lIns="0" rIns="0" tIns="0" bIns="0" anchor="ctr">
            <a:spAutoFit/>
          </a:bodyPr>
          <a:lstStyle/>
          <a:p>
            <a:pPr algn="l"/>
            <a:r>
              <a:rPr sz="1900" b="0" i="0">
                <a:solidFill>
                  <a:srgbClr val="22262E"/>
                </a:solidFill>
                <a:latin typeface="Arial"/>
              </a:rPr>
              <a:t>Each photo hides one letter in its pixel numbers.</a:t>
            </a:r>
          </a:p>
        </p:txBody>
      </p:sp>
      <p:sp>
        <p:nvSpPr>
          <p:cNvPr id="10" name="@4 Card"/>
          <p:cNvSpPr/>
          <p:nvPr/>
        </p:nvSpPr>
        <p:spPr>
          <a:xfrm>
            <a:off x="457200" y="3794759"/>
            <a:ext cx="8229600" cy="731520"/>
          </a:xfrm>
          <a:prstGeom prst="roundRect">
            <a:avLst>
              <a:gd name="adj" fmla="val 12000"/>
            </a:avLst>
          </a:prstGeom>
          <a:solidFill>
            <a:srgbClr val="FFFFFF"/>
          </a:solidFill>
          <a:ln w="9525">
            <a:solidFill>
              <a:srgbClr val="C5D1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4 Scenario"/>
          <p:cNvSpPr txBox="1"/>
          <p:nvPr/>
        </p:nvSpPr>
        <p:spPr>
          <a:xfrm>
            <a:off x="731520" y="3794759"/>
            <a:ext cx="7680960" cy="731520"/>
          </a:xfrm>
          <a:prstGeom prst="rect">
            <a:avLst/>
          </a:prstGeom>
          <a:noFill/>
        </p:spPr>
        <p:txBody>
          <a:bodyPr wrap="square" lIns="0" rIns="0" tIns="0" bIns="0" anchor="ctr">
            <a:spAutoFit/>
          </a:bodyPr>
          <a:lstStyle/>
          <a:p>
            <a:pPr algn="l"/>
            <a:r>
              <a:rPr sz="1900" b="1" i="0">
                <a:solidFill>
                  <a:srgbClr val="002D6A"/>
                </a:solidFill>
                <a:latin typeface="Arial"/>
              </a:rPr>
              <a:t>Your job: work out the rule, then decode all 37 letters.</a:t>
            </a:r>
          </a:p>
        </p:txBody>
      </p:sp>
    </p:spTree>
  </p:cSld>
  <p:clrMapOvr>
    <a:masterClrMapping/>
  </p:clrMapOvr>
  <p:timing>
    <p:tnLst>
      <p:par>
        <p:cTn id="1" dur="indefinite" restart="never" nodeType="tmRoot">
          <p:childTnLst>
            <p:seq concurrent="1" nextAc="seek">
              <p:cTn id="2" dur="indefinite" nodeType="mainSeq">
                <p:childTnLst>
                  <p:par>
                    <p:cTn id="9" fill="hold">
                      <p:stCondLst>
                        <p:cond delay="indefinite"/>
                      </p:stCondLst>
                      <p:childTnLst>
                        <p:par>
                          <p:cTn id="1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20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200"/>
                                        <p:tgtEl>
                                          <p:spTgt spid="5"/>
                                        </p:tgtEl>
                                      </p:cBhvr>
                                    </p:animEffect>
                                  </p:childTnLst>
                                </p:cTn>
                              </p:par>
                            </p:childTnLst>
                          </p:cTn>
                        </p:par>
                      </p:childTnLst>
                    </p:cTn>
                  </p:par>
                  <p:par>
                    <p:cTn id="17" fill="hold">
                      <p:stCondLst>
                        <p:cond delay="indefinite"/>
                      </p:stCondLst>
                      <p:childTnLst>
                        <p:par>
                          <p:cTn id="18"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2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200"/>
                                        <p:tgtEl>
                                          <p:spTgt spid="7"/>
                                        </p:tgtEl>
                                      </p:cBhvr>
                                    </p:animEffect>
                                  </p:childTnLst>
                                </p:cTn>
                              </p:par>
                            </p:childTnLst>
                          </p:cTn>
                        </p:par>
                      </p:childTnLst>
                    </p:cTn>
                  </p:par>
                  <p:par>
                    <p:cTn id="25" fill="hold">
                      <p:stCondLst>
                        <p:cond delay="indefinite"/>
                      </p:stCondLst>
                      <p:childTnLst>
                        <p:par>
                          <p:cTn id="26"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200"/>
                                        <p:tgtEl>
                                          <p:spTgt spid="9"/>
                                        </p:tgtEl>
                                      </p:cBhvr>
                                    </p:animEffect>
                                  </p:childTnLst>
                                </p:cTn>
                              </p:par>
                            </p:childTnLst>
                          </p:cTn>
                        </p:par>
                      </p:childTnLst>
                    </p:cTn>
                  </p:par>
                  <p:par>
                    <p:cTn id="33" fill="hold">
                      <p:stCondLst>
                        <p:cond delay="indefinite"/>
                      </p:stCondLst>
                      <p:childTnLst>
                        <p:par>
                          <p:cTn id="34"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200"/>
                                        <p:tgtEl>
                                          <p:spTgt spid="1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2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5086</Words>
  <Application>Microsoft Macintosh PowerPoint</Application>
  <PresentationFormat>On-screen Show (16:9)</PresentationFormat>
  <Paragraphs>551</Paragraphs>
  <Slides>61</Slides>
  <Notes>61</Notes>
  <HiddenSlides>1</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Courier New</vt:lpstr>
      <vt:lpstr>Office Theme</vt:lpstr>
      <vt:lpstr>5-A-DAY: Knowledge Recall</vt:lpstr>
      <vt:lpstr>What Do You See?</vt:lpstr>
      <vt:lpstr>You See a Cow. Python Sees...</vt:lpstr>
      <vt:lpstr>Predict: What Numbers?</vt:lpstr>
      <vt:lpstr>Image Analysis</vt:lpstr>
      <vt:lpstr>Explore a Picture</vt:lpstr>
      <vt:lpstr>Nobody Writes It All</vt:lpstr>
      <vt:lpstr>A Library for Pictures</vt:lpstr>
      <vt:lpstr>Open It, Check It</vt:lpstr>
      <vt:lpstr>A Picture Is a Grid of Numbers</vt:lpstr>
      <vt:lpstr>Open a Picture</vt:lpstr>
      <vt:lpstr>Task 1: Check</vt:lpstr>
      <vt:lpstr>Rows and Columns</vt:lpstr>
      <vt:lpstr>Find a Pixel</vt:lpstr>
      <vt:lpstr>Task 2: Check</vt:lpstr>
      <vt:lpstr>Crop: a Block of Pixels</vt:lpstr>
      <vt:lpstr>Crop a Corner</vt:lpstr>
      <vt:lpstr>Every Pixel: 3 Numbers</vt:lpstr>
      <vt:lpstr>A 4 x 4 Crop in Numbers</vt:lpstr>
      <vt:lpstr>Paper: the 4 x 4 Patch</vt:lpstr>
      <vt:lpstr>Take One Pixel: (113, 73, 63)</vt:lpstr>
      <vt:lpstr>Mix a Colour</vt:lpstr>
      <vt:lpstr>Split Into Three Pictures</vt:lpstr>
      <vt:lpstr>Split the Channels</vt:lpstr>
      <vt:lpstr>Task 4: All Three Channels</vt:lpstr>
      <vt:lpstr>Switch Red Off</vt:lpstr>
      <vt:lpstr>Switch Channels Off</vt:lpstr>
      <vt:lpstr>Task 5: Check Your Pictures</vt:lpstr>
      <vt:lpstr>Grey and Negative</vt:lpstr>
      <vt:lpstr>Grey and Negative</vt:lpstr>
      <vt:lpstr>Task 6: Check</vt:lpstr>
      <vt:lpstr>Maths on the Whole Picture</vt:lpstr>
      <vt:lpstr>Count and Average</vt:lpstr>
      <vt:lpstr>Task 7: Check</vt:lpstr>
      <vt:lpstr>A Different Question</vt:lpstr>
      <vt:lpstr>Our Photo, in 16 Buckets</vt:lpstr>
      <vt:lpstr>Draw a Histogram</vt:lpstr>
      <vt:lpstr>Task 8: Red, Green and Blue</vt:lpstr>
      <vt:lpstr>Go Backwards: ::-1</vt:lpstr>
      <vt:lpstr>Finished Part 1?</vt:lpstr>
      <vt:lpstr>The Puzzle</vt:lpstr>
      <vt:lpstr>The Rule</vt:lpstr>
      <vt:lpstr>Adding Them All Up</vt:lpstr>
      <vt:lpstr>% and Letters</vt:lpstr>
      <vt:lpstr>Be the Computer</vt:lpstr>
      <vt:lpstr>Oh no.</vt:lpstr>
      <vt:lpstr>Careful: Two Different Photos</vt:lpstr>
      <vt:lpstr>Let the Computer Do It</vt:lpstr>
      <vt:lpstr>Open image_starter.py</vt:lpstr>
      <vt:lpstr>STEP 2: total_red</vt:lpstr>
      <vt:lpstr>STEP 3: letter_for</vt:lpstr>
      <vt:lpstr>STEP 4: decode_message</vt:lpstr>
      <vt:lpstr>A Function We Give You</vt:lpstr>
      <vt:lpstr>Building a String: +=</vt:lpstr>
      <vt:lpstr>Building a String in a Loop</vt:lpstr>
      <vt:lpstr>STEP 4: decode_message</vt:lpstr>
      <vt:lpstr>Solve the Puzzle</vt:lpstr>
      <vt:lpstr>Stuck? Use the Booklet</vt:lpstr>
      <vt:lpstr>Stretch</vt:lpstr>
      <vt:lpstr>What You Learned Today</vt:lpstr>
      <vt:lpstr>Think, Then Share</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Image Analysis Challenge</dc:title>
  <dc:subject>PptxGenJS Presentation</dc:subject>
  <dc:creator>Dr. Hughes</dc:creator>
  <cp:lastModifiedBy>AXH</cp:lastModifiedBy>
  <cp:revision>2</cp:revision>
  <dcterms:created xsi:type="dcterms:W3CDTF">2026-10-15T16:28:59Z</dcterms:created>
  <dcterms:modified xsi:type="dcterms:W3CDTF">2026-10-26T20:25:10Z</dcterms:modified>
</cp:coreProperties>
</file>