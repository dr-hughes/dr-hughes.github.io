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er" id="{9df84cda-aeee-a3cc-ba8e-ce03aad21239}">
          <p14:sldIdLst>
            <p14:sldId id="256"/>
          </p14:sldIdLst>
        </p14:section>
        <p14:section name="Default-1" id="{5a029a10-389e-7074-90f3-8bc5c7da5620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1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EE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Analysis  |  Dr. Hughes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NSW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Analysis  |  Dr. Hughes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5-A-DAY: Knowledge Recall</a:t>
            </a:r>
            <a:endParaRPr lang="en-US" sz="3000" dirty="0"/>
          </a:p>
        </p:txBody>
      </p:sp>
      <p:sp>
        <p:nvSpPr>
          <p:cNvPr id="3" name="STARTER pill"/>
          <p:cNvSpPr/>
          <p:nvPr/>
        </p:nvSpPr>
        <p:spPr>
          <a:xfrm>
            <a:off x="7132320" y="4114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0" y="411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9601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57200" y="1325880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EEF2F7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8" name="Number 1"/>
          <p:cNvSpPr/>
          <p:nvPr/>
        </p:nvSpPr>
        <p:spPr>
          <a:xfrm>
            <a:off x="548640" y="1444752"/>
            <a:ext cx="365760" cy="365760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44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32588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pixel?</a:t>
            </a:r>
            <a:endParaRPr lang="en-US" sz="1400" dirty="0"/>
          </a:p>
        </p:txBody>
      </p:sp>
      <p:sp>
        <p:nvSpPr>
          <p:cNvPr id="11" name="@1 Answer card"/>
          <p:cNvSpPr/>
          <p:nvPr/>
        </p:nvSpPr>
        <p:spPr>
          <a:xfrm>
            <a:off x="4846320" y="1325880"/>
            <a:ext cx="384048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</p:sp>
      <p:sp>
        <p:nvSpPr>
          <p:cNvPr id="12" name="@1 addText"/>
          <p:cNvSpPr txBox="1"/>
          <p:nvPr/>
        </p:nvSpPr>
        <p:spPr>
          <a:xfrm>
            <a:off x="4983480" y="1325880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tiny square of colour in a picture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457200" y="2002536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EEF2F7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4" name="Number 2"/>
          <p:cNvSpPr/>
          <p:nvPr/>
        </p:nvSpPr>
        <p:spPr>
          <a:xfrm>
            <a:off x="548640" y="2121408"/>
            <a:ext cx="365760" cy="365760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200253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the letters RGB stand for?</a:t>
            </a:r>
            <a:endParaRPr lang="en-US" sz="1400" dirty="0"/>
          </a:p>
        </p:txBody>
      </p:sp>
      <p:sp>
        <p:nvSpPr>
          <p:cNvPr id="17" name="@2 Answer card"/>
          <p:cNvSpPr/>
          <p:nvPr/>
        </p:nvSpPr>
        <p:spPr>
          <a:xfrm>
            <a:off x="4846320" y="2002536"/>
            <a:ext cx="384048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</p:sp>
      <p:sp>
        <p:nvSpPr>
          <p:cNvPr id="18" name="@2 addText"/>
          <p:cNvSpPr txBox="1"/>
          <p:nvPr/>
        </p:nvSpPr>
        <p:spPr>
          <a:xfrm>
            <a:off x="4983480" y="2002536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Red, green, blue</a:t>
            </a:r>
            <a:endParaRPr lang="en-US" sz="1300" dirty="0"/>
          </a:p>
        </p:txBody>
      </p:sp>
      <p:sp>
        <p:nvSpPr>
          <p:cNvPr id="19" name="Card"/>
          <p:cNvSpPr/>
          <p:nvPr/>
        </p:nvSpPr>
        <p:spPr>
          <a:xfrm>
            <a:off x="457200" y="2679192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EEF2F7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20" name="Number 3"/>
          <p:cNvSpPr/>
          <p:nvPr/>
        </p:nvSpPr>
        <p:spPr>
          <a:xfrm>
            <a:off x="548640" y="2798064"/>
            <a:ext cx="365760" cy="365760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798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267919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biggest number 8 bits can store?</a:t>
            </a:r>
            <a:endParaRPr lang="en-US" sz="1400" dirty="0"/>
          </a:p>
        </p:txBody>
      </p:sp>
      <p:sp>
        <p:nvSpPr>
          <p:cNvPr id="23" name="@3 Answer card"/>
          <p:cNvSpPr/>
          <p:nvPr/>
        </p:nvSpPr>
        <p:spPr>
          <a:xfrm>
            <a:off x="4846320" y="2679192"/>
            <a:ext cx="384048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</p:sp>
      <p:sp>
        <p:nvSpPr>
          <p:cNvPr id="24" name="@3 addText"/>
          <p:cNvSpPr txBox="1"/>
          <p:nvPr/>
        </p:nvSpPr>
        <p:spPr>
          <a:xfrm>
            <a:off x="4983480" y="2679192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 (0 to 255 is 256 values)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457200" y="335584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EEF2F7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26" name="Number 4"/>
          <p:cNvSpPr/>
          <p:nvPr/>
        </p:nvSpPr>
        <p:spPr>
          <a:xfrm>
            <a:off x="548640" y="3474720"/>
            <a:ext cx="365760" cy="365760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005840" y="335584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keyword sends a value back out of a function?</a:t>
            </a:r>
            <a:endParaRPr lang="en-US" sz="1400" dirty="0"/>
          </a:p>
        </p:txBody>
      </p:sp>
      <p:sp>
        <p:nvSpPr>
          <p:cNvPr id="29" name="@4 Answer card"/>
          <p:cNvSpPr/>
          <p:nvPr/>
        </p:nvSpPr>
        <p:spPr>
          <a:xfrm>
            <a:off x="4846320" y="3355848"/>
            <a:ext cx="384048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</p:sp>
      <p:sp>
        <p:nvSpPr>
          <p:cNvPr id="30" name="@4 addText"/>
          <p:cNvSpPr txBox="1"/>
          <p:nvPr/>
        </p:nvSpPr>
        <p:spPr>
          <a:xfrm>
            <a:off x="4983480" y="3355848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</a:t>
            </a:r>
            <a:endParaRPr lang="en-US" sz="1300" dirty="0"/>
          </a:p>
        </p:txBody>
      </p:sp>
      <p:sp>
        <p:nvSpPr>
          <p:cNvPr id="31" name="Card"/>
          <p:cNvSpPr/>
          <p:nvPr/>
        </p:nvSpPr>
        <p:spPr>
          <a:xfrm>
            <a:off x="457200" y="4032504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EEF2F7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32" name="Number 5"/>
          <p:cNvSpPr/>
          <p:nvPr/>
        </p:nvSpPr>
        <p:spPr>
          <a:xfrm>
            <a:off x="548640" y="4151376"/>
            <a:ext cx="365760" cy="365760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4151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1005840" y="403250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% do in Python?</a:t>
            </a:r>
            <a:endParaRPr lang="en-US" sz="1400" dirty="0"/>
          </a:p>
        </p:txBody>
      </p:sp>
      <p:sp>
        <p:nvSpPr>
          <p:cNvPr id="35" name="@5 Answer card"/>
          <p:cNvSpPr/>
          <p:nvPr/>
        </p:nvSpPr>
        <p:spPr>
          <a:xfrm>
            <a:off x="4846320" y="4032504"/>
            <a:ext cx="384048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</p:sp>
      <p:sp>
        <p:nvSpPr>
          <p:cNvPr id="36" name="@5 addText"/>
          <p:cNvSpPr txBox="1"/>
          <p:nvPr/>
        </p:nvSpPr>
        <p:spPr>
          <a:xfrm>
            <a:off x="4983480" y="4032504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Gives the remainder after dividing</a:t>
            </a:r>
            <a:endParaRPr lang="en-US" sz="13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7" grpId="0" animBg="1"/>
      <p:bldP spid="18" grpId="0" animBg="1"/>
      <p:bldP spid="23" grpId="0" animBg="1"/>
      <p:bldP spid="24" grpId="0" animBg="1"/>
      <p:bldP spid="29" grpId="0" animBg="1"/>
      <p:bldP spid="30" grpId="0" animBg="1"/>
      <p:bldP spid="35" grpId="0" animBg="1"/>
      <p:bldP spid="3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You See?</a:t>
            </a:r>
            <a:endParaRPr lang="en-US" sz="3400" dirty="0"/>
          </a:p>
        </p:txBody>
      </p:sp>
      <p:sp>
        <p:nvSpPr>
          <p:cNvPr id="3" name="Timer pill"/>
          <p:cNvSpPr/>
          <p:nvPr/>
        </p:nvSpPr>
        <p:spPr>
          <a:xfrm>
            <a:off x="548640" y="384048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pic>
        <p:nvPicPr>
          <p:cNvPr id="4" name="Image 0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3995928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70432" y="3840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 talk</a:t>
            </a:r>
            <a:endParaRPr lang="en-US" sz="2000" dirty="0"/>
          </a:p>
        </p:txBody>
      </p:sp>
      <p:pic>
        <p:nvPicPr>
          <p:cNvPr id="6" name="Image 1" descr="Photo of a black cow standing by a red brick wa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731520"/>
            <a:ext cx="374904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See a Cow. Python Sees...</a:t>
            </a:r>
            <a:endParaRPr lang="en-US" sz="3000" dirty="0"/>
          </a:p>
        </p:txBody>
      </p:sp>
      <p:pic>
        <p:nvPicPr>
          <p:cNvPr id="3" name="Image 0" descr="Photo of a black cow standing by a red brick w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3108960" cy="3108960"/>
          </a:xfrm>
          <a:prstGeom prst="rect">
            <a:avLst/>
          </a:prstGeom>
        </p:spPr>
      </p:pic>
      <p:sp>
        <p:nvSpPr>
          <p:cNvPr id="4" name="@1 dot"/>
          <p:cNvSpPr/>
          <p:nvPr/>
        </p:nvSpPr>
        <p:spPr>
          <a:xfrm>
            <a:off x="3931920" y="1408176"/>
            <a:ext cx="109728" cy="109728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5" name="@1 addText"/>
          <p:cNvSpPr txBox="1"/>
          <p:nvPr/>
        </p:nvSpPr>
        <p:spPr>
          <a:xfrm>
            <a:off x="4206240" y="1280160"/>
            <a:ext cx="44805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has never met a cow.</a:t>
            </a:r>
            <a:endParaRPr lang="en-US" sz="2000" dirty="0"/>
          </a:p>
        </p:txBody>
      </p:sp>
      <p:sp>
        <p:nvSpPr>
          <p:cNvPr id="6" name="@2 dot"/>
          <p:cNvSpPr/>
          <p:nvPr/>
        </p:nvSpPr>
        <p:spPr>
          <a:xfrm>
            <a:off x="3931920" y="2121408"/>
            <a:ext cx="109728" cy="109728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7" name="@2 addText"/>
          <p:cNvSpPr txBox="1"/>
          <p:nvPr/>
        </p:nvSpPr>
        <p:spPr>
          <a:xfrm>
            <a:off x="4206240" y="1993392"/>
            <a:ext cx="44805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know what a "photo" is.</a:t>
            </a:r>
            <a:endParaRPr lang="en-US" sz="2000" dirty="0"/>
          </a:p>
        </p:txBody>
      </p:sp>
      <p:sp>
        <p:nvSpPr>
          <p:cNvPr id="8" name="@3 dot"/>
          <p:cNvSpPr/>
          <p:nvPr/>
        </p:nvSpPr>
        <p:spPr>
          <a:xfrm>
            <a:off x="3931920" y="2834640"/>
            <a:ext cx="109728" cy="109728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9" name="@3 addText"/>
          <p:cNvSpPr txBox="1"/>
          <p:nvPr/>
        </p:nvSpPr>
        <p:spPr>
          <a:xfrm>
            <a:off x="4206240" y="2706624"/>
            <a:ext cx="44805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Python ever sees is numbers.</a:t>
            </a:r>
            <a:endParaRPr lang="en-US" sz="2000" dirty="0"/>
          </a:p>
        </p:txBody>
      </p:sp>
      <p:sp>
        <p:nvSpPr>
          <p:cNvPr id="10" name="@4 dot"/>
          <p:cNvSpPr/>
          <p:nvPr/>
        </p:nvSpPr>
        <p:spPr>
          <a:xfrm>
            <a:off x="3931920" y="3547872"/>
            <a:ext cx="109728" cy="109728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11" name="@4 addText"/>
          <p:cNvSpPr txBox="1"/>
          <p:nvPr/>
        </p:nvSpPr>
        <p:spPr>
          <a:xfrm>
            <a:off x="4206240" y="3419856"/>
            <a:ext cx="44805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how does a program use pictures at all?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Think, pair, share: how many numbers is one photo?</a:t>
            </a:r>
            <a:endParaRPr lang="en-US" sz="14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Predict: What Numbers?</a:t>
            </a:r>
            <a:endParaRPr lang="en-US" sz="3000" dirty="0"/>
          </a:p>
        </p:txBody>
      </p:sp>
      <p:sp>
        <p:nvSpPr>
          <p:cNvPr id="3" name="THINK PAIR SHARE pill"/>
          <p:cNvSpPr/>
          <p:nvPr/>
        </p:nvSpPr>
        <p:spPr>
          <a:xfrm>
            <a:off x="7132320" y="4114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0" y="411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PAIR SHARE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picture is just numbers, how many numbers? Which numbers: big ones or small ones?</a:t>
            </a:r>
            <a:endParaRPr lang="en-US" sz="2000" dirty="0"/>
          </a:p>
        </p:txBody>
      </p:sp>
      <p:sp>
        <p:nvSpPr>
          <p:cNvPr id="6" name="@1 Card"/>
          <p:cNvSpPr/>
          <p:nvPr/>
        </p:nvSpPr>
        <p:spPr>
          <a:xfrm>
            <a:off x="457200" y="2011680"/>
            <a:ext cx="82296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7" name="@1 addText"/>
          <p:cNvSpPr txBox="1"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320 x 320 = 102,400 tiny squares (pixels)</a:t>
            </a:r>
            <a:endParaRPr lang="en-US" sz="1800" dirty="0"/>
          </a:p>
        </p:txBody>
      </p:sp>
      <p:sp>
        <p:nvSpPr>
          <p:cNvPr id="8" name="@2 Card"/>
          <p:cNvSpPr/>
          <p:nvPr/>
        </p:nvSpPr>
        <p:spPr>
          <a:xfrm>
            <a:off x="457200" y="2651760"/>
            <a:ext cx="82296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9" name="@2 addText"/>
          <p:cNvSpPr txBox="1"/>
          <p:nvPr/>
        </p:nvSpPr>
        <p:spPr>
          <a:xfrm>
            <a:off x="731520" y="2651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numbers per pixel: red, green, blue</a:t>
            </a:r>
            <a:endParaRPr lang="en-US" sz="1800" dirty="0"/>
          </a:p>
        </p:txBody>
      </p:sp>
      <p:sp>
        <p:nvSpPr>
          <p:cNvPr id="10" name="@3 Card"/>
          <p:cNvSpPr/>
          <p:nvPr/>
        </p:nvSpPr>
        <p:spPr>
          <a:xfrm>
            <a:off x="457200" y="3291840"/>
            <a:ext cx="82296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1" name="@3 addText"/>
          <p:cNvSpPr txBox="1"/>
          <p:nvPr/>
        </p:nvSpPr>
        <p:spPr>
          <a:xfrm>
            <a:off x="731520" y="32918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number is between 0 and 255</a:t>
            </a:r>
            <a:endParaRPr lang="en-US" sz="1800" dirty="0"/>
          </a:p>
        </p:txBody>
      </p:sp>
      <p:sp>
        <p:nvSpPr>
          <p:cNvPr id="12" name="@4 Card"/>
          <p:cNvSpPr/>
          <p:nvPr/>
        </p:nvSpPr>
        <p:spPr>
          <a:xfrm>
            <a:off x="457200" y="3931920"/>
            <a:ext cx="8229600" cy="548640"/>
          </a:xfrm>
          <a:prstGeom prst="roundRect">
            <a:avLst>
              <a:gd name="adj" fmla="val 20000"/>
            </a:avLst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3" name="@4 addText"/>
          <p:cNvSpPr txBox="1"/>
          <p:nvPr/>
        </p:nvSpPr>
        <p:spPr>
          <a:xfrm>
            <a:off x="731520" y="3931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307,200 numbers for one small photo</a:t>
            </a:r>
            <a:endParaRPr lang="en-US" sz="1800" dirty="0"/>
          </a:p>
        </p:txBody>
      </p:sp>
      <p:sp>
        <p:nvSpPr>
          <p:cNvPr id="1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Analysis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picture is to a computer, what you can do with it, and a puzzle to solve.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Hughes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a Picture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2200" dirty="0"/>
          </a:p>
        </p:txBody>
      </p:sp>
      <p:sp>
        <p:nvSpPr>
          <p:cNvPr id="4" name="Card"/>
          <p:cNvSpPr/>
          <p:nvPr/>
        </p:nvSpPr>
        <p:spPr>
          <a:xfrm>
            <a:off x="548640" y="2834640"/>
            <a:ext cx="1463040" cy="411480"/>
          </a:xfrm>
          <a:prstGeom prst="roundRect">
            <a:avLst>
              <a:gd name="adj" fmla="val 26667"/>
            </a:avLst>
          </a:prstGeom>
          <a:solidFill>
            <a:srgbClr val="002D6A"/>
          </a:solidFill>
          <a:ln w="9525">
            <a:solidFill>
              <a:srgbClr val="5D79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8346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2148840" y="2834640"/>
            <a:ext cx="1463040" cy="411480"/>
          </a:xfrm>
          <a:prstGeom prst="roundRect">
            <a:avLst>
              <a:gd name="adj" fmla="val 26667"/>
            </a:avLst>
          </a:prstGeom>
          <a:solidFill>
            <a:srgbClr val="002D6A"/>
          </a:solidFill>
          <a:ln w="9525">
            <a:solidFill>
              <a:srgbClr val="5D79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48840" y="28346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pixel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749040" y="2834640"/>
            <a:ext cx="1463040" cy="411480"/>
          </a:xfrm>
          <a:prstGeom prst="roundRect">
            <a:avLst>
              <a:gd name="adj" fmla="val 26667"/>
            </a:avLst>
          </a:prstGeom>
          <a:solidFill>
            <a:srgbClr val="002D6A"/>
          </a:solidFill>
          <a:ln w="9525">
            <a:solidFill>
              <a:srgbClr val="5D79A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49040" y="28346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349240" y="2834640"/>
            <a:ext cx="1463040" cy="411480"/>
          </a:xfrm>
          <a:prstGeom prst="roundRect">
            <a:avLst>
              <a:gd name="adj" fmla="val 26667"/>
            </a:avLst>
          </a:prstGeom>
          <a:solidFill>
            <a:srgbClr val="002D6A"/>
          </a:solidFill>
          <a:ln w="9525">
            <a:solidFill>
              <a:srgbClr val="5D79A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49240" y="28346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6949440" y="2834640"/>
            <a:ext cx="1463040" cy="411480"/>
          </a:xfrm>
          <a:prstGeom prst="roundRect">
            <a:avLst>
              <a:gd name="adj" fmla="val 26667"/>
            </a:avLst>
          </a:prstGeom>
          <a:solidFill>
            <a:srgbClr val="002D6A"/>
          </a:solidFill>
          <a:ln w="9525">
            <a:solidFill>
              <a:srgbClr val="5D79A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49440" y="28346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channels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548640" y="3383280"/>
            <a:ext cx="1463040" cy="411480"/>
          </a:xfrm>
          <a:prstGeom prst="roundRect">
            <a:avLst>
              <a:gd name="adj" fmla="val 26667"/>
            </a:avLst>
          </a:prstGeom>
          <a:solidFill>
            <a:srgbClr val="002D6A"/>
          </a:solidFill>
          <a:ln w="9525">
            <a:solidFill>
              <a:srgbClr val="5D79A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3832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off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2148840" y="3383280"/>
            <a:ext cx="1463040" cy="411480"/>
          </a:xfrm>
          <a:prstGeom prst="roundRect">
            <a:avLst>
              <a:gd name="adj" fmla="val 26667"/>
            </a:avLst>
          </a:prstGeom>
          <a:solidFill>
            <a:srgbClr val="002D6A"/>
          </a:solidFill>
          <a:ln w="9525">
            <a:solidFill>
              <a:srgbClr val="5D79A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148840" y="33832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grey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3749040" y="3383280"/>
            <a:ext cx="1463040" cy="411480"/>
          </a:xfrm>
          <a:prstGeom prst="roundRect">
            <a:avLst>
              <a:gd name="adj" fmla="val 26667"/>
            </a:avLst>
          </a:prstGeom>
          <a:solidFill>
            <a:srgbClr val="002D6A"/>
          </a:solidFill>
          <a:ln w="9525">
            <a:solidFill>
              <a:srgbClr val="5D79A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49040" y="33832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5349240" y="3383280"/>
            <a:ext cx="1463040" cy="411480"/>
          </a:xfrm>
          <a:prstGeom prst="roundRect">
            <a:avLst>
              <a:gd name="adj" fmla="val 26667"/>
            </a:avLst>
          </a:prstGeom>
          <a:solidFill>
            <a:srgbClr val="002D6A"/>
          </a:solidFill>
          <a:ln w="9525">
            <a:solidFill>
              <a:srgbClr val="5D79A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49240" y="33832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histogram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short tasks in Spyder, then Part 2: the puzzle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Writes It All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20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variables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2560320" y="1188720"/>
            <a:ext cx="1920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0" y="11887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functions</a:t>
            </a:r>
            <a:endParaRPr lang="en-US" sz="1600" dirty="0"/>
          </a:p>
        </p:txBody>
      </p:sp>
      <p:sp>
        <p:nvSpPr>
          <p:cNvPr id="7" name="Card"/>
          <p:cNvSpPr/>
          <p:nvPr/>
        </p:nvSpPr>
        <p:spPr>
          <a:xfrm>
            <a:off x="4663440" y="1188720"/>
            <a:ext cx="1920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1887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/ else</a:t>
            </a:r>
            <a:endParaRPr lang="en-US" sz="1600" dirty="0"/>
          </a:p>
        </p:txBody>
      </p:sp>
      <p:sp>
        <p:nvSpPr>
          <p:cNvPr id="9" name="Card"/>
          <p:cNvSpPr/>
          <p:nvPr/>
        </p:nvSpPr>
        <p:spPr>
          <a:xfrm>
            <a:off x="6766560" y="1188720"/>
            <a:ext cx="1920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0" y="11887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loops</a:t>
            </a:r>
            <a:endParaRPr lang="en-US" sz="1600" dirty="0"/>
          </a:p>
        </p:txBody>
      </p:sp>
      <p:sp>
        <p:nvSpPr>
          <p:cNvPr id="11" name="Callout"/>
          <p:cNvSpPr/>
          <p:nvPr/>
        </p:nvSpPr>
        <p:spPr>
          <a:xfrm>
            <a:off x="457200" y="20116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5D79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0116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library is a bunch of functions someone else wrote, ready to use.</a:t>
            </a:r>
            <a:endParaRPr lang="en-US" sz="1200" dirty="0"/>
          </a:p>
        </p:txBody>
      </p:sp>
      <p:sp>
        <p:nvSpPr>
          <p:cNvPr id="13" name="code bg"/>
          <p:cNvSpPr/>
          <p:nvPr/>
        </p:nvSpPr>
        <p:spPr>
          <a:xfrm>
            <a:off x="457200" y="3017520"/>
            <a:ext cx="8229600" cy="130302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14" name="code bar"/>
          <p:cNvSpPr/>
          <p:nvPr/>
        </p:nvSpPr>
        <p:spPr>
          <a:xfrm>
            <a:off x="457200" y="3017520"/>
            <a:ext cx="54864" cy="1303020"/>
          </a:xfrm>
          <a:prstGeom prst="rect">
            <a:avLst/>
          </a:prstGeom>
          <a:solidFill>
            <a:srgbClr val="A9C4E8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15" name="code line 1"/>
          <p:cNvSpPr txBox="1"/>
          <p:nvPr/>
        </p:nvSpPr>
        <p:spPr>
          <a:xfrm>
            <a:off x="640080" y="3154680"/>
            <a:ext cx="79552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math</a:t>
            </a:r>
            <a:endParaRPr lang="en-US" sz="2000" dirty="0"/>
          </a:p>
        </p:txBody>
      </p:sp>
      <p:sp>
        <p:nvSpPr>
          <p:cNvPr id="16" name="code line 2"/>
          <p:cNvSpPr txBox="1"/>
          <p:nvPr/>
        </p:nvSpPr>
        <p:spPr>
          <a:xfrm>
            <a:off x="640080" y="3497580"/>
            <a:ext cx="79552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math.sqrt(16)</a:t>
            </a:r>
            <a:endParaRPr lang="en-US" sz="2000" dirty="0"/>
          </a:p>
        </p:txBody>
      </p:sp>
      <p:sp>
        <p:nvSpPr>
          <p:cNvPr id="17" name="@1 code line 3"/>
          <p:cNvSpPr txBox="1"/>
          <p:nvPr/>
        </p:nvSpPr>
        <p:spPr>
          <a:xfrm>
            <a:off x="640080" y="3840480"/>
            <a:ext cx="79552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8E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4.0</a:t>
            </a:r>
            <a:endParaRPr lang="en-US" sz="20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Library for Pictures</a:t>
            </a:r>
            <a:endParaRPr lang="en-US" sz="3000" dirty="0"/>
          </a:p>
        </p:txBody>
      </p:sp>
      <p:sp>
        <p:nvSpPr>
          <p:cNvPr id="3" name="Callout"/>
          <p:cNvSpPr/>
          <p:nvPr/>
        </p:nvSpPr>
        <p:spPr>
          <a:xfrm>
            <a:off x="457200" y="118872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 (short for Pillow) opens, edits and reads images.</a:t>
            </a:r>
            <a:endParaRPr lang="en-US" sz="1200" dirty="0"/>
          </a:p>
        </p:txBody>
      </p:sp>
      <p:sp>
        <p:nvSpPr>
          <p:cNvPr id="5" name="code bg"/>
          <p:cNvSpPr/>
          <p:nvPr/>
        </p:nvSpPr>
        <p:spPr>
          <a:xfrm>
            <a:off x="457200" y="2286000"/>
            <a:ext cx="8229600" cy="65151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6" name="code bar"/>
          <p:cNvSpPr/>
          <p:nvPr/>
        </p:nvSpPr>
        <p:spPr>
          <a:xfrm>
            <a:off x="457200" y="2286000"/>
            <a:ext cx="54864" cy="651510"/>
          </a:xfrm>
          <a:prstGeom prst="rect">
            <a:avLst/>
          </a:prstGeom>
          <a:solidFill>
            <a:srgbClr val="A9C4E8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7" name="code line 1"/>
          <p:cNvSpPr txBox="1"/>
          <p:nvPr/>
        </p:nvSpPr>
        <p:spPr>
          <a:xfrm>
            <a:off x="640080" y="2423160"/>
            <a:ext cx="795528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PIL import Image</a:t>
            </a:r>
            <a:endParaRPr lang="en-US" sz="2200" dirty="0"/>
          </a:p>
        </p:txBody>
      </p:sp>
      <p:sp>
        <p:nvSpPr>
          <p:cNvPr id="8" name="@1 addText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X import Y = "just give me Y out of library X"</a:t>
            </a:r>
            <a:endParaRPr lang="en-US" sz="180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It, Check It</a:t>
            </a:r>
            <a:endParaRPr lang="en-US" sz="3000" dirty="0"/>
          </a:p>
        </p:txBody>
      </p:sp>
      <p:sp>
        <p:nvSpPr>
          <p:cNvPr id="3" name="code bg"/>
          <p:cNvSpPr/>
          <p:nvPr/>
        </p:nvSpPr>
        <p:spPr>
          <a:xfrm>
            <a:off x="457200" y="1143000"/>
            <a:ext cx="8229600" cy="198882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4" name="code bar"/>
          <p:cNvSpPr/>
          <p:nvPr/>
        </p:nvSpPr>
        <p:spPr>
          <a:xfrm>
            <a:off x="457200" y="1143000"/>
            <a:ext cx="54864" cy="1988820"/>
          </a:xfrm>
          <a:prstGeom prst="rect">
            <a:avLst/>
          </a:prstGeom>
          <a:solidFill>
            <a:srgbClr val="A9C4E8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5" name="code line 1"/>
          <p:cNvSpPr txBox="1"/>
          <p:nvPr/>
        </p:nvSpPr>
        <p:spPr>
          <a:xfrm>
            <a:off x="640080" y="1280160"/>
            <a:ext cx="79552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 = Image.open("cow-demo.jpg")</a:t>
            </a:r>
            <a:endParaRPr lang="en-US" sz="2000" dirty="0"/>
          </a:p>
        </p:txBody>
      </p:sp>
      <p:sp>
        <p:nvSpPr>
          <p:cNvPr id="6" name="code line 2"/>
          <p:cNvSpPr txBox="1"/>
          <p:nvPr/>
        </p:nvSpPr>
        <p:spPr>
          <a:xfrm>
            <a:off x="640080" y="1623060"/>
            <a:ext cx="79552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img.size</a:t>
            </a:r>
            <a:endParaRPr lang="en-US" sz="2000" dirty="0"/>
          </a:p>
        </p:txBody>
      </p:sp>
      <p:sp>
        <p:nvSpPr>
          <p:cNvPr id="7" name="@1 code line 3"/>
          <p:cNvSpPr txBox="1"/>
          <p:nvPr/>
        </p:nvSpPr>
        <p:spPr>
          <a:xfrm>
            <a:off x="640080" y="1965960"/>
            <a:ext cx="79552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8E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(320, 320)</a:t>
            </a:r>
            <a:endParaRPr lang="en-US" sz="2000" dirty="0"/>
          </a:p>
        </p:txBody>
      </p:sp>
      <p:sp>
        <p:nvSpPr>
          <p:cNvPr id="8" name="code line 4"/>
          <p:cNvSpPr txBox="1"/>
          <p:nvPr/>
        </p:nvSpPr>
        <p:spPr>
          <a:xfrm>
            <a:off x="640080" y="2308860"/>
            <a:ext cx="79552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img.mode</a:t>
            </a:r>
            <a:endParaRPr lang="en-US" sz="2000" dirty="0"/>
          </a:p>
        </p:txBody>
      </p:sp>
      <p:sp>
        <p:nvSpPr>
          <p:cNvPr id="9" name="@2 code line 5"/>
          <p:cNvSpPr txBox="1"/>
          <p:nvPr/>
        </p:nvSpPr>
        <p:spPr>
          <a:xfrm>
            <a:off x="640080" y="2651760"/>
            <a:ext cx="79552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8E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'RGB'</a:t>
            </a:r>
            <a:endParaRPr lang="en-US" sz="2000" dirty="0"/>
          </a:p>
        </p:txBody>
      </p:sp>
      <p:sp>
        <p:nvSpPr>
          <p:cNvPr id="10" name="@2 addText"/>
          <p:cNvSpPr txBox="1"/>
          <p:nvPr/>
        </p:nvSpPr>
        <p:spPr>
          <a:xfrm>
            <a:off x="457200" y="3749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opens the whole picture: 320 pixels wide, 320 tall</a:t>
            </a:r>
            <a:endParaRPr lang="en-US" sz="1400" dirty="0"/>
          </a:p>
        </p:txBody>
      </p:sp>
      <p:sp>
        <p:nvSpPr>
          <p:cNvPr id="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Picture Is a Grid of Numbers</a:t>
            </a:r>
            <a:endParaRPr lang="en-US" sz="3000" dirty="0"/>
          </a:p>
        </p:txBody>
      </p:sp>
      <p:sp>
        <p:nvSpPr>
          <p:cNvPr id="3" name="Callout"/>
          <p:cNvSpPr/>
          <p:nvPr/>
        </p:nvSpPr>
        <p:spPr>
          <a:xfrm>
            <a:off x="457200" y="118872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5D79A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small group of numbers per pixel. NumPy does maths on huge grids, fast.</a:t>
            </a:r>
            <a:endParaRPr lang="en-US" sz="1200" dirty="0"/>
          </a:p>
        </p:txBody>
      </p:sp>
      <p:sp>
        <p:nvSpPr>
          <p:cNvPr id="5" name="code bg"/>
          <p:cNvSpPr/>
          <p:nvPr/>
        </p:nvSpPr>
        <p:spPr>
          <a:xfrm>
            <a:off x="457200" y="2377440"/>
            <a:ext cx="8229600" cy="102870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6" name="code bar"/>
          <p:cNvSpPr/>
          <p:nvPr/>
        </p:nvSpPr>
        <p:spPr>
          <a:xfrm>
            <a:off x="457200" y="2377440"/>
            <a:ext cx="54864" cy="1028700"/>
          </a:xfrm>
          <a:prstGeom prst="rect">
            <a:avLst/>
          </a:prstGeom>
          <a:solidFill>
            <a:srgbClr val="A9C4E8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7" name="code line 1"/>
          <p:cNvSpPr txBox="1"/>
          <p:nvPr/>
        </p:nvSpPr>
        <p:spPr>
          <a:xfrm>
            <a:off x="640080" y="2514600"/>
            <a:ext cx="795528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numpy as np</a:t>
            </a:r>
            <a:endParaRPr lang="en-US" sz="2200" dirty="0"/>
          </a:p>
        </p:txBody>
      </p:sp>
      <p:sp>
        <p:nvSpPr>
          <p:cNvPr id="8" name="code line 2"/>
          <p:cNvSpPr txBox="1"/>
          <p:nvPr/>
        </p:nvSpPr>
        <p:spPr>
          <a:xfrm>
            <a:off x="640080" y="2891790"/>
            <a:ext cx="795528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pixels = np.array(img)</a:t>
            </a:r>
            <a:endParaRPr lang="en-US" sz="2200" dirty="0"/>
          </a:p>
        </p:txBody>
      </p:sp>
      <p:sp>
        <p:nvSpPr>
          <p:cNvPr id="9" name="@1 addText"/>
          <p:cNvSpPr txBox="1"/>
          <p:nvPr/>
        </p:nvSpPr>
        <p:spPr>
          <a:xfrm>
            <a:off x="457200" y="3566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pixels is now the whole picture as a grid</a:t>
            </a:r>
            <a:endParaRPr lang="en-US" sz="14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a Picture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image_explore.py. Predict the shape first: how many rows and columns? Run it (F5) and read shape.</a:t>
            </a:r>
            <a:endParaRPr lang="en-US" sz="1800" dirty="0"/>
          </a:p>
        </p:txBody>
      </p:sp>
      <p:sp>
        <p:nvSpPr>
          <p:cNvPr id="5" name="Timer pill"/>
          <p:cNvSpPr/>
          <p:nvPr/>
        </p:nvSpPr>
        <p:spPr>
          <a:xfrm>
            <a:off x="548640" y="384048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pic>
        <p:nvPicPr>
          <p:cNvPr id="6" name="Image 0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39959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3840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1: Check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sp>
        <p:nvSpPr>
          <p:cNvPr id="5" name="@1 Card"/>
          <p:cNvSpPr/>
          <p:nvPr/>
        </p:nvSpPr>
        <p:spPr>
          <a:xfrm>
            <a:off x="457200" y="1371600"/>
            <a:ext cx="8229600" cy="109728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6" name="@1 addText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(320, 320, 3)</a:t>
            </a:r>
            <a:endParaRPr lang="en-US" sz="4000" dirty="0"/>
          </a:p>
        </p:txBody>
      </p:sp>
      <p:sp>
        <p:nvSpPr>
          <p:cNvPr id="7" name="@2 addText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rows x columns x 3 colour numbers</a:t>
            </a:r>
            <a:endParaRPr lang="en-US" sz="22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Rows and Columns</a:t>
            </a:r>
            <a:endParaRPr lang="en-US" sz="3000" dirty="0"/>
          </a:p>
        </p:txBody>
      </p:sp>
      <p:sp>
        <p:nvSpPr>
          <p:cNvPr id="3" name="3 MIN TALK pill"/>
          <p:cNvSpPr/>
          <p:nvPr/>
        </p:nvSpPr>
        <p:spPr>
          <a:xfrm>
            <a:off x="7132320" y="4114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0" y="411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 TALK</a:t>
            </a:r>
            <a:endParaRPr lang="en-US" sz="1200" dirty="0"/>
          </a:p>
        </p:txBody>
      </p:sp>
      <p:pic>
        <p:nvPicPr>
          <p:cNvPr id="5" name="Image 0" descr="The cow photo with row numbers down the side and column numbers across the 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566160" cy="3566160"/>
          </a:xfrm>
          <a:prstGeom prst="rect">
            <a:avLst/>
          </a:prstGeom>
        </p:spPr>
      </p:pic>
      <p:sp>
        <p:nvSpPr>
          <p:cNvPr id="6" name="@1 dot"/>
          <p:cNvSpPr/>
          <p:nvPr/>
        </p:nvSpPr>
        <p:spPr>
          <a:xfrm>
            <a:off x="4389120" y="1316736"/>
            <a:ext cx="109728" cy="109728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7" name="@1 addText"/>
          <p:cNvSpPr txBox="1"/>
          <p:nvPr/>
        </p:nvSpPr>
        <p:spPr>
          <a:xfrm>
            <a:off x="4663440" y="118872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Rows count down. Columns count across.</a:t>
            </a:r>
            <a:endParaRPr lang="en-US" sz="1800" dirty="0"/>
          </a:p>
        </p:txBody>
      </p:sp>
      <p:sp>
        <p:nvSpPr>
          <p:cNvPr id="8" name="@2 dot"/>
          <p:cNvSpPr/>
          <p:nvPr/>
        </p:nvSpPr>
        <p:spPr>
          <a:xfrm>
            <a:off x="4389120" y="1956816"/>
            <a:ext cx="109728" cy="109728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9" name="@2 addText"/>
          <p:cNvSpPr txBox="1"/>
          <p:nvPr/>
        </p:nvSpPr>
        <p:spPr>
          <a:xfrm>
            <a:off x="4663440" y="182880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Counting starts at 0, top left.</a:t>
            </a:r>
            <a:endParaRPr lang="en-US" sz="1800" dirty="0"/>
          </a:p>
        </p:txBody>
      </p:sp>
      <p:sp>
        <p:nvSpPr>
          <p:cNvPr id="10" name="@3 dot"/>
          <p:cNvSpPr/>
          <p:nvPr/>
        </p:nvSpPr>
        <p:spPr>
          <a:xfrm>
            <a:off x="4389120" y="2596896"/>
            <a:ext cx="109728" cy="109728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11" name="@3 addText"/>
          <p:cNvSpPr txBox="1"/>
          <p:nvPr/>
        </p:nvSpPr>
        <p:spPr>
          <a:xfrm>
            <a:off x="4663440" y="246888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 first, then column.</a:t>
            </a:r>
            <a:endParaRPr lang="en-US" sz="1800" dirty="0"/>
          </a:p>
        </p:txBody>
      </p:sp>
      <p:sp>
        <p:nvSpPr>
          <p:cNvPr id="12" name="code bg"/>
          <p:cNvSpPr/>
          <p:nvPr/>
        </p:nvSpPr>
        <p:spPr>
          <a:xfrm>
            <a:off x="4389120" y="3200400"/>
            <a:ext cx="4297680" cy="89154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13" name="code bar"/>
          <p:cNvSpPr/>
          <p:nvPr/>
        </p:nvSpPr>
        <p:spPr>
          <a:xfrm>
            <a:off x="4389120" y="3200400"/>
            <a:ext cx="54864" cy="891540"/>
          </a:xfrm>
          <a:prstGeom prst="rect">
            <a:avLst/>
          </a:prstGeom>
          <a:solidFill>
            <a:srgbClr val="A9C4E8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14" name="code line 1"/>
          <p:cNvSpPr txBox="1"/>
          <p:nvPr/>
        </p:nvSpPr>
        <p:spPr>
          <a:xfrm>
            <a:off x="4572000" y="3337560"/>
            <a:ext cx="402336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print(pixels[0, 0])</a:t>
            </a:r>
            <a:endParaRPr lang="en-US" sz="1800" dirty="0"/>
          </a:p>
        </p:txBody>
      </p:sp>
      <p:sp>
        <p:nvSpPr>
          <p:cNvPr id="15" name="@4 code line 2"/>
          <p:cNvSpPr txBox="1"/>
          <p:nvPr/>
        </p:nvSpPr>
        <p:spPr>
          <a:xfrm>
            <a:off x="4572000" y="3646170"/>
            <a:ext cx="402336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E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[16  0  0]</a:t>
            </a:r>
            <a:endParaRPr lang="en-US" sz="1800" dirty="0"/>
          </a:p>
        </p:txBody>
      </p:sp>
      <p:sp>
        <p:nvSpPr>
          <p:cNvPr id="16" name="@4 addText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16, green 0, blue 0: almost black</a:t>
            </a:r>
            <a:endParaRPr lang="en-US" sz="14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5" grpId="0" animBg="1"/>
      <p:bldP spid="1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a Pixel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2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 pixels[0, 0], then the pixel in row 100, column 200. Predict first: which of the three numbers is biggest?</a:t>
            </a:r>
            <a:endParaRPr lang="en-US" sz="1800" dirty="0"/>
          </a:p>
        </p:txBody>
      </p:sp>
      <p:sp>
        <p:nvSpPr>
          <p:cNvPr id="5" name="Timer pill"/>
          <p:cNvSpPr/>
          <p:nvPr/>
        </p:nvSpPr>
        <p:spPr>
          <a:xfrm>
            <a:off x="548640" y="384048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pic>
        <p:nvPicPr>
          <p:cNvPr id="6" name="Image 0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39959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3840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2: Check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sp>
        <p:nvSpPr>
          <p:cNvPr id="5" name="@1 Card"/>
          <p:cNvSpPr/>
          <p:nvPr/>
        </p:nvSpPr>
        <p:spPr>
          <a:xfrm>
            <a:off x="457200" y="1371600"/>
            <a:ext cx="8229600" cy="109728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6" name="@1 addText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[94 50 37]</a:t>
            </a:r>
            <a:endParaRPr lang="en-US" sz="4000" dirty="0"/>
          </a:p>
        </p:txBody>
      </p:sp>
      <p:sp>
        <p:nvSpPr>
          <p:cNvPr id="7" name="@2 addText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reddish brown: red is the biggest number</a:t>
            </a:r>
            <a:endParaRPr lang="en-US" sz="22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Crop: a Block of Pixels</a:t>
            </a:r>
            <a:endParaRPr lang="en-US" sz="3000" dirty="0"/>
          </a:p>
        </p:txBody>
      </p:sp>
      <p:sp>
        <p:nvSpPr>
          <p:cNvPr id="3" name="2 MIN TALK pill"/>
          <p:cNvSpPr/>
          <p:nvPr/>
        </p:nvSpPr>
        <p:spPr>
          <a:xfrm>
            <a:off x="7132320" y="4114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0" y="411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 TALK</a:t>
            </a:r>
            <a:endParaRPr lang="en-US" sz="1200" dirty="0"/>
          </a:p>
        </p:txBody>
      </p:sp>
      <p:sp>
        <p:nvSpPr>
          <p:cNvPr id="5" name="code bg"/>
          <p:cNvSpPr/>
          <p:nvPr/>
        </p:nvSpPr>
        <p:spPr>
          <a:xfrm>
            <a:off x="457200" y="1097280"/>
            <a:ext cx="8229600" cy="61722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6" name="code bar"/>
          <p:cNvSpPr/>
          <p:nvPr/>
        </p:nvSpPr>
        <p:spPr>
          <a:xfrm>
            <a:off x="457200" y="1097280"/>
            <a:ext cx="54864" cy="617220"/>
          </a:xfrm>
          <a:prstGeom prst="rect">
            <a:avLst/>
          </a:prstGeom>
          <a:solidFill>
            <a:srgbClr val="A9C4E8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7" name="code line 1"/>
          <p:cNvSpPr txBox="1"/>
          <p:nvPr/>
        </p:nvSpPr>
        <p:spPr>
          <a:xfrm>
            <a:off x="640080" y="1234440"/>
            <a:ext cx="79552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corner = pixels[0:100, 0:100]</a:t>
            </a:r>
            <a:endParaRPr lang="en-US" sz="2000" dirty="0"/>
          </a:p>
        </p:txBody>
      </p:sp>
      <p:pic>
        <p:nvPicPr>
          <p:cNvPr id="8" name="Image 0" descr="The cow photo with a box marking its top-left corn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03120"/>
            <a:ext cx="2103120" cy="21031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rows 0 to 99, columns 0 to 99</a:t>
            </a:r>
            <a:endParaRPr lang="en-US" sz="1400" dirty="0"/>
          </a:p>
        </p:txBody>
      </p:sp>
      <p:pic>
        <p:nvPicPr>
          <p:cNvPr id="10" name="Image 1" descr="The cropped top-left corner of the photo, mostly brick wa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103120"/>
            <a:ext cx="2103120" cy="21031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03520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show(corner): just that box</a:t>
            </a:r>
            <a:endParaRPr lang="en-US" sz="1400" dirty="0"/>
          </a:p>
        </p:txBody>
      </p:sp>
      <p:sp>
        <p:nvSpPr>
          <p:cNvPr id="1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 a Corner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3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TASK 3 to see the top-left corner. Then crop a different 100 x 100 square and show it. Can you crop just the cow's head?</a:t>
            </a:r>
            <a:endParaRPr lang="en-US" sz="1800" dirty="0"/>
          </a:p>
        </p:txBody>
      </p:sp>
      <p:sp>
        <p:nvSpPr>
          <p:cNvPr id="5" name="Timer pill"/>
          <p:cNvSpPr/>
          <p:nvPr/>
        </p:nvSpPr>
        <p:spPr>
          <a:xfrm>
            <a:off x="548640" y="384048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pic>
        <p:nvPicPr>
          <p:cNvPr id="6" name="Image 0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39959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3840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Pixel: 3 Numbers</a:t>
            </a:r>
            <a:endParaRPr lang="en-US" sz="3000" dirty="0"/>
          </a:p>
        </p:txBody>
      </p:sp>
      <p:sp>
        <p:nvSpPr>
          <p:cNvPr id="3" name="4 MIN TALK pill"/>
          <p:cNvSpPr/>
          <p:nvPr/>
        </p:nvSpPr>
        <p:spPr>
          <a:xfrm>
            <a:off x="7132320" y="4114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0" y="411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MIN TALK</a:t>
            </a:r>
            <a:endParaRPr lang="en-US" sz="1200" dirty="0"/>
          </a:p>
        </p:txBody>
      </p:sp>
      <p:sp>
        <p:nvSpPr>
          <p:cNvPr id="5" name="@1 Card"/>
          <p:cNvSpPr/>
          <p:nvPr/>
        </p:nvSpPr>
        <p:spPr>
          <a:xfrm>
            <a:off x="457200" y="1280160"/>
            <a:ext cx="25603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6" name="@1 addText"/>
          <p:cNvSpPr txBox="1"/>
          <p:nvPr/>
        </p:nvSpPr>
        <p:spPr>
          <a:xfrm>
            <a:off x="457200" y="1280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red</a:t>
            </a:r>
            <a:endParaRPr lang="en-US" sz="2600" dirty="0"/>
          </a:p>
        </p:txBody>
      </p:sp>
      <p:sp>
        <p:nvSpPr>
          <p:cNvPr id="7" name="@2 Card"/>
          <p:cNvSpPr/>
          <p:nvPr/>
        </p:nvSpPr>
        <p:spPr>
          <a:xfrm>
            <a:off x="3291840" y="1280160"/>
            <a:ext cx="25603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8" name="@2 addText"/>
          <p:cNvSpPr txBox="1"/>
          <p:nvPr/>
        </p:nvSpPr>
        <p:spPr>
          <a:xfrm>
            <a:off x="3291840" y="1280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= green</a:t>
            </a:r>
            <a:endParaRPr lang="en-US" sz="2600" dirty="0"/>
          </a:p>
        </p:txBody>
      </p:sp>
      <p:sp>
        <p:nvSpPr>
          <p:cNvPr id="9" name="@3 Card"/>
          <p:cNvSpPr/>
          <p:nvPr/>
        </p:nvSpPr>
        <p:spPr>
          <a:xfrm>
            <a:off x="6126480" y="1280160"/>
            <a:ext cx="25603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0" name="@3 addText"/>
          <p:cNvSpPr txBox="1"/>
          <p:nvPr/>
        </p:nvSpPr>
        <p:spPr>
          <a:xfrm>
            <a:off x="6126480" y="1280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= blue</a:t>
            </a:r>
            <a:endParaRPr lang="en-US" sz="2600" dirty="0"/>
          </a:p>
        </p:txBody>
      </p:sp>
      <p:sp>
        <p:nvSpPr>
          <p:cNvPr id="11" name="@4 Callout"/>
          <p:cNvSpPr/>
          <p:nvPr/>
        </p:nvSpPr>
        <p:spPr>
          <a:xfrm>
            <a:off x="457200" y="265176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</p:sp>
      <p:sp>
        <p:nvSpPr>
          <p:cNvPr id="12" name="@4 addText"/>
          <p:cNvSpPr txBox="1"/>
          <p:nvPr/>
        </p:nvSpPr>
        <p:spPr>
          <a:xfrm>
            <a:off x="685800" y="26517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one is a brightness: 0 (none of that colour) to 255 (as much as possible).</a:t>
            </a:r>
            <a:endParaRPr lang="en-US" sz="12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4 x 4 Crop in Numbers</a:t>
            </a:r>
            <a:endParaRPr lang="en-US" sz="3000" dirty="0"/>
          </a:p>
        </p:txBody>
      </p:sp>
      <p:sp>
        <p:nvSpPr>
          <p:cNvPr id="3" name="4 MIN TALK pill"/>
          <p:cNvSpPr/>
          <p:nvPr/>
        </p:nvSpPr>
        <p:spPr>
          <a:xfrm>
            <a:off x="7132320" y="4114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0" y="411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MIN TALK</a:t>
            </a:r>
            <a:endParaRPr lang="en-US" sz="1200" dirty="0"/>
          </a:p>
        </p:txBody>
      </p:sp>
      <p:pic>
        <p:nvPicPr>
          <p:cNvPr id="5" name="Image 0" descr="A tiny 4 by 4 patch of brown pixels cropped from the cow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377440" cy="2377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74320" y="3657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pixels[100:104, 100:104]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3200400" y="1188720"/>
            <a:ext cx="12801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00400" y="11887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113, 73, 63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572000" y="1188720"/>
            <a:ext cx="12801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0" y="11887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123, 80, 71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5943600" y="1188720"/>
            <a:ext cx="12801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943600" y="11887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136, 92, 81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7315200" y="1188720"/>
            <a:ext cx="12801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0" y="11887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141, 95, 80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3200400" y="1828800"/>
            <a:ext cx="12801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200400" y="1828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125, 83, 71</a:t>
            </a:r>
            <a:endParaRPr lang="en-US" sz="1400" dirty="0"/>
          </a:p>
        </p:txBody>
      </p:sp>
      <p:sp>
        <p:nvSpPr>
          <p:cNvPr id="17" name="Card"/>
          <p:cNvSpPr/>
          <p:nvPr/>
        </p:nvSpPr>
        <p:spPr>
          <a:xfrm>
            <a:off x="4572000" y="1828800"/>
            <a:ext cx="12801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72000" y="1828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139, 95, 84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5943600" y="1828800"/>
            <a:ext cx="12801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0" y="1828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150, 104, 91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7315200" y="1828800"/>
            <a:ext cx="12801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0" y="1828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147, 99, 85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3200400" y="2468880"/>
            <a:ext cx="12801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0040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132, 88, 77</a:t>
            </a:r>
            <a:endParaRPr lang="en-US" sz="1400" dirty="0"/>
          </a:p>
        </p:txBody>
      </p:sp>
      <p:sp>
        <p:nvSpPr>
          <p:cNvPr id="25" name="Card"/>
          <p:cNvSpPr/>
          <p:nvPr/>
        </p:nvSpPr>
        <p:spPr>
          <a:xfrm>
            <a:off x="4572000" y="2468880"/>
            <a:ext cx="12801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7200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140, 93, 83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5943600" y="2468880"/>
            <a:ext cx="12801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145, 97, 85</a:t>
            </a:r>
            <a:endParaRPr lang="en-US" sz="1400" dirty="0"/>
          </a:p>
        </p:txBody>
      </p:sp>
      <p:sp>
        <p:nvSpPr>
          <p:cNvPr id="29" name="Card"/>
          <p:cNvSpPr/>
          <p:nvPr/>
        </p:nvSpPr>
        <p:spPr>
          <a:xfrm>
            <a:off x="7315200" y="2468880"/>
            <a:ext cx="12801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31520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142, 93, 78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3200400" y="3108960"/>
            <a:ext cx="12801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200400" y="3108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125, 81, 68</a:t>
            </a:r>
            <a:endParaRPr lang="en-US" sz="1400" dirty="0"/>
          </a:p>
        </p:txBody>
      </p:sp>
      <p:sp>
        <p:nvSpPr>
          <p:cNvPr id="33" name="Card"/>
          <p:cNvSpPr/>
          <p:nvPr/>
        </p:nvSpPr>
        <p:spPr>
          <a:xfrm>
            <a:off x="4572000" y="3108960"/>
            <a:ext cx="12801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572000" y="3108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130, 82, 70</a:t>
            </a:r>
            <a:endParaRPr lang="en-US" sz="1400" dirty="0"/>
          </a:p>
        </p:txBody>
      </p:sp>
      <p:sp>
        <p:nvSpPr>
          <p:cNvPr id="35" name="Card"/>
          <p:cNvSpPr/>
          <p:nvPr/>
        </p:nvSpPr>
        <p:spPr>
          <a:xfrm>
            <a:off x="5943600" y="3108960"/>
            <a:ext cx="12801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0" y="3108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138, 89, 75</a:t>
            </a:r>
            <a:endParaRPr lang="en-US" sz="1400" dirty="0"/>
          </a:p>
        </p:txBody>
      </p:sp>
      <p:sp>
        <p:nvSpPr>
          <p:cNvPr id="37" name="Card"/>
          <p:cNvSpPr/>
          <p:nvPr/>
        </p:nvSpPr>
        <p:spPr>
          <a:xfrm>
            <a:off x="7315200" y="3108960"/>
            <a:ext cx="12801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315200" y="3108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144, 92, 78</a:t>
            </a:r>
            <a:endParaRPr lang="en-US" sz="14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Paper: the 4 x 4 Patch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Pencil, not Python. Go back a slide if you need the numbers.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One Pixel: (113, 73, 63)</a:t>
            </a:r>
            <a:endParaRPr lang="en-US" sz="3000" dirty="0"/>
          </a:p>
        </p:txBody>
      </p:sp>
      <p:sp>
        <p:nvSpPr>
          <p:cNvPr id="3" name="@1 swatch"/>
          <p:cNvSpPr/>
          <p:nvPr/>
        </p:nvSpPr>
        <p:spPr>
          <a:xfrm>
            <a:off x="731520" y="1280160"/>
            <a:ext cx="1280160" cy="1280160"/>
          </a:xfrm>
          <a:prstGeom prst="rect">
            <a:avLst/>
          </a:prstGeom>
          <a:solidFill>
            <a:srgbClr val="5A0000"/>
          </a:solidFill>
          <a:ln w="12700">
            <a:solidFill>
              <a:srgbClr val="5A0000"/>
            </a:solidFill>
            <a:prstDash val="solid"/>
          </a:ln>
        </p:spPr>
      </p:sp>
      <p:sp>
        <p:nvSpPr>
          <p:cNvPr id="4" name="@1 addText"/>
          <p:cNvSpPr txBox="1"/>
          <p:nvPr/>
        </p:nvSpPr>
        <p:spPr>
          <a:xfrm>
            <a:off x="731520" y="26517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 113</a:t>
            </a:r>
            <a:endParaRPr lang="en-US" sz="1800" dirty="0"/>
          </a:p>
        </p:txBody>
      </p:sp>
      <p:sp>
        <p:nvSpPr>
          <p:cNvPr id="5" name="@2 swatch"/>
          <p:cNvSpPr/>
          <p:nvPr/>
        </p:nvSpPr>
        <p:spPr>
          <a:xfrm>
            <a:off x="2651760" y="1280160"/>
            <a:ext cx="1280160" cy="1280160"/>
          </a:xfrm>
          <a:prstGeom prst="rect">
            <a:avLst/>
          </a:prstGeom>
          <a:solidFill>
            <a:srgbClr val="004000"/>
          </a:solidFill>
          <a:ln w="12700">
            <a:solidFill>
              <a:srgbClr val="004000"/>
            </a:solidFill>
            <a:prstDash val="solid"/>
          </a:ln>
        </p:spPr>
      </p:sp>
      <p:sp>
        <p:nvSpPr>
          <p:cNvPr id="6" name="@2 addText"/>
          <p:cNvSpPr txBox="1"/>
          <p:nvPr/>
        </p:nvSpPr>
        <p:spPr>
          <a:xfrm>
            <a:off x="2651760" y="26517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 73</a:t>
            </a:r>
            <a:endParaRPr lang="en-US" sz="1800" dirty="0"/>
          </a:p>
        </p:txBody>
      </p:sp>
      <p:sp>
        <p:nvSpPr>
          <p:cNvPr id="7" name="@3 swatch"/>
          <p:cNvSpPr/>
          <p:nvPr/>
        </p:nvSpPr>
        <p:spPr>
          <a:xfrm>
            <a:off x="4572000" y="1280160"/>
            <a:ext cx="1280160" cy="1280160"/>
          </a:xfrm>
          <a:prstGeom prst="rect">
            <a:avLst/>
          </a:prstGeom>
          <a:solidFill>
            <a:srgbClr val="00003C"/>
          </a:solidFill>
          <a:ln w="12700">
            <a:solidFill>
              <a:srgbClr val="00003C"/>
            </a:solidFill>
            <a:prstDash val="solid"/>
          </a:ln>
        </p:spPr>
      </p:sp>
      <p:sp>
        <p:nvSpPr>
          <p:cNvPr id="8" name="@3 addText"/>
          <p:cNvSpPr txBox="1"/>
          <p:nvPr/>
        </p:nvSpPr>
        <p:spPr>
          <a:xfrm>
            <a:off x="4572000" y="26517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63</a:t>
            </a:r>
            <a:endParaRPr lang="en-US" sz="1800" dirty="0"/>
          </a:p>
        </p:txBody>
      </p:sp>
      <p:sp>
        <p:nvSpPr>
          <p:cNvPr id="9" name="@4 swatch"/>
          <p:cNvSpPr/>
          <p:nvPr/>
        </p:nvSpPr>
        <p:spPr>
          <a:xfrm>
            <a:off x="6492240" y="1280160"/>
            <a:ext cx="1463040" cy="1280160"/>
          </a:xfrm>
          <a:prstGeom prst="rect">
            <a:avLst/>
          </a:prstGeom>
          <a:solidFill>
            <a:srgbClr val="71493F"/>
          </a:solidFill>
          <a:ln w="12700">
            <a:solidFill>
              <a:srgbClr val="71493F"/>
            </a:solidFill>
            <a:prstDash val="solid"/>
          </a:ln>
        </p:spPr>
      </p:sp>
      <p:sp>
        <p:nvSpPr>
          <p:cNvPr id="10" name="@4 addText"/>
          <p:cNvSpPr txBox="1"/>
          <p:nvPr/>
        </p:nvSpPr>
        <p:spPr>
          <a:xfrm>
            <a:off x="6492240" y="26517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the pixel</a:t>
            </a:r>
            <a:endParaRPr lang="en-US" sz="1800" dirty="0"/>
          </a:p>
        </p:txBody>
      </p:sp>
      <p:sp>
        <p:nvSpPr>
          <p:cNvPr id="11" name="@5 Callout"/>
          <p:cNvSpPr/>
          <p:nvPr/>
        </p:nvSpPr>
        <p:spPr>
          <a:xfrm>
            <a:off x="457200" y="356616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</p:sp>
      <p:sp>
        <p:nvSpPr>
          <p:cNvPr id="12" name="@5 addText"/>
          <p:cNvSpPr txBox="1"/>
          <p:nvPr/>
        </p:nvSpPr>
        <p:spPr>
          <a:xfrm>
            <a:off x="685800" y="35661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numbers, change the picture. That is all a photo is.</a:t>
            </a:r>
            <a:endParaRPr lang="en-US" sz="12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a Colour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image_explore.py, change show_colour(230, 30, 30). Make yellow, then grey. Each number is 0 to 255.</a:t>
            </a:r>
            <a:endParaRPr lang="en-US" sz="1800" dirty="0"/>
          </a:p>
        </p:txBody>
      </p:sp>
      <p:sp>
        <p:nvSpPr>
          <p:cNvPr id="5" name="Timer pill"/>
          <p:cNvSpPr/>
          <p:nvPr/>
        </p:nvSpPr>
        <p:spPr>
          <a:xfrm>
            <a:off x="548640" y="384048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pic>
        <p:nvPicPr>
          <p:cNvPr id="6" name="Image 0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39959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3840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Into Three Pictures</a:t>
            </a:r>
            <a:endParaRPr lang="en-US" sz="3000" dirty="0"/>
          </a:p>
        </p:txBody>
      </p:sp>
      <p:sp>
        <p:nvSpPr>
          <p:cNvPr id="3" name="2 MIN TALK pill"/>
          <p:cNvSpPr/>
          <p:nvPr/>
        </p:nvSpPr>
        <p:spPr>
          <a:xfrm>
            <a:off x="7132320" y="4114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0" y="411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 TALK</a:t>
            </a:r>
            <a:endParaRPr lang="en-US" sz="1200" dirty="0"/>
          </a:p>
        </p:txBody>
      </p:sp>
      <p:pic>
        <p:nvPicPr>
          <p:cNvPr id="5" name="Image 0" descr="The red channel of the cow photo shown as a red-shaded picture, wall b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16874"/>
            <a:ext cx="4114800" cy="3526971"/>
          </a:xfrm>
          <a:prstGeom prst="rect">
            <a:avLst/>
          </a:prstGeom>
        </p:spPr>
      </p:pic>
      <p:sp>
        <p:nvSpPr>
          <p:cNvPr id="6" name="code bg"/>
          <p:cNvSpPr/>
          <p:nvPr/>
        </p:nvSpPr>
        <p:spPr>
          <a:xfrm>
            <a:off x="4846320" y="1188720"/>
            <a:ext cx="3840480" cy="54864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7" name="code bar"/>
          <p:cNvSpPr/>
          <p:nvPr/>
        </p:nvSpPr>
        <p:spPr>
          <a:xfrm>
            <a:off x="4846320" y="1188720"/>
            <a:ext cx="54864" cy="548640"/>
          </a:xfrm>
          <a:prstGeom prst="rect">
            <a:avLst/>
          </a:prstGeom>
          <a:solidFill>
            <a:srgbClr val="A9C4E8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8" name="code line 1"/>
          <p:cNvSpPr txBox="1"/>
          <p:nvPr/>
        </p:nvSpPr>
        <p:spPr>
          <a:xfrm>
            <a:off x="5029200" y="1325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 = pixels[:, :, 0]</a:t>
            </a:r>
            <a:endParaRPr lang="en-US" sz="1600" dirty="0"/>
          </a:p>
        </p:txBody>
      </p:sp>
      <p:sp>
        <p:nvSpPr>
          <p:cNvPr id="9" name="@1 dot"/>
          <p:cNvSpPr/>
          <p:nvPr/>
        </p:nvSpPr>
        <p:spPr>
          <a:xfrm>
            <a:off x="4846320" y="2322576"/>
            <a:ext cx="109728" cy="109728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10" name="@1 addText"/>
          <p:cNvSpPr txBox="1"/>
          <p:nvPr/>
        </p:nvSpPr>
        <p:spPr>
          <a:xfrm>
            <a:off x="5120640" y="21945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 0 is red.</a:t>
            </a:r>
            <a:endParaRPr lang="en-US" sz="1600" dirty="0"/>
          </a:p>
        </p:txBody>
      </p:sp>
      <p:sp>
        <p:nvSpPr>
          <p:cNvPr id="11" name="@2 dot"/>
          <p:cNvSpPr/>
          <p:nvPr/>
        </p:nvSpPr>
        <p:spPr>
          <a:xfrm>
            <a:off x="4846320" y="2916936"/>
            <a:ext cx="109728" cy="109728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12" name="@2 addText"/>
          <p:cNvSpPr txBox="1"/>
          <p:nvPr/>
        </p:nvSpPr>
        <p:spPr>
          <a:xfrm>
            <a:off x="5120640" y="27889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number = deep red.</a:t>
            </a:r>
            <a:endParaRPr lang="en-US" sz="1600" dirty="0"/>
          </a:p>
        </p:txBody>
      </p:sp>
      <p:sp>
        <p:nvSpPr>
          <p:cNvPr id="13" name="@3 dot"/>
          <p:cNvSpPr/>
          <p:nvPr/>
        </p:nvSpPr>
        <p:spPr>
          <a:xfrm>
            <a:off x="4846320" y="3511296"/>
            <a:ext cx="109728" cy="109728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14" name="@3 addText"/>
          <p:cNvSpPr txBox="1"/>
          <p:nvPr/>
        </p:nvSpPr>
        <p:spPr>
          <a:xfrm>
            <a:off x="5120640" y="3383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Wall: lots of red. Cow: almost none.</a:t>
            </a:r>
            <a:endParaRPr lang="en-US" sz="16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the Channels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4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TASK 4 to see red. Do the same for green (channel 1) and blue (channel 2). Which channel is brightest on the wall? On the cow?</a:t>
            </a:r>
            <a:endParaRPr lang="en-US" sz="1800" dirty="0"/>
          </a:p>
        </p:txBody>
      </p:sp>
      <p:sp>
        <p:nvSpPr>
          <p:cNvPr id="5" name="Timer pill"/>
          <p:cNvSpPr/>
          <p:nvPr/>
        </p:nvSpPr>
        <p:spPr>
          <a:xfrm>
            <a:off x="548640" y="384048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pic>
        <p:nvPicPr>
          <p:cNvPr id="6" name="Image 0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39959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3840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4: All Three Channels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pic>
        <p:nvPicPr>
          <p:cNvPr id="5" name="Image 0" descr="Red channel of the cow photo, shown in shades of 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560320" cy="2194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3429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</a:t>
            </a:r>
            <a:endParaRPr lang="en-US" sz="1400" dirty="0"/>
          </a:p>
        </p:txBody>
      </p:sp>
      <p:pic>
        <p:nvPicPr>
          <p:cNvPr id="7" name="Image 1" descr="Green channel of the cow photo, shown in shades of gre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560320" cy="21945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291840" y="3429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</a:t>
            </a:r>
            <a:endParaRPr lang="en-US" sz="1400" dirty="0"/>
          </a:p>
        </p:txBody>
      </p:sp>
      <p:pic>
        <p:nvPicPr>
          <p:cNvPr id="9" name="Image 2" descr="Blue channel of the cow photo, shown in shades of blu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88720"/>
            <a:ext cx="2560320" cy="21945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126480" y="3429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</a:t>
            </a:r>
            <a:endParaRPr lang="en-US" sz="1400" dirty="0"/>
          </a:p>
        </p:txBody>
      </p:sp>
      <p:sp>
        <p:nvSpPr>
          <p:cNvPr id="11" name="@1 Callout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</p:sp>
      <p:sp>
        <p:nvSpPr>
          <p:cNvPr id="12" name="@1 addText"/>
          <p:cNvSpPr txBox="1"/>
          <p:nvPr/>
        </p:nvSpPr>
        <p:spPr>
          <a:xfrm>
            <a:off x="685800" y="38404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= bright in red. Cow = dark in every channel.</a:t>
            </a:r>
            <a:endParaRPr lang="en-US" sz="12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Red Off</a:t>
            </a:r>
            <a:endParaRPr lang="en-US" sz="3000" dirty="0"/>
          </a:p>
        </p:txBody>
      </p:sp>
      <p:sp>
        <p:nvSpPr>
          <p:cNvPr id="3" name="2 MIN TALK pill"/>
          <p:cNvSpPr/>
          <p:nvPr/>
        </p:nvSpPr>
        <p:spPr>
          <a:xfrm>
            <a:off x="7132320" y="4114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0" y="411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 TALK</a:t>
            </a:r>
            <a:endParaRPr lang="en-US" sz="1200" dirty="0"/>
          </a:p>
        </p:txBody>
      </p:sp>
      <p:sp>
        <p:nvSpPr>
          <p:cNvPr id="5" name="code bg"/>
          <p:cNvSpPr/>
          <p:nvPr/>
        </p:nvSpPr>
        <p:spPr>
          <a:xfrm>
            <a:off x="457200" y="1143000"/>
            <a:ext cx="8229600" cy="130302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6" name="code bar"/>
          <p:cNvSpPr/>
          <p:nvPr/>
        </p:nvSpPr>
        <p:spPr>
          <a:xfrm>
            <a:off x="457200" y="1143000"/>
            <a:ext cx="54864" cy="1303020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7" name="code line 1"/>
          <p:cNvSpPr txBox="1"/>
          <p:nvPr/>
        </p:nvSpPr>
        <p:spPr>
          <a:xfrm>
            <a:off x="640080" y="1280160"/>
            <a:ext cx="79552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no_red = pixels.copy()</a:t>
            </a:r>
            <a:endParaRPr lang="en-US" sz="2000" dirty="0"/>
          </a:p>
        </p:txBody>
      </p:sp>
      <p:sp>
        <p:nvSpPr>
          <p:cNvPr id="8" name="@1 code line 2"/>
          <p:cNvSpPr txBox="1"/>
          <p:nvPr/>
        </p:nvSpPr>
        <p:spPr>
          <a:xfrm>
            <a:off x="640080" y="1623060"/>
            <a:ext cx="79552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no_red[:, :, 0] = 0</a:t>
            </a:r>
            <a:endParaRPr lang="en-US" sz="2000" dirty="0"/>
          </a:p>
        </p:txBody>
      </p:sp>
      <p:sp>
        <p:nvSpPr>
          <p:cNvPr id="9" name="@2 code line 3"/>
          <p:cNvSpPr txBox="1"/>
          <p:nvPr/>
        </p:nvSpPr>
        <p:spPr>
          <a:xfrm>
            <a:off x="640080" y="1965960"/>
            <a:ext cx="79552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show(no_red)</a:t>
            </a:r>
            <a:endParaRPr lang="en-US" sz="2000" dirty="0"/>
          </a:p>
        </p:txBody>
      </p:sp>
      <p:sp>
        <p:nvSpPr>
          <p:cNvPr id="10" name="@1 addText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.copy() makes a second picture, so the original stays safe.</a:t>
            </a:r>
            <a:endParaRPr lang="en-US" sz="1400" dirty="0"/>
          </a:p>
        </p:txBody>
      </p:sp>
      <p:sp>
        <p:nvSpPr>
          <p:cNvPr id="11" name="@2 addText"/>
          <p:cNvSpPr txBox="1"/>
          <p:nvPr/>
        </p:nvSpPr>
        <p:spPr>
          <a:xfrm>
            <a:off x="457200" y="3749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 2 sets every red number to 0.</a:t>
            </a:r>
            <a:endParaRPr lang="en-US" sz="1400" dirty="0"/>
          </a:p>
        </p:txBody>
      </p:sp>
      <p:sp>
        <p:nvSpPr>
          <p:cNvPr id="1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9" grpId="0" animBg="1"/>
      <p:bldP spid="1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Channels Off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5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 first. Run TASK 5 (no red). Then make one with no green, one with no blue, and one that is only blue.</a:t>
            </a:r>
            <a:endParaRPr lang="en-US" sz="1800" dirty="0"/>
          </a:p>
        </p:txBody>
      </p:sp>
      <p:sp>
        <p:nvSpPr>
          <p:cNvPr id="5" name="Timer pill"/>
          <p:cNvSpPr/>
          <p:nvPr/>
        </p:nvSpPr>
        <p:spPr>
          <a:xfrm>
            <a:off x="548640" y="384048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pic>
        <p:nvPicPr>
          <p:cNvPr id="6" name="Image 0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39959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3840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5: Check Your Pictures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pic>
        <p:nvPicPr>
          <p:cNvPr id="5" name="Image 0" descr="A cow photo with the red channel switched off, looking t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1920240" cy="1920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3337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red</a:t>
            </a:r>
            <a:endParaRPr lang="en-US" sz="1400" dirty="0"/>
          </a:p>
        </p:txBody>
      </p:sp>
      <p:pic>
        <p:nvPicPr>
          <p:cNvPr id="7" name="Image 1" descr="A cow photo with the green channel switched off, looking magent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371600"/>
            <a:ext cx="1920240" cy="1920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60320" y="3337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green</a:t>
            </a:r>
            <a:endParaRPr lang="en-US" sz="1400" dirty="0"/>
          </a:p>
        </p:txBody>
      </p:sp>
      <p:pic>
        <p:nvPicPr>
          <p:cNvPr id="9" name="Image 2" descr="A cow photo with the blue channel switched off, looking yello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371600"/>
            <a:ext cx="1920240" cy="19202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663440" y="3337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blue</a:t>
            </a:r>
            <a:endParaRPr lang="en-US" sz="1400" dirty="0"/>
          </a:p>
        </p:txBody>
      </p:sp>
      <p:pic>
        <p:nvPicPr>
          <p:cNvPr id="11" name="Image 3" descr="A cow photo with only the blue channel, looking deep blu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1371600"/>
            <a:ext cx="192024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6766560" y="3337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blue</a:t>
            </a:r>
            <a:endParaRPr lang="en-US" sz="1400" dirty="0"/>
          </a:p>
        </p:txBody>
      </p:sp>
      <p:sp>
        <p:nvSpPr>
          <p:cNvPr id="13" name="@1 Callout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5D79A0"/>
            </a:solidFill>
            <a:prstDash val="solid"/>
          </a:ln>
        </p:spPr>
      </p:sp>
      <p:sp>
        <p:nvSpPr>
          <p:cNvPr id="14" name="@1 addText"/>
          <p:cNvSpPr txBox="1"/>
          <p:nvPr/>
        </p:nvSpPr>
        <p:spPr>
          <a:xfrm>
            <a:off x="685800" y="38404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+ blue light = magenta. red + green light = yellow.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Grey and Negative</a:t>
            </a:r>
            <a:endParaRPr lang="en-US" sz="3000" dirty="0"/>
          </a:p>
        </p:txBody>
      </p:sp>
      <p:sp>
        <p:nvSpPr>
          <p:cNvPr id="3" name="2 MIN TALK pill"/>
          <p:cNvSpPr/>
          <p:nvPr/>
        </p:nvSpPr>
        <p:spPr>
          <a:xfrm>
            <a:off x="7132320" y="4114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0" y="411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 TALK</a:t>
            </a:r>
            <a:endParaRPr lang="en-US" sz="1200" dirty="0"/>
          </a:p>
        </p:txBody>
      </p:sp>
      <p:sp>
        <p:nvSpPr>
          <p:cNvPr id="5" name="code bg"/>
          <p:cNvSpPr/>
          <p:nvPr/>
        </p:nvSpPr>
        <p:spPr>
          <a:xfrm>
            <a:off x="457200" y="1143000"/>
            <a:ext cx="8229600" cy="120015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6" name="code bar"/>
          <p:cNvSpPr/>
          <p:nvPr/>
        </p:nvSpPr>
        <p:spPr>
          <a:xfrm>
            <a:off x="457200" y="1143000"/>
            <a:ext cx="54864" cy="1200150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7" name="code line 1"/>
          <p:cNvSpPr txBox="1"/>
          <p:nvPr/>
        </p:nvSpPr>
        <p:spPr>
          <a:xfrm>
            <a:off x="640080" y="128016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grey = np.array(img.convert("L"))</a:t>
            </a:r>
            <a:endParaRPr lang="en-US" sz="1800" dirty="0"/>
          </a:p>
        </p:txBody>
      </p:sp>
      <p:sp>
        <p:nvSpPr>
          <p:cNvPr id="8" name="code line 2"/>
          <p:cNvSpPr txBox="1"/>
          <p:nvPr/>
        </p:nvSpPr>
        <p:spPr>
          <a:xfrm>
            <a:off x="640080" y="158877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show_channel(grey, "gray")</a:t>
            </a:r>
            <a:endParaRPr lang="en-US" sz="1800" dirty="0"/>
          </a:p>
        </p:txBody>
      </p:sp>
      <p:sp>
        <p:nvSpPr>
          <p:cNvPr id="9" name="code line 3"/>
          <p:cNvSpPr txBox="1"/>
          <p:nvPr/>
        </p:nvSpPr>
        <p:spPr>
          <a:xfrm>
            <a:off x="640080" y="189738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negative = 255 - pixels</a:t>
            </a:r>
            <a:endParaRPr lang="en-US" sz="1800" dirty="0"/>
          </a:p>
        </p:txBody>
      </p:sp>
      <p:sp>
        <p:nvSpPr>
          <p:cNvPr id="10" name="@1 addText"/>
          <p:cNvSpPr txBox="1"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"L" = one brightness number per pixel: 0 black, 255 white.</a:t>
            </a:r>
            <a:endParaRPr lang="en-US" sz="1400" dirty="0"/>
          </a:p>
        </p:txBody>
      </p:sp>
      <p:sp>
        <p:nvSpPr>
          <p:cNvPr id="11" name="@2 addText"/>
          <p:cNvSpPr txBox="1"/>
          <p:nvPr/>
        </p:nvSpPr>
        <p:spPr>
          <a:xfrm>
            <a:off x="457200" y="3657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255 - pixels flips every number: 0 becomes 255.</a:t>
            </a:r>
            <a:endParaRPr lang="en-US" sz="1400" dirty="0"/>
          </a:p>
        </p:txBody>
      </p:sp>
      <p:sp>
        <p:nvSpPr>
          <p:cNvPr id="1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Grey and Negative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6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Predict: the first pixel was [16 0 0]. What is it in the negative? Run TASK 6. What happened to the black cow?</a:t>
            </a:r>
            <a:endParaRPr lang="en-US" sz="1800" dirty="0"/>
          </a:p>
        </p:txBody>
      </p:sp>
      <p:sp>
        <p:nvSpPr>
          <p:cNvPr id="5" name="Timer pill"/>
          <p:cNvSpPr/>
          <p:nvPr/>
        </p:nvSpPr>
        <p:spPr>
          <a:xfrm>
            <a:off x="548640" y="384048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pic>
        <p:nvPicPr>
          <p:cNvPr id="6" name="Image 0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39959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3840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</a:t>
            </a:r>
            <a:endParaRPr lang="en-US" sz="2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6: Check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pic>
        <p:nvPicPr>
          <p:cNvPr id="5" name="Image 0" descr="The original cow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80160"/>
            <a:ext cx="2377440" cy="2377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</a:t>
            </a:r>
            <a:endParaRPr lang="en-US" sz="1400" dirty="0"/>
          </a:p>
        </p:txBody>
      </p:sp>
      <p:pic>
        <p:nvPicPr>
          <p:cNvPr id="7" name="Image 1" descr="The cow photo in grey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280160"/>
            <a:ext cx="2377440" cy="23774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2004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grey</a:t>
            </a:r>
            <a:endParaRPr lang="en-US" sz="1400" dirty="0"/>
          </a:p>
        </p:txBody>
      </p:sp>
      <p:pic>
        <p:nvPicPr>
          <p:cNvPr id="9" name="Image 2" descr="The negative of the cow photo with colours flipp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2377440" cy="23774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9436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negative: [239 255 255]</a:t>
            </a:r>
            <a:endParaRPr lang="en-US" sz="1400" dirty="0"/>
          </a:p>
        </p:txBody>
      </p:sp>
      <p:sp>
        <p:nvSpPr>
          <p:cNvPr id="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Maths on the Whole Picture</a:t>
            </a:r>
            <a:endParaRPr lang="en-US" sz="3000" dirty="0"/>
          </a:p>
        </p:txBody>
      </p:sp>
      <p:sp>
        <p:nvSpPr>
          <p:cNvPr id="3" name="2 MIN TALK pill"/>
          <p:cNvSpPr/>
          <p:nvPr/>
        </p:nvSpPr>
        <p:spPr>
          <a:xfrm>
            <a:off x="7132320" y="4114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0" y="411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 TALK</a:t>
            </a:r>
            <a:endParaRPr lang="en-US" sz="1200" dirty="0"/>
          </a:p>
        </p:txBody>
      </p:sp>
      <p:sp>
        <p:nvSpPr>
          <p:cNvPr id="5" name="code bg"/>
          <p:cNvSpPr/>
          <p:nvPr/>
        </p:nvSpPr>
        <p:spPr>
          <a:xfrm>
            <a:off x="457200" y="1143000"/>
            <a:ext cx="8229600" cy="150876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6" name="code bar"/>
          <p:cNvSpPr/>
          <p:nvPr/>
        </p:nvSpPr>
        <p:spPr>
          <a:xfrm>
            <a:off x="457200" y="1143000"/>
            <a:ext cx="54864" cy="1508760"/>
          </a:xfrm>
          <a:prstGeom prst="rect">
            <a:avLst/>
          </a:prstGeom>
          <a:solidFill>
            <a:srgbClr val="A9C4E8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7" name="code line 1"/>
          <p:cNvSpPr txBox="1"/>
          <p:nvPr/>
        </p:nvSpPr>
        <p:spPr>
          <a:xfrm>
            <a:off x="640080" y="128016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print(grey.mean())</a:t>
            </a:r>
            <a:endParaRPr lang="en-US" sz="1800" dirty="0"/>
          </a:p>
        </p:txBody>
      </p:sp>
      <p:sp>
        <p:nvSpPr>
          <p:cNvPr id="8" name="@1 code line 2"/>
          <p:cNvSpPr txBox="1"/>
          <p:nvPr/>
        </p:nvSpPr>
        <p:spPr>
          <a:xfrm>
            <a:off x="640080" y="158877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E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81.449951171875</a:t>
            </a:r>
            <a:endParaRPr lang="en-US" sz="1800" dirty="0"/>
          </a:p>
        </p:txBody>
      </p:sp>
      <p:sp>
        <p:nvSpPr>
          <p:cNvPr id="9" name="code line 3"/>
          <p:cNvSpPr txBox="1"/>
          <p:nvPr/>
        </p:nvSpPr>
        <p:spPr>
          <a:xfrm>
            <a:off x="640080" y="189738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print((grey &lt; 50).sum())</a:t>
            </a:r>
            <a:endParaRPr lang="en-US" sz="1800" dirty="0"/>
          </a:p>
        </p:txBody>
      </p:sp>
      <p:sp>
        <p:nvSpPr>
          <p:cNvPr id="10" name="@2 code line 4"/>
          <p:cNvSpPr txBox="1"/>
          <p:nvPr/>
        </p:nvSpPr>
        <p:spPr>
          <a:xfrm>
            <a:off x="640080" y="220599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E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28501</a:t>
            </a:r>
            <a:endParaRPr lang="en-US" sz="1800" dirty="0"/>
          </a:p>
        </p:txBody>
      </p:sp>
      <p:sp>
        <p:nvSpPr>
          <p:cNvPr id="11" name="@1 addText"/>
          <p:cNvSpPr txBox="1"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average brightness: a fairly dark grey (0 is black, 255 is white)</a:t>
            </a:r>
            <a:endParaRPr lang="en-US" sz="1400" dirty="0"/>
          </a:p>
        </p:txBody>
      </p:sp>
      <p:sp>
        <p:nvSpPr>
          <p:cNvPr id="12" name="@2 addText"/>
          <p:cNvSpPr txBox="1"/>
          <p:nvPr/>
        </p:nvSpPr>
        <p:spPr>
          <a:xfrm>
            <a:off x="457200" y="3657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28,501 pixels are darker than 50, out of 102,400. grey &lt; 50 is True or False for every pixel; .sum() counts the Trues.</a:t>
            </a:r>
            <a:endParaRPr lang="en-US" sz="14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0" grpId="0" animBg="1"/>
      <p:bldP spid="1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and Average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7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TASK 7. How many pixels are brighter than 100? What fraction of the picture is that? Predict first: more or less than half?</a:t>
            </a:r>
            <a:endParaRPr lang="en-US" sz="1800" dirty="0"/>
          </a:p>
        </p:txBody>
      </p:sp>
      <p:sp>
        <p:nvSpPr>
          <p:cNvPr id="5" name="Timer pill"/>
          <p:cNvSpPr/>
          <p:nvPr/>
        </p:nvSpPr>
        <p:spPr>
          <a:xfrm>
            <a:off x="548640" y="384048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pic>
        <p:nvPicPr>
          <p:cNvPr id="6" name="Image 0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39959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3840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</a:t>
            </a:r>
            <a:endParaRPr lang="en-US" sz="2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7: Check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sp>
        <p:nvSpPr>
          <p:cNvPr id="5" name="@1 Card"/>
          <p:cNvSpPr/>
          <p:nvPr/>
        </p:nvSpPr>
        <p:spPr>
          <a:xfrm>
            <a:off x="457200" y="1280160"/>
            <a:ext cx="8229600" cy="777240"/>
          </a:xfrm>
          <a:prstGeom prst="roundRect">
            <a:avLst>
              <a:gd name="adj" fmla="val 14118"/>
            </a:avLst>
          </a:prstGeom>
          <a:solidFill>
            <a:srgbClr val="EEF2F7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6" name="@1 addText"/>
          <p:cNvSpPr txBox="1"/>
          <p:nvPr/>
        </p:nvSpPr>
        <p:spPr>
          <a:xfrm>
            <a:off x="731520" y="12801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34315</a:t>
            </a:r>
            <a:endParaRPr lang="en-US" sz="2800" dirty="0"/>
          </a:p>
        </p:txBody>
      </p:sp>
      <p:sp>
        <p:nvSpPr>
          <p:cNvPr id="7" name="@1 addText"/>
          <p:cNvSpPr txBox="1"/>
          <p:nvPr/>
        </p:nvSpPr>
        <p:spPr>
          <a:xfrm>
            <a:off x="3657600" y="12801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pixels brighter than 100</a:t>
            </a:r>
            <a:endParaRPr lang="en-US" sz="1800" dirty="0"/>
          </a:p>
        </p:txBody>
      </p:sp>
      <p:sp>
        <p:nvSpPr>
          <p:cNvPr id="8" name="@2 Card"/>
          <p:cNvSpPr/>
          <p:nvPr/>
        </p:nvSpPr>
        <p:spPr>
          <a:xfrm>
            <a:off x="457200" y="2194560"/>
            <a:ext cx="8229600" cy="777240"/>
          </a:xfrm>
          <a:prstGeom prst="roundRect">
            <a:avLst>
              <a:gd name="adj" fmla="val 14118"/>
            </a:avLst>
          </a:prstGeom>
          <a:solidFill>
            <a:srgbClr val="EEF2F7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9" name="@2 addText"/>
          <p:cNvSpPr txBox="1"/>
          <p:nvPr/>
        </p:nvSpPr>
        <p:spPr>
          <a:xfrm>
            <a:off x="731520" y="21945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102400</a:t>
            </a:r>
            <a:endParaRPr lang="en-US" sz="2800" dirty="0"/>
          </a:p>
        </p:txBody>
      </p:sp>
      <p:sp>
        <p:nvSpPr>
          <p:cNvPr id="10" name="@2 addText"/>
          <p:cNvSpPr txBox="1"/>
          <p:nvPr/>
        </p:nvSpPr>
        <p:spPr>
          <a:xfrm>
            <a:off x="3657600" y="21945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grey.size, all the pixels</a:t>
            </a:r>
            <a:endParaRPr lang="en-US" sz="1800" dirty="0"/>
          </a:p>
        </p:txBody>
      </p:sp>
      <p:sp>
        <p:nvSpPr>
          <p:cNvPr id="11" name="@3 Card"/>
          <p:cNvSpPr/>
          <p:nvPr/>
        </p:nvSpPr>
        <p:spPr>
          <a:xfrm>
            <a:off x="457200" y="3108960"/>
            <a:ext cx="8229600" cy="777240"/>
          </a:xfrm>
          <a:prstGeom prst="roundRect">
            <a:avLst>
              <a:gd name="adj" fmla="val 14118"/>
            </a:avLst>
          </a:prstGeom>
          <a:solidFill>
            <a:srgbClr val="EEF2F7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2" name="@3 addText"/>
          <p:cNvSpPr txBox="1"/>
          <p:nvPr/>
        </p:nvSpPr>
        <p:spPr>
          <a:xfrm>
            <a:off x="731520" y="3108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0.335...</a:t>
            </a:r>
            <a:endParaRPr lang="en-US" sz="2800" dirty="0"/>
          </a:p>
        </p:txBody>
      </p:sp>
      <p:sp>
        <p:nvSpPr>
          <p:cNvPr id="13" name="@3 addText"/>
          <p:cNvSpPr txBox="1"/>
          <p:nvPr/>
        </p:nvSpPr>
        <p:spPr>
          <a:xfrm>
            <a:off x="3657600" y="31089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a third</a:t>
            </a:r>
            <a:endParaRPr lang="en-US" sz="1800" dirty="0"/>
          </a:p>
        </p:txBody>
      </p:sp>
      <p:sp>
        <p:nvSpPr>
          <p:cNvPr id="1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Different Question</a:t>
            </a:r>
            <a:endParaRPr lang="en-US" sz="3000" dirty="0"/>
          </a:p>
        </p:txBody>
      </p:sp>
      <p:sp>
        <p:nvSpPr>
          <p:cNvPr id="3" name="2 MIN TALK pill"/>
          <p:cNvSpPr/>
          <p:nvPr/>
        </p:nvSpPr>
        <p:spPr>
          <a:xfrm>
            <a:off x="7132320" y="4114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0" y="411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 TALK</a:t>
            </a:r>
            <a:endParaRPr lang="en-US" sz="1200" dirty="0"/>
          </a:p>
        </p:txBody>
      </p:sp>
      <p:sp>
        <p:nvSpPr>
          <p:cNvPr id="5" name="Callout"/>
          <p:cNvSpPr/>
          <p:nvPr/>
        </p:nvSpPr>
        <p:spPr>
          <a:xfrm>
            <a:off x="457200" y="11887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5D79A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1887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"what is the average?" but: how many pixels are dark, how many bright, how many in between?</a:t>
            </a:r>
            <a:endParaRPr lang="en-US" sz="1200" dirty="0"/>
          </a:p>
        </p:txBody>
      </p:sp>
      <p:sp>
        <p:nvSpPr>
          <p:cNvPr id="7" name="@1 Callout"/>
          <p:cNvSpPr/>
          <p:nvPr/>
        </p:nvSpPr>
        <p:spPr>
          <a:xfrm>
            <a:off x="457200" y="237744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</p:sp>
      <p:sp>
        <p:nvSpPr>
          <p:cNvPr id="8" name="@1 addText"/>
          <p:cNvSpPr txBox="1"/>
          <p:nvPr/>
        </p:nvSpPr>
        <p:spPr>
          <a:xfrm>
            <a:off x="68580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histogram: split brightness into buckets. Count how many pixels land in each.</a:t>
            </a:r>
            <a:endParaRPr lang="en-US" sz="1200" dirty="0"/>
          </a:p>
        </p:txBody>
      </p:sp>
      <p:sp>
        <p:nvSpPr>
          <p:cNvPr id="9" name="@2 addText"/>
          <p:cNvSpPr txBox="1"/>
          <p:nvPr/>
        </p:nvSpPr>
        <p:spPr>
          <a:xfrm>
            <a:off x="457200" y="3566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bar per bucket. Tall bar = lots of pixels with that brightness.</a:t>
            </a:r>
            <a:endParaRPr lang="en-US" sz="14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Photo, in 16 Buckets</a:t>
            </a:r>
            <a:endParaRPr lang="en-US" sz="3000" dirty="0"/>
          </a:p>
        </p:txBody>
      </p:sp>
      <p:sp>
        <p:nvSpPr>
          <p:cNvPr id="3" name="code bg"/>
          <p:cNvSpPr/>
          <p:nvPr/>
        </p:nvSpPr>
        <p:spPr>
          <a:xfrm>
            <a:off x="457200" y="1143000"/>
            <a:ext cx="8229600" cy="89154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4" name="code bar"/>
          <p:cNvSpPr/>
          <p:nvPr/>
        </p:nvSpPr>
        <p:spPr>
          <a:xfrm>
            <a:off x="457200" y="1143000"/>
            <a:ext cx="54864" cy="891540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5" name="code line 1"/>
          <p:cNvSpPr txBox="1"/>
          <p:nvPr/>
        </p:nvSpPr>
        <p:spPr>
          <a:xfrm>
            <a:off x="640080" y="128016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plt.hist(grey.flatten(), bins=16)</a:t>
            </a:r>
            <a:endParaRPr lang="en-US" sz="1800" dirty="0"/>
          </a:p>
        </p:txBody>
      </p:sp>
      <p:sp>
        <p:nvSpPr>
          <p:cNvPr id="6" name="code line 2"/>
          <p:cNvSpPr txBox="1"/>
          <p:nvPr/>
        </p:nvSpPr>
        <p:spPr>
          <a:xfrm>
            <a:off x="640080" y="158877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plt.show()</a:t>
            </a:r>
            <a:endParaRPr lang="en-US" sz="1800" dirty="0"/>
          </a:p>
        </p:txBody>
      </p:sp>
      <p:pic>
        <p:nvPicPr>
          <p:cNvPr id="7" name="Image 0" descr="Histogram of grey brightness in 16 buckets with a dark hump and a brighter hum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0120" y="2377440"/>
            <a:ext cx="3810000" cy="2286000"/>
          </a:xfrm>
          <a:prstGeom prst="rect">
            <a:avLst/>
          </a:prstGeom>
        </p:spPr>
      </p:pic>
      <p:sp>
        <p:nvSpPr>
          <p:cNvPr id="8" name="@1 dot"/>
          <p:cNvSpPr/>
          <p:nvPr/>
        </p:nvSpPr>
        <p:spPr>
          <a:xfrm>
            <a:off x="457200" y="2871216"/>
            <a:ext cx="109728" cy="109728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9" name="@1 addText"/>
          <p:cNvSpPr txBox="1"/>
          <p:nvPr/>
        </p:nvSpPr>
        <p:spPr>
          <a:xfrm>
            <a:off x="731520" y="27432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.flatten(): grid to one long list</a:t>
            </a:r>
            <a:endParaRPr lang="en-US" sz="1600" dirty="0"/>
          </a:p>
        </p:txBody>
      </p:sp>
      <p:sp>
        <p:nvSpPr>
          <p:cNvPr id="10" name="@2 dot"/>
          <p:cNvSpPr/>
          <p:nvPr/>
        </p:nvSpPr>
        <p:spPr>
          <a:xfrm>
            <a:off x="457200" y="3419856"/>
            <a:ext cx="109728" cy="109728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11" name="@2 addText"/>
          <p:cNvSpPr txBox="1"/>
          <p:nvPr/>
        </p:nvSpPr>
        <p:spPr>
          <a:xfrm>
            <a:off x="731520" y="32918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= dark, right = bright</a:t>
            </a:r>
            <a:endParaRPr lang="en-US" sz="1600" dirty="0"/>
          </a:p>
        </p:txBody>
      </p:sp>
      <p:sp>
        <p:nvSpPr>
          <p:cNvPr id="1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a Histogram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8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TASK 8. Where are the tallest bars? Then draw histograms of the red, green and blue channels. What is different?</a:t>
            </a:r>
            <a:endParaRPr lang="en-US" sz="1800" dirty="0"/>
          </a:p>
        </p:txBody>
      </p:sp>
      <p:sp>
        <p:nvSpPr>
          <p:cNvPr id="5" name="Timer pill"/>
          <p:cNvSpPr/>
          <p:nvPr/>
        </p:nvSpPr>
        <p:spPr>
          <a:xfrm>
            <a:off x="548640" y="384048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pic>
        <p:nvPicPr>
          <p:cNvPr id="6" name="Image 0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39959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3840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8: Red, Green and Blue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pic>
        <p:nvPicPr>
          <p:cNvPr id="5" name="Image 0" descr="Three histograms of the red, green and blue channels side by si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97033"/>
            <a:ext cx="8229600" cy="2543695"/>
          </a:xfrm>
          <a:prstGeom prst="rect">
            <a:avLst/>
          </a:prstGeom>
        </p:spPr>
      </p:pic>
      <p:sp>
        <p:nvSpPr>
          <p:cNvPr id="6" name="@1 Callout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</p:sp>
      <p:sp>
        <p:nvSpPr>
          <p:cNvPr id="7" name="@1 addText"/>
          <p:cNvSpPr txBox="1"/>
          <p:nvPr/>
        </p:nvSpPr>
        <p:spPr>
          <a:xfrm>
            <a:off x="685800" y="38404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Red: tall bar middle-right (the wall). Green and blue: tallest on the left.</a:t>
            </a:r>
            <a:endParaRPr lang="en-US" sz="12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Backwards: ::-1</a:t>
            </a:r>
            <a:endParaRPr lang="en-US" sz="3000" dirty="0"/>
          </a:p>
        </p:txBody>
      </p:sp>
      <p:sp>
        <p:nvSpPr>
          <p:cNvPr id="3" name="STRETCH pill"/>
          <p:cNvSpPr/>
          <p:nvPr/>
        </p:nvSpPr>
        <p:spPr>
          <a:xfrm>
            <a:off x="7132320" y="4114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0" y="411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</a:t>
            </a:r>
            <a:endParaRPr lang="en-US" sz="1200" dirty="0"/>
          </a:p>
        </p:txBody>
      </p:sp>
      <p:sp>
        <p:nvSpPr>
          <p:cNvPr id="5" name="code bg"/>
          <p:cNvSpPr/>
          <p:nvPr/>
        </p:nvSpPr>
        <p:spPr>
          <a:xfrm>
            <a:off x="457200" y="1143000"/>
            <a:ext cx="8229600" cy="89154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6" name="code bar"/>
          <p:cNvSpPr/>
          <p:nvPr/>
        </p:nvSpPr>
        <p:spPr>
          <a:xfrm>
            <a:off x="457200" y="1143000"/>
            <a:ext cx="54864" cy="891540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7" name="code line 1"/>
          <p:cNvSpPr txBox="1"/>
          <p:nvPr/>
        </p:nvSpPr>
        <p:spPr>
          <a:xfrm>
            <a:off x="640080" y="128016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show(pixels[:, ::-1])   </a:t>
            </a:r>
            <a:pPr indent="0" marL="0">
              <a:buNone/>
            </a:pPr>
            <a:r>
              <a:rPr lang="en-US" sz="1800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mirror</a:t>
            </a:r>
            <a:endParaRPr lang="en-US" sz="1800" dirty="0"/>
          </a:p>
        </p:txBody>
      </p:sp>
      <p:sp>
        <p:nvSpPr>
          <p:cNvPr id="8" name="code line 2"/>
          <p:cNvSpPr txBox="1"/>
          <p:nvPr/>
        </p:nvSpPr>
        <p:spPr>
          <a:xfrm>
            <a:off x="640080" y="158877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show(pixels[::-1])      </a:t>
            </a:r>
            <a:pPr indent="0" marL="0">
              <a:buNone/>
            </a:pPr>
            <a:r>
              <a:rPr lang="en-US" sz="1800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upside down</a:t>
            </a:r>
            <a:endParaRPr lang="en-US" sz="1800" dirty="0"/>
          </a:p>
        </p:txBody>
      </p:sp>
      <p:pic>
        <p:nvPicPr>
          <p:cNvPr id="9" name="Image 0" descr="The cow photo mirrored left to 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468880"/>
            <a:ext cx="1828800" cy="18288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0080" y="4343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mirror: columns backwards</a:t>
            </a:r>
            <a:endParaRPr lang="en-US" sz="1400" dirty="0"/>
          </a:p>
        </p:txBody>
      </p:sp>
      <p:pic>
        <p:nvPicPr>
          <p:cNvPr id="11" name="Image 1" descr="The cow photo flipped upside 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468880"/>
            <a:ext cx="1828800" cy="18288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12080" y="4343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upside down: rows backwards</a:t>
            </a:r>
            <a:endParaRPr lang="en-US" sz="14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Part 1?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both ::-1 lines. Brighten the picture: add 60 to every number. Careful, what happens above 255? Predict first.</a:t>
            </a:r>
            <a:endParaRPr lang="en-US" sz="1800" dirty="0"/>
          </a:p>
        </p:txBody>
      </p:sp>
      <p:pic>
        <p:nvPicPr>
          <p:cNvPr id="5" name="Image 0" descr="The cow photo after adding 60 to every number, with colours wrapped ar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194560"/>
            <a:ext cx="1737360" cy="1737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309360" y="4023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+ 60 (200 + 60 wraps to 4)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Puzzle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photos. One letter is hidden in each. Together they spell a sentence.</a:t>
            </a:r>
            <a:endParaRPr lang="en-US" sz="1800" dirty="0"/>
          </a:p>
        </p:txBody>
      </p:sp>
      <p:sp>
        <p:nvSpPr>
          <p:cNvPr id="5" name="Timer pill"/>
          <p:cNvSpPr/>
          <p:nvPr/>
        </p:nvSpPr>
        <p:spPr>
          <a:xfrm>
            <a:off x="548640" y="384048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pic>
        <p:nvPicPr>
          <p:cNvPr id="6" name="Image 0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39959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3840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 talk</a:t>
            </a:r>
            <a:endParaRPr lang="en-US" sz="2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</a:t>
            </a:r>
            <a:endParaRPr lang="en-US" sz="3000" dirty="0"/>
          </a:p>
        </p:txBody>
      </p:sp>
      <p:sp>
        <p:nvSpPr>
          <p:cNvPr id="3" name="@1 num"/>
          <p:cNvSpPr/>
          <p:nvPr/>
        </p:nvSpPr>
        <p:spPr>
          <a:xfrm>
            <a:off x="548640" y="1234440"/>
            <a:ext cx="457200" cy="457200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4" name="@1 addText"/>
          <p:cNvSpPr txBox="1"/>
          <p:nvPr/>
        </p:nvSpPr>
        <p:spPr>
          <a:xfrm>
            <a:off x="54864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@1 addText"/>
          <p:cNvSpPr txBox="1"/>
          <p:nvPr/>
        </p:nvSpPr>
        <p:spPr>
          <a:xfrm>
            <a:off x="128016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a photo.</a:t>
            </a:r>
            <a:endParaRPr lang="en-US" sz="2000" dirty="0"/>
          </a:p>
        </p:txBody>
      </p:sp>
      <p:sp>
        <p:nvSpPr>
          <p:cNvPr id="6" name="@2 num"/>
          <p:cNvSpPr/>
          <p:nvPr/>
        </p:nvSpPr>
        <p:spPr>
          <a:xfrm>
            <a:off x="548640" y="1920240"/>
            <a:ext cx="457200" cy="457200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7" name="@2 addText"/>
          <p:cNvSpPr txBox="1"/>
          <p:nvPr/>
        </p:nvSpPr>
        <p:spPr>
          <a:xfrm>
            <a:off x="5486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@2 addText"/>
          <p:cNvSpPr txBox="1"/>
          <p:nvPr/>
        </p:nvSpPr>
        <p:spPr>
          <a:xfrm>
            <a:off x="1280160" y="1920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up every red value in it.</a:t>
            </a:r>
            <a:endParaRPr lang="en-US" sz="2000" dirty="0"/>
          </a:p>
        </p:txBody>
      </p:sp>
      <p:sp>
        <p:nvSpPr>
          <p:cNvPr id="9" name="@3 num"/>
          <p:cNvSpPr/>
          <p:nvPr/>
        </p:nvSpPr>
        <p:spPr>
          <a:xfrm>
            <a:off x="548640" y="2606040"/>
            <a:ext cx="457200" cy="457200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10" name="@3 addText"/>
          <p:cNvSpPr txBox="1"/>
          <p:nvPr/>
        </p:nvSpPr>
        <p:spPr>
          <a:xfrm>
            <a:off x="54864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@3 addText"/>
          <p:cNvSpPr txBox="1"/>
          <p:nvPr/>
        </p:nvSpPr>
        <p:spPr>
          <a:xfrm>
            <a:off x="128016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that total % 26.</a:t>
            </a:r>
            <a:endParaRPr lang="en-US" sz="2000" dirty="0"/>
          </a:p>
        </p:txBody>
      </p:sp>
      <p:sp>
        <p:nvSpPr>
          <p:cNvPr id="12" name="@4 num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13" name="@4 addText"/>
          <p:cNvSpPr txBox="1"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@4 addText"/>
          <p:cNvSpPr txBox="1"/>
          <p:nvPr/>
        </p:nvSpPr>
        <p:spPr>
          <a:xfrm>
            <a:off x="1280160" y="3291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result to pick a letter: A=0, B=1, ... Z=25.</a:t>
            </a:r>
            <a:endParaRPr lang="en-US" sz="2000" dirty="0"/>
          </a:p>
        </p:txBody>
      </p:sp>
      <p:sp>
        <p:nvSpPr>
          <p:cNvPr id="15" name="@5 Callout"/>
          <p:cNvSpPr/>
          <p:nvPr/>
        </p:nvSpPr>
        <p:spPr>
          <a:xfrm>
            <a:off x="457200" y="4023360"/>
            <a:ext cx="822960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</p:sp>
      <p:sp>
        <p:nvSpPr>
          <p:cNvPr id="16" name="@5 addText"/>
          <p:cNvSpPr txBox="1"/>
          <p:nvPr/>
        </p:nvSpPr>
        <p:spPr>
          <a:xfrm>
            <a:off x="685800" y="4023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for every photo, in order.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Them All Up</a:t>
            </a:r>
            <a:endParaRPr lang="en-US" sz="3000" dirty="0"/>
          </a:p>
        </p:txBody>
      </p:sp>
      <p:sp>
        <p:nvSpPr>
          <p:cNvPr id="3" name="code bg"/>
          <p:cNvSpPr/>
          <p:nvPr/>
        </p:nvSpPr>
        <p:spPr>
          <a:xfrm>
            <a:off x="457200" y="1143000"/>
            <a:ext cx="8229600" cy="140589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4" name="code bar"/>
          <p:cNvSpPr/>
          <p:nvPr/>
        </p:nvSpPr>
        <p:spPr>
          <a:xfrm>
            <a:off x="457200" y="1143000"/>
            <a:ext cx="54864" cy="1405890"/>
          </a:xfrm>
          <a:prstGeom prst="rect">
            <a:avLst/>
          </a:prstGeom>
          <a:solidFill>
            <a:srgbClr val="A9C4E8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5" name="code line 1"/>
          <p:cNvSpPr txBox="1"/>
          <p:nvPr/>
        </p:nvSpPr>
        <p:spPr>
          <a:xfrm>
            <a:off x="640080" y="1280160"/>
            <a:ext cx="795528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 = pixels[:, :, 0]</a:t>
            </a:r>
            <a:endParaRPr lang="en-US" sz="2200" dirty="0"/>
          </a:p>
        </p:txBody>
      </p:sp>
      <p:sp>
        <p:nvSpPr>
          <p:cNvPr id="6" name="code line 2"/>
          <p:cNvSpPr txBox="1"/>
          <p:nvPr/>
        </p:nvSpPr>
        <p:spPr>
          <a:xfrm>
            <a:off x="640080" y="1657350"/>
            <a:ext cx="795528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red.sum()</a:t>
            </a:r>
            <a:endParaRPr lang="en-US" sz="2200" dirty="0"/>
          </a:p>
        </p:txBody>
      </p:sp>
      <p:sp>
        <p:nvSpPr>
          <p:cNvPr id="7" name="@1 code line 3"/>
          <p:cNvSpPr txBox="1"/>
          <p:nvPr/>
        </p:nvSpPr>
        <p:spPr>
          <a:xfrm>
            <a:off x="640080" y="2034540"/>
            <a:ext cx="795528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E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10218857</a:t>
            </a:r>
            <a:endParaRPr lang="en-US" sz="2200" dirty="0"/>
          </a:p>
        </p:txBody>
      </p:sp>
      <p:sp>
        <p:nvSpPr>
          <p:cNvPr id="8" name="@1 addText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number: the total "redness" of all 102,400 pixels of cow-demo.jpg</a:t>
            </a:r>
            <a:endParaRPr lang="en-US" sz="140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and Letters</a:t>
            </a:r>
            <a:endParaRPr lang="en-US" sz="3000" dirty="0"/>
          </a:p>
        </p:txBody>
      </p:sp>
      <p:sp>
        <p:nvSpPr>
          <p:cNvPr id="3" name="code bg"/>
          <p:cNvSpPr/>
          <p:nvPr/>
        </p:nvSpPr>
        <p:spPr>
          <a:xfrm>
            <a:off x="457200" y="1143000"/>
            <a:ext cx="8229600" cy="164592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4" name="code bar"/>
          <p:cNvSpPr/>
          <p:nvPr/>
        </p:nvSpPr>
        <p:spPr>
          <a:xfrm>
            <a:off x="457200" y="1143000"/>
            <a:ext cx="54864" cy="1645920"/>
          </a:xfrm>
          <a:prstGeom prst="rect">
            <a:avLst/>
          </a:prstGeom>
          <a:solidFill>
            <a:srgbClr val="A9C4E8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5" name="code line 1"/>
          <p:cNvSpPr txBox="1"/>
          <p:nvPr/>
        </p:nvSpPr>
        <p:spPr>
          <a:xfrm>
            <a:off x="640080" y="12801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10218857 % 26</a:t>
            </a:r>
            <a:endParaRPr lang="en-US" sz="1600" dirty="0"/>
          </a:p>
        </p:txBody>
      </p:sp>
      <p:sp>
        <p:nvSpPr>
          <p:cNvPr id="6" name="@1 code line 2"/>
          <p:cNvSpPr txBox="1"/>
          <p:nvPr/>
        </p:nvSpPr>
        <p:spPr>
          <a:xfrm>
            <a:off x="640080" y="1554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E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1600" dirty="0"/>
          </a:p>
        </p:txBody>
      </p:sp>
      <p:sp>
        <p:nvSpPr>
          <p:cNvPr id="7" name="code line 3"/>
          <p:cNvSpPr txBox="1"/>
          <p:nvPr/>
        </p:nvSpPr>
        <p:spPr>
          <a:xfrm>
            <a:off x="640080" y="1828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alphabet = "ABCDEFGHIJKLMNOPQRSTUVWXYZ"</a:t>
            </a:r>
            <a:endParaRPr lang="en-US" sz="1600" dirty="0"/>
          </a:p>
        </p:txBody>
      </p:sp>
      <p:sp>
        <p:nvSpPr>
          <p:cNvPr id="8" name="code line 4"/>
          <p:cNvSpPr txBox="1"/>
          <p:nvPr/>
        </p:nvSpPr>
        <p:spPr>
          <a:xfrm>
            <a:off x="640080" y="21031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alphabet[2]</a:t>
            </a:r>
            <a:endParaRPr lang="en-US" sz="1600" dirty="0"/>
          </a:p>
        </p:txBody>
      </p:sp>
      <p:sp>
        <p:nvSpPr>
          <p:cNvPr id="9" name="@2 code line 5"/>
          <p:cNvSpPr txBox="1"/>
          <p:nvPr/>
        </p:nvSpPr>
        <p:spPr>
          <a:xfrm>
            <a:off x="640080" y="2377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E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'C'</a:t>
            </a:r>
            <a:endParaRPr lang="en-US" sz="1600" dirty="0"/>
          </a:p>
        </p:txBody>
      </p:sp>
      <p:sp>
        <p:nvSpPr>
          <p:cNvPr id="10" name="@3 Callout"/>
          <p:cNvSpPr/>
          <p:nvPr/>
        </p:nvSpPr>
        <p:spPr>
          <a:xfrm>
            <a:off x="457200" y="33832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</p:sp>
      <p:sp>
        <p:nvSpPr>
          <p:cNvPr id="11" name="@3 addText"/>
          <p:cNvSpPr txBox="1"/>
          <p:nvPr/>
        </p:nvSpPr>
        <p:spPr>
          <a:xfrm>
            <a:off x="685800" y="33832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cow gave 25. Which letter is that?</a:t>
            </a:r>
            <a:endParaRPr lang="en-US" sz="1200" dirty="0"/>
          </a:p>
        </p:txBody>
      </p:sp>
      <p:sp>
        <p:nvSpPr>
          <p:cNvPr id="12" name="@4 code bg"/>
          <p:cNvSpPr/>
          <p:nvPr/>
        </p:nvSpPr>
        <p:spPr>
          <a:xfrm>
            <a:off x="457200" y="4069080"/>
            <a:ext cx="8229600" cy="82296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13" name="@4 code bar"/>
          <p:cNvSpPr/>
          <p:nvPr/>
        </p:nvSpPr>
        <p:spPr>
          <a:xfrm>
            <a:off x="457200" y="4069080"/>
            <a:ext cx="54864" cy="822960"/>
          </a:xfrm>
          <a:prstGeom prst="rect">
            <a:avLst/>
          </a:prstGeom>
          <a:solidFill>
            <a:srgbClr val="A9C4E8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14" name="@4 code line 1"/>
          <p:cNvSpPr txBox="1"/>
          <p:nvPr/>
        </p:nvSpPr>
        <p:spPr>
          <a:xfrm>
            <a:off x="640080" y="42062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alphabet[25]</a:t>
            </a:r>
            <a:endParaRPr lang="en-US" sz="1600" dirty="0"/>
          </a:p>
        </p:txBody>
      </p:sp>
      <p:sp>
        <p:nvSpPr>
          <p:cNvPr id="15" name="@4 code line 2"/>
          <p:cNvSpPr txBox="1"/>
          <p:nvPr/>
        </p:nvSpPr>
        <p:spPr>
          <a:xfrm>
            <a:off x="640080" y="4480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E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'Z'</a:t>
            </a:r>
            <a:endParaRPr lang="en-US" sz="1600" dirty="0"/>
          </a:p>
        </p:txBody>
      </p:sp>
      <p:sp>
        <p:nvSpPr>
          <p:cNvPr id="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the Computer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OPTIONAL: ON PAPER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tiny 3 x 3 images. Add the red numbers, take the total % 26, look up the letter. Watch how long it takes you.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 no.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68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long did a tiny 3 x 3 image take you?</a:t>
            </a:r>
            <a:endParaRPr lang="en-US" sz="2000" dirty="0"/>
          </a:p>
        </p:txBody>
      </p:sp>
      <p:sp>
        <p:nvSpPr>
          <p:cNvPr id="4" name="@1 Card"/>
          <p:cNvSpPr/>
          <p:nvPr/>
        </p:nvSpPr>
        <p:spPr>
          <a:xfrm>
            <a:off x="548640" y="3108960"/>
            <a:ext cx="5029200" cy="384048"/>
          </a:xfrm>
          <a:prstGeom prst="roundRect">
            <a:avLst>
              <a:gd name="adj" fmla="val 28571"/>
            </a:avLst>
          </a:prstGeom>
          <a:solidFill>
            <a:srgbClr val="002D6A"/>
          </a:solidFill>
          <a:ln w="9525">
            <a:solidFill>
              <a:srgbClr val="5D79A0"/>
            </a:solidFill>
            <a:prstDash val="solid"/>
          </a:ln>
        </p:spPr>
      </p:sp>
      <p:sp>
        <p:nvSpPr>
          <p:cNvPr id="5" name="@1 addText"/>
          <p:cNvSpPr txBox="1"/>
          <p:nvPr/>
        </p:nvSpPr>
        <p:spPr>
          <a:xfrm>
            <a:off x="731520" y="310896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x 3: 9 red numbers</a:t>
            </a:r>
            <a:endParaRPr lang="en-US" sz="1600" dirty="0"/>
          </a:p>
        </p:txBody>
      </p:sp>
      <p:sp>
        <p:nvSpPr>
          <p:cNvPr id="6" name="@2 Card"/>
          <p:cNvSpPr/>
          <p:nvPr/>
        </p:nvSpPr>
        <p:spPr>
          <a:xfrm>
            <a:off x="548640" y="3566160"/>
            <a:ext cx="5029200" cy="384048"/>
          </a:xfrm>
          <a:prstGeom prst="roundRect">
            <a:avLst>
              <a:gd name="adj" fmla="val 28571"/>
            </a:avLst>
          </a:prstGeom>
          <a:solidFill>
            <a:srgbClr val="002D6A"/>
          </a:solidFill>
          <a:ln w="9525">
            <a:solidFill>
              <a:srgbClr val="5D79A0"/>
            </a:solidFill>
            <a:prstDash val="solid"/>
          </a:ln>
        </p:spPr>
      </p:sp>
      <p:sp>
        <p:nvSpPr>
          <p:cNvPr id="7" name="@2 addText"/>
          <p:cNvSpPr txBox="1"/>
          <p:nvPr/>
        </p:nvSpPr>
        <p:spPr>
          <a:xfrm>
            <a:off x="731520" y="356616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puzzle photo: 640 x 640 = 409,600</a:t>
            </a:r>
            <a:endParaRPr lang="en-US" sz="1600" dirty="0"/>
          </a:p>
        </p:txBody>
      </p:sp>
      <p:sp>
        <p:nvSpPr>
          <p:cNvPr id="8" name="@3 Card"/>
          <p:cNvSpPr/>
          <p:nvPr/>
        </p:nvSpPr>
        <p:spPr>
          <a:xfrm>
            <a:off x="548640" y="4023360"/>
            <a:ext cx="5029200" cy="384048"/>
          </a:xfrm>
          <a:prstGeom prst="roundRect">
            <a:avLst>
              <a:gd name="adj" fmla="val 28571"/>
            </a:avLst>
          </a:prstGeom>
          <a:solidFill>
            <a:srgbClr val="002D6A"/>
          </a:solidFill>
          <a:ln w="9525">
            <a:solidFill>
              <a:srgbClr val="5D79A0"/>
            </a:solidFill>
            <a:prstDash val="solid"/>
          </a:ln>
        </p:spPr>
      </p:sp>
      <p:sp>
        <p:nvSpPr>
          <p:cNvPr id="9" name="@3 addText"/>
          <p:cNvSpPr txBox="1"/>
          <p:nvPr/>
        </p:nvSpPr>
        <p:spPr>
          <a:xfrm>
            <a:off x="731520" y="402336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37 photos = 15,155,200</a:t>
            </a:r>
            <a:endParaRPr lang="en-US" sz="1600" dirty="0"/>
          </a:p>
        </p:txBody>
      </p:sp>
      <p:sp>
        <p:nvSpPr>
          <p:cNvPr id="10" name="Timer pill"/>
          <p:cNvSpPr/>
          <p:nvPr/>
        </p:nvSpPr>
        <p:spPr>
          <a:xfrm>
            <a:off x="6035040" y="320040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pic>
        <p:nvPicPr>
          <p:cNvPr id="11" name="Image 0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6208" y="3355848"/>
            <a:ext cx="329184" cy="32918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656832" y="32004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 talk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Careful: Two Different Photos</a:t>
            </a:r>
            <a:endParaRPr lang="en-US" sz="3000" dirty="0"/>
          </a:p>
        </p:txBody>
      </p:sp>
      <p:sp>
        <p:nvSpPr>
          <p:cNvPr id="3" name="@1 Card"/>
          <p:cNvSpPr/>
          <p:nvPr/>
        </p:nvSpPr>
        <p:spPr>
          <a:xfrm>
            <a:off x="457200" y="137160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4" name="@1 addText"/>
          <p:cNvSpPr txBox="1"/>
          <p:nvPr/>
        </p:nvSpPr>
        <p:spPr>
          <a:xfrm>
            <a:off x="457200" y="14630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cow-demo.jpg</a:t>
            </a:r>
            <a:endParaRPr lang="en-US" sz="2200" dirty="0"/>
          </a:p>
        </p:txBody>
      </p:sp>
      <p:sp>
        <p:nvSpPr>
          <p:cNvPr id="5" name="@1 addText"/>
          <p:cNvSpPr txBox="1"/>
          <p:nvPr/>
        </p:nvSpPr>
        <p:spPr>
          <a:xfrm>
            <a:off x="457200" y="21031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320 x 320, our practice photo</a:t>
            </a:r>
            <a:endParaRPr lang="en-US" sz="1600" dirty="0"/>
          </a:p>
        </p:txBody>
      </p:sp>
      <p:sp>
        <p:nvSpPr>
          <p:cNvPr id="6" name="@2 Card"/>
          <p:cNvSpPr/>
          <p:nvPr/>
        </p:nvSpPr>
        <p:spPr>
          <a:xfrm>
            <a:off x="4663440" y="137160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7" name="@2 addText"/>
          <p:cNvSpPr txBox="1"/>
          <p:nvPr/>
        </p:nvSpPr>
        <p:spPr>
          <a:xfrm>
            <a:off x="4663440" y="14630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cow_message/</a:t>
            </a:r>
            <a:endParaRPr lang="en-US" sz="2200" dirty="0"/>
          </a:p>
        </p:txBody>
      </p:sp>
      <p:sp>
        <p:nvSpPr>
          <p:cNvPr id="8" name="@2 addText"/>
          <p:cNvSpPr txBox="1"/>
          <p:nvPr/>
        </p:nvSpPr>
        <p:spPr>
          <a:xfrm>
            <a:off x="4663440" y="21031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photos, 640 x 640 each</a:t>
            </a:r>
            <a:endParaRPr lang="en-US" sz="1600" dirty="0"/>
          </a:p>
        </p:txBody>
      </p:sp>
      <p:sp>
        <p:nvSpPr>
          <p:cNvPr id="9" name="@3 addText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code works on both. Practise on the demo, then solve the puzzle.</a:t>
            </a:r>
            <a:endParaRPr lang="en-US" sz="14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the Computer Do It</a:t>
            </a:r>
            <a:endParaRPr lang="en-US" sz="3000" dirty="0"/>
          </a:p>
        </p:txBody>
      </p:sp>
      <p:sp>
        <p:nvSpPr>
          <p:cNvPr id="3" name="3 MIN TALK pill"/>
          <p:cNvSpPr/>
          <p:nvPr/>
        </p:nvSpPr>
        <p:spPr>
          <a:xfrm>
            <a:off x="7132320" y="4114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0" y="411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 TALK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already know how: functions and loops.</a:t>
            </a:r>
            <a:endParaRPr lang="en-US" sz="2000" dirty="0"/>
          </a:p>
        </p:txBody>
      </p:sp>
      <p:sp>
        <p:nvSpPr>
          <p:cNvPr id="6" name="@1 Card"/>
          <p:cNvSpPr/>
          <p:nvPr/>
        </p:nvSpPr>
        <p:spPr>
          <a:xfrm>
            <a:off x="457200" y="1737360"/>
            <a:ext cx="82296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7" name="@1 addText"/>
          <p:cNvSpPr txBox="1"/>
          <p:nvPr/>
        </p:nvSpPr>
        <p:spPr>
          <a:xfrm>
            <a:off x="731520" y="173736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2: total_red(path)</a:t>
            </a:r>
            <a:endParaRPr lang="en-US" sz="1800" dirty="0"/>
          </a:p>
        </p:txBody>
      </p:sp>
      <p:sp>
        <p:nvSpPr>
          <p:cNvPr id="8" name="@1 addText"/>
          <p:cNvSpPr txBox="1"/>
          <p:nvPr/>
        </p:nvSpPr>
        <p:spPr>
          <a:xfrm>
            <a:off x="5486400" y="173736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gives one number</a:t>
            </a:r>
            <a:endParaRPr lang="en-US" sz="1600" dirty="0"/>
          </a:p>
        </p:txBody>
      </p:sp>
      <p:sp>
        <p:nvSpPr>
          <p:cNvPr id="9" name="@2 Card"/>
          <p:cNvSpPr/>
          <p:nvPr/>
        </p:nvSpPr>
        <p:spPr>
          <a:xfrm>
            <a:off x="457200" y="2514600"/>
            <a:ext cx="82296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0" name="@2 addText"/>
          <p:cNvSpPr txBox="1"/>
          <p:nvPr/>
        </p:nvSpPr>
        <p:spPr>
          <a:xfrm>
            <a:off x="731520" y="251460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3: letter_for(path)</a:t>
            </a:r>
            <a:endParaRPr lang="en-US" sz="1800" dirty="0"/>
          </a:p>
        </p:txBody>
      </p:sp>
      <p:sp>
        <p:nvSpPr>
          <p:cNvPr id="11" name="@2 addText"/>
          <p:cNvSpPr txBox="1"/>
          <p:nvPr/>
        </p:nvSpPr>
        <p:spPr>
          <a:xfrm>
            <a:off x="5486400" y="251460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gives one letter</a:t>
            </a:r>
            <a:endParaRPr lang="en-US" sz="1600" dirty="0"/>
          </a:p>
        </p:txBody>
      </p:sp>
      <p:sp>
        <p:nvSpPr>
          <p:cNvPr id="12" name="@3 Card"/>
          <p:cNvSpPr/>
          <p:nvPr/>
        </p:nvSpPr>
        <p:spPr>
          <a:xfrm>
            <a:off x="457200" y="3291840"/>
            <a:ext cx="82296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3" name="@3 addText"/>
          <p:cNvSpPr txBox="1"/>
          <p:nvPr/>
        </p:nvSpPr>
        <p:spPr>
          <a:xfrm>
            <a:off x="731520" y="329184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4: decode_message()</a:t>
            </a:r>
            <a:endParaRPr lang="en-US" sz="1800" dirty="0"/>
          </a:p>
        </p:txBody>
      </p:sp>
      <p:sp>
        <p:nvSpPr>
          <p:cNvPr id="14" name="@3 addText"/>
          <p:cNvSpPr txBox="1"/>
          <p:nvPr/>
        </p:nvSpPr>
        <p:spPr>
          <a:xfrm>
            <a:off x="5486400" y="329184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gives the sentence</a:t>
            </a:r>
            <a:endParaRPr lang="en-US" sz="1600" dirty="0"/>
          </a:p>
        </p:txBody>
      </p:sp>
      <p:sp>
        <p:nvSpPr>
          <p:cNvPr id="15" name="@4 addText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image_starter.py. Each one uses the one before. Test each before you move on.</a:t>
            </a:r>
            <a:endParaRPr lang="en-US" sz="1400" dirty="0"/>
          </a:p>
        </p:txBody>
      </p:sp>
      <p:sp>
        <p:nvSpPr>
          <p:cNvPr id="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image_starter.py</a:t>
            </a:r>
            <a:endParaRPr lang="en-US" sz="3000" dirty="0"/>
          </a:p>
        </p:txBody>
      </p:sp>
      <p:sp>
        <p:nvSpPr>
          <p:cNvPr id="3" name="3 MIN TALK pill"/>
          <p:cNvSpPr/>
          <p:nvPr/>
        </p:nvSpPr>
        <p:spPr>
          <a:xfrm>
            <a:off x="7132320" y="4114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0" y="411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 TALK</a:t>
            </a:r>
            <a:endParaRPr lang="en-US" sz="1200" dirty="0"/>
          </a:p>
        </p:txBody>
      </p:sp>
      <p:sp>
        <p:nvSpPr>
          <p:cNvPr id="5" name="Callout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5D79A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is done for you. Run it: it prints size, shape and first pixel, then draws a colour.</a:t>
            </a:r>
            <a:endParaRPr lang="en-US" sz="1200" dirty="0"/>
          </a:p>
        </p:txBody>
      </p:sp>
      <p:sp>
        <p:nvSpPr>
          <p:cNvPr id="7" name="@1 addText"/>
          <p:cNvSpPr txBox="1"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it in the SAME folder as cow-demo.jpg and the cow_message folder</a:t>
            </a:r>
            <a:endParaRPr lang="en-US" sz="14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total_red</a:t>
            </a:r>
            <a:endParaRPr lang="en-US" sz="3000" dirty="0"/>
          </a:p>
        </p:txBody>
      </p:sp>
      <p:sp>
        <p:nvSpPr>
          <p:cNvPr id="3" name="5 MIN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200" dirty="0"/>
          </a:p>
        </p:txBody>
      </p:sp>
      <p:sp>
        <p:nvSpPr>
          <p:cNvPr id="5" name="code bg"/>
          <p:cNvSpPr/>
          <p:nvPr/>
        </p:nvSpPr>
        <p:spPr>
          <a:xfrm>
            <a:off x="457200" y="1051560"/>
            <a:ext cx="8229600" cy="329184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6" name="code bar"/>
          <p:cNvSpPr/>
          <p:nvPr/>
        </p:nvSpPr>
        <p:spPr>
          <a:xfrm>
            <a:off x="457200" y="1051560"/>
            <a:ext cx="54864" cy="3291840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7" name="code line 1"/>
          <p:cNvSpPr txBox="1"/>
          <p:nvPr/>
        </p:nvSpPr>
        <p:spPr>
          <a:xfrm>
            <a:off x="640080" y="1188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total_red(path):</a:t>
            </a:r>
            <a:endParaRPr lang="en-US" sz="1600" dirty="0"/>
          </a:p>
        </p:txBody>
      </p:sp>
      <p:sp>
        <p:nvSpPr>
          <p:cNvPr id="8" name="code line 2"/>
          <p:cNvSpPr txBox="1"/>
          <p:nvPr/>
        </p:nvSpPr>
        <p:spPr>
          <a:xfrm>
            <a:off x="640080" y="1463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img = Image.open(path)</a:t>
            </a:r>
            <a:endParaRPr lang="en-US" sz="1600" dirty="0"/>
          </a:p>
        </p:txBody>
      </p:sp>
      <p:sp>
        <p:nvSpPr>
          <p:cNvPr id="9" name="code line 3"/>
          <p:cNvSpPr txBox="1"/>
          <p:nvPr/>
        </p:nvSpPr>
        <p:spPr>
          <a:xfrm>
            <a:off x="640080" y="1737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pixels = np.array(img)</a:t>
            </a:r>
            <a:endParaRPr lang="en-US" sz="1600" dirty="0"/>
          </a:p>
        </p:txBody>
      </p:sp>
      <p:sp>
        <p:nvSpPr>
          <p:cNvPr id="10" name="code line 4"/>
          <p:cNvSpPr txBox="1"/>
          <p:nvPr/>
        </p:nvSpPr>
        <p:spPr>
          <a:xfrm>
            <a:off x="640080" y="20116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600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TODO: get just the red channel</a:t>
            </a:r>
            <a:endParaRPr lang="en-US" sz="1600" dirty="0"/>
          </a:p>
        </p:txBody>
      </p:sp>
      <p:sp>
        <p:nvSpPr>
          <p:cNvPr id="11" name="code line 5"/>
          <p:cNvSpPr txBox="1"/>
          <p:nvPr/>
        </p:nvSpPr>
        <p:spPr>
          <a:xfrm>
            <a:off x="640080" y="2286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600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hint: pixels[:, :, 0]</a:t>
            </a:r>
            <a:endParaRPr lang="en-US" sz="1600" dirty="0"/>
          </a:p>
        </p:txBody>
      </p:sp>
      <p:sp>
        <p:nvSpPr>
          <p:cNvPr id="12" name="code line 6"/>
          <p:cNvSpPr txBox="1"/>
          <p:nvPr/>
        </p:nvSpPr>
        <p:spPr>
          <a:xfrm>
            <a:off x="640080" y="2560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600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TODO: add up every red value</a:t>
            </a:r>
            <a:endParaRPr lang="en-US" sz="1600" dirty="0"/>
          </a:p>
        </p:txBody>
      </p:sp>
      <p:sp>
        <p:nvSpPr>
          <p:cNvPr id="13" name="code line 7"/>
          <p:cNvSpPr txBox="1"/>
          <p:nvPr/>
        </p:nvSpPr>
        <p:spPr>
          <a:xfrm>
            <a:off x="640080" y="2834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600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hint: .sum()</a:t>
            </a:r>
            <a:endParaRPr lang="en-US" sz="1600" dirty="0"/>
          </a:p>
        </p:txBody>
      </p:sp>
      <p:sp>
        <p:nvSpPr>
          <p:cNvPr id="14" name="code line 8"/>
          <p:cNvSpPr txBox="1"/>
          <p:nvPr/>
        </p:nvSpPr>
        <p:spPr>
          <a:xfrm>
            <a:off x="64008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600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TODO: return that total</a:t>
            </a:r>
            <a:endParaRPr lang="en-US" sz="1600" dirty="0"/>
          </a:p>
        </p:txBody>
      </p:sp>
      <p:sp>
        <p:nvSpPr>
          <p:cNvPr id="15" name="code line 9"/>
          <p:cNvSpPr txBox="1"/>
          <p:nvPr/>
        </p:nvSpPr>
        <p:spPr>
          <a:xfrm>
            <a:off x="64008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</a:t>
            </a:r>
            <a:endParaRPr lang="en-US" sz="1600" dirty="0"/>
          </a:p>
        </p:txBody>
      </p:sp>
      <p:sp>
        <p:nvSpPr>
          <p:cNvPr id="16" name="code line 11"/>
          <p:cNvSpPr txBox="1"/>
          <p:nvPr/>
        </p:nvSpPr>
        <p:spPr>
          <a:xfrm>
            <a:off x="64008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print(total_red("cow-demo.jpg"))   </a:t>
            </a:r>
            <a:pPr indent="0" marL="0">
              <a:buNone/>
            </a:pPr>
            <a:r>
              <a:rPr lang="en-US" sz="1600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should print 10218857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80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prints 0? You forgot to change return 0.</a:t>
            </a:r>
            <a:endParaRPr lang="en-US" sz="14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letter_for</a:t>
            </a:r>
            <a:endParaRPr lang="en-US" sz="3000" dirty="0"/>
          </a:p>
        </p:txBody>
      </p:sp>
      <p:sp>
        <p:nvSpPr>
          <p:cNvPr id="3" name="2 + 5 MIN pill"/>
          <p:cNvSpPr/>
          <p:nvPr/>
        </p:nvSpPr>
        <p:spPr>
          <a:xfrm>
            <a:off x="7315200" y="41148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0" y="411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+ 5 MIN</a:t>
            </a:r>
            <a:endParaRPr lang="en-US" sz="1200" dirty="0"/>
          </a:p>
        </p:txBody>
      </p:sp>
      <p:sp>
        <p:nvSpPr>
          <p:cNvPr id="5" name="code bg"/>
          <p:cNvSpPr/>
          <p:nvPr/>
        </p:nvSpPr>
        <p:spPr>
          <a:xfrm>
            <a:off x="457200" y="1051560"/>
            <a:ext cx="8229600" cy="274320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6" name="code bar"/>
          <p:cNvSpPr/>
          <p:nvPr/>
        </p:nvSpPr>
        <p:spPr>
          <a:xfrm>
            <a:off x="457200" y="1051560"/>
            <a:ext cx="54864" cy="2743200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7" name="code line 1"/>
          <p:cNvSpPr txBox="1"/>
          <p:nvPr/>
        </p:nvSpPr>
        <p:spPr>
          <a:xfrm>
            <a:off x="640080" y="1188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letter_for(path):</a:t>
            </a:r>
            <a:endParaRPr lang="en-US" sz="1600" dirty="0"/>
          </a:p>
        </p:txBody>
      </p:sp>
      <p:sp>
        <p:nvSpPr>
          <p:cNvPr id="8" name="code line 2"/>
          <p:cNvSpPr txBox="1"/>
          <p:nvPr/>
        </p:nvSpPr>
        <p:spPr>
          <a:xfrm>
            <a:off x="640080" y="1463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600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TODO: 1. get the red total (you wrote a function!)</a:t>
            </a:r>
            <a:endParaRPr lang="en-US" sz="1600" dirty="0"/>
          </a:p>
        </p:txBody>
      </p:sp>
      <p:sp>
        <p:nvSpPr>
          <p:cNvPr id="9" name="code line 3"/>
          <p:cNvSpPr txBox="1"/>
          <p:nvPr/>
        </p:nvSpPr>
        <p:spPr>
          <a:xfrm>
            <a:off x="640080" y="1737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600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2. take it % 26</a:t>
            </a:r>
            <a:endParaRPr lang="en-US" sz="1600" dirty="0"/>
          </a:p>
        </p:txBody>
      </p:sp>
      <p:sp>
        <p:nvSpPr>
          <p:cNvPr id="10" name="code line 4"/>
          <p:cNvSpPr txBox="1"/>
          <p:nvPr/>
        </p:nvSpPr>
        <p:spPr>
          <a:xfrm>
            <a:off x="640080" y="20116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600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3. pick a letter from ALPHABET</a:t>
            </a:r>
            <a:endParaRPr lang="en-US" sz="1600" dirty="0"/>
          </a:p>
        </p:txBody>
      </p:sp>
      <p:sp>
        <p:nvSpPr>
          <p:cNvPr id="11" name="code line 5"/>
          <p:cNvSpPr txBox="1"/>
          <p:nvPr/>
        </p:nvSpPr>
        <p:spPr>
          <a:xfrm>
            <a:off x="640080" y="2286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600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hint: ALPHABET[2] is "C"</a:t>
            </a:r>
            <a:endParaRPr lang="en-US" sz="1600" dirty="0"/>
          </a:p>
        </p:txBody>
      </p:sp>
      <p:sp>
        <p:nvSpPr>
          <p:cNvPr id="12" name="code line 6"/>
          <p:cNvSpPr txBox="1"/>
          <p:nvPr/>
        </p:nvSpPr>
        <p:spPr>
          <a:xfrm>
            <a:off x="640080" y="2560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600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4. return the letter</a:t>
            </a:r>
            <a:endParaRPr lang="en-US" sz="1600" dirty="0"/>
          </a:p>
        </p:txBody>
      </p:sp>
      <p:sp>
        <p:nvSpPr>
          <p:cNvPr id="13" name="code line 7"/>
          <p:cNvSpPr txBox="1"/>
          <p:nvPr/>
        </p:nvSpPr>
        <p:spPr>
          <a:xfrm>
            <a:off x="640080" y="2834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""</a:t>
            </a:r>
            <a:endParaRPr lang="en-US" sz="1600" dirty="0"/>
          </a:p>
        </p:txBody>
      </p:sp>
      <p:sp>
        <p:nvSpPr>
          <p:cNvPr id="14" name="code line 9"/>
          <p:cNvSpPr txBox="1"/>
          <p:nvPr/>
        </p:nvSpPr>
        <p:spPr>
          <a:xfrm>
            <a:off x="64008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print(letter_for("cow-demo.jpg"))   </a:t>
            </a:r>
            <a:pPr indent="0" marL="0">
              <a:buNone/>
            </a:pPr>
            <a:r>
              <a:rPr lang="en-US" sz="1600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should print Z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letter? Test total_red again first. ALPHABET is at the top of your file.</a:t>
            </a:r>
            <a:endParaRPr lang="en-US" sz="1400" dirty="0"/>
          </a:p>
        </p:txBody>
      </p:sp>
      <p:sp>
        <p:nvSpPr>
          <p:cNvPr id="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decode_message</a:t>
            </a:r>
            <a:endParaRPr lang="en-US" sz="3000" dirty="0"/>
          </a:p>
        </p:txBody>
      </p:sp>
      <p:sp>
        <p:nvSpPr>
          <p:cNvPr id="3" name="3 MIN TALK pill"/>
          <p:cNvSpPr/>
          <p:nvPr/>
        </p:nvSpPr>
        <p:spPr>
          <a:xfrm>
            <a:off x="7132320" y="4114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0" y="411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 TALK</a:t>
            </a:r>
            <a:endParaRPr lang="en-US" sz="1200" dirty="0"/>
          </a:p>
        </p:txBody>
      </p:sp>
      <p:sp>
        <p:nvSpPr>
          <p:cNvPr id="5" name="code bg"/>
          <p:cNvSpPr/>
          <p:nvPr/>
        </p:nvSpPr>
        <p:spPr>
          <a:xfrm>
            <a:off x="457200" y="1188720"/>
            <a:ext cx="8229600" cy="102870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6" name="code bar"/>
          <p:cNvSpPr/>
          <p:nvPr/>
        </p:nvSpPr>
        <p:spPr>
          <a:xfrm>
            <a:off x="457200" y="1188720"/>
            <a:ext cx="54864" cy="1028700"/>
          </a:xfrm>
          <a:prstGeom prst="rect">
            <a:avLst/>
          </a:prstGeom>
          <a:solidFill>
            <a:srgbClr val="A9C4E8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7" name="code line 1"/>
          <p:cNvSpPr txBox="1"/>
          <p:nvPr/>
        </p:nvSpPr>
        <p:spPr>
          <a:xfrm>
            <a:off x="640080" y="1325880"/>
            <a:ext cx="795528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E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decode_message()</a:t>
            </a:r>
            <a:endParaRPr lang="en-US" sz="2200" dirty="0"/>
          </a:p>
        </p:txBody>
      </p:sp>
      <p:sp>
        <p:nvSpPr>
          <p:cNvPr id="8" name="code line 2"/>
          <p:cNvSpPr txBox="1"/>
          <p:nvPr/>
        </p:nvSpPr>
        <p:spPr>
          <a:xfrm>
            <a:off x="640080" y="1703070"/>
            <a:ext cx="795528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E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gives the sentence</a:t>
            </a:r>
            <a:endParaRPr lang="en-US" sz="2200" dirty="0"/>
          </a:p>
        </p:txBody>
      </p:sp>
      <p:sp>
        <p:nvSpPr>
          <p:cNvPr id="9" name="@1 addText"/>
          <p:cNvSpPr txBox="1"/>
          <p:nvPr/>
        </p:nvSpPr>
        <p:spPr>
          <a:xfrm>
            <a:off x="457200" y="2651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image_starter.py. It uses letter_for, once for each of the 37 photos.</a:t>
            </a:r>
            <a:endParaRPr lang="en-US" sz="1400" dirty="0"/>
          </a:p>
        </p:txBody>
      </p:sp>
      <p:sp>
        <p:nvSpPr>
          <p:cNvPr id="10" name="@2 Callout"/>
          <p:cNvSpPr/>
          <p:nvPr/>
        </p:nvSpPr>
        <p:spPr>
          <a:xfrm>
            <a:off x="457200" y="3291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5D79A0"/>
            </a:solidFill>
            <a:prstDash val="solid"/>
          </a:ln>
        </p:spPr>
      </p:sp>
      <p:sp>
        <p:nvSpPr>
          <p:cNvPr id="11" name="@2 addText"/>
          <p:cNvSpPr txBox="1"/>
          <p:nvPr/>
        </p:nvSpPr>
        <p:spPr>
          <a:xfrm>
            <a:off x="685800" y="32918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read like English? Then it worked.</a:t>
            </a:r>
            <a:endParaRPr lang="en-US" sz="1200" dirty="0"/>
          </a:p>
        </p:txBody>
      </p:sp>
      <p:sp>
        <p:nvSpPr>
          <p:cNvPr id="1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Function We Give You</a:t>
            </a:r>
            <a:endParaRPr lang="en-US" sz="3000" dirty="0"/>
          </a:p>
        </p:txBody>
      </p:sp>
      <p:sp>
        <p:nvSpPr>
          <p:cNvPr id="3" name="code bg"/>
          <p:cNvSpPr/>
          <p:nvPr/>
        </p:nvSpPr>
        <p:spPr>
          <a:xfrm>
            <a:off x="457200" y="1097280"/>
            <a:ext cx="8229600" cy="82296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4" name="code bar"/>
          <p:cNvSpPr/>
          <p:nvPr/>
        </p:nvSpPr>
        <p:spPr>
          <a:xfrm>
            <a:off x="457200" y="1097280"/>
            <a:ext cx="54864" cy="822960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5" name="code line 1"/>
          <p:cNvSpPr txBox="1"/>
          <p:nvPr/>
        </p:nvSpPr>
        <p:spPr>
          <a:xfrm>
            <a:off x="640080" y="1234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image_path(number):</a:t>
            </a:r>
            <a:endParaRPr lang="en-US" sz="1600" dirty="0"/>
          </a:p>
        </p:txBody>
      </p:sp>
      <p:sp>
        <p:nvSpPr>
          <p:cNvPr id="6" name="code line 2"/>
          <p:cNvSpPr txBox="1"/>
          <p:nvPr/>
        </p:nvSpPr>
        <p:spPr>
          <a:xfrm>
            <a:off x="640080" y="1508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"cow_message/" + str(number).zfill(2) + ".png"</a:t>
            </a:r>
            <a:endParaRPr lang="en-US" sz="1600" dirty="0"/>
          </a:p>
        </p:txBody>
      </p:sp>
      <p:sp>
        <p:nvSpPr>
          <p:cNvPr id="7" name="code bg"/>
          <p:cNvSpPr/>
          <p:nvPr/>
        </p:nvSpPr>
        <p:spPr>
          <a:xfrm>
            <a:off x="457200" y="2286000"/>
            <a:ext cx="8229600" cy="150876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8" name="code bar"/>
          <p:cNvSpPr/>
          <p:nvPr/>
        </p:nvSpPr>
        <p:spPr>
          <a:xfrm>
            <a:off x="457200" y="2286000"/>
            <a:ext cx="54864" cy="1508760"/>
          </a:xfrm>
          <a:prstGeom prst="rect">
            <a:avLst/>
          </a:prstGeom>
          <a:solidFill>
            <a:srgbClr val="A9C4E8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9" name="code line 1"/>
          <p:cNvSpPr txBox="1"/>
          <p:nvPr/>
        </p:nvSpPr>
        <p:spPr>
          <a:xfrm>
            <a:off x="640080" y="242316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image_path(1)</a:t>
            </a:r>
            <a:endParaRPr lang="en-US" sz="1800" dirty="0"/>
          </a:p>
        </p:txBody>
      </p:sp>
      <p:sp>
        <p:nvSpPr>
          <p:cNvPr id="10" name="@1 code line 2"/>
          <p:cNvSpPr txBox="1"/>
          <p:nvPr/>
        </p:nvSpPr>
        <p:spPr>
          <a:xfrm>
            <a:off x="640080" y="273177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E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'cow_message/01.png'</a:t>
            </a:r>
            <a:endParaRPr lang="en-US" sz="1800" dirty="0"/>
          </a:p>
        </p:txBody>
      </p:sp>
      <p:sp>
        <p:nvSpPr>
          <p:cNvPr id="11" name="code line 3"/>
          <p:cNvSpPr txBox="1"/>
          <p:nvPr/>
        </p:nvSpPr>
        <p:spPr>
          <a:xfrm>
            <a:off x="640080" y="304038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image_path(12)</a:t>
            </a:r>
            <a:endParaRPr lang="en-US" sz="1800" dirty="0"/>
          </a:p>
        </p:txBody>
      </p:sp>
      <p:sp>
        <p:nvSpPr>
          <p:cNvPr id="12" name="@2 code line 4"/>
          <p:cNvSpPr txBox="1"/>
          <p:nvPr/>
        </p:nvSpPr>
        <p:spPr>
          <a:xfrm>
            <a:off x="640080" y="334899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E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'cow_message/12.png'</a:t>
            </a:r>
            <a:endParaRPr lang="en-US" sz="1800" dirty="0"/>
          </a:p>
        </p:txBody>
      </p:sp>
      <p:sp>
        <p:nvSpPr>
          <p:cNvPr id="13" name="@2 addText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in, file name out. You do not need to understand the zfill line. Just use it.</a:t>
            </a:r>
            <a:endParaRPr lang="en-US" sz="1400" dirty="0"/>
          </a:p>
        </p:txBody>
      </p:sp>
      <p:sp>
        <p:nvSpPr>
          <p:cNvPr id="1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a String: +=</a:t>
            </a:r>
            <a:endParaRPr lang="en-US" sz="3000" dirty="0"/>
          </a:p>
        </p:txBody>
      </p:sp>
      <p:sp>
        <p:nvSpPr>
          <p:cNvPr id="3" name="code bg"/>
          <p:cNvSpPr/>
          <p:nvPr/>
        </p:nvSpPr>
        <p:spPr>
          <a:xfrm>
            <a:off x="457200" y="1143000"/>
            <a:ext cx="8229600" cy="181737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4" name="code bar"/>
          <p:cNvSpPr/>
          <p:nvPr/>
        </p:nvSpPr>
        <p:spPr>
          <a:xfrm>
            <a:off x="457200" y="1143000"/>
            <a:ext cx="54864" cy="1817370"/>
          </a:xfrm>
          <a:prstGeom prst="rect">
            <a:avLst/>
          </a:prstGeom>
          <a:solidFill>
            <a:srgbClr val="A9C4E8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5" name="code line 1"/>
          <p:cNvSpPr txBox="1"/>
          <p:nvPr/>
        </p:nvSpPr>
        <p:spPr>
          <a:xfrm>
            <a:off x="640080" y="128016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 = ""</a:t>
            </a:r>
            <a:endParaRPr lang="en-US" sz="1800" dirty="0"/>
          </a:p>
        </p:txBody>
      </p:sp>
      <p:sp>
        <p:nvSpPr>
          <p:cNvPr id="6" name="@1 code line 2"/>
          <p:cNvSpPr txBox="1"/>
          <p:nvPr/>
        </p:nvSpPr>
        <p:spPr>
          <a:xfrm>
            <a:off x="640080" y="158877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 += "C"</a:t>
            </a:r>
            <a:endParaRPr lang="en-US" sz="1800" dirty="0"/>
          </a:p>
        </p:txBody>
      </p:sp>
      <p:sp>
        <p:nvSpPr>
          <p:cNvPr id="7" name="@2 code line 3"/>
          <p:cNvSpPr txBox="1"/>
          <p:nvPr/>
        </p:nvSpPr>
        <p:spPr>
          <a:xfrm>
            <a:off x="640080" y="189738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 += "A"</a:t>
            </a:r>
            <a:endParaRPr lang="en-US" sz="1800" dirty="0"/>
          </a:p>
        </p:txBody>
      </p:sp>
      <p:sp>
        <p:nvSpPr>
          <p:cNvPr id="8" name="@3 code line 4"/>
          <p:cNvSpPr txBox="1"/>
          <p:nvPr/>
        </p:nvSpPr>
        <p:spPr>
          <a:xfrm>
            <a:off x="640080" y="220599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</a:t>
            </a:r>
            <a:endParaRPr lang="en-US" sz="1800" dirty="0"/>
          </a:p>
        </p:txBody>
      </p:sp>
      <p:sp>
        <p:nvSpPr>
          <p:cNvPr id="9" name="@3 code line 5"/>
          <p:cNvSpPr txBox="1"/>
          <p:nvPr/>
        </p:nvSpPr>
        <p:spPr>
          <a:xfrm>
            <a:off x="640080" y="251460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E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'CA'</a:t>
            </a:r>
            <a:endParaRPr lang="en-US" sz="1800" dirty="0"/>
          </a:p>
        </p:txBody>
      </p:sp>
      <p:sp>
        <p:nvSpPr>
          <p:cNvPr id="10" name="@4 addText"/>
          <p:cNvSpPr txBox="1"/>
          <p:nvPr/>
        </p:nvSpPr>
        <p:spPr>
          <a:xfrm>
            <a:off x="457200" y="3383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empty, stick one letter on the end each time</a:t>
            </a:r>
            <a:endParaRPr lang="en-US" sz="1400" dirty="0"/>
          </a:p>
        </p:txBody>
      </p:sp>
      <p:sp>
        <p:nvSpPr>
          <p:cNvPr id="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a String in a Loop</a:t>
            </a:r>
            <a:endParaRPr lang="en-US" sz="3000" dirty="0"/>
          </a:p>
        </p:txBody>
      </p:sp>
      <p:sp>
        <p:nvSpPr>
          <p:cNvPr id="3" name="code bg"/>
          <p:cNvSpPr/>
          <p:nvPr/>
        </p:nvSpPr>
        <p:spPr>
          <a:xfrm>
            <a:off x="457200" y="1143000"/>
            <a:ext cx="8229600" cy="150876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4" name="code bar"/>
          <p:cNvSpPr/>
          <p:nvPr/>
        </p:nvSpPr>
        <p:spPr>
          <a:xfrm>
            <a:off x="457200" y="1143000"/>
            <a:ext cx="54864" cy="1508760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5" name="code line 1"/>
          <p:cNvSpPr txBox="1"/>
          <p:nvPr/>
        </p:nvSpPr>
        <p:spPr>
          <a:xfrm>
            <a:off x="640080" y="128016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 = ""</a:t>
            </a:r>
            <a:endParaRPr lang="en-US" sz="1800" dirty="0"/>
          </a:p>
        </p:txBody>
      </p:sp>
      <p:sp>
        <p:nvSpPr>
          <p:cNvPr id="6" name="code line 2"/>
          <p:cNvSpPr txBox="1"/>
          <p:nvPr/>
        </p:nvSpPr>
        <p:spPr>
          <a:xfrm>
            <a:off x="640080" y="158877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letter in ["C", "A", "T"]:</a:t>
            </a:r>
            <a:endParaRPr lang="en-US" sz="1800" dirty="0"/>
          </a:p>
        </p:txBody>
      </p:sp>
      <p:sp>
        <p:nvSpPr>
          <p:cNvPr id="7" name="code line 3"/>
          <p:cNvSpPr txBox="1"/>
          <p:nvPr/>
        </p:nvSpPr>
        <p:spPr>
          <a:xfrm>
            <a:off x="640080" y="189738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 += letter</a:t>
            </a:r>
            <a:endParaRPr lang="en-US" sz="1800" dirty="0"/>
          </a:p>
        </p:txBody>
      </p:sp>
      <p:sp>
        <p:nvSpPr>
          <p:cNvPr id="8" name="code line 4"/>
          <p:cNvSpPr txBox="1"/>
          <p:nvPr/>
        </p:nvSpPr>
        <p:spPr>
          <a:xfrm>
            <a:off x="640080" y="2205990"/>
            <a:ext cx="79552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print(message)   </a:t>
            </a:r>
            <a:pPr indent="0" marL="0">
              <a:buNone/>
            </a:pPr>
            <a:r>
              <a:rPr lang="en-US" sz="1800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CAT</a:t>
            </a:r>
            <a:endParaRPr lang="en-US" sz="1800" dirty="0"/>
          </a:p>
        </p:txBody>
      </p:sp>
      <p:sp>
        <p:nvSpPr>
          <p:cNvPr id="9" name="@1 addText"/>
          <p:cNvSpPr txBox="1"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range(1, 38) counts 1 to 37: it stops before 38.</a:t>
            </a:r>
            <a:endParaRPr lang="en-US" sz="14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decode_message</a:t>
            </a:r>
            <a:endParaRPr lang="en-US" sz="3000" dirty="0"/>
          </a:p>
        </p:txBody>
      </p:sp>
      <p:sp>
        <p:nvSpPr>
          <p:cNvPr id="3" name="5 MIN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200" dirty="0"/>
          </a:p>
        </p:txBody>
      </p:sp>
      <p:sp>
        <p:nvSpPr>
          <p:cNvPr id="5" name="code bg"/>
          <p:cNvSpPr/>
          <p:nvPr/>
        </p:nvSpPr>
        <p:spPr>
          <a:xfrm>
            <a:off x="457200" y="1051560"/>
            <a:ext cx="8229600" cy="301752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6" name="code bar"/>
          <p:cNvSpPr/>
          <p:nvPr/>
        </p:nvSpPr>
        <p:spPr>
          <a:xfrm>
            <a:off x="457200" y="1051560"/>
            <a:ext cx="54864" cy="3017520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7" name="code line 1"/>
          <p:cNvSpPr txBox="1"/>
          <p:nvPr/>
        </p:nvSpPr>
        <p:spPr>
          <a:xfrm>
            <a:off x="640080" y="1188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decode_message():</a:t>
            </a:r>
            <a:endParaRPr lang="en-US" sz="1600" dirty="0"/>
          </a:p>
        </p:txBody>
      </p:sp>
      <p:sp>
        <p:nvSpPr>
          <p:cNvPr id="8" name="code line 2"/>
          <p:cNvSpPr txBox="1"/>
          <p:nvPr/>
        </p:nvSpPr>
        <p:spPr>
          <a:xfrm>
            <a:off x="640080" y="1463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 = ""   </a:t>
            </a:r>
            <a:pPr indent="0" marL="0">
              <a:buNone/>
            </a:pPr>
            <a:r>
              <a:rPr lang="en-US" sz="1600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starts empty</a:t>
            </a:r>
            <a:endParaRPr lang="en-US" sz="1600" dirty="0"/>
          </a:p>
        </p:txBody>
      </p:sp>
      <p:sp>
        <p:nvSpPr>
          <p:cNvPr id="9" name="code line 3"/>
          <p:cNvSpPr txBox="1"/>
          <p:nvPr/>
        </p:nvSpPr>
        <p:spPr>
          <a:xfrm>
            <a:off x="640080" y="1737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600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TODO: for each number 1 to 37</a:t>
            </a:r>
            <a:endParaRPr lang="en-US" sz="1600" dirty="0"/>
          </a:p>
        </p:txBody>
      </p:sp>
      <p:sp>
        <p:nvSpPr>
          <p:cNvPr id="10" name="code line 4"/>
          <p:cNvSpPr txBox="1"/>
          <p:nvPr/>
        </p:nvSpPr>
        <p:spPr>
          <a:xfrm>
            <a:off x="640080" y="20116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600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(hint: range(1, 38))</a:t>
            </a:r>
            <a:endParaRPr lang="en-US" sz="1600" dirty="0"/>
          </a:p>
        </p:txBody>
      </p:sp>
      <p:sp>
        <p:nvSpPr>
          <p:cNvPr id="11" name="code line 5"/>
          <p:cNvSpPr txBox="1"/>
          <p:nvPr/>
        </p:nvSpPr>
        <p:spPr>
          <a:xfrm>
            <a:off x="640080" y="2286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600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1. find the picture: image_path(number)</a:t>
            </a:r>
            <a:endParaRPr lang="en-US" sz="1600" dirty="0"/>
          </a:p>
        </p:txBody>
      </p:sp>
      <p:sp>
        <p:nvSpPr>
          <p:cNvPr id="12" name="code line 6"/>
          <p:cNvSpPr txBox="1"/>
          <p:nvPr/>
        </p:nvSpPr>
        <p:spPr>
          <a:xfrm>
            <a:off x="640080" y="2560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600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2. work out its letter</a:t>
            </a:r>
            <a:endParaRPr lang="en-US" sz="1600" dirty="0"/>
          </a:p>
        </p:txBody>
      </p:sp>
      <p:sp>
        <p:nvSpPr>
          <p:cNvPr id="13" name="code line 7"/>
          <p:cNvSpPr txBox="1"/>
          <p:nvPr/>
        </p:nvSpPr>
        <p:spPr>
          <a:xfrm>
            <a:off x="640080" y="2834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600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3. message += letter</a:t>
            </a:r>
            <a:endParaRPr lang="en-US" sz="1600" dirty="0"/>
          </a:p>
        </p:txBody>
      </p:sp>
      <p:sp>
        <p:nvSpPr>
          <p:cNvPr id="14" name="code line 8"/>
          <p:cNvSpPr txBox="1"/>
          <p:nvPr/>
        </p:nvSpPr>
        <p:spPr>
          <a:xfrm>
            <a:off x="64008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message</a:t>
            </a:r>
            <a:endParaRPr lang="en-US" sz="1600" dirty="0"/>
          </a:p>
        </p:txBody>
      </p:sp>
      <p:sp>
        <p:nvSpPr>
          <p:cNvPr id="15" name="code line 10"/>
          <p:cNvSpPr txBox="1"/>
          <p:nvPr/>
        </p:nvSpPr>
        <p:spPr>
          <a:xfrm>
            <a:off x="640080" y="36576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buNone/>
            </a:pPr>
            <a:r>
              <a:rPr lang="en-US" sz="16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print(decode_message())   </a:t>
            </a:r>
            <a:pPr indent="0" marL="0">
              <a:buNone/>
            </a:pPr>
            <a:r>
              <a:rPr lang="en-US" sz="1600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remove the # to run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read like English? Then it worked. Gibberish? Check STEP 2 and STEP 3.</a:t>
            </a:r>
            <a:endParaRPr lang="en-US" sz="14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 the Puzzle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TIME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through STEP 1 to 4 in image_starter.py. Test each step before the next. Read the message aloud.</a:t>
            </a:r>
            <a:endParaRPr lang="en-US" sz="1800" dirty="0"/>
          </a:p>
        </p:txBody>
      </p:sp>
      <p:sp>
        <p:nvSpPr>
          <p:cNvPr id="5" name="Timer pill"/>
          <p:cNvSpPr/>
          <p:nvPr/>
        </p:nvSpPr>
        <p:spPr>
          <a:xfrm>
            <a:off x="548640" y="384048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pic>
        <p:nvPicPr>
          <p:cNvPr id="6" name="Image 0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39959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3840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2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Stuck? Use the Booklet</a:t>
            </a:r>
            <a:endParaRPr lang="en-US" sz="3000" dirty="0"/>
          </a:p>
        </p:txBody>
      </p:sp>
      <p:sp>
        <p:nvSpPr>
          <p:cNvPr id="3" name="@1 Card"/>
          <p:cNvSpPr/>
          <p:nvPr/>
        </p:nvSpPr>
        <p:spPr>
          <a:xfrm>
            <a:off x="457200" y="128016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4" name="@1 addText"/>
          <p:cNvSpPr txBox="1"/>
          <p:nvPr/>
        </p:nvSpPr>
        <p:spPr>
          <a:xfrm>
            <a:off x="457200" y="14173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before you type</a:t>
            </a:r>
            <a:endParaRPr lang="en-US" sz="1800" dirty="0"/>
          </a:p>
        </p:txBody>
      </p:sp>
      <p:sp>
        <p:nvSpPr>
          <p:cNvPr id="5" name="@1 addText"/>
          <p:cNvSpPr txBox="1"/>
          <p:nvPr/>
        </p:nvSpPr>
        <p:spPr>
          <a:xfrm>
            <a:off x="457200" y="1920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it out on paper</a:t>
            </a:r>
            <a:endParaRPr lang="en-US" sz="1400" dirty="0"/>
          </a:p>
        </p:txBody>
      </p:sp>
      <p:sp>
        <p:nvSpPr>
          <p:cNvPr id="6" name="@2 Card"/>
          <p:cNvSpPr/>
          <p:nvPr/>
        </p:nvSpPr>
        <p:spPr>
          <a:xfrm>
            <a:off x="4663440" y="128016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7" name="@2 addText"/>
          <p:cNvSpPr txBox="1"/>
          <p:nvPr/>
        </p:nvSpPr>
        <p:spPr>
          <a:xfrm>
            <a:off x="4663440" y="14173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in the functions</a:t>
            </a:r>
            <a:endParaRPr lang="en-US" sz="1800" dirty="0"/>
          </a:p>
        </p:txBody>
      </p:sp>
      <p:sp>
        <p:nvSpPr>
          <p:cNvPr id="8" name="@2 addText"/>
          <p:cNvSpPr txBox="1"/>
          <p:nvPr/>
        </p:nvSpPr>
        <p:spPr>
          <a:xfrm>
            <a:off x="4663440" y="1920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shape of each STEP</a:t>
            </a:r>
            <a:endParaRPr lang="en-US" sz="1400" dirty="0"/>
          </a:p>
        </p:txBody>
      </p:sp>
      <p:sp>
        <p:nvSpPr>
          <p:cNvPr id="9" name="@3 Card"/>
          <p:cNvSpPr/>
          <p:nvPr/>
        </p:nvSpPr>
        <p:spPr>
          <a:xfrm>
            <a:off x="457200" y="265176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0" name="@3 addText"/>
          <p:cNvSpPr txBox="1"/>
          <p:nvPr/>
        </p:nvSpPr>
        <p:spPr>
          <a:xfrm>
            <a:off x="457200" y="27889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starter code</a:t>
            </a:r>
            <a:endParaRPr lang="en-US" sz="1800" dirty="0"/>
          </a:p>
        </p:txBody>
      </p:sp>
      <p:sp>
        <p:nvSpPr>
          <p:cNvPr id="11" name="@3 addText"/>
          <p:cNvSpPr txBox="1"/>
          <p:nvPr/>
        </p:nvSpPr>
        <p:spPr>
          <a:xfrm>
            <a:off x="457200" y="32918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each line does</a:t>
            </a:r>
            <a:endParaRPr lang="en-US" sz="1400" dirty="0"/>
          </a:p>
        </p:txBody>
      </p:sp>
      <p:sp>
        <p:nvSpPr>
          <p:cNvPr id="12" name="@4 Card"/>
          <p:cNvSpPr/>
          <p:nvPr/>
        </p:nvSpPr>
        <p:spPr>
          <a:xfrm>
            <a:off x="4663440" y="265176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3" name="@4 addText"/>
          <p:cNvSpPr txBox="1"/>
          <p:nvPr/>
        </p:nvSpPr>
        <p:spPr>
          <a:xfrm>
            <a:off x="4663440" y="27889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tracker</a:t>
            </a:r>
            <a:endParaRPr lang="en-US" sz="1800" dirty="0"/>
          </a:p>
        </p:txBody>
      </p:sp>
      <p:sp>
        <p:nvSpPr>
          <p:cNvPr id="14" name="@4 addText"/>
          <p:cNvSpPr txBox="1"/>
          <p:nvPr/>
        </p:nvSpPr>
        <p:spPr>
          <a:xfrm>
            <a:off x="4663440" y="32918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down each letter</a:t>
            </a:r>
            <a:endParaRPr lang="en-US" sz="14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EARLY?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up green (channel 1) or blue (channel 2) instead. What message do you get? If a red total went up by 1, which letter comes next? By 26?</a:t>
            </a:r>
            <a:endParaRPr lang="en-US" sz="1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Learned Today</a:t>
            </a:r>
            <a:endParaRPr lang="en-US" sz="3000" dirty="0"/>
          </a:p>
        </p:txBody>
      </p:sp>
      <p:sp>
        <p:nvSpPr>
          <p:cNvPr id="3" name="2 MIN pill"/>
          <p:cNvSpPr/>
          <p:nvPr/>
        </p:nvSpPr>
        <p:spPr>
          <a:xfrm>
            <a:off x="7132320" y="4114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0" y="411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</a:t>
            </a:r>
            <a:endParaRPr lang="en-US" sz="1200" dirty="0"/>
          </a:p>
        </p:txBody>
      </p:sp>
      <p:sp>
        <p:nvSpPr>
          <p:cNvPr id="5" name="@1 dot"/>
          <p:cNvSpPr/>
          <p:nvPr/>
        </p:nvSpPr>
        <p:spPr>
          <a:xfrm>
            <a:off x="457200" y="1316736"/>
            <a:ext cx="109728" cy="109728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6" name="@1 addText"/>
          <p:cNvSpPr txBox="1"/>
          <p:nvPr/>
        </p:nvSpPr>
        <p:spPr>
          <a:xfrm>
            <a:off x="731520" y="1188720"/>
            <a:ext cx="79552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picture is a grid of numbers: rows x columns x 3</a:t>
            </a:r>
            <a:endParaRPr lang="en-US" sz="1800" dirty="0"/>
          </a:p>
        </p:txBody>
      </p:sp>
      <p:sp>
        <p:nvSpPr>
          <p:cNvPr id="7" name="@2 dot"/>
          <p:cNvSpPr/>
          <p:nvPr/>
        </p:nvSpPr>
        <p:spPr>
          <a:xfrm>
            <a:off x="457200" y="1975104"/>
            <a:ext cx="109728" cy="109728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8" name="@2 addText"/>
          <p:cNvSpPr txBox="1"/>
          <p:nvPr/>
        </p:nvSpPr>
        <p:spPr>
          <a:xfrm>
            <a:off x="731520" y="1847088"/>
            <a:ext cx="79552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pixel, a crop, channels, switching off, grey, negative</a:t>
            </a:r>
            <a:endParaRPr lang="en-US" sz="1800" dirty="0"/>
          </a:p>
        </p:txBody>
      </p:sp>
      <p:sp>
        <p:nvSpPr>
          <p:cNvPr id="9" name="@3 dot"/>
          <p:cNvSpPr/>
          <p:nvPr/>
        </p:nvSpPr>
        <p:spPr>
          <a:xfrm>
            <a:off x="457200" y="2633472"/>
            <a:ext cx="109728" cy="109728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10" name="@3 addText"/>
          <p:cNvSpPr txBox="1"/>
          <p:nvPr/>
        </p:nvSpPr>
        <p:spPr>
          <a:xfrm>
            <a:off x="731520" y="2505456"/>
            <a:ext cx="79552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counting, averages and histograms</a:t>
            </a:r>
            <a:endParaRPr lang="en-US" sz="1800" dirty="0"/>
          </a:p>
        </p:txBody>
      </p:sp>
      <p:sp>
        <p:nvSpPr>
          <p:cNvPr id="11" name="@4 dot"/>
          <p:cNvSpPr/>
          <p:nvPr/>
        </p:nvSpPr>
        <p:spPr>
          <a:xfrm>
            <a:off x="457200" y="3291840"/>
            <a:ext cx="109728" cy="109728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12" name="@4 addText"/>
          <p:cNvSpPr txBox="1"/>
          <p:nvPr/>
        </p:nvSpPr>
        <p:spPr>
          <a:xfrm>
            <a:off x="731520" y="3163824"/>
            <a:ext cx="79552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total % 26 gives a letter: you solved a puzzle</a:t>
            </a:r>
            <a:endParaRPr lang="en-US" sz="1800" dirty="0"/>
          </a:p>
        </p:txBody>
      </p:sp>
      <p:sp>
        <p:nvSpPr>
          <p:cNvPr id="13" name="@5 dot"/>
          <p:cNvSpPr/>
          <p:nvPr/>
        </p:nvSpPr>
        <p:spPr>
          <a:xfrm>
            <a:off x="457200" y="3950208"/>
            <a:ext cx="109728" cy="109728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14" name="@5 addText"/>
          <p:cNvSpPr txBox="1"/>
          <p:nvPr/>
        </p:nvSpPr>
        <p:spPr>
          <a:xfrm>
            <a:off x="731520" y="3822192"/>
            <a:ext cx="79552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 that call functions, and building a string</a:t>
            </a:r>
            <a:endParaRPr lang="en-US" sz="18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Think, Then Share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tiny images by hand, or 37 big ones with Python: how long did each take? Which task was hardest? Why?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Image Analysis Challenge</dc:title>
  <dc:subject>PptxGenJS Presentation</dc:subject>
  <dc:creator/>
  <cp:lastModifiedBy/>
  <cp:revision>1</cp:revision>
  <dcterms:created xsi:type="dcterms:W3CDTF">2026-10-15T16:28:59Z</dcterms:created>
  <dcterms:modified xsi:type="dcterms:W3CDTF">2026-10-15T16:28:59Z</dcterms:modified>
</cp:coreProperties>
</file>