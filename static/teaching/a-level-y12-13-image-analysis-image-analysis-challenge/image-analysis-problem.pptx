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8" r:id="rId12"/>
    <p:sldId id="271" r:id="rId13"/>
    <p:sldId id="266" r:id="rId14"/>
    <p:sldId id="267" r:id="rId15"/>
    <p:sldId id="270" r:id="rId16"/>
    <p:sldId id="321" r:id="rId17"/>
    <p:sldId id="273" r:id="rId18"/>
    <p:sldId id="274" r:id="rId19"/>
    <p:sldId id="276" r:id="rId21"/>
    <p:sldId id="278" r:id="rId22"/>
    <p:sldId id="281" r:id="rId23"/>
    <p:sldId id="277" r:id="rId24"/>
    <p:sldId id="280" r:id="rId25"/>
    <p:sldId id="283" r:id="rId26"/>
    <p:sldId id="322" r:id="rId27"/>
    <p:sldId id="284" r:id="rId28"/>
    <p:sldId id="287" r:id="rId29"/>
    <p:sldId id="290" r:id="rId30"/>
    <p:sldId id="291" r:id="rId31"/>
    <p:sldId id="285" r:id="rId32"/>
    <p:sldId id="286" r:id="rId33"/>
    <p:sldId id="289" r:id="rId34"/>
    <p:sldId id="293" r:id="rId35"/>
    <p:sldId id="323" r:id="rId36"/>
    <p:sldId id="294" r:id="rId37"/>
    <p:sldId id="295" r:id="rId38"/>
    <p:sldId id="317" r:id="rId39"/>
    <p:sldId id="318" r:id="rId40"/>
    <p:sldId id="319" r:id="rId41"/>
    <p:sldId id="320" r:id="rId42"/>
    <p:sldId id="296" r:id="rId43"/>
    <p:sldId id="297" r:id="rId44"/>
    <p:sldId id="298" r:id="rId45"/>
    <p:sldId id="299" r:id="rId46"/>
    <p:sldId id="301" r:id="rId48"/>
    <p:sldId id="302" r:id="rId49"/>
    <p:sldId id="303" r:id="rId50"/>
    <p:sldId id="304" r:id="rId51"/>
    <p:sldId id="305" r:id="rId52"/>
    <p:sldId id="306" r:id="rId53"/>
    <p:sldId id="307" r:id="rId54"/>
    <p:sldId id="308" r:id="rId55"/>
    <p:sldId id="309" r:id="rId56"/>
    <p:sldId id="310" r:id="rId57"/>
    <p:sldId id="311" r:id="rId58"/>
    <p:sldId id="312" r:id="rId59"/>
    <p:sldId id="324" r:id="rId60"/>
    <p:sldId id="325" r:id="rId61"/>
    <p:sldId id="326" r:id="rId62"/>
    <p:sldId id="313" r:id="rId63"/>
    <p:sldId id="314" r:id="rId64"/>
    <p:sldId id="315" r:id="rId65"/>
    <p:sldId id="316" r:id="rId6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er" id="{9DF84CDA-AEEE-A3CC-BA8E-CE03AAD21239}">
          <p14:sldIdLst>
            <p14:sldId id="256"/>
          </p14:sldIdLst>
        </p14:section>
        <p14:section name="Default-1" id="{5A029A10-389E-7074-90F3-8BC5C7DA5620}">
          <p14:sldIdLst>
            <p14:sldId id="257"/>
            <p14:sldId id="258"/>
            <p14:sldId id="259"/>
            <p14:sldId id="260"/>
            <p14:sldId id="261"/>
            <p14:sldId id="262"/>
            <p14:sldId id="263"/>
            <p14:sldId id="264"/>
            <p14:sldId id="265"/>
            <p14:sldId id="268"/>
            <p14:sldId id="271"/>
            <p14:sldId id="266"/>
            <p14:sldId id="267"/>
            <p14:sldId id="270"/>
            <p14:sldId id="321"/>
            <p14:sldId id="273"/>
            <p14:sldId id="274"/>
            <p14:sldId id="275"/>
            <p14:sldId id="276"/>
            <p14:sldId id="278"/>
            <p14:sldId id="281"/>
            <p14:sldId id="277"/>
            <p14:sldId id="280"/>
            <p14:sldId id="283"/>
            <p14:sldId id="322"/>
            <p14:sldId id="284"/>
            <p14:sldId id="287"/>
            <p14:sldId id="290"/>
            <p14:sldId id="291"/>
            <p14:sldId id="285"/>
            <p14:sldId id="286"/>
            <p14:sldId id="289"/>
            <p14:sldId id="293"/>
            <p14:sldId id="323"/>
            <p14:sldId id="294"/>
            <p14:sldId id="295"/>
            <p14:sldId id="317"/>
            <p14:sldId id="318"/>
            <p14:sldId id="319"/>
            <p14:sldId id="320"/>
            <p14:sldId id="296"/>
            <p14:sldId id="297"/>
            <p14:sldId id="298"/>
            <p14:sldId id="299"/>
            <p14:sldId id="300"/>
            <p14:sldId id="301"/>
            <p14:sldId id="302"/>
            <p14:sldId id="303"/>
            <p14:sldId id="304"/>
            <p14:sldId id="305"/>
            <p14:sldId id="306"/>
            <p14:sldId id="307"/>
            <p14:sldId id="308"/>
            <p14:sldId id="309"/>
            <p14:sldId id="310"/>
            <p14:sldId id="311"/>
            <p14:sldId id="312"/>
            <p14:sldId id="324"/>
            <p14:sldId id="325"/>
            <p14:sldId id="326"/>
            <p14:sldId id="313"/>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150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answers while the register is taken (about 4 minutes), then feed back. Click to reveal each answer. Links forward: pixels and RGB (whole lesson), 0 to 255 (channels), return (total_red), % (the puzzle rule).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(10 min): Talk. Show the cow photo. Ask: what do you see? Take two answers.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Click through the bullets one at a time. Python has never met a cow. Ask: how many numbers do you think are in a photo? Think, pair, share, then move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Give 1 minute. Take a few guesses before clicking. Reveal: 320 x 320 pixels, 3 numbers each, each 0 to 255, so 307,200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Title: what a picture is to a computer, what we can do with it, and a puzzle at the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Part 1: eight short tasks in Spyder in image_explore.py, then Part 2: the puzzle.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Recap: variables, functions, if/else, loops. A library is code other people wrote. Show import math then math.sqrt(16).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PIL (Pillow) opens, edits and reads images. Show the import line. from X import Y means just give me Y out of library 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Open the photo and check its size. Pupils open Spyder and image_explore.py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T+00 to T+10. A picture is a grid of numbers. NumPy does maths on huge grids, fast. Hand over to Task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T+10 to T+14 (chunk 1 talk, 4 min). Rows count down, columns count across, counting starts at 0 top left. Row first, then column. pixels[0, 0] is [16 0 0]: red 16, green 0, blue 0, almost black.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T+10 to T+14 (chunk 1 talk, 4 min). Crop is a slice: [start:stop] for rows, a comma, [start:stop] for columns. It stops before the last number.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T+14 to T+22 (8 min). Booklet Tasks 1, 2 and 3 in image_explore.py. Task 1: open the photo and predict the shape. Task 2: find the pixel in row 100, column 200 (row first). Task 3: crop a corner, then try the cow's head. Fast pupils carry on. At T+22 stop and review with the next three slides. Hints: pixels[row, column]; keep the colon and the comma in the crop.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T+22 to T+25 (chunk 1 review, 3 min). Compare answers, hold up the solutions. Check: (320, 320, 3) means rows x columns x 3 colour numbers.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T+22 to T+25 (chunk 1 review, 3 min). Compare answers, hold up the solutions. Check: [94 50 37], a reddish brown. Red is biggest.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T+22 to T+25 (chunk 1 review, 3 min). Compare answers, hold up the solutions. Solutions to hold up for anyone who is stuck on Tasks 2 and 3. Row first, then column. A crop is rows start:stop, columns start:stop, and stops before the stop number. Any 100 by 100 square is fine.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T+25 to T+30 (chunk 2 talk, 5 min). Every pixel is three numbers: red, green, blue. Each is a brightness from 0 (none of that colour) to 255 (as much as possible).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T+25 to T+30 (chunk 2 talk, 5 min). Real numbers from a 4 x 4 crop, pixels[100:104, 100:104]. Do not spend long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T+25 to T+30 (chunk 2 talk, 5 min). One pixel is R + G + B. Take one pixel apart: change the numbers, change the picture. That is all a photo 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T+25 to T+30 (chunk 2 talk, 5 min). pixels[:, :, 0] is every row, every column, just channel 0: red. Deep red means a big number, pale a small one. The wall has lots of red, the cow almost none.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T+25 to T+30 (chunk 2 talk, 5 min). .copy() makes a second picture so the original stays safe. Line 2 sets every red number to 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T+30 to T+38 (8 min). Booklet Try it, Task 4 and Task 5. Mix yellow and a grey with show_colour. Split the channels (green is 1, blue is 2). Switch channels off: predict first. At T+38 review with the three slides after this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T+38 to T+41 (chunk 2 review, 3 min). Compare answers, hold up the solutions. Reveal all three channels together if time allows. Wall is bright in red. Cow is dark in every channel. Move on at T+38.</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T+38 to T+41 (chunk 2 review, 3 min). Compare answers, hold up the solutions. Show the check pictures. Red + blue light = magenta. Red + green light = yellow. Move on at T+43.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T+38 to T+41 (chunk 2 review, 3 min). Compare answers, hold up the solutions. Solutions to hold up: Try It, Task 4 and Task 5. Yellow is high red and green, no blue. Grey is three equal numbers. Channel 1 is green, channel 2 is blue. no_blue is the same as no_green with channel 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T+41 to T+45 (chunk 3 talk, 4 min). "L" means one brightness number per pixel: 0 black, 255 white. 255 - pixels flips every number: 0 becomes 255.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T+41 to T+45 (chunk 3 talk, 4 min). mean() gives the average brightness (a fairly dark grey). grey &lt; 50 is True or False for every pixel, and .sum() counts the Trues.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T+41 to T+45 (chunk 3 talk, 4 min). Not what is the average, but how many pixels are dark, how many bright, how many in between? A histogram splits brightness into buckets and counts the pixels in each.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T+41 to T+45 (chunk 3 talk, 4 min). .flatten() turns the grid into one long list. Left is dark, right is bright. Two humps: the dark cow and street, and the brighter wall.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T+45 to T+54 (9 min). Booklet Tasks 6, 7 and 8. Grey and negative: predict the negative of [16 0 0]. Count and average: how many pixels are brighter than 100, and what fraction. Histogram: red, green and blue. At T+54 review with the slides after this one.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T+54 to T+57 (chunk 3 review, 3 min). Compare answers, hold up the solutions. The negative of [16 0 0] is [239 255 255]. The black cow turns light.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T+54 to T+57 (chunk 3 review, 3 min). Compare answers, hold up the solutions. 34315 pixels brighter than 100, grey.size is 102400, fraction 0.335107421875. About a third.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T+54 to T+57 (chunk 3 review, 3 min). Compare answers, hold up the solutions. Red has a tall bar in the middle-right (the wall). Green and blue are tallest on the left. Part 1 ends here at T+58.</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T+54 to T+57 (chunk 3 review, 3 min). Compare answers, hold up the solutions. Solutions to hold up: Task 7 and Task 8. Brighter than 100 is grey &gt; 100 then .sum(). The fraction divides by grey.size. For the histogram use the red picture from Task 4; green and blue work the same way.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IN CLASS. Stretch only. Show it to anyone who finishes Task 8 early. ::-1 means go backwards.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IN CLASS. Stretch only. Early finishers try ::-1, then brighten by adding 60 and think about what happens above 255 (200 + 60 wraps to 4). Booklet stretch tasks.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T+57 to T+61 (4 min for these four context slides). Two ideas: cryptography hides what a message says, steganography hides that there is a message at all. Then the key link to this lesson: a pixel is three numbers, so a change of 1 in one number is invisible to us but a program can read it. Ask: which of the two squares is changed? Pupils cannot tell.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T+57 to T+61. Real cases of messages hidden in ordinary-looking things online. One card per click. 2010: the FBI said Russian agents living in the USA hid messages in images on public websites (the 'Illegals Program' arrests). 2017: security company ESET found the Turla group using comments under a pop star's Instagram photo to hide the address of their control server. 2022: security company Securonix found malware hidden in a picture from the James Webb Space Telescope. Point: nobody looks twice at a photo. Check these against the sources before quoting extra detail.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T+57 to T+61. How hidden messages get discovered. Steganalysis means looking for numbers that do not behave like a normal photo: a histogram (Task 8) or a comparison with the original shows the odd ones out. UK examples: Cambridge Computer Laboratory researchers (Ross Anderson, Fabien Petitcolas) wrote some of the first research papers on information hiding in the late 1990s; Steven Murdoch and Stephen Lewis at Cambridge showed in 2005 how to hide messages inside ordinary internet traffic. The National Cyber Security Centre, part of GCHQ, is the UK body that helps defend against hidden threats. History: in WWII British censors checked mail for invisible ink and hidden writing. NOTE for the teacher: I could not confirm a public, named NCSC case of image steganography, so the slide names research groups and the role of NCSC rather than inventing a case. Check before adding more.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T+57 to T+61. The story for Part 2. Read it out, one card per click. It is a made-up scenario, but the method is real: spot the odd thing, find the hidden rule, decode it. Then go to the next slide for the task and the rule.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Part 2: 37 photos, one hidden letter each. Together they spell a message.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The rule: open a photo, add up every red value, take the total % 26, use the result to pick a letter (A=0 to Z=25). Do it for every photo, in order.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red.sum() adds up all the red: one number, the total redness of all 102,400 pixels of cow-demo.jpg.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 gives the remainder: 10218857 % 26 is 25. alphabet[2] is C. So which letter is 25? Z.</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Ask: how long would 37 big photos take by hand? (Nobody does it by hand: that is the point.) 640 x 640 = 409,600 red numbers per photo.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T+61 to T+68 (chunk 4 talk, 7 min). cow-demo.jpg is 320 x 320, the puzzle photos in cow_message/ are 640 x 640. The same code works on both. Practise on the demo, then solve the puzzle.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You already know functions and loops. Four STEPS in cow_message_starter.py, each uses the one before. Test each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STEP 1 is done for you. Run it: it prints size, shape and first pixel. Put it in the SAME folder as cow-demo.jpg and the cow_message folder.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Booklet Step 2. Pupils finish total_red. Test: it should print 10218857. Prints 0? They forgot to change return 0. Leave this slide up.</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Booklet Step 3. Test: it should print Z. Wrong letter? Test total_red again first. ALPHABET is already at the top of the file.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decode_message gives the sentence. It uses letter_for, once for each of the 37 photos. Does it read like English? Then it worked.</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image_path is given to you. Do not change it. Number in, file name out. You do not need to understand the zfill line, just use it.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Show the empty string growing: start empty, stick one letter on the end each time.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The same idea in a loop. range(1, 38) counts 1 to 37: it stops before 38.</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T+68 to T+73 (chunk 5 talk, 5 min). Booklet Step 4. Skeleton for decode_message. Pupils code it. Does the message make sense? Gibberish: check Step 2 and Step 3.</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T+73 to T+85 (12 min). Booklet Steps 2, 3 and 4 in cow_message_starter.py. Leave this slide up. Tests: STEP 2 prints 10218857, STEP 3 prints Z, STEP 4 reads like English. At T+85 review: hold up the three solution slides for anyone who is behind.</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T+85 to T+88 (chunk 5 review, 3 min). Hold up the solution for anyone behind. Solution to hold up for anyone who is stuck on Step 2. Get the red channel, add it up with .sum(), and return the total. The test should print 10218857.</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T+85 to T+88 (chunk 5 review, 3 min). Hold up the solution for anyone behind. Solution to hold up for anyone who is stuck on Step 3. Call total_red, take % 26 for the position, look it up in ALPHABET and return the letter. The test should print Z.</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T+85 to T+88 (chunk 5 review, 3 min). Hold up the solution for anyone behind. Solution to hold up for anyone who is stuck on Step 4. Loop over 1 to 37 (range stops before 38), get the letter for each photo and stick it on the end of message with +=. It should read like English.</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IN CLASS. Show only if pupils are stuck: the booklet has two-level hints for every STEP. Read Hint 1 first, then Hint 2: the same hints are in the file as comments. Random letters? Test total_red, then letter_for, again.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IN CLASS. Show only for early finishers: stretch tasks are at the back of the booklet. Green or blue gives a different message. Adding 1 to the total gives the next letter; adding 26 gives the same letter.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T+88 to T+90 (2 min). Recap: what a picture is, channels, maths on pixels, a loop to decode. Click through one at a time.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T+88 to T+90. Reflect: how long would 37 photos take by hand? How long did they take with code? Which task was hardest and why? Challenge: green or blue channel on the puzzle.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B4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rtlCol="0"/>
          <a:lstStyle>
            <a:lvl1pPr marL="0" indent="0" algn="l">
              <a:buNone/>
              <a:defRPr lang="en-US" sz="3400" b="1" dirty="0">
                <a:solidFill>
                  <a:srgbClr val="FFFFFF"/>
                </a:solidFill>
                <a:latin typeface="Arial" pitchFamily="34" charset="0"/>
                <a:ea typeface="Arial" pitchFamily="34" charset="-122"/>
                <a:cs typeface="Arial" pitchFamily="34" charset="-120"/>
              </a:defRPr>
            </a:lvl1pPr>
          </a:lstStyle>
          <a:p>
            <a:pPr marL="0" indent="0" algn="l">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EEF2F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rgbClr val="001B40"/>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5D6B80"/>
                </a:solidFill>
                <a:latin typeface="Arial" pitchFamily="34" charset="0"/>
                <a:ea typeface="Arial" pitchFamily="34" charset="-122"/>
                <a:cs typeface="Arial" pitchFamily="34" charset="-120"/>
              </a:rPr>
              <a:t>Image Analysis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rtlCol="0"/>
          <a:lstStyle>
            <a:lvl1pPr marL="0" indent="0" algn="l">
              <a:buNone/>
              <a:defRPr lang="en-US" sz="2800" b="1" dirty="0">
                <a:solidFill>
                  <a:srgbClr val="001B40"/>
                </a:solidFill>
                <a:latin typeface="Arial" pitchFamily="34" charset="0"/>
                <a:ea typeface="Arial" pitchFamily="34" charset="-122"/>
                <a:cs typeface="Arial" pitchFamily="34" charset="-120"/>
              </a:defRPr>
            </a:lvl1pPr>
          </a:lstStyle>
          <a:p>
            <a:pPr marL="0" indent="0" algn="l">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5D6B80"/>
                </a:solidFill>
                <a:latin typeface="Arial" pitchFamily="34" charset="0"/>
                <a:ea typeface="Arial" pitchFamily="34" charset="-122"/>
                <a:cs typeface="Arial" pitchFamily="34" charset="-120"/>
              </a:rPr>
              <a:t>Image Analysis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tinyurl.com/35yufbb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15.png"/><Relationship Id="rId5"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5-A-DAY: Knowledge Recall</a:t>
            </a:r>
            <a:endParaRPr lang="en-US" sz="3000" dirty="0"/>
          </a:p>
        </p:txBody>
      </p:sp>
      <p:sp>
        <p:nvSpPr>
          <p:cNvPr id="3" name="STARTER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STARTER</a:t>
            </a:r>
            <a:endParaRPr lang="en-US" sz="1200" dirty="0"/>
          </a:p>
        </p:txBody>
      </p:sp>
      <p:sp>
        <p:nvSpPr>
          <p:cNvPr id="5" name="Text 3"/>
          <p:cNvSpPr txBox="1"/>
          <p:nvPr/>
        </p:nvSpPr>
        <p:spPr>
          <a:xfrm>
            <a:off x="457200" y="960120"/>
            <a:ext cx="4206240" cy="27432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Question</a:t>
            </a:r>
            <a:endParaRPr lang="en-US" sz="1400" dirty="0"/>
          </a:p>
        </p:txBody>
      </p:sp>
      <p:sp>
        <p:nvSpPr>
          <p:cNvPr id="6" name="Text 4"/>
          <p:cNvSpPr txBox="1"/>
          <p:nvPr/>
        </p:nvSpPr>
        <p:spPr>
          <a:xfrm>
            <a:off x="4663440" y="960120"/>
            <a:ext cx="4023360" cy="27432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Answer</a:t>
            </a:r>
            <a:endParaRPr lang="en-US" sz="1400" dirty="0"/>
          </a:p>
        </p:txBody>
      </p:sp>
      <p:sp>
        <p:nvSpPr>
          <p:cNvPr id="7" name="Card"/>
          <p:cNvSpPr/>
          <p:nvPr/>
        </p:nvSpPr>
        <p:spPr>
          <a:xfrm>
            <a:off x="457200" y="1325880"/>
            <a:ext cx="4206240" cy="603504"/>
          </a:xfrm>
          <a:prstGeom prst="roundRect">
            <a:avLst>
              <a:gd name="adj" fmla="val 18182"/>
            </a:avLst>
          </a:prstGeom>
          <a:solidFill>
            <a:srgbClr val="EEF2F7"/>
          </a:solidFill>
          <a:ln w="9525">
            <a:solidFill>
              <a:srgbClr val="C5D1E3"/>
            </a:solidFill>
            <a:prstDash val="solid"/>
          </a:ln>
        </p:spPr>
        <p:txBody>
          <a:bodyPr/>
          <a:lstStyle/>
          <a:p>
            <a:endParaRPr lang="en-GB"/>
          </a:p>
        </p:txBody>
      </p:sp>
      <p:sp>
        <p:nvSpPr>
          <p:cNvPr id="8" name="Number 1"/>
          <p:cNvSpPr/>
          <p:nvPr/>
        </p:nvSpPr>
        <p:spPr>
          <a:xfrm>
            <a:off x="548640" y="1444752"/>
            <a:ext cx="365760" cy="365760"/>
          </a:xfrm>
          <a:prstGeom prst="ellipse">
            <a:avLst/>
          </a:prstGeom>
          <a:solidFill>
            <a:srgbClr val="002D6A"/>
          </a:solidFill>
          <a:ln w="12700">
            <a:solidFill>
              <a:srgbClr val="002D6A"/>
            </a:solidFill>
            <a:prstDash val="solid"/>
          </a:ln>
        </p:spPr>
        <p:txBody>
          <a:bodyPr/>
          <a:lstStyle/>
          <a:p>
            <a:endParaRPr lang="en-GB"/>
          </a:p>
        </p:txBody>
      </p:sp>
      <p:sp>
        <p:nvSpPr>
          <p:cNvPr id="9" name="Text 7"/>
          <p:cNvSpPr txBox="1"/>
          <p:nvPr/>
        </p:nvSpPr>
        <p:spPr>
          <a:xfrm>
            <a:off x="548640" y="1444752"/>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1005840" y="1325880"/>
            <a:ext cx="3566160" cy="603504"/>
          </a:xfrm>
          <a:prstGeom prst="rect">
            <a:avLst/>
          </a:prstGeom>
          <a:noFill/>
          <a:ln/>
        </p:spPr>
        <p:txBody>
          <a:bodyPr wrap="square" lIns="0" tIns="0" rIns="0" bIns="0" rtlCol="0" anchor="ctr"/>
          <a:lstStyle/>
          <a:p>
            <a:pPr marL="0" indent="0">
              <a:buNone/>
            </a:pPr>
            <a:r>
              <a:rPr lang="en-US" sz="1400" dirty="0">
                <a:solidFill>
                  <a:srgbClr val="22262E"/>
                </a:solidFill>
                <a:latin typeface="Arial" pitchFamily="34" charset="0"/>
                <a:ea typeface="Arial" pitchFamily="34" charset="-122"/>
                <a:cs typeface="Arial" pitchFamily="34" charset="-120"/>
              </a:rPr>
              <a:t>What is a pixel?</a:t>
            </a:r>
            <a:endParaRPr lang="en-US" sz="1400" dirty="0"/>
          </a:p>
        </p:txBody>
      </p:sp>
      <p:sp>
        <p:nvSpPr>
          <p:cNvPr id="11" name="@1 Answer card"/>
          <p:cNvSpPr/>
          <p:nvPr/>
        </p:nvSpPr>
        <p:spPr>
          <a:xfrm>
            <a:off x="4846320" y="1325880"/>
            <a:ext cx="3840480" cy="603504"/>
          </a:xfrm>
          <a:prstGeom prst="roundRect">
            <a:avLst>
              <a:gd name="adj" fmla="val 18182"/>
            </a:avLst>
          </a:prstGeom>
          <a:solidFill>
            <a:srgbClr val="FFFFFF"/>
          </a:solidFill>
          <a:ln w="15875">
            <a:solidFill>
              <a:srgbClr val="002D6A"/>
            </a:solidFill>
            <a:prstDash val="solid"/>
          </a:ln>
        </p:spPr>
        <p:txBody>
          <a:bodyPr/>
          <a:lstStyle/>
          <a:p>
            <a:endParaRPr lang="en-GB"/>
          </a:p>
        </p:txBody>
      </p:sp>
      <p:sp>
        <p:nvSpPr>
          <p:cNvPr id="12" name="@1 addText"/>
          <p:cNvSpPr txBox="1"/>
          <p:nvPr/>
        </p:nvSpPr>
        <p:spPr>
          <a:xfrm>
            <a:off x="4983480" y="1325880"/>
            <a:ext cx="3611880" cy="603504"/>
          </a:xfrm>
          <a:prstGeom prst="rect">
            <a:avLst/>
          </a:prstGeom>
          <a:noFill/>
          <a:ln/>
        </p:spPr>
        <p:txBody>
          <a:bodyPr wrap="square" lIns="0" tIns="0" rIns="0" bIns="0" rtlCol="0" anchor="ctr"/>
          <a:lstStyle/>
          <a:p>
            <a:pPr marL="0" indent="0">
              <a:buNone/>
            </a:pPr>
            <a:r>
              <a:rPr lang="en-US" sz="1300" b="1" dirty="0">
                <a:solidFill>
                  <a:srgbClr val="002D6A"/>
                </a:solidFill>
                <a:latin typeface="Arial" pitchFamily="34" charset="0"/>
                <a:ea typeface="Arial" pitchFamily="34" charset="-122"/>
                <a:cs typeface="Arial" pitchFamily="34" charset="-120"/>
              </a:rPr>
              <a:t>One tiny square of colour in a picture</a:t>
            </a:r>
            <a:endParaRPr lang="en-US" sz="1300" dirty="0"/>
          </a:p>
        </p:txBody>
      </p:sp>
      <p:sp>
        <p:nvSpPr>
          <p:cNvPr id="13" name="Card"/>
          <p:cNvSpPr/>
          <p:nvPr/>
        </p:nvSpPr>
        <p:spPr>
          <a:xfrm>
            <a:off x="457200" y="2002536"/>
            <a:ext cx="4206240" cy="603504"/>
          </a:xfrm>
          <a:prstGeom prst="roundRect">
            <a:avLst>
              <a:gd name="adj" fmla="val 18182"/>
            </a:avLst>
          </a:prstGeom>
          <a:solidFill>
            <a:srgbClr val="EEF2F7"/>
          </a:solidFill>
          <a:ln w="9525">
            <a:solidFill>
              <a:srgbClr val="C5D1E3"/>
            </a:solidFill>
            <a:prstDash val="solid"/>
          </a:ln>
        </p:spPr>
        <p:txBody>
          <a:bodyPr/>
          <a:lstStyle/>
          <a:p>
            <a:endParaRPr lang="en-GB"/>
          </a:p>
        </p:txBody>
      </p:sp>
      <p:sp>
        <p:nvSpPr>
          <p:cNvPr id="14" name="Number 2"/>
          <p:cNvSpPr/>
          <p:nvPr/>
        </p:nvSpPr>
        <p:spPr>
          <a:xfrm>
            <a:off x="548640" y="2121408"/>
            <a:ext cx="365760" cy="365760"/>
          </a:xfrm>
          <a:prstGeom prst="ellipse">
            <a:avLst/>
          </a:prstGeom>
          <a:solidFill>
            <a:srgbClr val="002D6A"/>
          </a:solidFill>
          <a:ln w="12700">
            <a:solidFill>
              <a:srgbClr val="002D6A"/>
            </a:solidFill>
            <a:prstDash val="solid"/>
          </a:ln>
        </p:spPr>
        <p:txBody>
          <a:bodyPr/>
          <a:lstStyle/>
          <a:p>
            <a:endParaRPr lang="en-GB"/>
          </a:p>
        </p:txBody>
      </p:sp>
      <p:sp>
        <p:nvSpPr>
          <p:cNvPr id="15" name="Text 13"/>
          <p:cNvSpPr txBox="1"/>
          <p:nvPr/>
        </p:nvSpPr>
        <p:spPr>
          <a:xfrm>
            <a:off x="548640" y="212140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txBox="1"/>
          <p:nvPr/>
        </p:nvSpPr>
        <p:spPr>
          <a:xfrm>
            <a:off x="1005840" y="2002536"/>
            <a:ext cx="3566160" cy="603504"/>
          </a:xfrm>
          <a:prstGeom prst="rect">
            <a:avLst/>
          </a:prstGeom>
          <a:noFill/>
          <a:ln/>
        </p:spPr>
        <p:txBody>
          <a:bodyPr wrap="square" lIns="0" tIns="0" rIns="0" bIns="0" rtlCol="0" anchor="ctr"/>
          <a:lstStyle/>
          <a:p>
            <a:pPr marL="0" indent="0">
              <a:buNone/>
            </a:pPr>
            <a:r>
              <a:rPr lang="en-US" sz="1400" dirty="0">
                <a:solidFill>
                  <a:srgbClr val="22262E"/>
                </a:solidFill>
                <a:latin typeface="Arial" pitchFamily="34" charset="0"/>
                <a:ea typeface="Arial" pitchFamily="34" charset="-122"/>
                <a:cs typeface="Arial" pitchFamily="34" charset="-120"/>
              </a:rPr>
              <a:t>What do the letters RGB stand for?</a:t>
            </a:r>
            <a:endParaRPr lang="en-US" sz="1400" dirty="0"/>
          </a:p>
        </p:txBody>
      </p:sp>
      <p:sp>
        <p:nvSpPr>
          <p:cNvPr id="17" name="@2 Answer card"/>
          <p:cNvSpPr/>
          <p:nvPr/>
        </p:nvSpPr>
        <p:spPr>
          <a:xfrm>
            <a:off x="4846320" y="2002536"/>
            <a:ext cx="3840480" cy="603504"/>
          </a:xfrm>
          <a:prstGeom prst="roundRect">
            <a:avLst>
              <a:gd name="adj" fmla="val 18182"/>
            </a:avLst>
          </a:prstGeom>
          <a:solidFill>
            <a:srgbClr val="FFFFFF"/>
          </a:solidFill>
          <a:ln w="15875">
            <a:solidFill>
              <a:srgbClr val="002D6A"/>
            </a:solidFill>
            <a:prstDash val="solid"/>
          </a:ln>
        </p:spPr>
        <p:txBody>
          <a:bodyPr/>
          <a:lstStyle/>
          <a:p>
            <a:endParaRPr lang="en-GB"/>
          </a:p>
        </p:txBody>
      </p:sp>
      <p:sp>
        <p:nvSpPr>
          <p:cNvPr id="18" name="@2 addText"/>
          <p:cNvSpPr txBox="1"/>
          <p:nvPr/>
        </p:nvSpPr>
        <p:spPr>
          <a:xfrm>
            <a:off x="4983480" y="2002536"/>
            <a:ext cx="3611880" cy="603504"/>
          </a:xfrm>
          <a:prstGeom prst="rect">
            <a:avLst/>
          </a:prstGeom>
          <a:noFill/>
          <a:ln/>
        </p:spPr>
        <p:txBody>
          <a:bodyPr wrap="square" lIns="0" tIns="0" rIns="0" bIns="0" rtlCol="0" anchor="ctr"/>
          <a:lstStyle/>
          <a:p>
            <a:pPr marL="0" indent="0">
              <a:buNone/>
            </a:pPr>
            <a:r>
              <a:rPr lang="en-US" sz="1300" b="1" dirty="0">
                <a:solidFill>
                  <a:srgbClr val="002D6A"/>
                </a:solidFill>
                <a:latin typeface="Arial" pitchFamily="34" charset="0"/>
                <a:ea typeface="Arial" pitchFamily="34" charset="-122"/>
                <a:cs typeface="Arial" pitchFamily="34" charset="-120"/>
              </a:rPr>
              <a:t>Red, green, blue</a:t>
            </a:r>
            <a:endParaRPr lang="en-US" sz="1300" dirty="0"/>
          </a:p>
        </p:txBody>
      </p:sp>
      <p:sp>
        <p:nvSpPr>
          <p:cNvPr id="19" name="Card"/>
          <p:cNvSpPr/>
          <p:nvPr/>
        </p:nvSpPr>
        <p:spPr>
          <a:xfrm>
            <a:off x="457200" y="2679192"/>
            <a:ext cx="4206240" cy="603504"/>
          </a:xfrm>
          <a:prstGeom prst="roundRect">
            <a:avLst>
              <a:gd name="adj" fmla="val 18182"/>
            </a:avLst>
          </a:prstGeom>
          <a:solidFill>
            <a:srgbClr val="EEF2F7"/>
          </a:solidFill>
          <a:ln w="9525">
            <a:solidFill>
              <a:srgbClr val="C5D1E3"/>
            </a:solidFill>
            <a:prstDash val="solid"/>
          </a:ln>
        </p:spPr>
        <p:txBody>
          <a:bodyPr/>
          <a:lstStyle/>
          <a:p>
            <a:endParaRPr lang="en-GB"/>
          </a:p>
        </p:txBody>
      </p:sp>
      <p:sp>
        <p:nvSpPr>
          <p:cNvPr id="20" name="Number 3"/>
          <p:cNvSpPr/>
          <p:nvPr/>
        </p:nvSpPr>
        <p:spPr>
          <a:xfrm>
            <a:off x="548640" y="2798064"/>
            <a:ext cx="365760" cy="365760"/>
          </a:xfrm>
          <a:prstGeom prst="ellipse">
            <a:avLst/>
          </a:prstGeom>
          <a:solidFill>
            <a:srgbClr val="002D6A"/>
          </a:solidFill>
          <a:ln w="12700">
            <a:solidFill>
              <a:srgbClr val="002D6A"/>
            </a:solidFill>
            <a:prstDash val="solid"/>
          </a:ln>
        </p:spPr>
        <p:txBody>
          <a:bodyPr/>
          <a:lstStyle/>
          <a:p>
            <a:endParaRPr lang="en-GB"/>
          </a:p>
        </p:txBody>
      </p:sp>
      <p:sp>
        <p:nvSpPr>
          <p:cNvPr id="21" name="Text 19"/>
          <p:cNvSpPr txBox="1"/>
          <p:nvPr/>
        </p:nvSpPr>
        <p:spPr>
          <a:xfrm>
            <a:off x="548640" y="2798064"/>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20"/>
          <p:cNvSpPr txBox="1"/>
          <p:nvPr/>
        </p:nvSpPr>
        <p:spPr>
          <a:xfrm>
            <a:off x="1005840" y="2679192"/>
            <a:ext cx="3566160" cy="603504"/>
          </a:xfrm>
          <a:prstGeom prst="rect">
            <a:avLst/>
          </a:prstGeom>
          <a:noFill/>
          <a:ln/>
        </p:spPr>
        <p:txBody>
          <a:bodyPr wrap="square" lIns="0" tIns="0" rIns="0" bIns="0" rtlCol="0" anchor="ctr"/>
          <a:lstStyle/>
          <a:p>
            <a:pPr marL="0" indent="0">
              <a:buNone/>
            </a:pPr>
            <a:r>
              <a:rPr lang="en-US" sz="1400" dirty="0">
                <a:solidFill>
                  <a:srgbClr val="22262E"/>
                </a:solidFill>
                <a:latin typeface="Arial" pitchFamily="34" charset="0"/>
                <a:ea typeface="Arial" pitchFamily="34" charset="-122"/>
                <a:cs typeface="Arial" pitchFamily="34" charset="-120"/>
              </a:rPr>
              <a:t>What is the biggest number 8 bits can store?</a:t>
            </a:r>
            <a:endParaRPr lang="en-US" sz="1400" dirty="0"/>
          </a:p>
        </p:txBody>
      </p:sp>
      <p:sp>
        <p:nvSpPr>
          <p:cNvPr id="23" name="@3 Answer card"/>
          <p:cNvSpPr/>
          <p:nvPr/>
        </p:nvSpPr>
        <p:spPr>
          <a:xfrm>
            <a:off x="4846320" y="2679192"/>
            <a:ext cx="3840480" cy="603504"/>
          </a:xfrm>
          <a:prstGeom prst="roundRect">
            <a:avLst>
              <a:gd name="adj" fmla="val 18182"/>
            </a:avLst>
          </a:prstGeom>
          <a:solidFill>
            <a:srgbClr val="FFFFFF"/>
          </a:solidFill>
          <a:ln w="15875">
            <a:solidFill>
              <a:srgbClr val="002D6A"/>
            </a:solidFill>
            <a:prstDash val="solid"/>
          </a:ln>
        </p:spPr>
        <p:txBody>
          <a:bodyPr/>
          <a:lstStyle/>
          <a:p>
            <a:endParaRPr lang="en-GB"/>
          </a:p>
        </p:txBody>
      </p:sp>
      <p:sp>
        <p:nvSpPr>
          <p:cNvPr id="24" name="@3 addText"/>
          <p:cNvSpPr txBox="1"/>
          <p:nvPr/>
        </p:nvSpPr>
        <p:spPr>
          <a:xfrm>
            <a:off x="4983480" y="2679192"/>
            <a:ext cx="3611880" cy="603504"/>
          </a:xfrm>
          <a:prstGeom prst="rect">
            <a:avLst/>
          </a:prstGeom>
          <a:noFill/>
          <a:ln/>
        </p:spPr>
        <p:txBody>
          <a:bodyPr wrap="square" lIns="0" tIns="0" rIns="0" bIns="0" rtlCol="0" anchor="ctr"/>
          <a:lstStyle/>
          <a:p>
            <a:pPr marL="0" indent="0">
              <a:buNone/>
            </a:pPr>
            <a:r>
              <a:rPr lang="en-US" sz="1300" b="1" dirty="0">
                <a:solidFill>
                  <a:srgbClr val="002D6A"/>
                </a:solidFill>
                <a:latin typeface="Arial" pitchFamily="34" charset="0"/>
                <a:ea typeface="Arial" pitchFamily="34" charset="-122"/>
                <a:cs typeface="Arial" pitchFamily="34" charset="-120"/>
              </a:rPr>
              <a:t>255 (0 to 255 is 256 values)</a:t>
            </a:r>
            <a:endParaRPr lang="en-US" sz="1300" dirty="0"/>
          </a:p>
        </p:txBody>
      </p:sp>
      <p:sp>
        <p:nvSpPr>
          <p:cNvPr id="25" name="Card"/>
          <p:cNvSpPr/>
          <p:nvPr/>
        </p:nvSpPr>
        <p:spPr>
          <a:xfrm>
            <a:off x="457200" y="3355848"/>
            <a:ext cx="4206240" cy="603504"/>
          </a:xfrm>
          <a:prstGeom prst="roundRect">
            <a:avLst>
              <a:gd name="adj" fmla="val 18182"/>
            </a:avLst>
          </a:prstGeom>
          <a:solidFill>
            <a:srgbClr val="EEF2F7"/>
          </a:solidFill>
          <a:ln w="9525">
            <a:solidFill>
              <a:srgbClr val="C5D1E3"/>
            </a:solidFill>
            <a:prstDash val="solid"/>
          </a:ln>
        </p:spPr>
        <p:txBody>
          <a:bodyPr/>
          <a:lstStyle/>
          <a:p>
            <a:endParaRPr lang="en-GB"/>
          </a:p>
        </p:txBody>
      </p:sp>
      <p:sp>
        <p:nvSpPr>
          <p:cNvPr id="26" name="Number 4"/>
          <p:cNvSpPr/>
          <p:nvPr/>
        </p:nvSpPr>
        <p:spPr>
          <a:xfrm>
            <a:off x="548640" y="3474720"/>
            <a:ext cx="365760" cy="365760"/>
          </a:xfrm>
          <a:prstGeom prst="ellipse">
            <a:avLst/>
          </a:prstGeom>
          <a:solidFill>
            <a:srgbClr val="002D6A"/>
          </a:solidFill>
          <a:ln w="12700">
            <a:solidFill>
              <a:srgbClr val="002D6A"/>
            </a:solidFill>
            <a:prstDash val="solid"/>
          </a:ln>
        </p:spPr>
        <p:txBody>
          <a:bodyPr/>
          <a:lstStyle/>
          <a:p>
            <a:endParaRPr lang="en-GB"/>
          </a:p>
        </p:txBody>
      </p:sp>
      <p:sp>
        <p:nvSpPr>
          <p:cNvPr id="27" name="Text 25"/>
          <p:cNvSpPr txBox="1"/>
          <p:nvPr/>
        </p:nvSpPr>
        <p:spPr>
          <a:xfrm>
            <a:off x="548640" y="34747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8" name="Text 26"/>
          <p:cNvSpPr txBox="1"/>
          <p:nvPr/>
        </p:nvSpPr>
        <p:spPr>
          <a:xfrm>
            <a:off x="1005840" y="3355848"/>
            <a:ext cx="3566160" cy="603504"/>
          </a:xfrm>
          <a:prstGeom prst="rect">
            <a:avLst/>
          </a:prstGeom>
          <a:noFill/>
          <a:ln/>
        </p:spPr>
        <p:txBody>
          <a:bodyPr wrap="square" lIns="0" tIns="0" rIns="0" bIns="0" rtlCol="0" anchor="ctr"/>
          <a:lstStyle/>
          <a:p>
            <a:pPr marL="0" indent="0">
              <a:buNone/>
            </a:pPr>
            <a:r>
              <a:rPr lang="en-US" sz="1400" dirty="0">
                <a:solidFill>
                  <a:srgbClr val="22262E"/>
                </a:solidFill>
                <a:latin typeface="Arial" pitchFamily="34" charset="0"/>
                <a:ea typeface="Arial" pitchFamily="34" charset="-122"/>
                <a:cs typeface="Arial" pitchFamily="34" charset="-120"/>
              </a:rPr>
              <a:t>Which keyword sends a value back out of a function?</a:t>
            </a:r>
            <a:endParaRPr lang="en-US" sz="1400" dirty="0"/>
          </a:p>
        </p:txBody>
      </p:sp>
      <p:sp>
        <p:nvSpPr>
          <p:cNvPr id="29" name="@4 Answer card"/>
          <p:cNvSpPr/>
          <p:nvPr/>
        </p:nvSpPr>
        <p:spPr>
          <a:xfrm>
            <a:off x="4846320" y="3355848"/>
            <a:ext cx="3840480" cy="603504"/>
          </a:xfrm>
          <a:prstGeom prst="roundRect">
            <a:avLst>
              <a:gd name="adj" fmla="val 18182"/>
            </a:avLst>
          </a:prstGeom>
          <a:solidFill>
            <a:srgbClr val="FFFFFF"/>
          </a:solidFill>
          <a:ln w="15875">
            <a:solidFill>
              <a:srgbClr val="002D6A"/>
            </a:solidFill>
            <a:prstDash val="solid"/>
          </a:ln>
        </p:spPr>
        <p:txBody>
          <a:bodyPr/>
          <a:lstStyle/>
          <a:p>
            <a:endParaRPr lang="en-GB"/>
          </a:p>
        </p:txBody>
      </p:sp>
      <p:sp>
        <p:nvSpPr>
          <p:cNvPr id="30" name="@4 addText"/>
          <p:cNvSpPr txBox="1"/>
          <p:nvPr/>
        </p:nvSpPr>
        <p:spPr>
          <a:xfrm>
            <a:off x="4983480" y="3355848"/>
            <a:ext cx="3611880" cy="603504"/>
          </a:xfrm>
          <a:prstGeom prst="rect">
            <a:avLst/>
          </a:prstGeom>
          <a:noFill/>
          <a:ln/>
        </p:spPr>
        <p:txBody>
          <a:bodyPr wrap="square" lIns="0" tIns="0" rIns="0" bIns="0" rtlCol="0" anchor="ctr"/>
          <a:lstStyle/>
          <a:p>
            <a:pPr marL="0" indent="0">
              <a:buNone/>
            </a:pPr>
            <a:r>
              <a:rPr lang="en-US" sz="1300" b="1" dirty="0">
                <a:solidFill>
                  <a:srgbClr val="002D6A"/>
                </a:solidFill>
                <a:latin typeface="Arial" pitchFamily="34" charset="0"/>
                <a:ea typeface="Arial" pitchFamily="34" charset="-122"/>
                <a:cs typeface="Arial" pitchFamily="34" charset="-120"/>
              </a:rPr>
              <a:t>return</a:t>
            </a:r>
            <a:endParaRPr lang="en-US" sz="1300" dirty="0"/>
          </a:p>
        </p:txBody>
      </p:sp>
      <p:sp>
        <p:nvSpPr>
          <p:cNvPr id="31" name="Card"/>
          <p:cNvSpPr/>
          <p:nvPr/>
        </p:nvSpPr>
        <p:spPr>
          <a:xfrm>
            <a:off x="457200" y="4032504"/>
            <a:ext cx="4206240" cy="603504"/>
          </a:xfrm>
          <a:prstGeom prst="roundRect">
            <a:avLst>
              <a:gd name="adj" fmla="val 18182"/>
            </a:avLst>
          </a:prstGeom>
          <a:solidFill>
            <a:srgbClr val="EEF2F7"/>
          </a:solidFill>
          <a:ln w="9525">
            <a:solidFill>
              <a:srgbClr val="C5D1E3"/>
            </a:solidFill>
            <a:prstDash val="solid"/>
          </a:ln>
        </p:spPr>
        <p:txBody>
          <a:bodyPr/>
          <a:lstStyle/>
          <a:p>
            <a:endParaRPr lang="en-GB"/>
          </a:p>
        </p:txBody>
      </p:sp>
      <p:sp>
        <p:nvSpPr>
          <p:cNvPr id="32" name="Number 5"/>
          <p:cNvSpPr/>
          <p:nvPr/>
        </p:nvSpPr>
        <p:spPr>
          <a:xfrm>
            <a:off x="548640" y="4151376"/>
            <a:ext cx="365760" cy="365760"/>
          </a:xfrm>
          <a:prstGeom prst="ellipse">
            <a:avLst/>
          </a:prstGeom>
          <a:solidFill>
            <a:srgbClr val="002D6A"/>
          </a:solidFill>
          <a:ln w="12700">
            <a:solidFill>
              <a:srgbClr val="002D6A"/>
            </a:solidFill>
            <a:prstDash val="solid"/>
          </a:ln>
        </p:spPr>
        <p:txBody>
          <a:bodyPr/>
          <a:lstStyle/>
          <a:p>
            <a:endParaRPr lang="en-GB"/>
          </a:p>
        </p:txBody>
      </p:sp>
      <p:sp>
        <p:nvSpPr>
          <p:cNvPr id="33" name="Text 31"/>
          <p:cNvSpPr txBox="1"/>
          <p:nvPr/>
        </p:nvSpPr>
        <p:spPr>
          <a:xfrm>
            <a:off x="548640" y="415137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4" name="Text 32"/>
          <p:cNvSpPr txBox="1"/>
          <p:nvPr/>
        </p:nvSpPr>
        <p:spPr>
          <a:xfrm>
            <a:off x="1005840" y="4032504"/>
            <a:ext cx="3566160" cy="603504"/>
          </a:xfrm>
          <a:prstGeom prst="rect">
            <a:avLst/>
          </a:prstGeom>
          <a:noFill/>
          <a:ln/>
        </p:spPr>
        <p:txBody>
          <a:bodyPr wrap="square" lIns="0" tIns="0" rIns="0" bIns="0" rtlCol="0" anchor="ctr"/>
          <a:lstStyle/>
          <a:p>
            <a:pPr marL="0" indent="0">
              <a:buNone/>
            </a:pPr>
            <a:r>
              <a:rPr lang="en-US" sz="1400" dirty="0">
                <a:solidFill>
                  <a:srgbClr val="22262E"/>
                </a:solidFill>
                <a:latin typeface="Arial" pitchFamily="34" charset="0"/>
                <a:ea typeface="Arial" pitchFamily="34" charset="-122"/>
                <a:cs typeface="Arial" pitchFamily="34" charset="-120"/>
              </a:rPr>
              <a:t>What does % do in Python?</a:t>
            </a:r>
            <a:endParaRPr lang="en-US" sz="1400" dirty="0"/>
          </a:p>
        </p:txBody>
      </p:sp>
      <p:sp>
        <p:nvSpPr>
          <p:cNvPr id="35" name="@5 Answer card"/>
          <p:cNvSpPr/>
          <p:nvPr/>
        </p:nvSpPr>
        <p:spPr>
          <a:xfrm>
            <a:off x="4846320" y="4032504"/>
            <a:ext cx="3840480" cy="603504"/>
          </a:xfrm>
          <a:prstGeom prst="roundRect">
            <a:avLst>
              <a:gd name="adj" fmla="val 18182"/>
            </a:avLst>
          </a:prstGeom>
          <a:solidFill>
            <a:srgbClr val="FFFFFF"/>
          </a:solidFill>
          <a:ln w="15875">
            <a:solidFill>
              <a:srgbClr val="002D6A"/>
            </a:solidFill>
            <a:prstDash val="solid"/>
          </a:ln>
        </p:spPr>
        <p:txBody>
          <a:bodyPr/>
          <a:lstStyle/>
          <a:p>
            <a:endParaRPr lang="en-GB"/>
          </a:p>
        </p:txBody>
      </p:sp>
      <p:sp>
        <p:nvSpPr>
          <p:cNvPr id="36" name="@5 addText"/>
          <p:cNvSpPr txBox="1"/>
          <p:nvPr/>
        </p:nvSpPr>
        <p:spPr>
          <a:xfrm>
            <a:off x="4983480" y="4032504"/>
            <a:ext cx="3611880" cy="603504"/>
          </a:xfrm>
          <a:prstGeom prst="rect">
            <a:avLst/>
          </a:prstGeom>
          <a:noFill/>
          <a:ln/>
        </p:spPr>
        <p:txBody>
          <a:bodyPr wrap="square" lIns="0" tIns="0" rIns="0" bIns="0" rtlCol="0" anchor="ctr"/>
          <a:lstStyle/>
          <a:p>
            <a:pPr marL="0" indent="0">
              <a:buNone/>
            </a:pPr>
            <a:r>
              <a:rPr lang="en-US" sz="1300" b="1" dirty="0">
                <a:solidFill>
                  <a:srgbClr val="002D6A"/>
                </a:solidFill>
                <a:latin typeface="Arial" pitchFamily="34" charset="0"/>
                <a:ea typeface="Arial" pitchFamily="34" charset="-122"/>
                <a:cs typeface="Arial" pitchFamily="34" charset="-120"/>
              </a:rPr>
              <a:t>Gives the remainder after dividing</a:t>
            </a:r>
            <a:endParaRPr lang="en-US" sz="1300" dirty="0"/>
          </a:p>
        </p:txBody>
      </p:sp>
      <p:sp>
        <p:nvSpPr>
          <p:cNvPr id="3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2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2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2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2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200"/>
                                        <p:tgtEl>
                                          <p:spTgt spid="3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2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7" grpId="0" animBg="1"/>
      <p:bldP spid="18" grpId="0" animBg="1"/>
      <p:bldP spid="23" grpId="0" animBg="1"/>
      <p:bldP spid="24" grpId="0" animBg="1"/>
      <p:bldP spid="29" grpId="0" animBg="1"/>
      <p:bldP spid="30" grpId="0" animBg="1"/>
      <p:bldP spid="35" grpId="0" animBg="1"/>
      <p:bldP spid="3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What Do You See?</a:t>
            </a:r>
            <a:endParaRPr lang="en-US" sz="3400" dirty="0"/>
          </a:p>
        </p:txBody>
      </p:sp>
      <p:pic>
        <p:nvPicPr>
          <p:cNvPr id="4"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5" name="Text 2"/>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10 min talk</a:t>
            </a:r>
            <a:endParaRPr lang="en-US" sz="2000" dirty="0"/>
          </a:p>
        </p:txBody>
      </p:sp>
      <p:pic>
        <p:nvPicPr>
          <p:cNvPr id="6" name="Image 1" descr="Photo of a black cow standing by a red brick wall"/>
          <p:cNvPicPr>
            <a:picLocks noChangeAspect="1"/>
          </p:cNvPicPr>
          <p:nvPr/>
        </p:nvPicPr>
        <p:blipFill>
          <a:blip r:embed="rId4"/>
          <a:stretch>
            <a:fillRect/>
          </a:stretch>
        </p:blipFill>
        <p:spPr>
          <a:xfrm>
            <a:off x="4937760" y="731520"/>
            <a:ext cx="3749040" cy="3749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You See a Cow. Python Sees...</a:t>
            </a:r>
            <a:endParaRPr lang="en-US" sz="3000" dirty="0"/>
          </a:p>
        </p:txBody>
      </p:sp>
      <p:pic>
        <p:nvPicPr>
          <p:cNvPr id="3" name="Image 0" descr="Photo of a black cow standing by a red brick wall"/>
          <p:cNvPicPr>
            <a:picLocks noChangeAspect="1"/>
          </p:cNvPicPr>
          <p:nvPr/>
        </p:nvPicPr>
        <p:blipFill>
          <a:blip r:embed="rId3"/>
          <a:stretch>
            <a:fillRect/>
          </a:stretch>
        </p:blipFill>
        <p:spPr>
          <a:xfrm>
            <a:off x="457200" y="1188720"/>
            <a:ext cx="3108960" cy="3108960"/>
          </a:xfrm>
          <a:prstGeom prst="rect">
            <a:avLst/>
          </a:prstGeom>
        </p:spPr>
      </p:pic>
      <p:sp>
        <p:nvSpPr>
          <p:cNvPr id="4" name="@1 dot"/>
          <p:cNvSpPr/>
          <p:nvPr/>
        </p:nvSpPr>
        <p:spPr>
          <a:xfrm>
            <a:off x="3931920" y="1408176"/>
            <a:ext cx="109728" cy="109728"/>
          </a:xfrm>
          <a:prstGeom prst="ellipse">
            <a:avLst/>
          </a:prstGeom>
          <a:solidFill>
            <a:srgbClr val="002D6A"/>
          </a:solidFill>
          <a:ln w="12700">
            <a:solidFill>
              <a:srgbClr val="002D6A"/>
            </a:solidFill>
            <a:prstDash val="solid"/>
          </a:ln>
        </p:spPr>
        <p:txBody>
          <a:bodyPr/>
          <a:lstStyle/>
          <a:p>
            <a:endParaRPr lang="en-GB"/>
          </a:p>
        </p:txBody>
      </p:sp>
      <p:sp>
        <p:nvSpPr>
          <p:cNvPr id="5" name="@1 addText"/>
          <p:cNvSpPr txBox="1"/>
          <p:nvPr/>
        </p:nvSpPr>
        <p:spPr>
          <a:xfrm>
            <a:off x="4206240" y="1280160"/>
            <a:ext cx="4480560" cy="667512"/>
          </a:xfrm>
          <a:prstGeom prst="rect">
            <a:avLst/>
          </a:prstGeom>
          <a:noFill/>
          <a:ln/>
        </p:spPr>
        <p:txBody>
          <a:bodyPr wrap="square" lIns="0" tIns="0" rIns="0" bIns="0" rtlCol="0" anchor="t"/>
          <a:lstStyle/>
          <a:p>
            <a:pPr marL="0" indent="0">
              <a:buNone/>
            </a:pPr>
            <a:r>
              <a:rPr lang="en-US" sz="2000" dirty="0">
                <a:solidFill>
                  <a:srgbClr val="22262E"/>
                </a:solidFill>
                <a:latin typeface="Arial" pitchFamily="34" charset="0"/>
                <a:ea typeface="Arial" pitchFamily="34" charset="-122"/>
                <a:cs typeface="Arial" pitchFamily="34" charset="-120"/>
              </a:rPr>
              <a:t>Python has never met a cow.</a:t>
            </a:r>
            <a:endParaRPr lang="en-US" sz="2000" dirty="0"/>
          </a:p>
        </p:txBody>
      </p:sp>
      <p:sp>
        <p:nvSpPr>
          <p:cNvPr id="6" name="@2 dot"/>
          <p:cNvSpPr/>
          <p:nvPr/>
        </p:nvSpPr>
        <p:spPr>
          <a:xfrm>
            <a:off x="3931920" y="2121408"/>
            <a:ext cx="109728" cy="109728"/>
          </a:xfrm>
          <a:prstGeom prst="ellipse">
            <a:avLst/>
          </a:prstGeom>
          <a:solidFill>
            <a:srgbClr val="002D6A"/>
          </a:solidFill>
          <a:ln w="12700">
            <a:solidFill>
              <a:srgbClr val="002D6A"/>
            </a:solidFill>
            <a:prstDash val="solid"/>
          </a:ln>
        </p:spPr>
        <p:txBody>
          <a:bodyPr/>
          <a:lstStyle/>
          <a:p>
            <a:endParaRPr lang="en-GB"/>
          </a:p>
        </p:txBody>
      </p:sp>
      <p:sp>
        <p:nvSpPr>
          <p:cNvPr id="7" name="@2 addText"/>
          <p:cNvSpPr txBox="1"/>
          <p:nvPr/>
        </p:nvSpPr>
        <p:spPr>
          <a:xfrm>
            <a:off x="4206240" y="1993392"/>
            <a:ext cx="4480560" cy="667512"/>
          </a:xfrm>
          <a:prstGeom prst="rect">
            <a:avLst/>
          </a:prstGeom>
          <a:noFill/>
          <a:ln/>
        </p:spPr>
        <p:txBody>
          <a:bodyPr wrap="square" lIns="0" tIns="0" rIns="0" bIns="0" rtlCol="0" anchor="t"/>
          <a:lstStyle/>
          <a:p>
            <a:pPr marL="0" indent="0">
              <a:buNone/>
            </a:pPr>
            <a:r>
              <a:rPr lang="en-US" sz="2000" dirty="0">
                <a:solidFill>
                  <a:srgbClr val="22262E"/>
                </a:solidFill>
                <a:latin typeface="Arial" pitchFamily="34" charset="0"/>
                <a:ea typeface="Arial" pitchFamily="34" charset="-122"/>
                <a:cs typeface="Arial" pitchFamily="34" charset="-120"/>
              </a:rPr>
              <a:t>It does not know what a "photo" is.</a:t>
            </a:r>
            <a:endParaRPr lang="en-US" sz="2000" dirty="0"/>
          </a:p>
        </p:txBody>
      </p:sp>
      <p:sp>
        <p:nvSpPr>
          <p:cNvPr id="8" name="@3 dot"/>
          <p:cNvSpPr/>
          <p:nvPr/>
        </p:nvSpPr>
        <p:spPr>
          <a:xfrm>
            <a:off x="3931920" y="2834640"/>
            <a:ext cx="109728" cy="109728"/>
          </a:xfrm>
          <a:prstGeom prst="ellipse">
            <a:avLst/>
          </a:prstGeom>
          <a:solidFill>
            <a:srgbClr val="002D6A"/>
          </a:solidFill>
          <a:ln w="12700">
            <a:solidFill>
              <a:srgbClr val="002D6A"/>
            </a:solidFill>
            <a:prstDash val="solid"/>
          </a:ln>
        </p:spPr>
        <p:txBody>
          <a:bodyPr/>
          <a:lstStyle/>
          <a:p>
            <a:endParaRPr lang="en-GB"/>
          </a:p>
        </p:txBody>
      </p:sp>
      <p:sp>
        <p:nvSpPr>
          <p:cNvPr id="9" name="@3 addText"/>
          <p:cNvSpPr txBox="1"/>
          <p:nvPr/>
        </p:nvSpPr>
        <p:spPr>
          <a:xfrm>
            <a:off x="4206240" y="2706624"/>
            <a:ext cx="4480560" cy="667512"/>
          </a:xfrm>
          <a:prstGeom prst="rect">
            <a:avLst/>
          </a:prstGeom>
          <a:noFill/>
          <a:ln/>
        </p:spPr>
        <p:txBody>
          <a:bodyPr wrap="square" lIns="0" tIns="0" rIns="0" bIns="0" rtlCol="0" anchor="t"/>
          <a:lstStyle/>
          <a:p>
            <a:pPr marL="0" indent="0">
              <a:buNone/>
            </a:pPr>
            <a:r>
              <a:rPr lang="en-US" sz="2000" dirty="0">
                <a:solidFill>
                  <a:srgbClr val="22262E"/>
                </a:solidFill>
                <a:latin typeface="Arial" pitchFamily="34" charset="0"/>
                <a:ea typeface="Arial" pitchFamily="34" charset="-122"/>
                <a:cs typeface="Arial" pitchFamily="34" charset="-120"/>
              </a:rPr>
              <a:t>All Python ever sees is numbers.</a:t>
            </a:r>
            <a:endParaRPr lang="en-US" sz="2000" dirty="0"/>
          </a:p>
        </p:txBody>
      </p:sp>
      <p:sp>
        <p:nvSpPr>
          <p:cNvPr id="10" name="@4 dot"/>
          <p:cNvSpPr/>
          <p:nvPr/>
        </p:nvSpPr>
        <p:spPr>
          <a:xfrm>
            <a:off x="3931920" y="3547872"/>
            <a:ext cx="109728" cy="109728"/>
          </a:xfrm>
          <a:prstGeom prst="ellipse">
            <a:avLst/>
          </a:prstGeom>
          <a:solidFill>
            <a:srgbClr val="002D6A"/>
          </a:solidFill>
          <a:ln w="12700">
            <a:solidFill>
              <a:srgbClr val="002D6A"/>
            </a:solidFill>
            <a:prstDash val="solid"/>
          </a:ln>
        </p:spPr>
        <p:txBody>
          <a:bodyPr/>
          <a:lstStyle/>
          <a:p>
            <a:endParaRPr lang="en-GB"/>
          </a:p>
        </p:txBody>
      </p:sp>
      <p:sp>
        <p:nvSpPr>
          <p:cNvPr id="11" name="@4 addText"/>
          <p:cNvSpPr txBox="1"/>
          <p:nvPr/>
        </p:nvSpPr>
        <p:spPr>
          <a:xfrm>
            <a:off x="4206240" y="3419856"/>
            <a:ext cx="4480560" cy="667512"/>
          </a:xfrm>
          <a:prstGeom prst="rect">
            <a:avLst/>
          </a:prstGeom>
          <a:noFill/>
          <a:ln/>
        </p:spPr>
        <p:txBody>
          <a:bodyPr wrap="square" lIns="0" tIns="0" rIns="0" bIns="0" rtlCol="0" anchor="t"/>
          <a:lstStyle/>
          <a:p>
            <a:pPr marL="0" indent="0">
              <a:buNone/>
            </a:pPr>
            <a:r>
              <a:rPr lang="en-US" sz="2000" dirty="0">
                <a:solidFill>
                  <a:srgbClr val="22262E"/>
                </a:solidFill>
                <a:latin typeface="Arial" pitchFamily="34" charset="0"/>
                <a:ea typeface="Arial" pitchFamily="34" charset="-122"/>
                <a:cs typeface="Arial" pitchFamily="34" charset="-120"/>
              </a:rPr>
              <a:t>So how does a program use pictures at all?</a:t>
            </a:r>
            <a:endParaRPr lang="en-US" sz="2000" dirty="0"/>
          </a:p>
        </p:txBody>
      </p:sp>
      <p:sp>
        <p:nvSpPr>
          <p:cNvPr id="12" name="Text 9"/>
          <p:cNvSpPr txBox="1"/>
          <p:nvPr/>
        </p:nvSpPr>
        <p:spPr>
          <a:xfrm>
            <a:off x="457200" y="438912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Arial" pitchFamily="34" charset="0"/>
                <a:ea typeface="Arial" pitchFamily="34" charset="-122"/>
                <a:cs typeface="Arial" pitchFamily="34" charset="-120"/>
              </a:rPr>
              <a:t>Think, pair, share: how many numbers is one photo?</a:t>
            </a:r>
            <a:endParaRPr lang="en-US" sz="14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Predict: What Numbers?</a:t>
            </a:r>
            <a:endParaRPr lang="en-US" sz="3000" dirty="0"/>
          </a:p>
        </p:txBody>
      </p:sp>
      <p:sp>
        <p:nvSpPr>
          <p:cNvPr id="3" name="THINK PAIR SHARE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THINK PAIR SHARE</a:t>
            </a:r>
            <a:endParaRPr lang="en-US" sz="1200" dirty="0"/>
          </a:p>
        </p:txBody>
      </p:sp>
      <p:sp>
        <p:nvSpPr>
          <p:cNvPr id="5" name="Text 3"/>
          <p:cNvSpPr txBox="1"/>
          <p:nvPr/>
        </p:nvSpPr>
        <p:spPr>
          <a:xfrm>
            <a:off x="457200" y="1097280"/>
            <a:ext cx="8229600" cy="822960"/>
          </a:xfrm>
          <a:prstGeom prst="rect">
            <a:avLst/>
          </a:prstGeom>
          <a:noFill/>
          <a:ln/>
        </p:spPr>
        <p:txBody>
          <a:bodyPr wrap="square" lIns="0" tIns="0" rIns="0" bIns="0" rtlCol="0" anchor="t"/>
          <a:lstStyle/>
          <a:p>
            <a:pPr marL="0" indent="0">
              <a:buNone/>
            </a:pPr>
            <a:r>
              <a:rPr lang="en-US" sz="2000" dirty="0">
                <a:solidFill>
                  <a:srgbClr val="22262E"/>
                </a:solidFill>
                <a:latin typeface="Arial" pitchFamily="34" charset="0"/>
                <a:ea typeface="Arial" pitchFamily="34" charset="-122"/>
                <a:cs typeface="Arial" pitchFamily="34" charset="-120"/>
              </a:rPr>
              <a:t>If a picture is just numbers, how many numbers? Which numbers: big ones or small ones? Think 320x320 pixels, what about 4k resolution?</a:t>
            </a:r>
            <a:endParaRPr lang="en-US" sz="2000" dirty="0"/>
          </a:p>
        </p:txBody>
      </p:sp>
      <p:sp>
        <p:nvSpPr>
          <p:cNvPr id="6" name="@1 Card"/>
          <p:cNvSpPr/>
          <p:nvPr/>
        </p:nvSpPr>
        <p:spPr>
          <a:xfrm>
            <a:off x="457200" y="201168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7" name="@1 addText"/>
          <p:cNvSpPr txBox="1"/>
          <p:nvPr/>
        </p:nvSpPr>
        <p:spPr>
          <a:xfrm>
            <a:off x="731520" y="2011680"/>
            <a:ext cx="7680960" cy="548640"/>
          </a:xfrm>
          <a:prstGeom prst="rect">
            <a:avLst/>
          </a:prstGeom>
          <a:noFill/>
          <a:ln/>
        </p:spPr>
        <p:txBody>
          <a:bodyPr wrap="square" lIns="0" tIns="0" rIns="0" bIns="0" rtlCol="0" anchor="ctr"/>
          <a:lstStyle/>
          <a:p>
            <a:pPr marL="0" indent="0">
              <a:buNone/>
            </a:pPr>
            <a:r>
              <a:rPr lang="en-US" sz="1800" b="1" dirty="0">
                <a:solidFill>
                  <a:srgbClr val="22262E"/>
                </a:solidFill>
                <a:latin typeface="Arial" pitchFamily="34" charset="0"/>
                <a:ea typeface="Arial" pitchFamily="34" charset="-122"/>
                <a:cs typeface="Arial" pitchFamily="34" charset="-120"/>
              </a:rPr>
              <a:t>320 x 320 = 102,400 tiny squares (pixels)</a:t>
            </a:r>
            <a:endParaRPr lang="en-US" sz="1800" dirty="0"/>
          </a:p>
        </p:txBody>
      </p:sp>
      <p:sp>
        <p:nvSpPr>
          <p:cNvPr id="8" name="@2 Card"/>
          <p:cNvSpPr/>
          <p:nvPr/>
        </p:nvSpPr>
        <p:spPr>
          <a:xfrm>
            <a:off x="457200" y="265176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9" name="@2 addText"/>
          <p:cNvSpPr txBox="1"/>
          <p:nvPr/>
        </p:nvSpPr>
        <p:spPr>
          <a:xfrm>
            <a:off x="731520" y="2651760"/>
            <a:ext cx="7680960" cy="548640"/>
          </a:xfrm>
          <a:prstGeom prst="rect">
            <a:avLst/>
          </a:prstGeom>
          <a:noFill/>
          <a:ln/>
        </p:spPr>
        <p:txBody>
          <a:bodyPr wrap="square" lIns="0" tIns="0" rIns="0" bIns="0" rtlCol="0" anchor="ctr"/>
          <a:lstStyle/>
          <a:p>
            <a:pPr marL="0" indent="0">
              <a:buNone/>
            </a:pPr>
            <a:r>
              <a:rPr lang="en-US" sz="1800" b="1" dirty="0">
                <a:solidFill>
                  <a:srgbClr val="22262E"/>
                </a:solidFill>
                <a:latin typeface="Arial" pitchFamily="34" charset="0"/>
                <a:ea typeface="Arial" pitchFamily="34" charset="-122"/>
                <a:cs typeface="Arial" pitchFamily="34" charset="-120"/>
              </a:rPr>
              <a:t>3 numbers per pixel: red, green, blue</a:t>
            </a:r>
            <a:endParaRPr lang="en-US" sz="1800" dirty="0"/>
          </a:p>
        </p:txBody>
      </p:sp>
      <p:sp>
        <p:nvSpPr>
          <p:cNvPr id="10" name="@3 Card"/>
          <p:cNvSpPr/>
          <p:nvPr/>
        </p:nvSpPr>
        <p:spPr>
          <a:xfrm>
            <a:off x="457200" y="329184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1" name="@3 addText"/>
          <p:cNvSpPr txBox="1"/>
          <p:nvPr/>
        </p:nvSpPr>
        <p:spPr>
          <a:xfrm>
            <a:off x="731520" y="3291840"/>
            <a:ext cx="7680960" cy="548640"/>
          </a:xfrm>
          <a:prstGeom prst="rect">
            <a:avLst/>
          </a:prstGeom>
          <a:noFill/>
          <a:ln/>
        </p:spPr>
        <p:txBody>
          <a:bodyPr wrap="square" lIns="0" tIns="0" rIns="0" bIns="0" rtlCol="0" anchor="ctr"/>
          <a:lstStyle/>
          <a:p>
            <a:pPr marL="0" indent="0">
              <a:buNone/>
            </a:pPr>
            <a:r>
              <a:rPr lang="en-US" sz="1800" b="1" dirty="0">
                <a:solidFill>
                  <a:srgbClr val="22262E"/>
                </a:solidFill>
                <a:latin typeface="Arial" pitchFamily="34" charset="0"/>
                <a:ea typeface="Arial" pitchFamily="34" charset="-122"/>
                <a:cs typeface="Arial" pitchFamily="34" charset="-120"/>
              </a:rPr>
              <a:t>each number is between 0 and 255</a:t>
            </a:r>
            <a:endParaRPr lang="en-US" sz="1800" dirty="0"/>
          </a:p>
        </p:txBody>
      </p:sp>
      <p:sp>
        <p:nvSpPr>
          <p:cNvPr id="12" name="@4 Card"/>
          <p:cNvSpPr/>
          <p:nvPr/>
        </p:nvSpPr>
        <p:spPr>
          <a:xfrm>
            <a:off x="457200" y="3931920"/>
            <a:ext cx="8229600" cy="548640"/>
          </a:xfrm>
          <a:prstGeom prst="roundRect">
            <a:avLst>
              <a:gd name="adj" fmla="val 20000"/>
            </a:avLst>
          </a:prstGeom>
          <a:solidFill>
            <a:srgbClr val="002D6A"/>
          </a:solidFill>
          <a:ln w="9525">
            <a:solidFill>
              <a:srgbClr val="C5D1E3"/>
            </a:solidFill>
            <a:prstDash val="solid"/>
          </a:ln>
        </p:spPr>
        <p:txBody>
          <a:bodyPr/>
          <a:lstStyle/>
          <a:p>
            <a:endParaRPr lang="en-GB"/>
          </a:p>
        </p:txBody>
      </p:sp>
      <p:sp>
        <p:nvSpPr>
          <p:cNvPr id="13" name="@4 addText"/>
          <p:cNvSpPr txBox="1"/>
          <p:nvPr/>
        </p:nvSpPr>
        <p:spPr>
          <a:xfrm>
            <a:off x="731520" y="3931920"/>
            <a:ext cx="7680960" cy="548640"/>
          </a:xfrm>
          <a:prstGeom prst="rect">
            <a:avLst/>
          </a:prstGeom>
          <a:noFill/>
          <a:ln/>
        </p:spPr>
        <p:txBody>
          <a:bodyPr wrap="square" lIns="0" tIns="0" rIns="0" bIns="0" rtlCol="0" anchor="ctr"/>
          <a:lstStyle/>
          <a:p>
            <a:r>
              <a:rPr lang="en-US" sz="1800" b="1" dirty="0">
                <a:solidFill>
                  <a:srgbClr val="FFFFFF"/>
                </a:solidFill>
                <a:latin typeface="Arial" pitchFamily="34" charset="0"/>
                <a:ea typeface="Arial" pitchFamily="34" charset="-122"/>
                <a:cs typeface="Arial" pitchFamily="34" charset="-120"/>
              </a:rPr>
              <a:t>307,200 numbers for one small photo </a:t>
            </a:r>
          </a:p>
          <a:p>
            <a:r>
              <a:rPr lang="en-US" sz="1800" b="1" dirty="0">
                <a:solidFill>
                  <a:srgbClr val="FFFFFF"/>
                </a:solidFill>
                <a:latin typeface="Arial" pitchFamily="34" charset="0"/>
                <a:ea typeface="Arial" pitchFamily="34" charset="-122"/>
                <a:cs typeface="Arial" pitchFamily="34" charset="-120"/>
              </a:rPr>
              <a:t>(a 4k photo </a:t>
            </a:r>
            <a:r>
              <a:rPr lang="en-US" b="1" dirty="0">
                <a:solidFill>
                  <a:srgbClr val="FFFFFF"/>
                </a:solidFill>
                <a:latin typeface="Arial" pitchFamily="34" charset="0"/>
                <a:ea typeface="Arial" pitchFamily="34" charset="-122"/>
                <a:cs typeface="Arial" pitchFamily="34" charset="-120"/>
              </a:rPr>
              <a:t>is 3840 × 2160 pixels)</a:t>
            </a:r>
            <a:endParaRPr lang="en-US" sz="18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Image Analysis</a:t>
            </a:r>
            <a:endParaRPr lang="en-US" sz="3400" dirty="0"/>
          </a:p>
        </p:txBody>
      </p:sp>
      <p:sp>
        <p:nvSpPr>
          <p:cNvPr id="3" name="Text 1"/>
          <p:cNvSpPr txBox="1"/>
          <p:nvPr/>
        </p:nvSpPr>
        <p:spPr>
          <a:xfrm>
            <a:off x="548640" y="2743200"/>
            <a:ext cx="5852160" cy="91440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hlinkClick r:id="rId3"/>
              </a:rPr>
              <a:t>https://tinyurl.com/35yufbbb</a:t>
            </a:r>
            <a:r>
              <a:rPr lang="en-US" sz="1800" dirty="0">
                <a:solidFill>
                  <a:srgbClr val="C5D1E3"/>
                </a:solidFill>
                <a:latin typeface="Arial" pitchFamily="34" charset="0"/>
                <a:ea typeface="Arial" pitchFamily="34" charset="-122"/>
                <a:cs typeface="Arial" pitchFamily="34" charset="-120"/>
              </a:rPr>
              <a:t> &lt;- Download in preparation</a:t>
            </a:r>
            <a:endParaRPr lang="en-US" sz="1800" dirty="0"/>
          </a:p>
        </p:txBody>
      </p:sp>
      <p:sp>
        <p:nvSpPr>
          <p:cNvPr id="4" name="Text 2"/>
          <p:cNvSpPr txBox="1"/>
          <p:nvPr/>
        </p:nvSpPr>
        <p:spPr>
          <a:xfrm>
            <a:off x="548640" y="4023360"/>
            <a:ext cx="3657600" cy="365760"/>
          </a:xfrm>
          <a:prstGeom prst="rect">
            <a:avLst/>
          </a:prstGeom>
          <a:noFill/>
          <a:ln/>
        </p:spPr>
        <p:txBody>
          <a:bodyPr wrap="square" lIns="0" tIns="0" rIns="0" bIns="0" rtlCol="0" anchor="ctr"/>
          <a:lstStyle/>
          <a:p>
            <a:pPr marL="0" indent="0">
              <a:buNone/>
            </a:pPr>
            <a:r>
              <a:rPr lang="en-US" sz="1600" dirty="0">
                <a:solidFill>
                  <a:srgbClr val="A9C4E8"/>
                </a:solidFill>
                <a:latin typeface="Arial" pitchFamily="34" charset="0"/>
                <a:ea typeface="Arial" pitchFamily="34" charset="-122"/>
                <a:cs typeface="Arial" pitchFamily="34" charset="-120"/>
              </a:rPr>
              <a:t>Dr. Hughes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Explore a Picture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PART 1</a:t>
            </a:r>
            <a:endParaRPr lang="en-US" sz="2200" dirty="0"/>
          </a:p>
        </p:txBody>
      </p:sp>
      <p:sp>
        <p:nvSpPr>
          <p:cNvPr id="4" name="Card"/>
          <p:cNvSpPr/>
          <p:nvPr/>
        </p:nvSpPr>
        <p:spPr>
          <a:xfrm>
            <a:off x="548640" y="283464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5" name="Text 3"/>
          <p:cNvSpPr txBox="1"/>
          <p:nvPr/>
        </p:nvSpPr>
        <p:spPr>
          <a:xfrm>
            <a:off x="548640" y="283464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open</a:t>
            </a:r>
            <a:endParaRPr lang="en-US" sz="1400" dirty="0"/>
          </a:p>
        </p:txBody>
      </p:sp>
      <p:sp>
        <p:nvSpPr>
          <p:cNvPr id="6" name="Card"/>
          <p:cNvSpPr/>
          <p:nvPr/>
        </p:nvSpPr>
        <p:spPr>
          <a:xfrm>
            <a:off x="2148840" y="283464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7" name="Text 5"/>
          <p:cNvSpPr txBox="1"/>
          <p:nvPr/>
        </p:nvSpPr>
        <p:spPr>
          <a:xfrm>
            <a:off x="2148840" y="283464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one pixel</a:t>
            </a:r>
            <a:endParaRPr lang="en-US" sz="1400" dirty="0"/>
          </a:p>
        </p:txBody>
      </p:sp>
      <p:sp>
        <p:nvSpPr>
          <p:cNvPr id="8" name="Card"/>
          <p:cNvSpPr/>
          <p:nvPr/>
        </p:nvSpPr>
        <p:spPr>
          <a:xfrm>
            <a:off x="3749040" y="283464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9" name="Text 7"/>
          <p:cNvSpPr txBox="1"/>
          <p:nvPr/>
        </p:nvSpPr>
        <p:spPr>
          <a:xfrm>
            <a:off x="3749040" y="283464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crop</a:t>
            </a:r>
            <a:endParaRPr lang="en-US" sz="1400" dirty="0"/>
          </a:p>
        </p:txBody>
      </p:sp>
      <p:sp>
        <p:nvSpPr>
          <p:cNvPr id="10" name="Card"/>
          <p:cNvSpPr/>
          <p:nvPr/>
        </p:nvSpPr>
        <p:spPr>
          <a:xfrm>
            <a:off x="5349240" y="283464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11" name="Text 9"/>
          <p:cNvSpPr txBox="1"/>
          <p:nvPr/>
        </p:nvSpPr>
        <p:spPr>
          <a:xfrm>
            <a:off x="5349240" y="283464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colour</a:t>
            </a:r>
            <a:endParaRPr lang="en-US" sz="1400" dirty="0"/>
          </a:p>
        </p:txBody>
      </p:sp>
      <p:sp>
        <p:nvSpPr>
          <p:cNvPr id="12" name="Card"/>
          <p:cNvSpPr/>
          <p:nvPr/>
        </p:nvSpPr>
        <p:spPr>
          <a:xfrm>
            <a:off x="6949440" y="283464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13" name="Text 11"/>
          <p:cNvSpPr txBox="1"/>
          <p:nvPr/>
        </p:nvSpPr>
        <p:spPr>
          <a:xfrm>
            <a:off x="6949440" y="283464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channels</a:t>
            </a:r>
            <a:endParaRPr lang="en-US" sz="1400" dirty="0"/>
          </a:p>
        </p:txBody>
      </p:sp>
      <p:sp>
        <p:nvSpPr>
          <p:cNvPr id="14" name="Card"/>
          <p:cNvSpPr/>
          <p:nvPr/>
        </p:nvSpPr>
        <p:spPr>
          <a:xfrm>
            <a:off x="548640" y="338328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15" name="Text 13"/>
          <p:cNvSpPr txBox="1"/>
          <p:nvPr/>
        </p:nvSpPr>
        <p:spPr>
          <a:xfrm>
            <a:off x="548640" y="338328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switch off</a:t>
            </a:r>
            <a:endParaRPr lang="en-US" sz="1400" dirty="0"/>
          </a:p>
        </p:txBody>
      </p:sp>
      <p:sp>
        <p:nvSpPr>
          <p:cNvPr id="16" name="Card"/>
          <p:cNvSpPr/>
          <p:nvPr/>
        </p:nvSpPr>
        <p:spPr>
          <a:xfrm>
            <a:off x="2148840" y="338328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17" name="Text 15"/>
          <p:cNvSpPr txBox="1"/>
          <p:nvPr/>
        </p:nvSpPr>
        <p:spPr>
          <a:xfrm>
            <a:off x="2148840" y="338328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grey</a:t>
            </a:r>
            <a:endParaRPr lang="en-US" sz="1400" dirty="0"/>
          </a:p>
        </p:txBody>
      </p:sp>
      <p:sp>
        <p:nvSpPr>
          <p:cNvPr id="18" name="Card"/>
          <p:cNvSpPr/>
          <p:nvPr/>
        </p:nvSpPr>
        <p:spPr>
          <a:xfrm>
            <a:off x="3749040" y="338328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19" name="Text 17"/>
          <p:cNvSpPr txBox="1"/>
          <p:nvPr/>
        </p:nvSpPr>
        <p:spPr>
          <a:xfrm>
            <a:off x="3749040" y="338328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count</a:t>
            </a:r>
            <a:endParaRPr lang="en-US" sz="1400" dirty="0"/>
          </a:p>
        </p:txBody>
      </p:sp>
      <p:sp>
        <p:nvSpPr>
          <p:cNvPr id="20" name="Card"/>
          <p:cNvSpPr/>
          <p:nvPr/>
        </p:nvSpPr>
        <p:spPr>
          <a:xfrm>
            <a:off x="5349240" y="3383280"/>
            <a:ext cx="1463040" cy="411480"/>
          </a:xfrm>
          <a:prstGeom prst="roundRect">
            <a:avLst>
              <a:gd name="adj" fmla="val 26667"/>
            </a:avLst>
          </a:prstGeom>
          <a:solidFill>
            <a:srgbClr val="002D6A"/>
          </a:solidFill>
          <a:ln w="9525">
            <a:solidFill>
              <a:srgbClr val="5D79A0"/>
            </a:solidFill>
            <a:prstDash val="solid"/>
          </a:ln>
        </p:spPr>
        <p:txBody>
          <a:bodyPr/>
          <a:lstStyle/>
          <a:p>
            <a:endParaRPr lang="en-GB"/>
          </a:p>
        </p:txBody>
      </p:sp>
      <p:sp>
        <p:nvSpPr>
          <p:cNvPr id="21" name="Text 19"/>
          <p:cNvSpPr txBox="1"/>
          <p:nvPr/>
        </p:nvSpPr>
        <p:spPr>
          <a:xfrm>
            <a:off x="5349240" y="3383280"/>
            <a:ext cx="146304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histogram</a:t>
            </a:r>
            <a:endParaRPr lang="en-US" sz="1400" dirty="0"/>
          </a:p>
        </p:txBody>
      </p:sp>
      <p:sp>
        <p:nvSpPr>
          <p:cNvPr id="22" name="Text 20"/>
          <p:cNvSpPr txBox="1"/>
          <p:nvPr/>
        </p:nvSpPr>
        <p:spPr>
          <a:xfrm>
            <a:off x="548640" y="4114800"/>
            <a:ext cx="7315200" cy="365760"/>
          </a:xfrm>
          <a:prstGeom prst="rect">
            <a:avLst/>
          </a:prstGeom>
          <a:noFill/>
          <a:ln/>
        </p:spPr>
        <p:txBody>
          <a:bodyPr wrap="square" lIns="0" tIns="0" rIns="0" bIns="0" rtlCol="0" anchor="ctr"/>
          <a:lstStyle/>
          <a:p>
            <a:pPr marL="0" indent="0">
              <a:buNone/>
            </a:pPr>
            <a:r>
              <a:rPr lang="en-US" sz="1400" dirty="0">
                <a:solidFill>
                  <a:srgbClr val="C5D1E3"/>
                </a:solidFill>
                <a:latin typeface="Arial" pitchFamily="34" charset="0"/>
                <a:ea typeface="Arial" pitchFamily="34" charset="-122"/>
                <a:cs typeface="Arial" pitchFamily="34" charset="-120"/>
              </a:rPr>
              <a:t>8 short tasks in Spyder, then Part 2: the puzzle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Nobody Writes It All</a:t>
            </a:r>
            <a:endParaRPr lang="en-US" sz="3000" dirty="0"/>
          </a:p>
        </p:txBody>
      </p:sp>
      <p:sp>
        <p:nvSpPr>
          <p:cNvPr id="3" name="Card"/>
          <p:cNvSpPr/>
          <p:nvPr/>
        </p:nvSpPr>
        <p:spPr>
          <a:xfrm>
            <a:off x="457200" y="1188720"/>
            <a:ext cx="1920240" cy="502920"/>
          </a:xfrm>
          <a:prstGeom prst="roundRect">
            <a:avLst>
              <a:gd name="adj" fmla="val 21818"/>
            </a:avLst>
          </a:prstGeom>
          <a:solidFill>
            <a:srgbClr val="FFFFFF"/>
          </a:solidFill>
          <a:ln w="9525">
            <a:solidFill>
              <a:srgbClr val="C5D1E3"/>
            </a:solidFill>
            <a:prstDash val="solid"/>
          </a:ln>
        </p:spPr>
        <p:txBody>
          <a:bodyPr/>
          <a:lstStyle/>
          <a:p>
            <a:endParaRPr lang="en-GB"/>
          </a:p>
        </p:txBody>
      </p:sp>
      <p:sp>
        <p:nvSpPr>
          <p:cNvPr id="4" name="Text 2"/>
          <p:cNvSpPr txBox="1"/>
          <p:nvPr/>
        </p:nvSpPr>
        <p:spPr>
          <a:xfrm>
            <a:off x="457200" y="1188720"/>
            <a:ext cx="1920240" cy="502920"/>
          </a:xfrm>
          <a:prstGeom prst="rect">
            <a:avLst/>
          </a:prstGeom>
          <a:noFill/>
          <a:ln/>
        </p:spPr>
        <p:txBody>
          <a:bodyPr wrap="square" lIns="0" tIns="0" rIns="0" bIns="0" rtlCol="0" anchor="ctr"/>
          <a:lstStyle/>
          <a:p>
            <a:pPr marL="0" indent="0" algn="ctr">
              <a:buNone/>
            </a:pPr>
            <a:r>
              <a:rPr lang="en-US" sz="1600" b="1" dirty="0">
                <a:solidFill>
                  <a:srgbClr val="002D6A"/>
                </a:solidFill>
                <a:latin typeface="Courier New" pitchFamily="34" charset="0"/>
                <a:ea typeface="Courier New" pitchFamily="34" charset="-122"/>
                <a:cs typeface="Courier New" pitchFamily="34" charset="-120"/>
              </a:rPr>
              <a:t>variables</a:t>
            </a:r>
            <a:endParaRPr lang="en-US" sz="1600" dirty="0"/>
          </a:p>
        </p:txBody>
      </p:sp>
      <p:sp>
        <p:nvSpPr>
          <p:cNvPr id="5" name="Card"/>
          <p:cNvSpPr/>
          <p:nvPr/>
        </p:nvSpPr>
        <p:spPr>
          <a:xfrm>
            <a:off x="2560320" y="1188720"/>
            <a:ext cx="1920240" cy="502920"/>
          </a:xfrm>
          <a:prstGeom prst="roundRect">
            <a:avLst>
              <a:gd name="adj" fmla="val 21818"/>
            </a:avLst>
          </a:prstGeom>
          <a:solidFill>
            <a:srgbClr val="FFFFFF"/>
          </a:solidFill>
          <a:ln w="9525">
            <a:solidFill>
              <a:srgbClr val="C5D1E3"/>
            </a:solidFill>
            <a:prstDash val="solid"/>
          </a:ln>
        </p:spPr>
        <p:txBody>
          <a:bodyPr/>
          <a:lstStyle/>
          <a:p>
            <a:endParaRPr lang="en-GB"/>
          </a:p>
        </p:txBody>
      </p:sp>
      <p:sp>
        <p:nvSpPr>
          <p:cNvPr id="6" name="Text 4"/>
          <p:cNvSpPr txBox="1"/>
          <p:nvPr/>
        </p:nvSpPr>
        <p:spPr>
          <a:xfrm>
            <a:off x="2560320" y="1188720"/>
            <a:ext cx="1920240" cy="502920"/>
          </a:xfrm>
          <a:prstGeom prst="rect">
            <a:avLst/>
          </a:prstGeom>
          <a:noFill/>
          <a:ln/>
        </p:spPr>
        <p:txBody>
          <a:bodyPr wrap="square" lIns="0" tIns="0" rIns="0" bIns="0" rtlCol="0" anchor="ctr"/>
          <a:lstStyle/>
          <a:p>
            <a:pPr marL="0" indent="0" algn="ctr">
              <a:buNone/>
            </a:pPr>
            <a:r>
              <a:rPr lang="en-US" sz="1600" b="1" dirty="0">
                <a:solidFill>
                  <a:srgbClr val="002D6A"/>
                </a:solidFill>
                <a:latin typeface="Courier New" pitchFamily="34" charset="0"/>
                <a:ea typeface="Courier New" pitchFamily="34" charset="-122"/>
                <a:cs typeface="Courier New" pitchFamily="34" charset="-120"/>
              </a:rPr>
              <a:t>functions</a:t>
            </a:r>
            <a:endParaRPr lang="en-US" sz="1600" dirty="0"/>
          </a:p>
        </p:txBody>
      </p:sp>
      <p:sp>
        <p:nvSpPr>
          <p:cNvPr id="7" name="Card"/>
          <p:cNvSpPr/>
          <p:nvPr/>
        </p:nvSpPr>
        <p:spPr>
          <a:xfrm>
            <a:off x="4663440" y="1188720"/>
            <a:ext cx="1920240" cy="502920"/>
          </a:xfrm>
          <a:prstGeom prst="roundRect">
            <a:avLst>
              <a:gd name="adj" fmla="val 21818"/>
            </a:avLst>
          </a:prstGeom>
          <a:solidFill>
            <a:srgbClr val="FFFFFF"/>
          </a:solidFill>
          <a:ln w="9525">
            <a:solidFill>
              <a:srgbClr val="C5D1E3"/>
            </a:solidFill>
            <a:prstDash val="solid"/>
          </a:ln>
        </p:spPr>
        <p:txBody>
          <a:bodyPr/>
          <a:lstStyle/>
          <a:p>
            <a:endParaRPr lang="en-GB"/>
          </a:p>
        </p:txBody>
      </p:sp>
      <p:sp>
        <p:nvSpPr>
          <p:cNvPr id="8" name="Text 6"/>
          <p:cNvSpPr txBox="1"/>
          <p:nvPr/>
        </p:nvSpPr>
        <p:spPr>
          <a:xfrm>
            <a:off x="4663440" y="1188720"/>
            <a:ext cx="1920240" cy="502920"/>
          </a:xfrm>
          <a:prstGeom prst="rect">
            <a:avLst/>
          </a:prstGeom>
          <a:noFill/>
          <a:ln/>
        </p:spPr>
        <p:txBody>
          <a:bodyPr wrap="square" lIns="0" tIns="0" rIns="0" bIns="0" rtlCol="0" anchor="ctr"/>
          <a:lstStyle/>
          <a:p>
            <a:pPr marL="0" indent="0" algn="ctr">
              <a:buNone/>
            </a:pPr>
            <a:r>
              <a:rPr lang="en-US" sz="1600" b="1" dirty="0">
                <a:solidFill>
                  <a:srgbClr val="002D6A"/>
                </a:solidFill>
                <a:latin typeface="Courier New" pitchFamily="34" charset="0"/>
                <a:ea typeface="Courier New" pitchFamily="34" charset="-122"/>
                <a:cs typeface="Courier New" pitchFamily="34" charset="-120"/>
              </a:rPr>
              <a:t>if / else</a:t>
            </a:r>
            <a:endParaRPr lang="en-US" sz="1600" dirty="0"/>
          </a:p>
        </p:txBody>
      </p:sp>
      <p:sp>
        <p:nvSpPr>
          <p:cNvPr id="9" name="Card"/>
          <p:cNvSpPr/>
          <p:nvPr/>
        </p:nvSpPr>
        <p:spPr>
          <a:xfrm>
            <a:off x="6766560" y="1188720"/>
            <a:ext cx="1920240" cy="502920"/>
          </a:xfrm>
          <a:prstGeom prst="roundRect">
            <a:avLst>
              <a:gd name="adj" fmla="val 21818"/>
            </a:avLst>
          </a:prstGeom>
          <a:solidFill>
            <a:srgbClr val="FFFFFF"/>
          </a:solidFill>
          <a:ln w="9525">
            <a:solidFill>
              <a:srgbClr val="C5D1E3"/>
            </a:solidFill>
            <a:prstDash val="solid"/>
          </a:ln>
        </p:spPr>
        <p:txBody>
          <a:bodyPr/>
          <a:lstStyle/>
          <a:p>
            <a:endParaRPr lang="en-GB"/>
          </a:p>
        </p:txBody>
      </p:sp>
      <p:sp>
        <p:nvSpPr>
          <p:cNvPr id="10" name="Text 8"/>
          <p:cNvSpPr txBox="1"/>
          <p:nvPr/>
        </p:nvSpPr>
        <p:spPr>
          <a:xfrm>
            <a:off x="6766560" y="1188720"/>
            <a:ext cx="1920240" cy="502920"/>
          </a:xfrm>
          <a:prstGeom prst="rect">
            <a:avLst/>
          </a:prstGeom>
          <a:noFill/>
          <a:ln/>
        </p:spPr>
        <p:txBody>
          <a:bodyPr wrap="square" lIns="0" tIns="0" rIns="0" bIns="0" rtlCol="0" anchor="ctr"/>
          <a:lstStyle/>
          <a:p>
            <a:pPr marL="0" indent="0" algn="ctr">
              <a:buNone/>
            </a:pPr>
            <a:r>
              <a:rPr lang="en-US" sz="1600" b="1" dirty="0">
                <a:solidFill>
                  <a:srgbClr val="002D6A"/>
                </a:solidFill>
                <a:latin typeface="Courier New" pitchFamily="34" charset="0"/>
                <a:ea typeface="Courier New" pitchFamily="34" charset="-122"/>
                <a:cs typeface="Courier New" pitchFamily="34" charset="-120"/>
              </a:rPr>
              <a:t>loops</a:t>
            </a:r>
            <a:endParaRPr lang="en-US" sz="1600" dirty="0"/>
          </a:p>
        </p:txBody>
      </p:sp>
      <p:sp>
        <p:nvSpPr>
          <p:cNvPr id="11" name="Callout"/>
          <p:cNvSpPr/>
          <p:nvPr/>
        </p:nvSpPr>
        <p:spPr>
          <a:xfrm>
            <a:off x="457200" y="2011680"/>
            <a:ext cx="8229600" cy="731520"/>
          </a:xfrm>
          <a:prstGeom prst="roundRect">
            <a:avLst>
              <a:gd name="adj" fmla="val 12500"/>
            </a:avLst>
          </a:prstGeom>
          <a:solidFill>
            <a:srgbClr val="FFFFFF"/>
          </a:solidFill>
          <a:ln w="15875">
            <a:solidFill>
              <a:srgbClr val="5D79A0"/>
            </a:solidFill>
            <a:prstDash val="solid"/>
          </a:ln>
        </p:spPr>
        <p:txBody>
          <a:bodyPr/>
          <a:lstStyle/>
          <a:p>
            <a:endParaRPr lang="en-GB"/>
          </a:p>
        </p:txBody>
      </p:sp>
      <p:sp>
        <p:nvSpPr>
          <p:cNvPr id="12" name="Text 10"/>
          <p:cNvSpPr txBox="1"/>
          <p:nvPr/>
        </p:nvSpPr>
        <p:spPr>
          <a:xfrm>
            <a:off x="685800" y="2011680"/>
            <a:ext cx="7772400" cy="73152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A library is a bunch of functions someone else wrote, ready to use.</a:t>
            </a:r>
            <a:endParaRPr lang="en-US" sz="1200" dirty="0"/>
          </a:p>
        </p:txBody>
      </p:sp>
      <p:sp>
        <p:nvSpPr>
          <p:cNvPr id="13" name="code bg"/>
          <p:cNvSpPr/>
          <p:nvPr/>
        </p:nvSpPr>
        <p:spPr>
          <a:xfrm>
            <a:off x="457200" y="3017520"/>
            <a:ext cx="8229600" cy="1303020"/>
          </a:xfrm>
          <a:prstGeom prst="rect">
            <a:avLst/>
          </a:prstGeom>
          <a:solidFill>
            <a:srgbClr val="0B2A57"/>
          </a:solidFill>
          <a:ln w="12700">
            <a:solidFill>
              <a:srgbClr val="0B2A57"/>
            </a:solidFill>
            <a:prstDash val="solid"/>
          </a:ln>
        </p:spPr>
        <p:txBody>
          <a:bodyPr/>
          <a:lstStyle/>
          <a:p>
            <a:endParaRPr lang="en-GB"/>
          </a:p>
        </p:txBody>
      </p:sp>
      <p:sp>
        <p:nvSpPr>
          <p:cNvPr id="14" name="code bar"/>
          <p:cNvSpPr/>
          <p:nvPr/>
        </p:nvSpPr>
        <p:spPr>
          <a:xfrm>
            <a:off x="457200" y="3017520"/>
            <a:ext cx="54864" cy="1303020"/>
          </a:xfrm>
          <a:prstGeom prst="rect">
            <a:avLst/>
          </a:prstGeom>
          <a:solidFill>
            <a:srgbClr val="A9C4E8"/>
          </a:solidFill>
          <a:ln w="12700">
            <a:solidFill>
              <a:srgbClr val="5D79A0"/>
            </a:solidFill>
            <a:prstDash val="solid"/>
          </a:ln>
        </p:spPr>
        <p:txBody>
          <a:bodyPr/>
          <a:lstStyle/>
          <a:p>
            <a:endParaRPr lang="en-GB"/>
          </a:p>
        </p:txBody>
      </p:sp>
      <p:sp>
        <p:nvSpPr>
          <p:cNvPr id="15" name="code line 1"/>
          <p:cNvSpPr txBox="1"/>
          <p:nvPr/>
        </p:nvSpPr>
        <p:spPr>
          <a:xfrm>
            <a:off x="640080" y="315468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import math</a:t>
            </a:r>
            <a:endParaRPr lang="en-US" sz="2000" dirty="0"/>
          </a:p>
        </p:txBody>
      </p:sp>
      <p:sp>
        <p:nvSpPr>
          <p:cNvPr id="16" name="code line 2"/>
          <p:cNvSpPr txBox="1"/>
          <p:nvPr/>
        </p:nvSpPr>
        <p:spPr>
          <a:xfrm>
            <a:off x="640080" y="349758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math.sqrt(16)</a:t>
            </a:r>
            <a:endParaRPr lang="en-US" sz="2000" dirty="0"/>
          </a:p>
        </p:txBody>
      </p:sp>
      <p:sp>
        <p:nvSpPr>
          <p:cNvPr id="17" name="@1 code line 3"/>
          <p:cNvSpPr txBox="1"/>
          <p:nvPr/>
        </p:nvSpPr>
        <p:spPr>
          <a:xfrm>
            <a:off x="640080" y="3840480"/>
            <a:ext cx="7955280" cy="342900"/>
          </a:xfrm>
          <a:prstGeom prst="rect">
            <a:avLst/>
          </a:prstGeom>
          <a:noFill/>
          <a:ln/>
        </p:spPr>
        <p:txBody>
          <a:bodyPr wrap="square" lIns="0" tIns="0" rIns="0" bIns="0" rtlCol="0" anchor="ctr"/>
          <a:lstStyle/>
          <a:p>
            <a:pPr marL="0" indent="0">
              <a:buNone/>
            </a:pPr>
            <a:r>
              <a:rPr lang="en-US" sz="2000" dirty="0">
                <a:solidFill>
                  <a:srgbClr val="B8E0B0"/>
                </a:solidFill>
                <a:latin typeface="Courier New" pitchFamily="34" charset="0"/>
                <a:ea typeface="Courier New" pitchFamily="34" charset="-122"/>
                <a:cs typeface="Courier New" pitchFamily="34" charset="-120"/>
              </a:rPr>
              <a:t>4.0</a:t>
            </a:r>
            <a:endParaRPr lang="en-US" sz="20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Library for Pictures</a:t>
            </a:r>
            <a:endParaRPr lang="en-US" sz="3000" dirty="0"/>
          </a:p>
        </p:txBody>
      </p:sp>
      <p:sp>
        <p:nvSpPr>
          <p:cNvPr id="3" name="Callout"/>
          <p:cNvSpPr/>
          <p:nvPr/>
        </p:nvSpPr>
        <p:spPr>
          <a:xfrm>
            <a:off x="457200" y="1188720"/>
            <a:ext cx="8229600" cy="731520"/>
          </a:xfrm>
          <a:prstGeom prst="roundRect">
            <a:avLst>
              <a:gd name="adj" fmla="val 12500"/>
            </a:avLst>
          </a:prstGeom>
          <a:solidFill>
            <a:srgbClr val="FFFFFF"/>
          </a:solidFill>
          <a:ln w="15875">
            <a:solidFill>
              <a:srgbClr val="002D6A"/>
            </a:solidFill>
            <a:prstDash val="solid"/>
          </a:ln>
        </p:spPr>
        <p:txBody>
          <a:bodyPr/>
          <a:lstStyle/>
          <a:p>
            <a:endParaRPr lang="en-GB"/>
          </a:p>
        </p:txBody>
      </p:sp>
      <p:sp>
        <p:nvSpPr>
          <p:cNvPr id="4" name="Text 2"/>
          <p:cNvSpPr txBox="1"/>
          <p:nvPr/>
        </p:nvSpPr>
        <p:spPr>
          <a:xfrm>
            <a:off x="685800" y="1188720"/>
            <a:ext cx="7772400" cy="73152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PIL (short for Pillow) opens, edits and reads images.</a:t>
            </a:r>
            <a:endParaRPr lang="en-US" sz="1200" dirty="0"/>
          </a:p>
        </p:txBody>
      </p:sp>
      <p:sp>
        <p:nvSpPr>
          <p:cNvPr id="5" name="code bg"/>
          <p:cNvSpPr/>
          <p:nvPr/>
        </p:nvSpPr>
        <p:spPr>
          <a:xfrm>
            <a:off x="457200" y="2286000"/>
            <a:ext cx="8229600" cy="65151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2286000"/>
            <a:ext cx="54864" cy="651510"/>
          </a:xfrm>
          <a:prstGeom prst="rect">
            <a:avLst/>
          </a:prstGeom>
          <a:solidFill>
            <a:srgbClr val="A9C4E8"/>
          </a:solidFill>
          <a:ln w="12700">
            <a:solidFill>
              <a:srgbClr val="5D79A0"/>
            </a:solidFill>
            <a:prstDash val="solid"/>
          </a:ln>
        </p:spPr>
        <p:txBody>
          <a:bodyPr/>
          <a:lstStyle/>
          <a:p>
            <a:endParaRPr lang="en-GB"/>
          </a:p>
        </p:txBody>
      </p:sp>
      <p:sp>
        <p:nvSpPr>
          <p:cNvPr id="7" name="code line 1"/>
          <p:cNvSpPr txBox="1"/>
          <p:nvPr/>
        </p:nvSpPr>
        <p:spPr>
          <a:xfrm>
            <a:off x="640080" y="2423160"/>
            <a:ext cx="7955280" cy="377190"/>
          </a:xfrm>
          <a:prstGeom prst="rect">
            <a:avLst/>
          </a:prstGeom>
          <a:noFill/>
          <a:ln/>
        </p:spPr>
        <p:txBody>
          <a:bodyPr wrap="squar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&gt;&gt;&gt; </a:t>
            </a:r>
            <a:r>
              <a:rPr lang="en-US" sz="2200" dirty="0">
                <a:solidFill>
                  <a:srgbClr val="E6ECF5"/>
                </a:solidFill>
                <a:latin typeface="Courier New" pitchFamily="34" charset="0"/>
                <a:ea typeface="Courier New" pitchFamily="34" charset="-122"/>
                <a:cs typeface="Courier New" pitchFamily="34" charset="-120"/>
              </a:rPr>
              <a:t>from PIL import Image</a:t>
            </a:r>
            <a:endParaRPr lang="en-US" sz="2200" dirty="0"/>
          </a:p>
        </p:txBody>
      </p:sp>
      <p:sp>
        <p:nvSpPr>
          <p:cNvPr id="8" name="@1 addText"/>
          <p:cNvSpPr txBox="1"/>
          <p:nvPr/>
        </p:nvSpPr>
        <p:spPr>
          <a:xfrm>
            <a:off x="457200" y="3291840"/>
            <a:ext cx="8229600" cy="457200"/>
          </a:xfrm>
          <a:prstGeom prst="rect">
            <a:avLst/>
          </a:prstGeom>
          <a:noFill/>
          <a:ln/>
        </p:spPr>
        <p:txBody>
          <a:bodyPr wrap="square" lIns="0" tIns="0" rIns="0" bIns="0" rtlCol="0" anchor="ctr"/>
          <a:lstStyle/>
          <a:p>
            <a:pPr marL="0" indent="0">
              <a:buNone/>
            </a:pPr>
            <a:r>
              <a:rPr lang="en-US" sz="1800" b="1" dirty="0">
                <a:solidFill>
                  <a:srgbClr val="002D6A"/>
                </a:solidFill>
                <a:latin typeface="Arial" pitchFamily="34" charset="0"/>
                <a:ea typeface="Arial" pitchFamily="34" charset="-122"/>
                <a:cs typeface="Arial" pitchFamily="34" charset="-120"/>
              </a:rPr>
              <a:t>from X import Y = "just give me Y out of library X"</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Open It, Check It</a:t>
            </a:r>
            <a:endParaRPr lang="en-US" sz="3000" dirty="0"/>
          </a:p>
        </p:txBody>
      </p:sp>
      <p:sp>
        <p:nvSpPr>
          <p:cNvPr id="3" name="code bg"/>
          <p:cNvSpPr/>
          <p:nvPr/>
        </p:nvSpPr>
        <p:spPr>
          <a:xfrm>
            <a:off x="457200" y="1143000"/>
            <a:ext cx="8229600" cy="198882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1988820"/>
          </a:xfrm>
          <a:prstGeom prst="rect">
            <a:avLst/>
          </a:prstGeom>
          <a:solidFill>
            <a:srgbClr val="A9C4E8"/>
          </a:solidFill>
          <a:ln w="12700">
            <a:solidFill>
              <a:srgbClr val="5D79A0"/>
            </a:solidFill>
            <a:prstDash val="solid"/>
          </a:ln>
        </p:spPr>
        <p:txBody>
          <a:bodyPr/>
          <a:lstStyle/>
          <a:p>
            <a:endParaRPr lang="en-GB"/>
          </a:p>
        </p:txBody>
      </p:sp>
      <p:sp>
        <p:nvSpPr>
          <p:cNvPr id="5" name="code line 1"/>
          <p:cNvSpPr txBox="1"/>
          <p:nvPr/>
        </p:nvSpPr>
        <p:spPr>
          <a:xfrm>
            <a:off x="640080" y="12801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img = Image.open("cow-demo.jpg")</a:t>
            </a:r>
            <a:endParaRPr lang="en-US" sz="2000" dirty="0"/>
          </a:p>
        </p:txBody>
      </p:sp>
      <p:sp>
        <p:nvSpPr>
          <p:cNvPr id="6" name="code line 2"/>
          <p:cNvSpPr txBox="1"/>
          <p:nvPr/>
        </p:nvSpPr>
        <p:spPr>
          <a:xfrm>
            <a:off x="640080" y="16230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img.size</a:t>
            </a:r>
            <a:endParaRPr lang="en-US" sz="2000" dirty="0"/>
          </a:p>
        </p:txBody>
      </p:sp>
      <p:sp>
        <p:nvSpPr>
          <p:cNvPr id="7" name="@1 code line 3"/>
          <p:cNvSpPr txBox="1"/>
          <p:nvPr/>
        </p:nvSpPr>
        <p:spPr>
          <a:xfrm>
            <a:off x="640080" y="1965960"/>
            <a:ext cx="7955280" cy="342900"/>
          </a:xfrm>
          <a:prstGeom prst="rect">
            <a:avLst/>
          </a:prstGeom>
          <a:noFill/>
          <a:ln/>
        </p:spPr>
        <p:txBody>
          <a:bodyPr wrap="square" lIns="0" tIns="0" rIns="0" bIns="0" rtlCol="0" anchor="ctr"/>
          <a:lstStyle/>
          <a:p>
            <a:pPr marL="0" indent="0">
              <a:buNone/>
            </a:pPr>
            <a:r>
              <a:rPr lang="en-US" sz="2000" dirty="0">
                <a:solidFill>
                  <a:srgbClr val="B8E0B0"/>
                </a:solidFill>
                <a:latin typeface="Courier New" pitchFamily="34" charset="0"/>
                <a:ea typeface="Courier New" pitchFamily="34" charset="-122"/>
                <a:cs typeface="Courier New" pitchFamily="34" charset="-120"/>
              </a:rPr>
              <a:t>(320, 320)</a:t>
            </a:r>
            <a:endParaRPr lang="en-US" sz="2000" dirty="0"/>
          </a:p>
        </p:txBody>
      </p:sp>
      <p:sp>
        <p:nvSpPr>
          <p:cNvPr id="8" name="code line 4"/>
          <p:cNvSpPr txBox="1"/>
          <p:nvPr/>
        </p:nvSpPr>
        <p:spPr>
          <a:xfrm>
            <a:off x="640080" y="23088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img.mode</a:t>
            </a:r>
            <a:endParaRPr lang="en-US" sz="2000" dirty="0"/>
          </a:p>
        </p:txBody>
      </p:sp>
      <p:sp>
        <p:nvSpPr>
          <p:cNvPr id="9" name="@2 code line 5"/>
          <p:cNvSpPr txBox="1"/>
          <p:nvPr/>
        </p:nvSpPr>
        <p:spPr>
          <a:xfrm>
            <a:off x="640080" y="2651760"/>
            <a:ext cx="7955280" cy="342900"/>
          </a:xfrm>
          <a:prstGeom prst="rect">
            <a:avLst/>
          </a:prstGeom>
          <a:noFill/>
          <a:ln/>
        </p:spPr>
        <p:txBody>
          <a:bodyPr wrap="square" lIns="0" tIns="0" rIns="0" bIns="0" rtlCol="0" anchor="ctr"/>
          <a:lstStyle/>
          <a:p>
            <a:pPr marL="0" indent="0">
              <a:buNone/>
            </a:pPr>
            <a:r>
              <a:rPr lang="en-US" sz="2000" dirty="0">
                <a:solidFill>
                  <a:srgbClr val="B8E0B0"/>
                </a:solidFill>
                <a:latin typeface="Courier New" pitchFamily="34" charset="0"/>
                <a:ea typeface="Courier New" pitchFamily="34" charset="-122"/>
                <a:cs typeface="Courier New" pitchFamily="34" charset="-120"/>
              </a:rPr>
              <a:t>'RGB'</a:t>
            </a:r>
            <a:endParaRPr lang="en-US" sz="2000" dirty="0"/>
          </a:p>
        </p:txBody>
      </p:sp>
      <p:sp>
        <p:nvSpPr>
          <p:cNvPr id="10" name="@2 addText"/>
          <p:cNvSpPr txBox="1"/>
          <p:nvPr/>
        </p:nvSpPr>
        <p:spPr>
          <a:xfrm>
            <a:off x="457200" y="37490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one line opens the whole picture: 320 pixels wide, 320 tall</a:t>
            </a:r>
            <a:endParaRPr lang="en-US" sz="14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Picture Is a Grid of Numbers</a:t>
            </a:r>
            <a:endParaRPr lang="en-US" sz="3000" dirty="0"/>
          </a:p>
        </p:txBody>
      </p:sp>
      <p:sp>
        <p:nvSpPr>
          <p:cNvPr id="3" name="Callout"/>
          <p:cNvSpPr/>
          <p:nvPr/>
        </p:nvSpPr>
        <p:spPr>
          <a:xfrm>
            <a:off x="457200" y="1188720"/>
            <a:ext cx="8229600" cy="777240"/>
          </a:xfrm>
          <a:prstGeom prst="roundRect">
            <a:avLst>
              <a:gd name="adj" fmla="val 11765"/>
            </a:avLst>
          </a:prstGeom>
          <a:solidFill>
            <a:srgbClr val="FFFFFF"/>
          </a:solidFill>
          <a:ln w="15875">
            <a:solidFill>
              <a:srgbClr val="5D79A0"/>
            </a:solidFill>
            <a:prstDash val="solid"/>
          </a:ln>
        </p:spPr>
        <p:txBody>
          <a:bodyPr/>
          <a:lstStyle/>
          <a:p>
            <a:endParaRPr lang="en-GB"/>
          </a:p>
        </p:txBody>
      </p:sp>
      <p:sp>
        <p:nvSpPr>
          <p:cNvPr id="4" name="Text 2"/>
          <p:cNvSpPr txBox="1"/>
          <p:nvPr/>
        </p:nvSpPr>
        <p:spPr>
          <a:xfrm>
            <a:off x="685800" y="1188720"/>
            <a:ext cx="7772400" cy="77724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One small group of numbers per pixel. NumPy does maths on huge grids, fast.</a:t>
            </a:r>
            <a:endParaRPr lang="en-US" sz="1200" dirty="0"/>
          </a:p>
        </p:txBody>
      </p:sp>
      <p:sp>
        <p:nvSpPr>
          <p:cNvPr id="5" name="code bg"/>
          <p:cNvSpPr/>
          <p:nvPr/>
        </p:nvSpPr>
        <p:spPr>
          <a:xfrm>
            <a:off x="457200" y="2377440"/>
            <a:ext cx="8229600" cy="102870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2377440"/>
            <a:ext cx="54864" cy="1028700"/>
          </a:xfrm>
          <a:prstGeom prst="rect">
            <a:avLst/>
          </a:prstGeom>
          <a:solidFill>
            <a:srgbClr val="A9C4E8"/>
          </a:solidFill>
          <a:ln w="12700">
            <a:solidFill>
              <a:srgbClr val="5D79A0"/>
            </a:solidFill>
            <a:prstDash val="solid"/>
          </a:ln>
        </p:spPr>
        <p:txBody>
          <a:bodyPr/>
          <a:lstStyle/>
          <a:p>
            <a:endParaRPr lang="en-GB"/>
          </a:p>
        </p:txBody>
      </p:sp>
      <p:sp>
        <p:nvSpPr>
          <p:cNvPr id="7" name="code line 1"/>
          <p:cNvSpPr txBox="1"/>
          <p:nvPr/>
        </p:nvSpPr>
        <p:spPr>
          <a:xfrm>
            <a:off x="640080" y="2514600"/>
            <a:ext cx="7955280" cy="377190"/>
          </a:xfrm>
          <a:prstGeom prst="rect">
            <a:avLst/>
          </a:prstGeom>
          <a:noFill/>
          <a:ln/>
        </p:spPr>
        <p:txBody>
          <a:bodyPr wrap="squar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&gt;&gt;&gt; </a:t>
            </a:r>
            <a:r>
              <a:rPr lang="en-US" sz="2200" dirty="0">
                <a:solidFill>
                  <a:srgbClr val="E6ECF5"/>
                </a:solidFill>
                <a:latin typeface="Courier New" pitchFamily="34" charset="0"/>
                <a:ea typeface="Courier New" pitchFamily="34" charset="-122"/>
                <a:cs typeface="Courier New" pitchFamily="34" charset="-120"/>
              </a:rPr>
              <a:t>import numpy as np</a:t>
            </a:r>
            <a:endParaRPr lang="en-US" sz="2200" dirty="0"/>
          </a:p>
        </p:txBody>
      </p:sp>
      <p:sp>
        <p:nvSpPr>
          <p:cNvPr id="8" name="code line 2"/>
          <p:cNvSpPr txBox="1"/>
          <p:nvPr/>
        </p:nvSpPr>
        <p:spPr>
          <a:xfrm>
            <a:off x="640080" y="2891790"/>
            <a:ext cx="7955280" cy="377190"/>
          </a:xfrm>
          <a:prstGeom prst="rect">
            <a:avLst/>
          </a:prstGeom>
          <a:noFill/>
          <a:ln/>
        </p:spPr>
        <p:txBody>
          <a:bodyPr wrap="squar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&gt;&gt;&gt; </a:t>
            </a:r>
            <a:r>
              <a:rPr lang="en-US" sz="2200" dirty="0">
                <a:solidFill>
                  <a:srgbClr val="E6ECF5"/>
                </a:solidFill>
                <a:latin typeface="Courier New" pitchFamily="34" charset="0"/>
                <a:ea typeface="Courier New" pitchFamily="34" charset="-122"/>
                <a:cs typeface="Courier New" pitchFamily="34" charset="-120"/>
              </a:rPr>
              <a:t>pixels = np.array(img)</a:t>
            </a:r>
            <a:endParaRPr lang="en-US" sz="2200" dirty="0"/>
          </a:p>
        </p:txBody>
      </p:sp>
      <p:sp>
        <p:nvSpPr>
          <p:cNvPr id="9" name="@1 addText"/>
          <p:cNvSpPr txBox="1"/>
          <p:nvPr/>
        </p:nvSpPr>
        <p:spPr>
          <a:xfrm>
            <a:off x="457200" y="356616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pixels is now the whole picture as a grid</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Rows and Columns</a:t>
            </a:r>
            <a:endParaRPr lang="en-US" sz="3000" dirty="0"/>
          </a:p>
        </p:txBody>
      </p:sp>
      <p:sp>
        <p:nvSpPr>
          <p:cNvPr id="3" name="3 MIN TALK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4 MIN TALK</a:t>
            </a:r>
            <a:endParaRPr lang="en-US" sz="1200" dirty="0"/>
          </a:p>
        </p:txBody>
      </p:sp>
      <p:pic>
        <p:nvPicPr>
          <p:cNvPr id="5" name="Image 0" descr="The cow photo with row numbers down the side and column numbers across the top"/>
          <p:cNvPicPr>
            <a:picLocks noChangeAspect="1"/>
          </p:cNvPicPr>
          <p:nvPr/>
        </p:nvPicPr>
        <p:blipFill>
          <a:blip r:embed="rId3"/>
          <a:stretch>
            <a:fillRect/>
          </a:stretch>
        </p:blipFill>
        <p:spPr>
          <a:xfrm>
            <a:off x="457200" y="1097280"/>
            <a:ext cx="3566160" cy="3566160"/>
          </a:xfrm>
          <a:prstGeom prst="rect">
            <a:avLst/>
          </a:prstGeom>
        </p:spPr>
      </p:pic>
      <p:sp>
        <p:nvSpPr>
          <p:cNvPr id="6" name="@1 dot"/>
          <p:cNvSpPr/>
          <p:nvPr/>
        </p:nvSpPr>
        <p:spPr>
          <a:xfrm>
            <a:off x="4389120" y="1316736"/>
            <a:ext cx="109728" cy="109728"/>
          </a:xfrm>
          <a:prstGeom prst="ellipse">
            <a:avLst/>
          </a:prstGeom>
          <a:solidFill>
            <a:srgbClr val="002D6A"/>
          </a:solidFill>
          <a:ln w="12700">
            <a:solidFill>
              <a:srgbClr val="002D6A"/>
            </a:solidFill>
            <a:prstDash val="solid"/>
          </a:ln>
        </p:spPr>
        <p:txBody>
          <a:bodyPr/>
          <a:lstStyle/>
          <a:p>
            <a:endParaRPr lang="en-GB"/>
          </a:p>
        </p:txBody>
      </p:sp>
      <p:sp>
        <p:nvSpPr>
          <p:cNvPr id="7" name="@1 addText"/>
          <p:cNvSpPr txBox="1"/>
          <p:nvPr/>
        </p:nvSpPr>
        <p:spPr>
          <a:xfrm>
            <a:off x="4663440" y="1188720"/>
            <a:ext cx="4023360" cy="594360"/>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Rows count down. Columns count across.</a:t>
            </a:r>
            <a:endParaRPr lang="en-US" sz="1800" dirty="0"/>
          </a:p>
        </p:txBody>
      </p:sp>
      <p:sp>
        <p:nvSpPr>
          <p:cNvPr id="8" name="@2 dot"/>
          <p:cNvSpPr/>
          <p:nvPr/>
        </p:nvSpPr>
        <p:spPr>
          <a:xfrm>
            <a:off x="4389120" y="1956816"/>
            <a:ext cx="109728" cy="109728"/>
          </a:xfrm>
          <a:prstGeom prst="ellipse">
            <a:avLst/>
          </a:prstGeom>
          <a:solidFill>
            <a:srgbClr val="002D6A"/>
          </a:solidFill>
          <a:ln w="12700">
            <a:solidFill>
              <a:srgbClr val="002D6A"/>
            </a:solidFill>
            <a:prstDash val="solid"/>
          </a:ln>
        </p:spPr>
        <p:txBody>
          <a:bodyPr/>
          <a:lstStyle/>
          <a:p>
            <a:endParaRPr lang="en-GB"/>
          </a:p>
        </p:txBody>
      </p:sp>
      <p:sp>
        <p:nvSpPr>
          <p:cNvPr id="9" name="@2 addText"/>
          <p:cNvSpPr txBox="1"/>
          <p:nvPr/>
        </p:nvSpPr>
        <p:spPr>
          <a:xfrm>
            <a:off x="4663440" y="1828800"/>
            <a:ext cx="4023360" cy="594360"/>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Counting starts at 0, top left.</a:t>
            </a:r>
            <a:endParaRPr lang="en-US" sz="1800" dirty="0"/>
          </a:p>
        </p:txBody>
      </p:sp>
      <p:sp>
        <p:nvSpPr>
          <p:cNvPr id="10" name="@3 dot"/>
          <p:cNvSpPr/>
          <p:nvPr/>
        </p:nvSpPr>
        <p:spPr>
          <a:xfrm>
            <a:off x="4389120" y="2596896"/>
            <a:ext cx="109728" cy="109728"/>
          </a:xfrm>
          <a:prstGeom prst="ellipse">
            <a:avLst/>
          </a:prstGeom>
          <a:solidFill>
            <a:srgbClr val="002D6A"/>
          </a:solidFill>
          <a:ln w="12700">
            <a:solidFill>
              <a:srgbClr val="002D6A"/>
            </a:solidFill>
            <a:prstDash val="solid"/>
          </a:ln>
        </p:spPr>
        <p:txBody>
          <a:bodyPr/>
          <a:lstStyle/>
          <a:p>
            <a:endParaRPr lang="en-GB"/>
          </a:p>
        </p:txBody>
      </p:sp>
      <p:sp>
        <p:nvSpPr>
          <p:cNvPr id="11" name="@3 addText"/>
          <p:cNvSpPr txBox="1"/>
          <p:nvPr/>
        </p:nvSpPr>
        <p:spPr>
          <a:xfrm>
            <a:off x="4663440" y="2468880"/>
            <a:ext cx="4023360" cy="594360"/>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Row first, then column.</a:t>
            </a:r>
            <a:endParaRPr lang="en-US" sz="1800" dirty="0"/>
          </a:p>
        </p:txBody>
      </p:sp>
      <p:sp>
        <p:nvSpPr>
          <p:cNvPr id="12" name="code bg"/>
          <p:cNvSpPr/>
          <p:nvPr/>
        </p:nvSpPr>
        <p:spPr>
          <a:xfrm>
            <a:off x="4389120" y="3200400"/>
            <a:ext cx="4297680" cy="891540"/>
          </a:xfrm>
          <a:prstGeom prst="rect">
            <a:avLst/>
          </a:prstGeom>
          <a:solidFill>
            <a:srgbClr val="0B2A57"/>
          </a:solidFill>
          <a:ln w="12700">
            <a:solidFill>
              <a:srgbClr val="0B2A57"/>
            </a:solidFill>
            <a:prstDash val="solid"/>
          </a:ln>
        </p:spPr>
        <p:txBody>
          <a:bodyPr/>
          <a:lstStyle/>
          <a:p>
            <a:endParaRPr lang="en-GB"/>
          </a:p>
        </p:txBody>
      </p:sp>
      <p:sp>
        <p:nvSpPr>
          <p:cNvPr id="13" name="code bar"/>
          <p:cNvSpPr/>
          <p:nvPr/>
        </p:nvSpPr>
        <p:spPr>
          <a:xfrm>
            <a:off x="4389120" y="3200400"/>
            <a:ext cx="54864" cy="891540"/>
          </a:xfrm>
          <a:prstGeom prst="rect">
            <a:avLst/>
          </a:prstGeom>
          <a:solidFill>
            <a:srgbClr val="A9C4E8"/>
          </a:solidFill>
          <a:ln w="12700">
            <a:solidFill>
              <a:srgbClr val="5D79A0"/>
            </a:solidFill>
            <a:prstDash val="solid"/>
          </a:ln>
        </p:spPr>
        <p:txBody>
          <a:bodyPr/>
          <a:lstStyle/>
          <a:p>
            <a:endParaRPr lang="en-GB"/>
          </a:p>
        </p:txBody>
      </p:sp>
      <p:sp>
        <p:nvSpPr>
          <p:cNvPr id="14" name="code line 1"/>
          <p:cNvSpPr txBox="1"/>
          <p:nvPr/>
        </p:nvSpPr>
        <p:spPr>
          <a:xfrm>
            <a:off x="4572000" y="3337560"/>
            <a:ext cx="402336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print(pixels[0, 0])</a:t>
            </a:r>
            <a:endParaRPr lang="en-US" sz="1800" dirty="0"/>
          </a:p>
        </p:txBody>
      </p:sp>
      <p:sp>
        <p:nvSpPr>
          <p:cNvPr id="15" name="@4 code line 2"/>
          <p:cNvSpPr txBox="1"/>
          <p:nvPr/>
        </p:nvSpPr>
        <p:spPr>
          <a:xfrm>
            <a:off x="4572000" y="3646170"/>
            <a:ext cx="402336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[16  0  0]</a:t>
            </a:r>
            <a:endParaRPr lang="en-US" sz="1800" dirty="0"/>
          </a:p>
        </p:txBody>
      </p:sp>
      <p:sp>
        <p:nvSpPr>
          <p:cNvPr id="16" name="@4 addText"/>
          <p:cNvSpPr txBox="1"/>
          <p:nvPr/>
        </p:nvSpPr>
        <p:spPr>
          <a:xfrm>
            <a:off x="4206240" y="4416552"/>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red 16, green 0, blue 0: almost black</a:t>
            </a:r>
            <a:endParaRPr lang="en-US" sz="14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Crop: a Block of Pixels</a:t>
            </a:r>
            <a:endParaRPr lang="en-US" sz="3000" dirty="0"/>
          </a:p>
        </p:txBody>
      </p:sp>
      <p:sp>
        <p:nvSpPr>
          <p:cNvPr id="5" name="code bg"/>
          <p:cNvSpPr/>
          <p:nvPr/>
        </p:nvSpPr>
        <p:spPr>
          <a:xfrm>
            <a:off x="457200" y="1097280"/>
            <a:ext cx="8229600" cy="61722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097280"/>
            <a:ext cx="54864" cy="617220"/>
          </a:xfrm>
          <a:prstGeom prst="rect">
            <a:avLst/>
          </a:prstGeom>
          <a:solidFill>
            <a:srgbClr val="A9C4E8"/>
          </a:solidFill>
          <a:ln w="12700">
            <a:solidFill>
              <a:srgbClr val="5D79A0"/>
            </a:solidFill>
            <a:prstDash val="solid"/>
          </a:ln>
        </p:spPr>
        <p:txBody>
          <a:bodyPr/>
          <a:lstStyle/>
          <a:p>
            <a:endParaRPr lang="en-GB"/>
          </a:p>
        </p:txBody>
      </p:sp>
      <p:sp>
        <p:nvSpPr>
          <p:cNvPr id="7" name="code line 1"/>
          <p:cNvSpPr txBox="1"/>
          <p:nvPr/>
        </p:nvSpPr>
        <p:spPr>
          <a:xfrm>
            <a:off x="640080" y="123444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&gt;&gt;&gt; </a:t>
            </a:r>
            <a:r>
              <a:rPr lang="en-US" sz="2000" dirty="0">
                <a:solidFill>
                  <a:srgbClr val="E6ECF5"/>
                </a:solidFill>
                <a:latin typeface="Courier New" pitchFamily="34" charset="0"/>
                <a:ea typeface="Courier New" pitchFamily="34" charset="-122"/>
                <a:cs typeface="Courier New" pitchFamily="34" charset="-120"/>
              </a:rPr>
              <a:t>corner = pixels[0:100, 0:100]</a:t>
            </a:r>
            <a:endParaRPr lang="en-US" sz="2000" dirty="0"/>
          </a:p>
        </p:txBody>
      </p:sp>
      <p:pic>
        <p:nvPicPr>
          <p:cNvPr id="8" name="Image 0" descr="The cow photo with a box marking its top-left corner"/>
          <p:cNvPicPr>
            <a:picLocks noChangeAspect="1"/>
          </p:cNvPicPr>
          <p:nvPr/>
        </p:nvPicPr>
        <p:blipFill>
          <a:blip r:embed="rId3"/>
          <a:stretch>
            <a:fillRect/>
          </a:stretch>
        </p:blipFill>
        <p:spPr>
          <a:xfrm>
            <a:off x="960120" y="2103120"/>
            <a:ext cx="2103120" cy="2103120"/>
          </a:xfrm>
          <a:prstGeom prst="rect">
            <a:avLst/>
          </a:prstGeom>
        </p:spPr>
      </p:pic>
      <p:sp>
        <p:nvSpPr>
          <p:cNvPr id="9" name="Text 6"/>
          <p:cNvSpPr txBox="1"/>
          <p:nvPr/>
        </p:nvSpPr>
        <p:spPr>
          <a:xfrm>
            <a:off x="457200" y="4206240"/>
            <a:ext cx="310896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rows 0 to 99, columns 0 to 99</a:t>
            </a:r>
            <a:endParaRPr lang="en-US" sz="1400" dirty="0"/>
          </a:p>
        </p:txBody>
      </p:sp>
      <p:pic>
        <p:nvPicPr>
          <p:cNvPr id="10" name="Image 1" descr="The cropped top-left corner of the photo, mostly brick wall"/>
          <p:cNvPicPr>
            <a:picLocks noChangeAspect="1"/>
          </p:cNvPicPr>
          <p:nvPr/>
        </p:nvPicPr>
        <p:blipFill>
          <a:blip r:embed="rId4"/>
          <a:stretch>
            <a:fillRect/>
          </a:stretch>
        </p:blipFill>
        <p:spPr>
          <a:xfrm>
            <a:off x="5806440" y="2103120"/>
            <a:ext cx="2103120" cy="2103120"/>
          </a:xfrm>
          <a:prstGeom prst="rect">
            <a:avLst/>
          </a:prstGeom>
        </p:spPr>
      </p:pic>
      <p:sp>
        <p:nvSpPr>
          <p:cNvPr id="11" name="Text 7"/>
          <p:cNvSpPr txBox="1"/>
          <p:nvPr/>
        </p:nvSpPr>
        <p:spPr>
          <a:xfrm>
            <a:off x="5303520" y="4206240"/>
            <a:ext cx="310896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show(corner): just that box</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Look Inside a Picture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TASKS 1 TO 3</a:t>
            </a:r>
            <a:endParaRPr lang="en-US" sz="2200" dirty="0"/>
          </a:p>
        </p:txBody>
      </p:sp>
      <p:sp>
        <p:nvSpPr>
          <p:cNvPr id="4" name="Text 2"/>
          <p:cNvSpPr txBox="1"/>
          <p:nvPr/>
        </p:nvSpPr>
        <p:spPr>
          <a:xfrm>
            <a:off x="548640" y="2528316"/>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Booklet Tasks 1, 2 and 3. Open it, find a pixel, crop a corner. We review together after. (Don’t worry about writing answers, discuss with your partner as you go – do run the code)</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8 min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1: Check</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371600"/>
            <a:ext cx="8229600" cy="1097280"/>
          </a:xfrm>
          <a:prstGeom prst="roundRect">
            <a:avLst>
              <a:gd name="adj" fmla="val 10000"/>
            </a:avLst>
          </a:prstGeom>
          <a:solidFill>
            <a:srgbClr val="EEF2F7"/>
          </a:solidFill>
          <a:ln w="9525">
            <a:solidFill>
              <a:srgbClr val="C5D1E3"/>
            </a:solidFill>
            <a:prstDash val="solid"/>
          </a:ln>
        </p:spPr>
        <p:txBody>
          <a:bodyPr/>
          <a:lstStyle/>
          <a:p>
            <a:endParaRPr lang="en-GB"/>
          </a:p>
        </p:txBody>
      </p:sp>
      <p:sp>
        <p:nvSpPr>
          <p:cNvPr id="6" name="@1 addText"/>
          <p:cNvSpPr txBox="1"/>
          <p:nvPr/>
        </p:nvSpPr>
        <p:spPr>
          <a:xfrm>
            <a:off x="457200" y="1371600"/>
            <a:ext cx="8229600" cy="1097280"/>
          </a:xfrm>
          <a:prstGeom prst="rect">
            <a:avLst/>
          </a:prstGeom>
          <a:noFill/>
          <a:ln/>
        </p:spPr>
        <p:txBody>
          <a:bodyPr wrap="square" lIns="0" tIns="0" rIns="0" bIns="0" rtlCol="0" anchor="ctr"/>
          <a:lstStyle/>
          <a:p>
            <a:pPr marL="0" indent="0" algn="ctr">
              <a:buNone/>
            </a:pPr>
            <a:r>
              <a:rPr lang="en-US" sz="4000" b="1" dirty="0">
                <a:solidFill>
                  <a:srgbClr val="002D6A"/>
                </a:solidFill>
                <a:latin typeface="Courier New" pitchFamily="34" charset="0"/>
                <a:ea typeface="Courier New" pitchFamily="34" charset="-122"/>
                <a:cs typeface="Courier New" pitchFamily="34" charset="-120"/>
              </a:rPr>
              <a:t>(320, 320, 3)</a:t>
            </a:r>
            <a:endParaRPr lang="en-US" sz="4000" dirty="0"/>
          </a:p>
        </p:txBody>
      </p:sp>
      <p:sp>
        <p:nvSpPr>
          <p:cNvPr id="7" name="@2 addText"/>
          <p:cNvSpPr txBox="1"/>
          <p:nvPr/>
        </p:nvSpPr>
        <p:spPr>
          <a:xfrm>
            <a:off x="457200" y="2743200"/>
            <a:ext cx="8229600" cy="548640"/>
          </a:xfrm>
          <a:prstGeom prst="rect">
            <a:avLst/>
          </a:prstGeom>
          <a:noFill/>
          <a:ln/>
        </p:spPr>
        <p:txBody>
          <a:bodyPr wrap="square" lIns="0" tIns="0" rIns="0" bIns="0" rtlCol="0" anchor="ctr"/>
          <a:lstStyle/>
          <a:p>
            <a:pPr marL="0" indent="0" algn="ctr">
              <a:buNone/>
            </a:pPr>
            <a:r>
              <a:rPr lang="en-US" sz="2200" dirty="0">
                <a:solidFill>
                  <a:srgbClr val="22262E"/>
                </a:solidFill>
                <a:latin typeface="Arial" pitchFamily="34" charset="0"/>
                <a:ea typeface="Arial" pitchFamily="34" charset="-122"/>
                <a:cs typeface="Arial" pitchFamily="34" charset="-120"/>
              </a:rPr>
              <a:t>rows x columns x 3 colour numbers</a:t>
            </a:r>
            <a:endParaRPr lang="en-US" sz="22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2: Check</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371600"/>
            <a:ext cx="8229600" cy="1097280"/>
          </a:xfrm>
          <a:prstGeom prst="roundRect">
            <a:avLst>
              <a:gd name="adj" fmla="val 10000"/>
            </a:avLst>
          </a:prstGeom>
          <a:solidFill>
            <a:srgbClr val="EEF2F7"/>
          </a:solidFill>
          <a:ln w="9525">
            <a:solidFill>
              <a:srgbClr val="C5D1E3"/>
            </a:solidFill>
            <a:prstDash val="solid"/>
          </a:ln>
        </p:spPr>
        <p:txBody>
          <a:bodyPr/>
          <a:lstStyle/>
          <a:p>
            <a:endParaRPr lang="en-GB"/>
          </a:p>
        </p:txBody>
      </p:sp>
      <p:sp>
        <p:nvSpPr>
          <p:cNvPr id="6" name="@1 addText"/>
          <p:cNvSpPr txBox="1"/>
          <p:nvPr/>
        </p:nvSpPr>
        <p:spPr>
          <a:xfrm>
            <a:off x="457200" y="1371600"/>
            <a:ext cx="8229600" cy="1097280"/>
          </a:xfrm>
          <a:prstGeom prst="rect">
            <a:avLst/>
          </a:prstGeom>
          <a:noFill/>
          <a:ln/>
        </p:spPr>
        <p:txBody>
          <a:bodyPr wrap="square" lIns="0" tIns="0" rIns="0" bIns="0" rtlCol="0" anchor="ctr"/>
          <a:lstStyle/>
          <a:p>
            <a:pPr marL="0" indent="0" algn="ctr">
              <a:buNone/>
            </a:pPr>
            <a:r>
              <a:rPr lang="en-US" sz="4000" b="1" dirty="0">
                <a:solidFill>
                  <a:srgbClr val="002D6A"/>
                </a:solidFill>
                <a:latin typeface="Courier New" pitchFamily="34" charset="0"/>
                <a:ea typeface="Courier New" pitchFamily="34" charset="-122"/>
                <a:cs typeface="Courier New" pitchFamily="34" charset="-120"/>
              </a:rPr>
              <a:t>[94 50 37]</a:t>
            </a:r>
            <a:endParaRPr lang="en-US" sz="4000" dirty="0"/>
          </a:p>
        </p:txBody>
      </p:sp>
      <p:sp>
        <p:nvSpPr>
          <p:cNvPr id="7" name="@2 addText"/>
          <p:cNvSpPr txBox="1"/>
          <p:nvPr/>
        </p:nvSpPr>
        <p:spPr>
          <a:xfrm>
            <a:off x="457200" y="2743200"/>
            <a:ext cx="8229600" cy="548640"/>
          </a:xfrm>
          <a:prstGeom prst="rect">
            <a:avLst/>
          </a:prstGeom>
          <a:noFill/>
          <a:ln/>
        </p:spPr>
        <p:txBody>
          <a:bodyPr wrap="square" lIns="0" tIns="0" rIns="0" bIns="0" rtlCol="0" anchor="ctr"/>
          <a:lstStyle/>
          <a:p>
            <a:pPr marL="0" indent="0" algn="ctr">
              <a:buNone/>
            </a:pPr>
            <a:r>
              <a:rPr lang="en-US" sz="2200" dirty="0">
                <a:solidFill>
                  <a:srgbClr val="22262E"/>
                </a:solidFill>
                <a:latin typeface="Arial" pitchFamily="34" charset="0"/>
                <a:ea typeface="Arial" pitchFamily="34" charset="-122"/>
                <a:cs typeface="Arial" pitchFamily="34" charset="-120"/>
              </a:rPr>
              <a:t>a reddish brown: red is the biggest number</a:t>
            </a:r>
            <a:endParaRPr lang="en-US" sz="22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Solutions: Tasks 2 and 3</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16</a:t>
            </a:fld>
            <a:endParaRPr lang="en-US"/>
          </a:p>
        </p:txBody>
      </p:sp>
      <p:sp>
        <p:nvSpPr>
          <p:cNvPr id="6" name="Code box"/>
          <p:cNvSpPr/>
          <p:nvPr/>
        </p:nvSpPr>
        <p:spPr>
          <a:xfrm>
            <a:off x="457200" y="1097280"/>
            <a:ext cx="8229600" cy="1517904"/>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1517904"/>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print(pixels[</a:t>
            </a:r>
            <a:r>
              <a:rPr sz="1700" b="0" i="0">
                <a:solidFill>
                  <a:srgbClr val="F2C879"/>
                </a:solidFill>
                <a:latin typeface="Courier New"/>
              </a:rPr>
              <a:t>100</a:t>
            </a:r>
            <a:r>
              <a:rPr sz="1700" b="0" i="0">
                <a:solidFill>
                  <a:srgbClr val="E6ECF5"/>
                </a:solidFill>
                <a:latin typeface="Courier New"/>
              </a:rPr>
              <a:t>, </a:t>
            </a:r>
            <a:r>
              <a:rPr sz="1700" b="0" i="0">
                <a:solidFill>
                  <a:srgbClr val="F2C879"/>
                </a:solidFill>
                <a:latin typeface="Courier New"/>
              </a:rPr>
              <a:t>200</a:t>
            </a:r>
            <a:r>
              <a:rPr sz="1700" b="0" i="0">
                <a:solidFill>
                  <a:srgbClr val="E6ECF5"/>
                </a:solidFill>
                <a:latin typeface="Courier New"/>
              </a:rPr>
              <a:t>])      </a:t>
            </a:r>
            <a:r>
              <a:rPr sz="1700" b="0" i="0">
                <a:solidFill>
                  <a:srgbClr val="8EA3C0"/>
                </a:solidFill>
                <a:latin typeface="Courier New"/>
              </a:rPr>
              <a:t># [94 50 37]</a:t>
            </a:r>
          </a:p>
        </p:txBody>
      </p:sp>
      <p:sp>
        <p:nvSpPr>
          <p:cNvPr id="9" name="Code line"/>
          <p:cNvSpPr txBox="1"/>
          <p:nvPr/>
        </p:nvSpPr>
        <p:spPr>
          <a:xfrm>
            <a:off x="640080" y="1856231"/>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square = pixels[</a:t>
            </a:r>
            <a:r>
              <a:rPr sz="1700" b="0" i="0">
                <a:solidFill>
                  <a:srgbClr val="F2C879"/>
                </a:solidFill>
                <a:latin typeface="Courier New"/>
              </a:rPr>
              <a:t>100</a:t>
            </a:r>
            <a:r>
              <a:rPr sz="1700" b="0" i="0">
                <a:solidFill>
                  <a:srgbClr val="E6ECF5"/>
                </a:solidFill>
                <a:latin typeface="Courier New"/>
              </a:rPr>
              <a:t>:</a:t>
            </a:r>
            <a:r>
              <a:rPr sz="1700" b="0" i="0">
                <a:solidFill>
                  <a:srgbClr val="F2C879"/>
                </a:solidFill>
                <a:latin typeface="Courier New"/>
              </a:rPr>
              <a:t>200</a:t>
            </a:r>
            <a:r>
              <a:rPr sz="1700" b="0" i="0">
                <a:solidFill>
                  <a:srgbClr val="E6ECF5"/>
                </a:solidFill>
                <a:latin typeface="Courier New"/>
              </a:rPr>
              <a:t>, </a:t>
            </a:r>
            <a:r>
              <a:rPr sz="1700" b="0" i="0">
                <a:solidFill>
                  <a:srgbClr val="F2C879"/>
                </a:solidFill>
                <a:latin typeface="Courier New"/>
              </a:rPr>
              <a:t>100</a:t>
            </a:r>
            <a:r>
              <a:rPr sz="1700" b="0" i="0">
                <a:solidFill>
                  <a:srgbClr val="E6ECF5"/>
                </a:solidFill>
                <a:latin typeface="Courier New"/>
              </a:rPr>
              <a:t>:</a:t>
            </a:r>
            <a:r>
              <a:rPr sz="1700" b="0" i="0">
                <a:solidFill>
                  <a:srgbClr val="F2C879"/>
                </a:solidFill>
                <a:latin typeface="Courier New"/>
              </a:rPr>
              <a:t>200</a:t>
            </a:r>
            <a:r>
              <a:rPr sz="1700" b="0" i="0">
                <a:solidFill>
                  <a:srgbClr val="E6ECF5"/>
                </a:solidFill>
                <a:latin typeface="Courier New"/>
              </a:rPr>
              <a:t>]</a:t>
            </a:r>
          </a:p>
        </p:txBody>
      </p:sp>
      <p:sp>
        <p:nvSpPr>
          <p:cNvPr id="10" name="Code line"/>
          <p:cNvSpPr txBox="1"/>
          <p:nvPr/>
        </p:nvSpPr>
        <p:spPr>
          <a:xfrm>
            <a:off x="640080" y="2167128"/>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show(square)                 </a:t>
            </a:r>
            <a:r>
              <a:rPr sz="1700" b="0" i="0">
                <a:solidFill>
                  <a:srgbClr val="8EA3C0"/>
                </a:solidFill>
                <a:latin typeface="Courier New"/>
              </a:rPr>
              <a:t># any 100 x 100 square works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Every Pixel: 3 Numbers</a:t>
            </a:r>
            <a:endParaRPr lang="en-US" sz="3000" dirty="0"/>
          </a:p>
        </p:txBody>
      </p:sp>
      <p:sp>
        <p:nvSpPr>
          <p:cNvPr id="3" name="4 MIN TALK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5 MIN TALK</a:t>
            </a:r>
            <a:endParaRPr lang="en-US" sz="1200" dirty="0"/>
          </a:p>
        </p:txBody>
      </p:sp>
      <p:sp>
        <p:nvSpPr>
          <p:cNvPr id="5" name="@1 Card"/>
          <p:cNvSpPr/>
          <p:nvPr/>
        </p:nvSpPr>
        <p:spPr>
          <a:xfrm>
            <a:off x="457200" y="1280160"/>
            <a:ext cx="256032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6" name="@1 addText"/>
          <p:cNvSpPr txBox="1"/>
          <p:nvPr/>
        </p:nvSpPr>
        <p:spPr>
          <a:xfrm>
            <a:off x="457200" y="1280160"/>
            <a:ext cx="2560320" cy="822960"/>
          </a:xfrm>
          <a:prstGeom prst="rect">
            <a:avLst/>
          </a:prstGeom>
          <a:noFill/>
          <a:ln/>
        </p:spPr>
        <p:txBody>
          <a:bodyPr wrap="square" lIns="0" tIns="0" rIns="0" bIns="0" rtlCol="0" anchor="ctr"/>
          <a:lstStyle/>
          <a:p>
            <a:pPr marL="0" indent="0" algn="ctr">
              <a:buNone/>
            </a:pPr>
            <a:r>
              <a:rPr lang="en-US" sz="2600" b="1" dirty="0">
                <a:solidFill>
                  <a:srgbClr val="002D6A"/>
                </a:solidFill>
                <a:latin typeface="Arial" pitchFamily="34" charset="0"/>
                <a:ea typeface="Arial" pitchFamily="34" charset="-122"/>
                <a:cs typeface="Arial" pitchFamily="34" charset="-120"/>
              </a:rPr>
              <a:t>R = red</a:t>
            </a:r>
            <a:endParaRPr lang="en-US" sz="2600" dirty="0"/>
          </a:p>
        </p:txBody>
      </p:sp>
      <p:sp>
        <p:nvSpPr>
          <p:cNvPr id="7" name="@2 Card"/>
          <p:cNvSpPr/>
          <p:nvPr/>
        </p:nvSpPr>
        <p:spPr>
          <a:xfrm>
            <a:off x="3291840" y="1280160"/>
            <a:ext cx="256032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8" name="@2 addText"/>
          <p:cNvSpPr txBox="1"/>
          <p:nvPr/>
        </p:nvSpPr>
        <p:spPr>
          <a:xfrm>
            <a:off x="3291840" y="1280160"/>
            <a:ext cx="2560320" cy="822960"/>
          </a:xfrm>
          <a:prstGeom prst="rect">
            <a:avLst/>
          </a:prstGeom>
          <a:noFill/>
          <a:ln/>
        </p:spPr>
        <p:txBody>
          <a:bodyPr wrap="square" lIns="0" tIns="0" rIns="0" bIns="0" rtlCol="0" anchor="ctr"/>
          <a:lstStyle/>
          <a:p>
            <a:pPr marL="0" indent="0" algn="ctr">
              <a:buNone/>
            </a:pPr>
            <a:r>
              <a:rPr lang="en-US" sz="2600" b="1" dirty="0">
                <a:solidFill>
                  <a:srgbClr val="002D6A"/>
                </a:solidFill>
                <a:latin typeface="Arial" pitchFamily="34" charset="0"/>
                <a:ea typeface="Arial" pitchFamily="34" charset="-122"/>
                <a:cs typeface="Arial" pitchFamily="34" charset="-120"/>
              </a:rPr>
              <a:t>G = green</a:t>
            </a:r>
            <a:endParaRPr lang="en-US" sz="2600" dirty="0"/>
          </a:p>
        </p:txBody>
      </p:sp>
      <p:sp>
        <p:nvSpPr>
          <p:cNvPr id="9" name="@3 Card"/>
          <p:cNvSpPr/>
          <p:nvPr/>
        </p:nvSpPr>
        <p:spPr>
          <a:xfrm>
            <a:off x="6126480" y="1280160"/>
            <a:ext cx="256032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10" name="@3 addText"/>
          <p:cNvSpPr txBox="1"/>
          <p:nvPr/>
        </p:nvSpPr>
        <p:spPr>
          <a:xfrm>
            <a:off x="6126480" y="1280160"/>
            <a:ext cx="2560320" cy="822960"/>
          </a:xfrm>
          <a:prstGeom prst="rect">
            <a:avLst/>
          </a:prstGeom>
          <a:noFill/>
          <a:ln/>
        </p:spPr>
        <p:txBody>
          <a:bodyPr wrap="square" lIns="0" tIns="0" rIns="0" bIns="0" rtlCol="0" anchor="ctr"/>
          <a:lstStyle/>
          <a:p>
            <a:pPr marL="0" indent="0" algn="ctr">
              <a:buNone/>
            </a:pPr>
            <a:r>
              <a:rPr lang="en-US" sz="2600" b="1" dirty="0">
                <a:solidFill>
                  <a:srgbClr val="002D6A"/>
                </a:solidFill>
                <a:latin typeface="Arial" pitchFamily="34" charset="0"/>
                <a:ea typeface="Arial" pitchFamily="34" charset="-122"/>
                <a:cs typeface="Arial" pitchFamily="34" charset="-120"/>
              </a:rPr>
              <a:t>B = blue</a:t>
            </a:r>
            <a:endParaRPr lang="en-US" sz="2600" dirty="0"/>
          </a:p>
        </p:txBody>
      </p:sp>
      <p:sp>
        <p:nvSpPr>
          <p:cNvPr id="11" name="@4 Callout"/>
          <p:cNvSpPr/>
          <p:nvPr/>
        </p:nvSpPr>
        <p:spPr>
          <a:xfrm>
            <a:off x="457200" y="2651760"/>
            <a:ext cx="8229600" cy="822960"/>
          </a:xfrm>
          <a:prstGeom prst="roundRect">
            <a:avLst>
              <a:gd name="adj" fmla="val 11111"/>
            </a:avLst>
          </a:prstGeom>
          <a:solidFill>
            <a:srgbClr val="FFFFFF"/>
          </a:solidFill>
          <a:ln w="15875">
            <a:solidFill>
              <a:srgbClr val="002D6A"/>
            </a:solidFill>
            <a:prstDash val="solid"/>
          </a:ln>
        </p:spPr>
        <p:txBody>
          <a:bodyPr/>
          <a:lstStyle/>
          <a:p>
            <a:endParaRPr lang="en-GB"/>
          </a:p>
        </p:txBody>
      </p:sp>
      <p:sp>
        <p:nvSpPr>
          <p:cNvPr id="12" name="@4 addText"/>
          <p:cNvSpPr txBox="1"/>
          <p:nvPr/>
        </p:nvSpPr>
        <p:spPr>
          <a:xfrm>
            <a:off x="685800" y="2651760"/>
            <a:ext cx="7772400" cy="82296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Each one is a brightness: 0 (none of that colour) to 255 (as much as possible).</a:t>
            </a:r>
            <a:endParaRPr lang="en-US" sz="12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4 x 4 Crop in Numbers</a:t>
            </a:r>
            <a:endParaRPr lang="en-US" sz="3000" dirty="0"/>
          </a:p>
        </p:txBody>
      </p:sp>
      <p:pic>
        <p:nvPicPr>
          <p:cNvPr id="5" name="Image 0" descr="A tiny 4 by 4 patch of brown pixels cropped from the cow photo"/>
          <p:cNvPicPr>
            <a:picLocks noChangeAspect="1"/>
          </p:cNvPicPr>
          <p:nvPr/>
        </p:nvPicPr>
        <p:blipFill>
          <a:blip r:embed="rId3"/>
          <a:stretch>
            <a:fillRect/>
          </a:stretch>
        </p:blipFill>
        <p:spPr>
          <a:xfrm>
            <a:off x="457200" y="1188720"/>
            <a:ext cx="2377440" cy="2377440"/>
          </a:xfrm>
          <a:prstGeom prst="rect">
            <a:avLst/>
          </a:prstGeom>
        </p:spPr>
      </p:pic>
      <p:sp>
        <p:nvSpPr>
          <p:cNvPr id="6" name="Text 3"/>
          <p:cNvSpPr txBox="1"/>
          <p:nvPr/>
        </p:nvSpPr>
        <p:spPr>
          <a:xfrm>
            <a:off x="274320" y="3657600"/>
            <a:ext cx="274320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pixels[100:104, 100:104]</a:t>
            </a:r>
            <a:endParaRPr lang="en-US" sz="1400" dirty="0"/>
          </a:p>
        </p:txBody>
      </p:sp>
      <p:sp>
        <p:nvSpPr>
          <p:cNvPr id="7" name="Card"/>
          <p:cNvSpPr/>
          <p:nvPr/>
        </p:nvSpPr>
        <p:spPr>
          <a:xfrm>
            <a:off x="3200400" y="118872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8" name="Text 5"/>
          <p:cNvSpPr txBox="1"/>
          <p:nvPr/>
        </p:nvSpPr>
        <p:spPr>
          <a:xfrm>
            <a:off x="3200400" y="118872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113, 73, 63</a:t>
            </a:r>
            <a:endParaRPr lang="en-US" sz="1400" dirty="0"/>
          </a:p>
        </p:txBody>
      </p:sp>
      <p:sp>
        <p:nvSpPr>
          <p:cNvPr id="9" name="Card"/>
          <p:cNvSpPr/>
          <p:nvPr/>
        </p:nvSpPr>
        <p:spPr>
          <a:xfrm>
            <a:off x="4572000" y="118872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0" name="Text 7"/>
          <p:cNvSpPr txBox="1"/>
          <p:nvPr/>
        </p:nvSpPr>
        <p:spPr>
          <a:xfrm>
            <a:off x="4572000" y="118872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123, 80, 71</a:t>
            </a:r>
            <a:endParaRPr lang="en-US" sz="1400" dirty="0"/>
          </a:p>
        </p:txBody>
      </p:sp>
      <p:sp>
        <p:nvSpPr>
          <p:cNvPr id="11" name="Card"/>
          <p:cNvSpPr/>
          <p:nvPr/>
        </p:nvSpPr>
        <p:spPr>
          <a:xfrm>
            <a:off x="5943600" y="118872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2" name="Text 9"/>
          <p:cNvSpPr txBox="1"/>
          <p:nvPr/>
        </p:nvSpPr>
        <p:spPr>
          <a:xfrm>
            <a:off x="5943600" y="118872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136, 92, 81</a:t>
            </a:r>
            <a:endParaRPr lang="en-US" sz="1400" dirty="0"/>
          </a:p>
        </p:txBody>
      </p:sp>
      <p:sp>
        <p:nvSpPr>
          <p:cNvPr id="13" name="Card"/>
          <p:cNvSpPr/>
          <p:nvPr/>
        </p:nvSpPr>
        <p:spPr>
          <a:xfrm>
            <a:off x="7315200" y="118872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4" name="Text 11"/>
          <p:cNvSpPr txBox="1"/>
          <p:nvPr/>
        </p:nvSpPr>
        <p:spPr>
          <a:xfrm>
            <a:off x="7315200" y="118872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141, 95, 80</a:t>
            </a:r>
            <a:endParaRPr lang="en-US" sz="1400" dirty="0"/>
          </a:p>
        </p:txBody>
      </p:sp>
      <p:sp>
        <p:nvSpPr>
          <p:cNvPr id="15" name="Card"/>
          <p:cNvSpPr/>
          <p:nvPr/>
        </p:nvSpPr>
        <p:spPr>
          <a:xfrm>
            <a:off x="3200400" y="182880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6" name="Text 13"/>
          <p:cNvSpPr txBox="1"/>
          <p:nvPr/>
        </p:nvSpPr>
        <p:spPr>
          <a:xfrm>
            <a:off x="3200400" y="182880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125, 83, 71</a:t>
            </a:r>
            <a:endParaRPr lang="en-US" sz="1400" dirty="0"/>
          </a:p>
        </p:txBody>
      </p:sp>
      <p:sp>
        <p:nvSpPr>
          <p:cNvPr id="17" name="Card"/>
          <p:cNvSpPr/>
          <p:nvPr/>
        </p:nvSpPr>
        <p:spPr>
          <a:xfrm>
            <a:off x="4572000" y="182880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8" name="Text 15"/>
          <p:cNvSpPr txBox="1"/>
          <p:nvPr/>
        </p:nvSpPr>
        <p:spPr>
          <a:xfrm>
            <a:off x="4572000" y="182880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139, 95, 84</a:t>
            </a:r>
            <a:endParaRPr lang="en-US" sz="1400" dirty="0"/>
          </a:p>
        </p:txBody>
      </p:sp>
      <p:sp>
        <p:nvSpPr>
          <p:cNvPr id="19" name="Card"/>
          <p:cNvSpPr/>
          <p:nvPr/>
        </p:nvSpPr>
        <p:spPr>
          <a:xfrm>
            <a:off x="5943600" y="182880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0" name="Text 17"/>
          <p:cNvSpPr txBox="1"/>
          <p:nvPr/>
        </p:nvSpPr>
        <p:spPr>
          <a:xfrm>
            <a:off x="5943600" y="182880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150, 104, 91</a:t>
            </a:r>
            <a:endParaRPr lang="en-US" sz="1400" dirty="0"/>
          </a:p>
        </p:txBody>
      </p:sp>
      <p:sp>
        <p:nvSpPr>
          <p:cNvPr id="21" name="Card"/>
          <p:cNvSpPr/>
          <p:nvPr/>
        </p:nvSpPr>
        <p:spPr>
          <a:xfrm>
            <a:off x="7315200" y="182880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2" name="Text 19"/>
          <p:cNvSpPr txBox="1"/>
          <p:nvPr/>
        </p:nvSpPr>
        <p:spPr>
          <a:xfrm>
            <a:off x="7315200" y="182880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147, 99, 85</a:t>
            </a:r>
            <a:endParaRPr lang="en-US" sz="1400" dirty="0"/>
          </a:p>
        </p:txBody>
      </p:sp>
      <p:sp>
        <p:nvSpPr>
          <p:cNvPr id="23" name="Card"/>
          <p:cNvSpPr/>
          <p:nvPr/>
        </p:nvSpPr>
        <p:spPr>
          <a:xfrm>
            <a:off x="3200400" y="246888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4" name="Text 21"/>
          <p:cNvSpPr txBox="1"/>
          <p:nvPr/>
        </p:nvSpPr>
        <p:spPr>
          <a:xfrm>
            <a:off x="3200400" y="246888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132, 88, 77</a:t>
            </a:r>
            <a:endParaRPr lang="en-US" sz="1400" dirty="0"/>
          </a:p>
        </p:txBody>
      </p:sp>
      <p:sp>
        <p:nvSpPr>
          <p:cNvPr id="25" name="Card"/>
          <p:cNvSpPr/>
          <p:nvPr/>
        </p:nvSpPr>
        <p:spPr>
          <a:xfrm>
            <a:off x="4572000" y="246888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6" name="Text 23"/>
          <p:cNvSpPr txBox="1"/>
          <p:nvPr/>
        </p:nvSpPr>
        <p:spPr>
          <a:xfrm>
            <a:off x="4572000" y="246888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140, 93, 83</a:t>
            </a:r>
            <a:endParaRPr lang="en-US" sz="1400" dirty="0"/>
          </a:p>
        </p:txBody>
      </p:sp>
      <p:sp>
        <p:nvSpPr>
          <p:cNvPr id="27" name="Card"/>
          <p:cNvSpPr/>
          <p:nvPr/>
        </p:nvSpPr>
        <p:spPr>
          <a:xfrm>
            <a:off x="5943600" y="246888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8" name="Text 25"/>
          <p:cNvSpPr txBox="1"/>
          <p:nvPr/>
        </p:nvSpPr>
        <p:spPr>
          <a:xfrm>
            <a:off x="5943600" y="246888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145, 97, 85</a:t>
            </a:r>
            <a:endParaRPr lang="en-US" sz="1400" dirty="0"/>
          </a:p>
        </p:txBody>
      </p:sp>
      <p:sp>
        <p:nvSpPr>
          <p:cNvPr id="29" name="Card"/>
          <p:cNvSpPr/>
          <p:nvPr/>
        </p:nvSpPr>
        <p:spPr>
          <a:xfrm>
            <a:off x="7315200" y="246888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30" name="Text 27"/>
          <p:cNvSpPr txBox="1"/>
          <p:nvPr/>
        </p:nvSpPr>
        <p:spPr>
          <a:xfrm>
            <a:off x="7315200" y="246888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142, 93, 78</a:t>
            </a:r>
            <a:endParaRPr lang="en-US" sz="1400" dirty="0"/>
          </a:p>
        </p:txBody>
      </p:sp>
      <p:sp>
        <p:nvSpPr>
          <p:cNvPr id="31" name="Card"/>
          <p:cNvSpPr/>
          <p:nvPr/>
        </p:nvSpPr>
        <p:spPr>
          <a:xfrm>
            <a:off x="3200400" y="310896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32" name="Text 29"/>
          <p:cNvSpPr txBox="1"/>
          <p:nvPr/>
        </p:nvSpPr>
        <p:spPr>
          <a:xfrm>
            <a:off x="3200400" y="310896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125, 81, 68</a:t>
            </a:r>
            <a:endParaRPr lang="en-US" sz="1400" dirty="0"/>
          </a:p>
        </p:txBody>
      </p:sp>
      <p:sp>
        <p:nvSpPr>
          <p:cNvPr id="33" name="Card"/>
          <p:cNvSpPr/>
          <p:nvPr/>
        </p:nvSpPr>
        <p:spPr>
          <a:xfrm>
            <a:off x="4572000" y="310896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34" name="Text 31"/>
          <p:cNvSpPr txBox="1"/>
          <p:nvPr/>
        </p:nvSpPr>
        <p:spPr>
          <a:xfrm>
            <a:off x="4572000" y="310896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130, 82, 70</a:t>
            </a:r>
            <a:endParaRPr lang="en-US" sz="1400" dirty="0"/>
          </a:p>
        </p:txBody>
      </p:sp>
      <p:sp>
        <p:nvSpPr>
          <p:cNvPr id="35" name="Card"/>
          <p:cNvSpPr/>
          <p:nvPr/>
        </p:nvSpPr>
        <p:spPr>
          <a:xfrm>
            <a:off x="5943600" y="310896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36" name="Text 33"/>
          <p:cNvSpPr txBox="1"/>
          <p:nvPr/>
        </p:nvSpPr>
        <p:spPr>
          <a:xfrm>
            <a:off x="5943600" y="310896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138, 89, 75</a:t>
            </a:r>
            <a:endParaRPr lang="en-US" sz="1400" dirty="0"/>
          </a:p>
        </p:txBody>
      </p:sp>
      <p:sp>
        <p:nvSpPr>
          <p:cNvPr id="37" name="Card"/>
          <p:cNvSpPr/>
          <p:nvPr/>
        </p:nvSpPr>
        <p:spPr>
          <a:xfrm>
            <a:off x="7315200" y="3108960"/>
            <a:ext cx="128016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38" name="Text 35"/>
          <p:cNvSpPr txBox="1"/>
          <p:nvPr/>
        </p:nvSpPr>
        <p:spPr>
          <a:xfrm>
            <a:off x="7315200" y="3108960"/>
            <a:ext cx="1280160" cy="548640"/>
          </a:xfrm>
          <a:prstGeom prst="rect">
            <a:avLst/>
          </a:prstGeom>
          <a:noFill/>
          <a:ln/>
        </p:spPr>
        <p:txBody>
          <a:bodyPr wrap="square" lIns="0" tIns="0" rIns="0" bIns="0" rtlCol="0" anchor="ctr"/>
          <a:lstStyle/>
          <a:p>
            <a:pPr marL="0" indent="0" algn="ctr">
              <a:buNone/>
            </a:pPr>
            <a:r>
              <a:rPr lang="en-US" sz="1400" dirty="0">
                <a:solidFill>
                  <a:srgbClr val="22262E"/>
                </a:solidFill>
                <a:latin typeface="Arial" pitchFamily="34" charset="0"/>
                <a:ea typeface="Arial" pitchFamily="34" charset="-122"/>
                <a:cs typeface="Arial" pitchFamily="34" charset="-120"/>
              </a:rPr>
              <a:t>144, 92, 78</a:t>
            </a:r>
            <a:endParaRPr lang="en-US" sz="1400" dirty="0"/>
          </a:p>
        </p:txBody>
      </p:sp>
      <p:sp>
        <p:nvSpPr>
          <p:cNvPr id="3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Take One Pixel: (113, 73, 63)</a:t>
            </a:r>
            <a:endParaRPr lang="en-US" sz="3000" dirty="0"/>
          </a:p>
        </p:txBody>
      </p:sp>
      <p:sp>
        <p:nvSpPr>
          <p:cNvPr id="3" name="@1 swatch"/>
          <p:cNvSpPr/>
          <p:nvPr/>
        </p:nvSpPr>
        <p:spPr>
          <a:xfrm>
            <a:off x="731520" y="1280160"/>
            <a:ext cx="1280160" cy="1280160"/>
          </a:xfrm>
          <a:prstGeom prst="rect">
            <a:avLst/>
          </a:prstGeom>
          <a:solidFill>
            <a:srgbClr val="5A0000"/>
          </a:solidFill>
          <a:ln w="12700">
            <a:solidFill>
              <a:srgbClr val="5A0000"/>
            </a:solidFill>
            <a:prstDash val="solid"/>
          </a:ln>
        </p:spPr>
        <p:txBody>
          <a:bodyPr/>
          <a:lstStyle/>
          <a:p>
            <a:endParaRPr lang="en-GB"/>
          </a:p>
        </p:txBody>
      </p:sp>
      <p:sp>
        <p:nvSpPr>
          <p:cNvPr id="4" name="@1 addText"/>
          <p:cNvSpPr txBox="1"/>
          <p:nvPr/>
        </p:nvSpPr>
        <p:spPr>
          <a:xfrm>
            <a:off x="731520" y="2651760"/>
            <a:ext cx="1280160" cy="365760"/>
          </a:xfrm>
          <a:prstGeom prst="rect">
            <a:avLst/>
          </a:prstGeom>
          <a:noFill/>
          <a:ln/>
        </p:spPr>
        <p:txBody>
          <a:bodyPr wrap="square" lIns="0" tIns="0" rIns="0" bIns="0" rtlCol="0" anchor="ctr"/>
          <a:lstStyle/>
          <a:p>
            <a:pPr marL="0" indent="0" algn="ctr">
              <a:buNone/>
            </a:pPr>
            <a:r>
              <a:rPr lang="en-US" sz="1800" b="1" dirty="0">
                <a:solidFill>
                  <a:srgbClr val="22262E"/>
                </a:solidFill>
                <a:latin typeface="Arial" pitchFamily="34" charset="0"/>
                <a:ea typeface="Arial" pitchFamily="34" charset="-122"/>
                <a:cs typeface="Arial" pitchFamily="34" charset="-120"/>
              </a:rPr>
              <a:t>R  113</a:t>
            </a:r>
            <a:endParaRPr lang="en-US" sz="1800" dirty="0"/>
          </a:p>
        </p:txBody>
      </p:sp>
      <p:sp>
        <p:nvSpPr>
          <p:cNvPr id="5" name="@2 swatch"/>
          <p:cNvSpPr/>
          <p:nvPr/>
        </p:nvSpPr>
        <p:spPr>
          <a:xfrm>
            <a:off x="2651760" y="1280160"/>
            <a:ext cx="1280160" cy="1280160"/>
          </a:xfrm>
          <a:prstGeom prst="rect">
            <a:avLst/>
          </a:prstGeom>
          <a:solidFill>
            <a:srgbClr val="004000"/>
          </a:solidFill>
          <a:ln w="12700">
            <a:solidFill>
              <a:srgbClr val="004000"/>
            </a:solidFill>
            <a:prstDash val="solid"/>
          </a:ln>
        </p:spPr>
        <p:txBody>
          <a:bodyPr/>
          <a:lstStyle/>
          <a:p>
            <a:endParaRPr lang="en-GB"/>
          </a:p>
        </p:txBody>
      </p:sp>
      <p:sp>
        <p:nvSpPr>
          <p:cNvPr id="6" name="@2 addText"/>
          <p:cNvSpPr txBox="1"/>
          <p:nvPr/>
        </p:nvSpPr>
        <p:spPr>
          <a:xfrm>
            <a:off x="2651760" y="2651760"/>
            <a:ext cx="1280160" cy="365760"/>
          </a:xfrm>
          <a:prstGeom prst="rect">
            <a:avLst/>
          </a:prstGeom>
          <a:noFill/>
          <a:ln/>
        </p:spPr>
        <p:txBody>
          <a:bodyPr wrap="square" lIns="0" tIns="0" rIns="0" bIns="0" rtlCol="0" anchor="ctr"/>
          <a:lstStyle/>
          <a:p>
            <a:pPr marL="0" indent="0" algn="ctr">
              <a:buNone/>
            </a:pPr>
            <a:r>
              <a:rPr lang="en-US" sz="1800" b="1" dirty="0">
                <a:solidFill>
                  <a:srgbClr val="22262E"/>
                </a:solidFill>
                <a:latin typeface="Arial" pitchFamily="34" charset="0"/>
                <a:ea typeface="Arial" pitchFamily="34" charset="-122"/>
                <a:cs typeface="Arial" pitchFamily="34" charset="-120"/>
              </a:rPr>
              <a:t>G  73</a:t>
            </a:r>
            <a:endParaRPr lang="en-US" sz="1800" dirty="0"/>
          </a:p>
        </p:txBody>
      </p:sp>
      <p:sp>
        <p:nvSpPr>
          <p:cNvPr id="7" name="@3 swatch"/>
          <p:cNvSpPr/>
          <p:nvPr/>
        </p:nvSpPr>
        <p:spPr>
          <a:xfrm>
            <a:off x="4572000" y="1280160"/>
            <a:ext cx="1280160" cy="1280160"/>
          </a:xfrm>
          <a:prstGeom prst="rect">
            <a:avLst/>
          </a:prstGeom>
          <a:solidFill>
            <a:srgbClr val="00003C"/>
          </a:solidFill>
          <a:ln w="12700">
            <a:solidFill>
              <a:srgbClr val="00003C"/>
            </a:solidFill>
            <a:prstDash val="solid"/>
          </a:ln>
        </p:spPr>
        <p:txBody>
          <a:bodyPr/>
          <a:lstStyle/>
          <a:p>
            <a:endParaRPr lang="en-GB"/>
          </a:p>
        </p:txBody>
      </p:sp>
      <p:sp>
        <p:nvSpPr>
          <p:cNvPr id="8" name="@3 addText"/>
          <p:cNvSpPr txBox="1"/>
          <p:nvPr/>
        </p:nvSpPr>
        <p:spPr>
          <a:xfrm>
            <a:off x="4572000" y="2651760"/>
            <a:ext cx="1280160" cy="365760"/>
          </a:xfrm>
          <a:prstGeom prst="rect">
            <a:avLst/>
          </a:prstGeom>
          <a:noFill/>
          <a:ln/>
        </p:spPr>
        <p:txBody>
          <a:bodyPr wrap="square" lIns="0" tIns="0" rIns="0" bIns="0" rtlCol="0" anchor="ctr"/>
          <a:lstStyle/>
          <a:p>
            <a:pPr marL="0" indent="0" algn="ctr">
              <a:buNone/>
            </a:pPr>
            <a:r>
              <a:rPr lang="en-US" sz="1800" b="1" dirty="0">
                <a:solidFill>
                  <a:srgbClr val="22262E"/>
                </a:solidFill>
                <a:latin typeface="Arial" pitchFamily="34" charset="0"/>
                <a:ea typeface="Arial" pitchFamily="34" charset="-122"/>
                <a:cs typeface="Arial" pitchFamily="34" charset="-120"/>
              </a:rPr>
              <a:t>B  63</a:t>
            </a:r>
            <a:endParaRPr lang="en-US" sz="1800" dirty="0"/>
          </a:p>
        </p:txBody>
      </p:sp>
      <p:sp>
        <p:nvSpPr>
          <p:cNvPr id="9" name="@4 swatch"/>
          <p:cNvSpPr/>
          <p:nvPr/>
        </p:nvSpPr>
        <p:spPr>
          <a:xfrm>
            <a:off x="6492240" y="1280160"/>
            <a:ext cx="1463040" cy="1280160"/>
          </a:xfrm>
          <a:prstGeom prst="rect">
            <a:avLst/>
          </a:prstGeom>
          <a:solidFill>
            <a:srgbClr val="71493F"/>
          </a:solidFill>
          <a:ln w="12700">
            <a:solidFill>
              <a:srgbClr val="71493F"/>
            </a:solidFill>
            <a:prstDash val="solid"/>
          </a:ln>
        </p:spPr>
        <p:txBody>
          <a:bodyPr/>
          <a:lstStyle/>
          <a:p>
            <a:endParaRPr lang="en-GB"/>
          </a:p>
        </p:txBody>
      </p:sp>
      <p:sp>
        <p:nvSpPr>
          <p:cNvPr id="10" name="@4 addText"/>
          <p:cNvSpPr txBox="1"/>
          <p:nvPr/>
        </p:nvSpPr>
        <p:spPr>
          <a:xfrm>
            <a:off x="6492240" y="2651760"/>
            <a:ext cx="1463040" cy="365760"/>
          </a:xfrm>
          <a:prstGeom prst="rect">
            <a:avLst/>
          </a:prstGeom>
          <a:noFill/>
          <a:ln/>
        </p:spPr>
        <p:txBody>
          <a:bodyPr wrap="square" lIns="0" tIns="0" rIns="0" bIns="0" rtlCol="0" anchor="ctr"/>
          <a:lstStyle/>
          <a:p>
            <a:pPr marL="0" indent="0" algn="ctr">
              <a:buNone/>
            </a:pPr>
            <a:r>
              <a:rPr lang="en-US" sz="1800" b="1" dirty="0">
                <a:solidFill>
                  <a:srgbClr val="22262E"/>
                </a:solidFill>
                <a:latin typeface="Arial" pitchFamily="34" charset="0"/>
                <a:ea typeface="Arial" pitchFamily="34" charset="-122"/>
                <a:cs typeface="Arial" pitchFamily="34" charset="-120"/>
              </a:rPr>
              <a:t>= the pixel</a:t>
            </a:r>
            <a:endParaRPr lang="en-US" sz="1800" dirty="0"/>
          </a:p>
        </p:txBody>
      </p:sp>
      <p:sp>
        <p:nvSpPr>
          <p:cNvPr id="11" name="@5 Callout"/>
          <p:cNvSpPr/>
          <p:nvPr/>
        </p:nvSpPr>
        <p:spPr>
          <a:xfrm>
            <a:off x="457200" y="3566160"/>
            <a:ext cx="8229600" cy="731520"/>
          </a:xfrm>
          <a:prstGeom prst="roundRect">
            <a:avLst>
              <a:gd name="adj" fmla="val 12500"/>
            </a:avLst>
          </a:prstGeom>
          <a:solidFill>
            <a:srgbClr val="FFFFFF"/>
          </a:solidFill>
          <a:ln w="15875">
            <a:solidFill>
              <a:srgbClr val="002D6A"/>
            </a:solidFill>
            <a:prstDash val="solid"/>
          </a:ln>
        </p:spPr>
        <p:txBody>
          <a:bodyPr/>
          <a:lstStyle/>
          <a:p>
            <a:endParaRPr lang="en-GB"/>
          </a:p>
        </p:txBody>
      </p:sp>
      <p:sp>
        <p:nvSpPr>
          <p:cNvPr id="12" name="@5 addText"/>
          <p:cNvSpPr txBox="1"/>
          <p:nvPr/>
        </p:nvSpPr>
        <p:spPr>
          <a:xfrm>
            <a:off x="685800" y="3566160"/>
            <a:ext cx="7772400" cy="73152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Change the numbers, change the picture. That is all a photo is.</a:t>
            </a:r>
            <a:endParaRPr lang="en-US" sz="12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2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Split Into Three Pictures</a:t>
            </a:r>
            <a:endParaRPr lang="en-US" sz="3000" dirty="0"/>
          </a:p>
        </p:txBody>
      </p:sp>
      <p:pic>
        <p:nvPicPr>
          <p:cNvPr id="5" name="Image 0" descr="The red channel of the cow photo shown as a red-shaded picture, wall bright"/>
          <p:cNvPicPr>
            <a:picLocks noChangeAspect="1"/>
          </p:cNvPicPr>
          <p:nvPr/>
        </p:nvPicPr>
        <p:blipFill>
          <a:blip r:embed="rId3"/>
          <a:stretch>
            <a:fillRect/>
          </a:stretch>
        </p:blipFill>
        <p:spPr>
          <a:xfrm>
            <a:off x="457200" y="1116874"/>
            <a:ext cx="4114800" cy="3526971"/>
          </a:xfrm>
          <a:prstGeom prst="rect">
            <a:avLst/>
          </a:prstGeom>
        </p:spPr>
      </p:pic>
      <p:sp>
        <p:nvSpPr>
          <p:cNvPr id="6" name="code bg"/>
          <p:cNvSpPr/>
          <p:nvPr/>
        </p:nvSpPr>
        <p:spPr>
          <a:xfrm>
            <a:off x="4846320" y="1188720"/>
            <a:ext cx="3840480" cy="548640"/>
          </a:xfrm>
          <a:prstGeom prst="rect">
            <a:avLst/>
          </a:prstGeom>
          <a:solidFill>
            <a:srgbClr val="0B2A57"/>
          </a:solidFill>
          <a:ln w="12700">
            <a:solidFill>
              <a:srgbClr val="0B2A57"/>
            </a:solidFill>
            <a:prstDash val="solid"/>
          </a:ln>
        </p:spPr>
        <p:txBody>
          <a:bodyPr/>
          <a:lstStyle/>
          <a:p>
            <a:endParaRPr lang="en-GB"/>
          </a:p>
        </p:txBody>
      </p:sp>
      <p:sp>
        <p:nvSpPr>
          <p:cNvPr id="7" name="code bar"/>
          <p:cNvSpPr/>
          <p:nvPr/>
        </p:nvSpPr>
        <p:spPr>
          <a:xfrm>
            <a:off x="4846320" y="1188720"/>
            <a:ext cx="54864" cy="548640"/>
          </a:xfrm>
          <a:prstGeom prst="rect">
            <a:avLst/>
          </a:prstGeom>
          <a:solidFill>
            <a:srgbClr val="A9C4E8"/>
          </a:solidFill>
          <a:ln w="12700">
            <a:solidFill>
              <a:srgbClr val="5D79A0"/>
            </a:solidFill>
            <a:prstDash val="solid"/>
          </a:ln>
        </p:spPr>
        <p:txBody>
          <a:bodyPr/>
          <a:lstStyle/>
          <a:p>
            <a:endParaRPr lang="en-GB"/>
          </a:p>
        </p:txBody>
      </p:sp>
      <p:sp>
        <p:nvSpPr>
          <p:cNvPr id="8" name="code line 1"/>
          <p:cNvSpPr txBox="1"/>
          <p:nvPr/>
        </p:nvSpPr>
        <p:spPr>
          <a:xfrm>
            <a:off x="5029200" y="1325880"/>
            <a:ext cx="356616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&gt;&gt;&gt; </a:t>
            </a:r>
            <a:r>
              <a:rPr lang="en-US" sz="1600" dirty="0">
                <a:solidFill>
                  <a:srgbClr val="E6ECF5"/>
                </a:solidFill>
                <a:latin typeface="Courier New" pitchFamily="34" charset="0"/>
                <a:ea typeface="Courier New" pitchFamily="34" charset="-122"/>
                <a:cs typeface="Courier New" pitchFamily="34" charset="-120"/>
              </a:rPr>
              <a:t>red = pixels[:, :, 0]</a:t>
            </a:r>
            <a:endParaRPr lang="en-US" sz="1600" dirty="0"/>
          </a:p>
        </p:txBody>
      </p:sp>
      <p:sp>
        <p:nvSpPr>
          <p:cNvPr id="9" name="@1 dot"/>
          <p:cNvSpPr/>
          <p:nvPr/>
        </p:nvSpPr>
        <p:spPr>
          <a:xfrm>
            <a:off x="4846320" y="2322576"/>
            <a:ext cx="109728" cy="109728"/>
          </a:xfrm>
          <a:prstGeom prst="ellipse">
            <a:avLst/>
          </a:prstGeom>
          <a:solidFill>
            <a:srgbClr val="002D6A"/>
          </a:solidFill>
          <a:ln w="12700">
            <a:solidFill>
              <a:srgbClr val="002D6A"/>
            </a:solidFill>
            <a:prstDash val="solid"/>
          </a:ln>
        </p:spPr>
        <p:txBody>
          <a:bodyPr/>
          <a:lstStyle/>
          <a:p>
            <a:endParaRPr lang="en-GB"/>
          </a:p>
        </p:txBody>
      </p:sp>
      <p:sp>
        <p:nvSpPr>
          <p:cNvPr id="10" name="@1 addText"/>
          <p:cNvSpPr txBox="1"/>
          <p:nvPr/>
        </p:nvSpPr>
        <p:spPr>
          <a:xfrm>
            <a:off x="5120640" y="2194560"/>
            <a:ext cx="3566160" cy="54864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Channel 0 is red.</a:t>
            </a:r>
            <a:endParaRPr lang="en-US" sz="1600" dirty="0"/>
          </a:p>
        </p:txBody>
      </p:sp>
      <p:sp>
        <p:nvSpPr>
          <p:cNvPr id="11" name="@2 dot"/>
          <p:cNvSpPr/>
          <p:nvPr/>
        </p:nvSpPr>
        <p:spPr>
          <a:xfrm>
            <a:off x="4846320" y="2916936"/>
            <a:ext cx="109728" cy="109728"/>
          </a:xfrm>
          <a:prstGeom prst="ellipse">
            <a:avLst/>
          </a:prstGeom>
          <a:solidFill>
            <a:srgbClr val="002D6A"/>
          </a:solidFill>
          <a:ln w="12700">
            <a:solidFill>
              <a:srgbClr val="002D6A"/>
            </a:solidFill>
            <a:prstDash val="solid"/>
          </a:ln>
        </p:spPr>
        <p:txBody>
          <a:bodyPr/>
          <a:lstStyle/>
          <a:p>
            <a:endParaRPr lang="en-GB"/>
          </a:p>
        </p:txBody>
      </p:sp>
      <p:sp>
        <p:nvSpPr>
          <p:cNvPr id="12" name="@2 addText"/>
          <p:cNvSpPr txBox="1"/>
          <p:nvPr/>
        </p:nvSpPr>
        <p:spPr>
          <a:xfrm>
            <a:off x="5120640" y="2788920"/>
            <a:ext cx="3566160" cy="54864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Big number = deep red.</a:t>
            </a:r>
            <a:endParaRPr lang="en-US" sz="1600" dirty="0"/>
          </a:p>
        </p:txBody>
      </p:sp>
      <p:sp>
        <p:nvSpPr>
          <p:cNvPr id="13" name="@3 dot"/>
          <p:cNvSpPr/>
          <p:nvPr/>
        </p:nvSpPr>
        <p:spPr>
          <a:xfrm>
            <a:off x="4846320" y="3511296"/>
            <a:ext cx="109728" cy="109728"/>
          </a:xfrm>
          <a:prstGeom prst="ellipse">
            <a:avLst/>
          </a:prstGeom>
          <a:solidFill>
            <a:srgbClr val="002D6A"/>
          </a:solidFill>
          <a:ln w="12700">
            <a:solidFill>
              <a:srgbClr val="002D6A"/>
            </a:solidFill>
            <a:prstDash val="solid"/>
          </a:ln>
        </p:spPr>
        <p:txBody>
          <a:bodyPr/>
          <a:lstStyle/>
          <a:p>
            <a:endParaRPr lang="en-GB"/>
          </a:p>
        </p:txBody>
      </p:sp>
      <p:sp>
        <p:nvSpPr>
          <p:cNvPr id="14" name="@3 addText"/>
          <p:cNvSpPr txBox="1"/>
          <p:nvPr/>
        </p:nvSpPr>
        <p:spPr>
          <a:xfrm>
            <a:off x="5120640" y="3383280"/>
            <a:ext cx="3566160" cy="54864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Wall: lots of red. Cow: almost none.</a:t>
            </a:r>
            <a:endParaRPr lang="en-US" sz="1600" dirty="0"/>
          </a:p>
        </p:txBody>
      </p:sp>
      <p:sp>
        <p:nvSpPr>
          <p:cNvPr id="1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Switch Red Off</a:t>
            </a:r>
            <a:endParaRPr lang="en-US" sz="3000" dirty="0"/>
          </a:p>
        </p:txBody>
      </p:sp>
      <p:sp>
        <p:nvSpPr>
          <p:cNvPr id="5" name="code bg"/>
          <p:cNvSpPr/>
          <p:nvPr/>
        </p:nvSpPr>
        <p:spPr>
          <a:xfrm>
            <a:off x="457200" y="1143000"/>
            <a:ext cx="8229600" cy="130302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43000"/>
            <a:ext cx="54864" cy="130302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2801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1  </a:t>
            </a:r>
            <a:r>
              <a:rPr lang="en-US" sz="2000" dirty="0">
                <a:solidFill>
                  <a:srgbClr val="E6ECF5"/>
                </a:solidFill>
                <a:latin typeface="Courier New" pitchFamily="34" charset="0"/>
                <a:ea typeface="Courier New" pitchFamily="34" charset="-122"/>
                <a:cs typeface="Courier New" pitchFamily="34" charset="-120"/>
              </a:rPr>
              <a:t>no_red = pixels.copy()</a:t>
            </a:r>
            <a:endParaRPr lang="en-US" sz="2000" dirty="0"/>
          </a:p>
        </p:txBody>
      </p:sp>
      <p:sp>
        <p:nvSpPr>
          <p:cNvPr id="8" name="@1 code line 2"/>
          <p:cNvSpPr txBox="1"/>
          <p:nvPr/>
        </p:nvSpPr>
        <p:spPr>
          <a:xfrm>
            <a:off x="640080" y="16230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2  </a:t>
            </a:r>
            <a:r>
              <a:rPr lang="en-US" sz="2000" dirty="0">
                <a:solidFill>
                  <a:srgbClr val="E6ECF5"/>
                </a:solidFill>
                <a:latin typeface="Courier New" pitchFamily="34" charset="0"/>
                <a:ea typeface="Courier New" pitchFamily="34" charset="-122"/>
                <a:cs typeface="Courier New" pitchFamily="34" charset="-120"/>
              </a:rPr>
              <a:t>no_red[:, :, 0] = 0</a:t>
            </a:r>
            <a:endParaRPr lang="en-US" sz="2000" dirty="0"/>
          </a:p>
        </p:txBody>
      </p:sp>
      <p:sp>
        <p:nvSpPr>
          <p:cNvPr id="9" name="@2 code line 3"/>
          <p:cNvSpPr txBox="1"/>
          <p:nvPr/>
        </p:nvSpPr>
        <p:spPr>
          <a:xfrm>
            <a:off x="640080" y="1965960"/>
            <a:ext cx="7955280" cy="342900"/>
          </a:xfrm>
          <a:prstGeom prst="rect">
            <a:avLst/>
          </a:prstGeom>
          <a:noFill/>
          <a:ln/>
        </p:spPr>
        <p:txBody>
          <a:bodyPr wrap="squar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3  </a:t>
            </a:r>
            <a:r>
              <a:rPr lang="en-US" sz="2000" dirty="0">
                <a:solidFill>
                  <a:srgbClr val="E6ECF5"/>
                </a:solidFill>
                <a:latin typeface="Courier New" pitchFamily="34" charset="0"/>
                <a:ea typeface="Courier New" pitchFamily="34" charset="-122"/>
                <a:cs typeface="Courier New" pitchFamily="34" charset="-120"/>
              </a:rPr>
              <a:t>show(no_red)</a:t>
            </a:r>
            <a:endParaRPr lang="en-US" sz="2000" dirty="0"/>
          </a:p>
        </p:txBody>
      </p:sp>
      <p:sp>
        <p:nvSpPr>
          <p:cNvPr id="10" name="@1 addText"/>
          <p:cNvSpPr txBox="1"/>
          <p:nvPr/>
        </p:nvSpPr>
        <p:spPr>
          <a:xfrm>
            <a:off x="457200" y="32918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.copy() makes a second picture, so the original stays safe.</a:t>
            </a:r>
            <a:endParaRPr lang="en-US" sz="1400" dirty="0"/>
          </a:p>
        </p:txBody>
      </p:sp>
      <p:sp>
        <p:nvSpPr>
          <p:cNvPr id="11" name="@2 addText"/>
          <p:cNvSpPr txBox="1"/>
          <p:nvPr/>
        </p:nvSpPr>
        <p:spPr>
          <a:xfrm>
            <a:off x="457200" y="37490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Line 2 sets every red number to 0.</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Colours and Channels</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TRY IT AND TASKS 4 AND 5</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Booklet: Try it, Task 4 and Task 5. Mix a colour, split the channels, switch them off.</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8 min</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4: All Three Channels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Red channel of the cow photo, shown in shades of red"/>
          <p:cNvPicPr>
            <a:picLocks noChangeAspect="1"/>
          </p:cNvPicPr>
          <p:nvPr/>
        </p:nvPicPr>
        <p:blipFill>
          <a:blip r:embed="rId3"/>
          <a:stretch>
            <a:fillRect/>
          </a:stretch>
        </p:blipFill>
        <p:spPr>
          <a:xfrm>
            <a:off x="457200" y="1188720"/>
            <a:ext cx="2560320" cy="2194560"/>
          </a:xfrm>
          <a:prstGeom prst="rect">
            <a:avLst/>
          </a:prstGeom>
        </p:spPr>
      </p:pic>
      <p:sp>
        <p:nvSpPr>
          <p:cNvPr id="6" name="Text 3"/>
          <p:cNvSpPr txBox="1"/>
          <p:nvPr/>
        </p:nvSpPr>
        <p:spPr>
          <a:xfrm>
            <a:off x="457200" y="3429000"/>
            <a:ext cx="256032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red</a:t>
            </a:r>
            <a:endParaRPr lang="en-US" sz="1400" dirty="0"/>
          </a:p>
        </p:txBody>
      </p:sp>
      <p:pic>
        <p:nvPicPr>
          <p:cNvPr id="7" name="Image 1" descr="Green channel of the cow photo, shown in shades of green"/>
          <p:cNvPicPr>
            <a:picLocks noChangeAspect="1"/>
          </p:cNvPicPr>
          <p:nvPr/>
        </p:nvPicPr>
        <p:blipFill>
          <a:blip r:embed="rId4"/>
          <a:stretch>
            <a:fillRect/>
          </a:stretch>
        </p:blipFill>
        <p:spPr>
          <a:xfrm>
            <a:off x="3291840" y="1188720"/>
            <a:ext cx="2560320" cy="2194560"/>
          </a:xfrm>
          <a:prstGeom prst="rect">
            <a:avLst/>
          </a:prstGeom>
        </p:spPr>
      </p:pic>
      <p:sp>
        <p:nvSpPr>
          <p:cNvPr id="8" name="Text 4"/>
          <p:cNvSpPr txBox="1"/>
          <p:nvPr/>
        </p:nvSpPr>
        <p:spPr>
          <a:xfrm>
            <a:off x="3291840" y="3429000"/>
            <a:ext cx="256032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green</a:t>
            </a:r>
            <a:endParaRPr lang="en-US" sz="1400" dirty="0"/>
          </a:p>
        </p:txBody>
      </p:sp>
      <p:pic>
        <p:nvPicPr>
          <p:cNvPr id="9" name="Image 2" descr="Blue channel of the cow photo, shown in shades of blue"/>
          <p:cNvPicPr>
            <a:picLocks noChangeAspect="1"/>
          </p:cNvPicPr>
          <p:nvPr/>
        </p:nvPicPr>
        <p:blipFill>
          <a:blip r:embed="rId5"/>
          <a:stretch>
            <a:fillRect/>
          </a:stretch>
        </p:blipFill>
        <p:spPr>
          <a:xfrm>
            <a:off x="6126480" y="1188720"/>
            <a:ext cx="2560320" cy="2194560"/>
          </a:xfrm>
          <a:prstGeom prst="rect">
            <a:avLst/>
          </a:prstGeom>
        </p:spPr>
      </p:pic>
      <p:sp>
        <p:nvSpPr>
          <p:cNvPr id="10" name="Text 5"/>
          <p:cNvSpPr txBox="1"/>
          <p:nvPr/>
        </p:nvSpPr>
        <p:spPr>
          <a:xfrm>
            <a:off x="6126480" y="3429000"/>
            <a:ext cx="256032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blue</a:t>
            </a:r>
            <a:endParaRPr lang="en-US" sz="1400" dirty="0"/>
          </a:p>
        </p:txBody>
      </p:sp>
      <p:sp>
        <p:nvSpPr>
          <p:cNvPr id="11" name="@1 Callout"/>
          <p:cNvSpPr/>
          <p:nvPr/>
        </p:nvSpPr>
        <p:spPr>
          <a:xfrm>
            <a:off x="457200" y="3840480"/>
            <a:ext cx="8229600" cy="731520"/>
          </a:xfrm>
          <a:prstGeom prst="roundRect">
            <a:avLst>
              <a:gd name="adj" fmla="val 12500"/>
            </a:avLst>
          </a:prstGeom>
          <a:solidFill>
            <a:srgbClr val="FFFFFF"/>
          </a:solidFill>
          <a:ln w="15875">
            <a:solidFill>
              <a:srgbClr val="002D6A"/>
            </a:solidFill>
            <a:prstDash val="solid"/>
          </a:ln>
        </p:spPr>
        <p:txBody>
          <a:bodyPr/>
          <a:lstStyle/>
          <a:p>
            <a:endParaRPr lang="en-GB"/>
          </a:p>
        </p:txBody>
      </p:sp>
      <p:sp>
        <p:nvSpPr>
          <p:cNvPr id="12" name="@1 addText"/>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Wall = bright in red. Cow = dark in every channel.</a:t>
            </a:r>
            <a:endParaRPr lang="en-US" sz="12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5: Check Your Pictures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A cow photo with the red channel switched off, looking teal"/>
          <p:cNvPicPr>
            <a:picLocks noChangeAspect="1"/>
          </p:cNvPicPr>
          <p:nvPr/>
        </p:nvPicPr>
        <p:blipFill>
          <a:blip r:embed="rId3"/>
          <a:stretch>
            <a:fillRect/>
          </a:stretch>
        </p:blipFill>
        <p:spPr>
          <a:xfrm>
            <a:off x="457200" y="1371600"/>
            <a:ext cx="1920240" cy="1920240"/>
          </a:xfrm>
          <a:prstGeom prst="rect">
            <a:avLst/>
          </a:prstGeom>
        </p:spPr>
      </p:pic>
      <p:sp>
        <p:nvSpPr>
          <p:cNvPr id="6" name="Text 3"/>
          <p:cNvSpPr txBox="1"/>
          <p:nvPr/>
        </p:nvSpPr>
        <p:spPr>
          <a:xfrm>
            <a:off x="457200" y="3337560"/>
            <a:ext cx="192024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no red</a:t>
            </a:r>
            <a:endParaRPr lang="en-US" sz="1400" dirty="0"/>
          </a:p>
        </p:txBody>
      </p:sp>
      <p:pic>
        <p:nvPicPr>
          <p:cNvPr id="7" name="Image 1" descr="A cow photo with the green channel switched off, looking magenta"/>
          <p:cNvPicPr>
            <a:picLocks noChangeAspect="1"/>
          </p:cNvPicPr>
          <p:nvPr/>
        </p:nvPicPr>
        <p:blipFill>
          <a:blip r:embed="rId4"/>
          <a:stretch>
            <a:fillRect/>
          </a:stretch>
        </p:blipFill>
        <p:spPr>
          <a:xfrm>
            <a:off x="2560320" y="1371600"/>
            <a:ext cx="1920240" cy="1920240"/>
          </a:xfrm>
          <a:prstGeom prst="rect">
            <a:avLst/>
          </a:prstGeom>
        </p:spPr>
      </p:pic>
      <p:sp>
        <p:nvSpPr>
          <p:cNvPr id="8" name="Text 4"/>
          <p:cNvSpPr txBox="1"/>
          <p:nvPr/>
        </p:nvSpPr>
        <p:spPr>
          <a:xfrm>
            <a:off x="2560320" y="3337560"/>
            <a:ext cx="192024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no green</a:t>
            </a:r>
            <a:endParaRPr lang="en-US" sz="1400" dirty="0"/>
          </a:p>
        </p:txBody>
      </p:sp>
      <p:pic>
        <p:nvPicPr>
          <p:cNvPr id="9" name="Image 2" descr="A cow photo with the blue channel switched off, looking yellow"/>
          <p:cNvPicPr>
            <a:picLocks noChangeAspect="1"/>
          </p:cNvPicPr>
          <p:nvPr/>
        </p:nvPicPr>
        <p:blipFill>
          <a:blip r:embed="rId5"/>
          <a:stretch>
            <a:fillRect/>
          </a:stretch>
        </p:blipFill>
        <p:spPr>
          <a:xfrm>
            <a:off x="4663440" y="1371600"/>
            <a:ext cx="1920240" cy="1920240"/>
          </a:xfrm>
          <a:prstGeom prst="rect">
            <a:avLst/>
          </a:prstGeom>
        </p:spPr>
      </p:pic>
      <p:sp>
        <p:nvSpPr>
          <p:cNvPr id="10" name="Text 5"/>
          <p:cNvSpPr txBox="1"/>
          <p:nvPr/>
        </p:nvSpPr>
        <p:spPr>
          <a:xfrm>
            <a:off x="4663440" y="3337560"/>
            <a:ext cx="192024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no blue</a:t>
            </a:r>
            <a:endParaRPr lang="en-US" sz="1400" dirty="0"/>
          </a:p>
        </p:txBody>
      </p:sp>
      <p:pic>
        <p:nvPicPr>
          <p:cNvPr id="11" name="Image 3" descr="A cow photo with only the blue channel, looking deep blue"/>
          <p:cNvPicPr>
            <a:picLocks noChangeAspect="1"/>
          </p:cNvPicPr>
          <p:nvPr/>
        </p:nvPicPr>
        <p:blipFill>
          <a:blip r:embed="rId6"/>
          <a:stretch>
            <a:fillRect/>
          </a:stretch>
        </p:blipFill>
        <p:spPr>
          <a:xfrm>
            <a:off x="6766560" y="1371600"/>
            <a:ext cx="1920240" cy="1920240"/>
          </a:xfrm>
          <a:prstGeom prst="rect">
            <a:avLst/>
          </a:prstGeom>
        </p:spPr>
      </p:pic>
      <p:sp>
        <p:nvSpPr>
          <p:cNvPr id="12" name="Text 6"/>
          <p:cNvSpPr txBox="1"/>
          <p:nvPr/>
        </p:nvSpPr>
        <p:spPr>
          <a:xfrm>
            <a:off x="6766560" y="3337560"/>
            <a:ext cx="192024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only blue</a:t>
            </a:r>
            <a:endParaRPr lang="en-US" sz="1400" dirty="0"/>
          </a:p>
        </p:txBody>
      </p:sp>
      <p:sp>
        <p:nvSpPr>
          <p:cNvPr id="13" name="@1 Callout"/>
          <p:cNvSpPr/>
          <p:nvPr/>
        </p:nvSpPr>
        <p:spPr>
          <a:xfrm>
            <a:off x="457200" y="3840480"/>
            <a:ext cx="8229600" cy="731520"/>
          </a:xfrm>
          <a:prstGeom prst="roundRect">
            <a:avLst>
              <a:gd name="adj" fmla="val 12500"/>
            </a:avLst>
          </a:prstGeom>
          <a:solidFill>
            <a:srgbClr val="FFFFFF"/>
          </a:solidFill>
          <a:ln w="15875">
            <a:solidFill>
              <a:srgbClr val="5D79A0"/>
            </a:solidFill>
            <a:prstDash val="solid"/>
          </a:ln>
        </p:spPr>
        <p:txBody>
          <a:bodyPr/>
          <a:lstStyle/>
          <a:p>
            <a:endParaRPr lang="en-GB"/>
          </a:p>
        </p:txBody>
      </p:sp>
      <p:sp>
        <p:nvSpPr>
          <p:cNvPr id="14" name="@1 addText"/>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red + blue light = magenta. red + green light = yellow.</a:t>
            </a:r>
            <a:endParaRPr lang="en-US" sz="1200" dirty="0"/>
          </a:p>
        </p:txBody>
      </p:sp>
      <p:sp>
        <p:nvSpPr>
          <p:cNvPr id="1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Solutions: Colour and Channels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26</a:t>
            </a:fld>
            <a:endParaRPr lang="en-US"/>
          </a:p>
        </p:txBody>
      </p:sp>
      <p:sp>
        <p:nvSpPr>
          <p:cNvPr id="6" name="Code box"/>
          <p:cNvSpPr/>
          <p:nvPr/>
        </p:nvSpPr>
        <p:spPr>
          <a:xfrm>
            <a:off x="457200" y="1097280"/>
            <a:ext cx="8229600" cy="3730752"/>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3730752"/>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show_colour(</a:t>
            </a:r>
            <a:r>
              <a:rPr sz="1400" b="0" i="0">
                <a:solidFill>
                  <a:srgbClr val="F2C879"/>
                </a:solidFill>
                <a:latin typeface="Courier New"/>
              </a:rPr>
              <a:t>255</a:t>
            </a:r>
            <a:r>
              <a:rPr sz="1400" b="0" i="0">
                <a:solidFill>
                  <a:srgbClr val="E6ECF5"/>
                </a:solidFill>
                <a:latin typeface="Courier New"/>
              </a:rPr>
              <a:t>, </a:t>
            </a:r>
            <a:r>
              <a:rPr sz="1400" b="0" i="0">
                <a:solidFill>
                  <a:srgbClr val="F2C879"/>
                </a:solidFill>
                <a:latin typeface="Courier New"/>
              </a:rPr>
              <a:t>255</a:t>
            </a:r>
            <a:r>
              <a:rPr sz="1400" b="0" i="0">
                <a:solidFill>
                  <a:srgbClr val="E6ECF5"/>
                </a:solidFill>
                <a:latin typeface="Courier New"/>
              </a:rPr>
              <a:t>, </a:t>
            </a:r>
            <a:r>
              <a:rPr sz="1400" b="0" i="0">
                <a:solidFill>
                  <a:srgbClr val="F2C879"/>
                </a:solidFill>
                <a:latin typeface="Courier New"/>
              </a:rPr>
              <a:t>0</a:t>
            </a:r>
            <a:r>
              <a:rPr sz="1400" b="0" i="0">
                <a:solidFill>
                  <a:srgbClr val="E6ECF5"/>
                </a:solidFill>
                <a:latin typeface="Courier New"/>
              </a:rPr>
              <a:t>)       </a:t>
            </a:r>
            <a:r>
              <a:rPr sz="1400" b="0" i="0">
                <a:solidFill>
                  <a:srgbClr val="8EA3C0"/>
                </a:solidFill>
                <a:latin typeface="Courier New"/>
              </a:rPr>
              <a:t># yellow</a:t>
            </a:r>
          </a:p>
        </p:txBody>
      </p:sp>
      <p:sp>
        <p:nvSpPr>
          <p:cNvPr id="9" name="Code line"/>
          <p:cNvSpPr txBox="1"/>
          <p:nvPr/>
        </p:nvSpPr>
        <p:spPr>
          <a:xfrm>
            <a:off x="640080" y="1481328"/>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show_colour(</a:t>
            </a:r>
            <a:r>
              <a:rPr sz="1400" b="0" i="0">
                <a:solidFill>
                  <a:srgbClr val="F2C879"/>
                </a:solidFill>
                <a:latin typeface="Courier New"/>
              </a:rPr>
              <a:t>128</a:t>
            </a:r>
            <a:r>
              <a:rPr sz="1400" b="0" i="0">
                <a:solidFill>
                  <a:srgbClr val="E6ECF5"/>
                </a:solidFill>
                <a:latin typeface="Courier New"/>
              </a:rPr>
              <a:t>, </a:t>
            </a:r>
            <a:r>
              <a:rPr sz="1400" b="0" i="0">
                <a:solidFill>
                  <a:srgbClr val="F2C879"/>
                </a:solidFill>
                <a:latin typeface="Courier New"/>
              </a:rPr>
              <a:t>128</a:t>
            </a:r>
            <a:r>
              <a:rPr sz="1400" b="0" i="0">
                <a:solidFill>
                  <a:srgbClr val="E6ECF5"/>
                </a:solidFill>
                <a:latin typeface="Courier New"/>
              </a:rPr>
              <a:t>, </a:t>
            </a:r>
            <a:r>
              <a:rPr sz="1400" b="0" i="0">
                <a:solidFill>
                  <a:srgbClr val="F2C879"/>
                </a:solidFill>
                <a:latin typeface="Courier New"/>
              </a:rPr>
              <a:t>128</a:t>
            </a:r>
            <a:r>
              <a:rPr sz="1400" b="0" i="0">
                <a:solidFill>
                  <a:srgbClr val="E6ECF5"/>
                </a:solidFill>
                <a:latin typeface="Courier New"/>
              </a:rPr>
              <a:t>)     </a:t>
            </a:r>
            <a:r>
              <a:rPr sz="1400" b="0" i="0">
                <a:solidFill>
                  <a:srgbClr val="8EA3C0"/>
                </a:solidFill>
                <a:latin typeface="Courier New"/>
              </a:rPr>
              <a:t># grey</a:t>
            </a:r>
          </a:p>
        </p:txBody>
      </p:sp>
      <p:sp>
        <p:nvSpPr>
          <p:cNvPr id="10" name="Code line"/>
          <p:cNvSpPr txBox="1"/>
          <p:nvPr/>
        </p:nvSpPr>
        <p:spPr>
          <a:xfrm>
            <a:off x="640080" y="1975104"/>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green = pixels[:, :, </a:t>
            </a:r>
            <a:r>
              <a:rPr sz="1400" b="0" i="0">
                <a:solidFill>
                  <a:srgbClr val="F2C879"/>
                </a:solidFill>
                <a:latin typeface="Courier New"/>
              </a:rPr>
              <a:t>1</a:t>
            </a:r>
            <a:r>
              <a:rPr sz="1400" b="0" i="0">
                <a:solidFill>
                  <a:srgbClr val="E6ECF5"/>
                </a:solidFill>
                <a:latin typeface="Courier New"/>
              </a:rPr>
              <a:t>]</a:t>
            </a:r>
          </a:p>
        </p:txBody>
      </p:sp>
      <p:sp>
        <p:nvSpPr>
          <p:cNvPr id="11" name="Code line"/>
          <p:cNvSpPr txBox="1"/>
          <p:nvPr/>
        </p:nvSpPr>
        <p:spPr>
          <a:xfrm>
            <a:off x="640080" y="2221991"/>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show_channel(green, </a:t>
            </a:r>
            <a:r>
              <a:rPr sz="1400" b="0" i="0">
                <a:solidFill>
                  <a:srgbClr val="B8E0B0"/>
                </a:solidFill>
                <a:latin typeface="Courier New"/>
              </a:rPr>
              <a:t>"Greens"</a:t>
            </a:r>
            <a:r>
              <a:rPr sz="1400" b="0" i="0">
                <a:solidFill>
                  <a:srgbClr val="E6ECF5"/>
                </a:solidFill>
                <a:latin typeface="Courier New"/>
              </a:rPr>
              <a:t>)</a:t>
            </a:r>
          </a:p>
        </p:txBody>
      </p:sp>
      <p:sp>
        <p:nvSpPr>
          <p:cNvPr id="12" name="Code line"/>
          <p:cNvSpPr txBox="1"/>
          <p:nvPr/>
        </p:nvSpPr>
        <p:spPr>
          <a:xfrm>
            <a:off x="640080" y="2468880"/>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blue = pixels[:, :, </a:t>
            </a:r>
            <a:r>
              <a:rPr sz="1400" b="0" i="0">
                <a:solidFill>
                  <a:srgbClr val="F2C879"/>
                </a:solidFill>
                <a:latin typeface="Courier New"/>
              </a:rPr>
              <a:t>2</a:t>
            </a:r>
            <a:r>
              <a:rPr sz="1400" b="0" i="0">
                <a:solidFill>
                  <a:srgbClr val="E6ECF5"/>
                </a:solidFill>
                <a:latin typeface="Courier New"/>
              </a:rPr>
              <a:t>]</a:t>
            </a:r>
          </a:p>
        </p:txBody>
      </p:sp>
      <p:sp>
        <p:nvSpPr>
          <p:cNvPr id="13" name="Code line"/>
          <p:cNvSpPr txBox="1"/>
          <p:nvPr/>
        </p:nvSpPr>
        <p:spPr>
          <a:xfrm>
            <a:off x="640080" y="2715768"/>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show_channel(blue, </a:t>
            </a:r>
            <a:r>
              <a:rPr sz="1400" b="0" i="0">
                <a:solidFill>
                  <a:srgbClr val="B8E0B0"/>
                </a:solidFill>
                <a:latin typeface="Courier New"/>
              </a:rPr>
              <a:t>"Blues"</a:t>
            </a:r>
            <a:r>
              <a:rPr sz="1400" b="0" i="0">
                <a:solidFill>
                  <a:srgbClr val="E6ECF5"/>
                </a:solidFill>
                <a:latin typeface="Courier New"/>
              </a:rPr>
              <a:t>)</a:t>
            </a:r>
          </a:p>
        </p:txBody>
      </p:sp>
      <p:sp>
        <p:nvSpPr>
          <p:cNvPr id="14" name="Code line"/>
          <p:cNvSpPr txBox="1"/>
          <p:nvPr/>
        </p:nvSpPr>
        <p:spPr>
          <a:xfrm>
            <a:off x="640080" y="3209544"/>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no_green = pixels.copy()</a:t>
            </a:r>
          </a:p>
        </p:txBody>
      </p:sp>
      <p:sp>
        <p:nvSpPr>
          <p:cNvPr id="15" name="Code line"/>
          <p:cNvSpPr txBox="1"/>
          <p:nvPr/>
        </p:nvSpPr>
        <p:spPr>
          <a:xfrm>
            <a:off x="640080" y="3456432"/>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no_green[:, :, </a:t>
            </a:r>
            <a:r>
              <a:rPr sz="1400" b="0" i="0">
                <a:solidFill>
                  <a:srgbClr val="F2C879"/>
                </a:solidFill>
                <a:latin typeface="Courier New"/>
              </a:rPr>
              <a:t>1</a:t>
            </a:r>
            <a:r>
              <a:rPr sz="1400" b="0" i="0">
                <a:solidFill>
                  <a:srgbClr val="E6ECF5"/>
                </a:solidFill>
                <a:latin typeface="Courier New"/>
              </a:rPr>
              <a:t>] = </a:t>
            </a:r>
            <a:r>
              <a:rPr sz="1400" b="0" i="0">
                <a:solidFill>
                  <a:srgbClr val="F2C879"/>
                </a:solidFill>
                <a:latin typeface="Courier New"/>
              </a:rPr>
              <a:t>0</a:t>
            </a:r>
            <a:r>
              <a:rPr sz="1400" b="0" i="0">
                <a:solidFill>
                  <a:srgbClr val="E6ECF5"/>
                </a:solidFill>
                <a:latin typeface="Courier New"/>
              </a:rPr>
              <a:t>          </a:t>
            </a:r>
            <a:r>
              <a:rPr sz="1400" b="0" i="0">
                <a:solidFill>
                  <a:srgbClr val="8EA3C0"/>
                </a:solidFill>
                <a:latin typeface="Courier New"/>
              </a:rPr>
              <a:t># no_blue: same, channel 2</a:t>
            </a:r>
          </a:p>
        </p:txBody>
      </p:sp>
      <p:sp>
        <p:nvSpPr>
          <p:cNvPr id="16" name="Code line"/>
          <p:cNvSpPr txBox="1"/>
          <p:nvPr/>
        </p:nvSpPr>
        <p:spPr>
          <a:xfrm>
            <a:off x="640080" y="3950208"/>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only_blue = pixels.copy()</a:t>
            </a:r>
          </a:p>
        </p:txBody>
      </p:sp>
      <p:sp>
        <p:nvSpPr>
          <p:cNvPr id="17" name="Code line"/>
          <p:cNvSpPr txBox="1"/>
          <p:nvPr/>
        </p:nvSpPr>
        <p:spPr>
          <a:xfrm>
            <a:off x="640080" y="4197096"/>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only_blue[:, :, </a:t>
            </a:r>
            <a:r>
              <a:rPr sz="1400" b="0" i="0">
                <a:solidFill>
                  <a:srgbClr val="F2C879"/>
                </a:solidFill>
                <a:latin typeface="Courier New"/>
              </a:rPr>
              <a:t>0</a:t>
            </a:r>
            <a:r>
              <a:rPr sz="1400" b="0" i="0">
                <a:solidFill>
                  <a:srgbClr val="E6ECF5"/>
                </a:solidFill>
                <a:latin typeface="Courier New"/>
              </a:rPr>
              <a:t>] = </a:t>
            </a:r>
            <a:r>
              <a:rPr sz="1400" b="0" i="0">
                <a:solidFill>
                  <a:srgbClr val="F2C879"/>
                </a:solidFill>
                <a:latin typeface="Courier New"/>
              </a:rPr>
              <a:t>0</a:t>
            </a:r>
          </a:p>
        </p:txBody>
      </p:sp>
      <p:sp>
        <p:nvSpPr>
          <p:cNvPr id="18" name="Code line"/>
          <p:cNvSpPr txBox="1"/>
          <p:nvPr/>
        </p:nvSpPr>
        <p:spPr>
          <a:xfrm>
            <a:off x="640080" y="4443984"/>
            <a:ext cx="7955279" cy="246888"/>
          </a:xfrm>
          <a:prstGeom prst="rect">
            <a:avLst/>
          </a:prstGeom>
          <a:noFill/>
        </p:spPr>
        <p:txBody>
          <a:bodyPr wrap="square" lIns="0" tIns="0" rIns="0" bIns="0" anchor="ctr">
            <a:spAutoFit/>
          </a:bodyPr>
          <a:lstStyle/>
          <a:p>
            <a:pPr algn="l"/>
            <a:r>
              <a:rPr sz="1400" b="0" i="0">
                <a:solidFill>
                  <a:srgbClr val="E6ECF5"/>
                </a:solidFill>
                <a:latin typeface="Courier New"/>
              </a:rPr>
              <a:t>only_blue[:, :, </a:t>
            </a:r>
            <a:r>
              <a:rPr sz="1400" b="0" i="0">
                <a:solidFill>
                  <a:srgbClr val="F2C879"/>
                </a:solidFill>
                <a:latin typeface="Courier New"/>
              </a:rPr>
              <a:t>1</a:t>
            </a:r>
            <a:r>
              <a:rPr sz="1400" b="0" i="0">
                <a:solidFill>
                  <a:srgbClr val="E6ECF5"/>
                </a:solidFill>
                <a:latin typeface="Courier New"/>
              </a:rPr>
              <a:t>] = </a:t>
            </a:r>
            <a:r>
              <a:rPr sz="1400" b="0" i="0">
                <a:solidFill>
                  <a:srgbClr val="F2C879"/>
                </a:solidFill>
                <a:latin typeface="Courier New"/>
              </a:rPr>
              <a:t>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Grey and Negative</a:t>
            </a:r>
            <a:endParaRPr lang="en-US" sz="3000" dirty="0"/>
          </a:p>
        </p:txBody>
      </p:sp>
      <p:sp>
        <p:nvSpPr>
          <p:cNvPr id="3" name="2 MIN TALK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4 MIN TALK</a:t>
            </a:r>
            <a:endParaRPr lang="en-US" sz="1200" dirty="0"/>
          </a:p>
        </p:txBody>
      </p:sp>
      <p:sp>
        <p:nvSpPr>
          <p:cNvPr id="5" name="code bg"/>
          <p:cNvSpPr/>
          <p:nvPr/>
        </p:nvSpPr>
        <p:spPr>
          <a:xfrm>
            <a:off x="457200" y="1143000"/>
            <a:ext cx="8229600" cy="120015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43000"/>
            <a:ext cx="54864" cy="120015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grey = np.array(img.convert("L"))</a:t>
            </a:r>
            <a:endParaRPr lang="en-US" sz="1800" dirty="0"/>
          </a:p>
        </p:txBody>
      </p:sp>
      <p:sp>
        <p:nvSpPr>
          <p:cNvPr id="8" name="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show_channel(grey, "gray")</a:t>
            </a:r>
            <a:endParaRPr lang="en-US" sz="1800" dirty="0"/>
          </a:p>
        </p:txBody>
      </p:sp>
      <p:sp>
        <p:nvSpPr>
          <p:cNvPr id="9" name="code line 3"/>
          <p:cNvSpPr txBox="1"/>
          <p:nvPr/>
        </p:nvSpPr>
        <p:spPr>
          <a:xfrm>
            <a:off x="640080" y="189738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negative = 255 - pixels</a:t>
            </a:r>
            <a:endParaRPr lang="en-US" sz="1800" dirty="0"/>
          </a:p>
        </p:txBody>
      </p:sp>
      <p:sp>
        <p:nvSpPr>
          <p:cNvPr id="10" name="@1 addText"/>
          <p:cNvSpPr txBox="1"/>
          <p:nvPr/>
        </p:nvSpPr>
        <p:spPr>
          <a:xfrm>
            <a:off x="457200" y="32004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"L" = one brightness number per pixel: 0 black, 255 white.</a:t>
            </a:r>
            <a:endParaRPr lang="en-US" sz="1400" dirty="0"/>
          </a:p>
        </p:txBody>
      </p:sp>
      <p:sp>
        <p:nvSpPr>
          <p:cNvPr id="11" name="@2 addText"/>
          <p:cNvSpPr txBox="1"/>
          <p:nvPr/>
        </p:nvSpPr>
        <p:spPr>
          <a:xfrm>
            <a:off x="457200" y="36576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255 - pixels flips every number: 0 becomes 255.</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Maths on the Whole Picture</a:t>
            </a:r>
            <a:endParaRPr lang="en-US" sz="3000" dirty="0"/>
          </a:p>
        </p:txBody>
      </p:sp>
      <p:sp>
        <p:nvSpPr>
          <p:cNvPr id="5" name="code bg"/>
          <p:cNvSpPr/>
          <p:nvPr/>
        </p:nvSpPr>
        <p:spPr>
          <a:xfrm>
            <a:off x="457200" y="1143000"/>
            <a:ext cx="8229600" cy="150876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43000"/>
            <a:ext cx="54864" cy="1508760"/>
          </a:xfrm>
          <a:prstGeom prst="rect">
            <a:avLst/>
          </a:prstGeom>
          <a:solidFill>
            <a:srgbClr val="A9C4E8"/>
          </a:solidFill>
          <a:ln w="12700">
            <a:solidFill>
              <a:srgbClr val="5D79A0"/>
            </a:solidFill>
            <a:prstDash val="solid"/>
          </a:ln>
        </p:spPr>
        <p:txBody>
          <a:bodyPr/>
          <a:lstStyle/>
          <a:p>
            <a:endParaRPr lang="en-GB"/>
          </a:p>
        </p:txBody>
      </p:sp>
      <p:sp>
        <p:nvSpPr>
          <p:cNvPr id="7"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print(grey.mean())</a:t>
            </a:r>
            <a:endParaRPr lang="en-US" sz="1800" dirty="0"/>
          </a:p>
        </p:txBody>
      </p:sp>
      <p:sp>
        <p:nvSpPr>
          <p:cNvPr id="8" name="@1 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81.449951171875</a:t>
            </a:r>
            <a:endParaRPr lang="en-US" sz="1800" dirty="0"/>
          </a:p>
        </p:txBody>
      </p:sp>
      <p:sp>
        <p:nvSpPr>
          <p:cNvPr id="9" name="code line 3"/>
          <p:cNvSpPr txBox="1"/>
          <p:nvPr/>
        </p:nvSpPr>
        <p:spPr>
          <a:xfrm>
            <a:off x="640080" y="189738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print((grey &lt; 50).sum())</a:t>
            </a:r>
            <a:endParaRPr lang="en-US" sz="1800" dirty="0"/>
          </a:p>
        </p:txBody>
      </p:sp>
      <p:sp>
        <p:nvSpPr>
          <p:cNvPr id="10" name="@2 code line 4"/>
          <p:cNvSpPr txBox="1"/>
          <p:nvPr/>
        </p:nvSpPr>
        <p:spPr>
          <a:xfrm>
            <a:off x="640080" y="2205990"/>
            <a:ext cx="795528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28501</a:t>
            </a:r>
            <a:endParaRPr lang="en-US" sz="1800" dirty="0"/>
          </a:p>
        </p:txBody>
      </p:sp>
      <p:sp>
        <p:nvSpPr>
          <p:cNvPr id="11" name="@1 addText"/>
          <p:cNvSpPr txBox="1"/>
          <p:nvPr/>
        </p:nvSpPr>
        <p:spPr>
          <a:xfrm>
            <a:off x="457200" y="32004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the average brightness: a fairly dark grey (0 is black, 255 is white)</a:t>
            </a:r>
            <a:endParaRPr lang="en-US" sz="1400" dirty="0"/>
          </a:p>
        </p:txBody>
      </p:sp>
      <p:sp>
        <p:nvSpPr>
          <p:cNvPr id="12" name="@2 addText"/>
          <p:cNvSpPr txBox="1"/>
          <p:nvPr/>
        </p:nvSpPr>
        <p:spPr>
          <a:xfrm>
            <a:off x="457200" y="36576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28,501 pixels are darker than 50, out of 102,400. grey &lt; 50 is True or False for every pixel; .sum() counts the Trues.</a:t>
            </a:r>
            <a:endParaRPr lang="en-US" sz="14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Different Question</a:t>
            </a:r>
            <a:endParaRPr lang="en-US" sz="3000" dirty="0"/>
          </a:p>
        </p:txBody>
      </p:sp>
      <p:sp>
        <p:nvSpPr>
          <p:cNvPr id="5" name="Callout"/>
          <p:cNvSpPr/>
          <p:nvPr/>
        </p:nvSpPr>
        <p:spPr>
          <a:xfrm>
            <a:off x="457200" y="1188720"/>
            <a:ext cx="8229600" cy="914400"/>
          </a:xfrm>
          <a:prstGeom prst="roundRect">
            <a:avLst>
              <a:gd name="adj" fmla="val 10000"/>
            </a:avLst>
          </a:prstGeom>
          <a:solidFill>
            <a:srgbClr val="FFFFFF"/>
          </a:solidFill>
          <a:ln w="15875">
            <a:solidFill>
              <a:srgbClr val="5D79A0"/>
            </a:solidFill>
            <a:prstDash val="solid"/>
          </a:ln>
        </p:spPr>
        <p:txBody>
          <a:bodyPr/>
          <a:lstStyle/>
          <a:p>
            <a:endParaRPr lang="en-GB"/>
          </a:p>
        </p:txBody>
      </p:sp>
      <p:sp>
        <p:nvSpPr>
          <p:cNvPr id="6" name="Text 4"/>
          <p:cNvSpPr txBox="1"/>
          <p:nvPr/>
        </p:nvSpPr>
        <p:spPr>
          <a:xfrm>
            <a:off x="685800" y="1188720"/>
            <a:ext cx="7772400" cy="91440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Not "what is the average?" but: how many pixels are dark, how many bright, how many in between?</a:t>
            </a:r>
            <a:endParaRPr lang="en-US" sz="1200" dirty="0"/>
          </a:p>
        </p:txBody>
      </p:sp>
      <p:sp>
        <p:nvSpPr>
          <p:cNvPr id="7" name="@1 Callout"/>
          <p:cNvSpPr/>
          <p:nvPr/>
        </p:nvSpPr>
        <p:spPr>
          <a:xfrm>
            <a:off x="457200" y="2377440"/>
            <a:ext cx="8229600" cy="914400"/>
          </a:xfrm>
          <a:prstGeom prst="roundRect">
            <a:avLst>
              <a:gd name="adj" fmla="val 10000"/>
            </a:avLst>
          </a:prstGeom>
          <a:solidFill>
            <a:srgbClr val="FFFFFF"/>
          </a:solidFill>
          <a:ln w="15875">
            <a:solidFill>
              <a:srgbClr val="002D6A"/>
            </a:solidFill>
            <a:prstDash val="solid"/>
          </a:ln>
        </p:spPr>
        <p:txBody>
          <a:bodyPr/>
          <a:lstStyle/>
          <a:p>
            <a:endParaRPr lang="en-GB"/>
          </a:p>
        </p:txBody>
      </p:sp>
      <p:sp>
        <p:nvSpPr>
          <p:cNvPr id="8" name="@1 addText"/>
          <p:cNvSpPr txBox="1"/>
          <p:nvPr/>
        </p:nvSpPr>
        <p:spPr>
          <a:xfrm>
            <a:off x="685800" y="2377440"/>
            <a:ext cx="7772400" cy="91440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A histogram: split brightness into buckets. Count how many pixels land in each.</a:t>
            </a:r>
            <a:endParaRPr lang="en-US" sz="1200" dirty="0"/>
          </a:p>
        </p:txBody>
      </p:sp>
      <p:sp>
        <p:nvSpPr>
          <p:cNvPr id="9" name="@2 addText"/>
          <p:cNvSpPr txBox="1"/>
          <p:nvPr/>
        </p:nvSpPr>
        <p:spPr>
          <a:xfrm>
            <a:off x="457200" y="356616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one bar per bucket. Tall bar = lots of pixels with that brightness.</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Our Photo, in 16 Buckets</a:t>
            </a:r>
            <a:endParaRPr lang="en-US" sz="3000" dirty="0"/>
          </a:p>
        </p:txBody>
      </p:sp>
      <p:sp>
        <p:nvSpPr>
          <p:cNvPr id="3" name="code bg"/>
          <p:cNvSpPr/>
          <p:nvPr/>
        </p:nvSpPr>
        <p:spPr>
          <a:xfrm>
            <a:off x="457200" y="1143000"/>
            <a:ext cx="8229600" cy="89154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891540"/>
          </a:xfrm>
          <a:prstGeom prst="rect">
            <a:avLst/>
          </a:prstGeom>
          <a:solidFill>
            <a:srgbClr val="5D79A0"/>
          </a:solidFill>
          <a:ln w="12700">
            <a:solidFill>
              <a:srgbClr val="5D79A0"/>
            </a:solidFill>
            <a:prstDash val="solid"/>
          </a:ln>
        </p:spPr>
        <p:txBody>
          <a:bodyPr/>
          <a:lstStyle/>
          <a:p>
            <a:endParaRPr lang="en-GB"/>
          </a:p>
        </p:txBody>
      </p:sp>
      <p:sp>
        <p:nvSpPr>
          <p:cNvPr id="5"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plt.hist(grey.flatten(), bins=16)</a:t>
            </a:r>
            <a:endParaRPr lang="en-US" sz="1800" dirty="0"/>
          </a:p>
        </p:txBody>
      </p:sp>
      <p:sp>
        <p:nvSpPr>
          <p:cNvPr id="6" name="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plt.show()</a:t>
            </a:r>
            <a:endParaRPr lang="en-US" sz="1800" dirty="0"/>
          </a:p>
        </p:txBody>
      </p:sp>
      <p:pic>
        <p:nvPicPr>
          <p:cNvPr id="7" name="Image 0" descr="Histogram of grey brightness in 16 buckets with a dark hump and a brighter hump"/>
          <p:cNvPicPr>
            <a:picLocks noChangeAspect="1"/>
          </p:cNvPicPr>
          <p:nvPr/>
        </p:nvPicPr>
        <p:blipFill>
          <a:blip r:embed="rId3"/>
          <a:stretch>
            <a:fillRect/>
          </a:stretch>
        </p:blipFill>
        <p:spPr>
          <a:xfrm>
            <a:off x="4770120" y="2377440"/>
            <a:ext cx="3810000" cy="2286000"/>
          </a:xfrm>
          <a:prstGeom prst="rect">
            <a:avLst/>
          </a:prstGeom>
        </p:spPr>
      </p:pic>
      <p:sp>
        <p:nvSpPr>
          <p:cNvPr id="8" name="@1 dot"/>
          <p:cNvSpPr/>
          <p:nvPr/>
        </p:nvSpPr>
        <p:spPr>
          <a:xfrm>
            <a:off x="457200" y="2871216"/>
            <a:ext cx="109728" cy="109728"/>
          </a:xfrm>
          <a:prstGeom prst="ellipse">
            <a:avLst/>
          </a:prstGeom>
          <a:solidFill>
            <a:srgbClr val="002D6A"/>
          </a:solidFill>
          <a:ln w="12700">
            <a:solidFill>
              <a:srgbClr val="002D6A"/>
            </a:solidFill>
            <a:prstDash val="solid"/>
          </a:ln>
        </p:spPr>
        <p:txBody>
          <a:bodyPr/>
          <a:lstStyle/>
          <a:p>
            <a:endParaRPr lang="en-GB"/>
          </a:p>
        </p:txBody>
      </p:sp>
      <p:sp>
        <p:nvSpPr>
          <p:cNvPr id="9" name="@1 addText"/>
          <p:cNvSpPr txBox="1"/>
          <p:nvPr/>
        </p:nvSpPr>
        <p:spPr>
          <a:xfrm>
            <a:off x="731520" y="2743200"/>
            <a:ext cx="3749040" cy="50292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.flatten(): grid to one long list</a:t>
            </a:r>
            <a:endParaRPr lang="en-US" sz="1600" dirty="0"/>
          </a:p>
        </p:txBody>
      </p:sp>
      <p:sp>
        <p:nvSpPr>
          <p:cNvPr id="10" name="@2 dot"/>
          <p:cNvSpPr/>
          <p:nvPr/>
        </p:nvSpPr>
        <p:spPr>
          <a:xfrm>
            <a:off x="457200" y="3419856"/>
            <a:ext cx="109728" cy="109728"/>
          </a:xfrm>
          <a:prstGeom prst="ellipse">
            <a:avLst/>
          </a:prstGeom>
          <a:solidFill>
            <a:srgbClr val="002D6A"/>
          </a:solidFill>
          <a:ln w="12700">
            <a:solidFill>
              <a:srgbClr val="002D6A"/>
            </a:solidFill>
            <a:prstDash val="solid"/>
          </a:ln>
        </p:spPr>
        <p:txBody>
          <a:bodyPr/>
          <a:lstStyle/>
          <a:p>
            <a:endParaRPr lang="en-GB"/>
          </a:p>
        </p:txBody>
      </p:sp>
      <p:sp>
        <p:nvSpPr>
          <p:cNvPr id="11" name="@2 addText"/>
          <p:cNvSpPr txBox="1"/>
          <p:nvPr/>
        </p:nvSpPr>
        <p:spPr>
          <a:xfrm>
            <a:off x="731520" y="3291840"/>
            <a:ext cx="3749040" cy="50292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Left = dark, right = bright</a:t>
            </a:r>
            <a:endParaRPr lang="en-US" sz="16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Grey, Count, Histogram</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TASKS 6 TO 8</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Booklet Tasks 6, 7 and 8. Grey and negative, count and average, draw a histogram.</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9 min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6: Check</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The original cow photo"/>
          <p:cNvPicPr>
            <a:picLocks noChangeAspect="1"/>
          </p:cNvPicPr>
          <p:nvPr/>
        </p:nvPicPr>
        <p:blipFill>
          <a:blip r:embed="rId3"/>
          <a:stretch>
            <a:fillRect/>
          </a:stretch>
        </p:blipFill>
        <p:spPr>
          <a:xfrm>
            <a:off x="640080" y="1280160"/>
            <a:ext cx="2377440" cy="2377440"/>
          </a:xfrm>
          <a:prstGeom prst="rect">
            <a:avLst/>
          </a:prstGeom>
        </p:spPr>
      </p:pic>
      <p:sp>
        <p:nvSpPr>
          <p:cNvPr id="6" name="Text 3"/>
          <p:cNvSpPr txBox="1"/>
          <p:nvPr/>
        </p:nvSpPr>
        <p:spPr>
          <a:xfrm>
            <a:off x="457200" y="3703320"/>
            <a:ext cx="274320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original</a:t>
            </a:r>
            <a:endParaRPr lang="en-US" sz="1400" dirty="0"/>
          </a:p>
        </p:txBody>
      </p:sp>
      <p:pic>
        <p:nvPicPr>
          <p:cNvPr id="7" name="Image 1" descr="The cow photo in greyscale"/>
          <p:cNvPicPr>
            <a:picLocks noChangeAspect="1"/>
          </p:cNvPicPr>
          <p:nvPr/>
        </p:nvPicPr>
        <p:blipFill>
          <a:blip r:embed="rId4"/>
          <a:stretch>
            <a:fillRect/>
          </a:stretch>
        </p:blipFill>
        <p:spPr>
          <a:xfrm>
            <a:off x="3383280" y="1280160"/>
            <a:ext cx="2377440" cy="2377440"/>
          </a:xfrm>
          <a:prstGeom prst="rect">
            <a:avLst/>
          </a:prstGeom>
        </p:spPr>
      </p:pic>
      <p:sp>
        <p:nvSpPr>
          <p:cNvPr id="8" name="Text 4"/>
          <p:cNvSpPr txBox="1"/>
          <p:nvPr/>
        </p:nvSpPr>
        <p:spPr>
          <a:xfrm>
            <a:off x="3200400" y="3703320"/>
            <a:ext cx="274320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grey</a:t>
            </a:r>
            <a:endParaRPr lang="en-US" sz="1400" dirty="0"/>
          </a:p>
        </p:txBody>
      </p:sp>
      <p:pic>
        <p:nvPicPr>
          <p:cNvPr id="9" name="Image 2" descr="The negative of the cow photo with colours flipped"/>
          <p:cNvPicPr>
            <a:picLocks noChangeAspect="1"/>
          </p:cNvPicPr>
          <p:nvPr/>
        </p:nvPicPr>
        <p:blipFill>
          <a:blip r:embed="rId5"/>
          <a:stretch>
            <a:fillRect/>
          </a:stretch>
        </p:blipFill>
        <p:spPr>
          <a:xfrm>
            <a:off x="6126480" y="1280160"/>
            <a:ext cx="2377440" cy="2377440"/>
          </a:xfrm>
          <a:prstGeom prst="rect">
            <a:avLst/>
          </a:prstGeom>
        </p:spPr>
      </p:pic>
      <p:sp>
        <p:nvSpPr>
          <p:cNvPr id="10" name="Text 5"/>
          <p:cNvSpPr txBox="1"/>
          <p:nvPr/>
        </p:nvSpPr>
        <p:spPr>
          <a:xfrm>
            <a:off x="5943600" y="3703320"/>
            <a:ext cx="274320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negative: [239 255 255]</a:t>
            </a:r>
            <a:endParaRPr lang="en-US" sz="14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7: Check</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280160"/>
            <a:ext cx="8229600" cy="777240"/>
          </a:xfrm>
          <a:prstGeom prst="roundRect">
            <a:avLst>
              <a:gd name="adj" fmla="val 14118"/>
            </a:avLst>
          </a:prstGeom>
          <a:solidFill>
            <a:srgbClr val="EEF2F7"/>
          </a:solidFill>
          <a:ln w="9525">
            <a:solidFill>
              <a:srgbClr val="C5D1E3"/>
            </a:solidFill>
            <a:prstDash val="solid"/>
          </a:ln>
        </p:spPr>
        <p:txBody>
          <a:bodyPr/>
          <a:lstStyle/>
          <a:p>
            <a:endParaRPr lang="en-GB"/>
          </a:p>
        </p:txBody>
      </p:sp>
      <p:sp>
        <p:nvSpPr>
          <p:cNvPr id="6" name="@1 addText"/>
          <p:cNvSpPr txBox="1"/>
          <p:nvPr/>
        </p:nvSpPr>
        <p:spPr>
          <a:xfrm>
            <a:off x="731520" y="1280160"/>
            <a:ext cx="2743200" cy="777240"/>
          </a:xfrm>
          <a:prstGeom prst="rect">
            <a:avLst/>
          </a:prstGeom>
          <a:noFill/>
          <a:ln/>
        </p:spPr>
        <p:txBody>
          <a:bodyPr wrap="square" lIns="0" tIns="0" rIns="0" bIns="0" rtlCol="0" anchor="ctr"/>
          <a:lstStyle/>
          <a:p>
            <a:pPr marL="0" indent="0">
              <a:buNone/>
            </a:pPr>
            <a:r>
              <a:rPr lang="en-US" sz="2800" b="1" dirty="0">
                <a:solidFill>
                  <a:srgbClr val="002D6A"/>
                </a:solidFill>
                <a:latin typeface="Courier New" pitchFamily="34" charset="0"/>
                <a:ea typeface="Courier New" pitchFamily="34" charset="-122"/>
                <a:cs typeface="Courier New" pitchFamily="34" charset="-120"/>
              </a:rPr>
              <a:t>34315</a:t>
            </a:r>
            <a:endParaRPr lang="en-US" sz="2800" dirty="0"/>
          </a:p>
        </p:txBody>
      </p:sp>
      <p:sp>
        <p:nvSpPr>
          <p:cNvPr id="7" name="@1 addText"/>
          <p:cNvSpPr txBox="1"/>
          <p:nvPr/>
        </p:nvSpPr>
        <p:spPr>
          <a:xfrm>
            <a:off x="3657600" y="1280160"/>
            <a:ext cx="4846320" cy="77724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pixels brighter than 100</a:t>
            </a:r>
            <a:endParaRPr lang="en-US" sz="1800" dirty="0"/>
          </a:p>
        </p:txBody>
      </p:sp>
      <p:sp>
        <p:nvSpPr>
          <p:cNvPr id="8" name="@2 Card"/>
          <p:cNvSpPr/>
          <p:nvPr/>
        </p:nvSpPr>
        <p:spPr>
          <a:xfrm>
            <a:off x="457200" y="2194560"/>
            <a:ext cx="8229600" cy="777240"/>
          </a:xfrm>
          <a:prstGeom prst="roundRect">
            <a:avLst>
              <a:gd name="adj" fmla="val 14118"/>
            </a:avLst>
          </a:prstGeom>
          <a:solidFill>
            <a:srgbClr val="EEF2F7"/>
          </a:solidFill>
          <a:ln w="9525">
            <a:solidFill>
              <a:srgbClr val="C5D1E3"/>
            </a:solidFill>
            <a:prstDash val="solid"/>
          </a:ln>
        </p:spPr>
        <p:txBody>
          <a:bodyPr/>
          <a:lstStyle/>
          <a:p>
            <a:endParaRPr lang="en-GB"/>
          </a:p>
        </p:txBody>
      </p:sp>
      <p:sp>
        <p:nvSpPr>
          <p:cNvPr id="9" name="@2 addText"/>
          <p:cNvSpPr txBox="1"/>
          <p:nvPr/>
        </p:nvSpPr>
        <p:spPr>
          <a:xfrm>
            <a:off x="731520" y="2194560"/>
            <a:ext cx="2743200" cy="777240"/>
          </a:xfrm>
          <a:prstGeom prst="rect">
            <a:avLst/>
          </a:prstGeom>
          <a:noFill/>
          <a:ln/>
        </p:spPr>
        <p:txBody>
          <a:bodyPr wrap="square" lIns="0" tIns="0" rIns="0" bIns="0" rtlCol="0" anchor="ctr"/>
          <a:lstStyle/>
          <a:p>
            <a:pPr marL="0" indent="0">
              <a:buNone/>
            </a:pPr>
            <a:r>
              <a:rPr lang="en-US" sz="2800" b="1" dirty="0">
                <a:solidFill>
                  <a:srgbClr val="002D6A"/>
                </a:solidFill>
                <a:latin typeface="Courier New" pitchFamily="34" charset="0"/>
                <a:ea typeface="Courier New" pitchFamily="34" charset="-122"/>
                <a:cs typeface="Courier New" pitchFamily="34" charset="-120"/>
              </a:rPr>
              <a:t>102400</a:t>
            </a:r>
            <a:endParaRPr lang="en-US" sz="2800" dirty="0"/>
          </a:p>
        </p:txBody>
      </p:sp>
      <p:sp>
        <p:nvSpPr>
          <p:cNvPr id="10" name="@2 addText"/>
          <p:cNvSpPr txBox="1"/>
          <p:nvPr/>
        </p:nvSpPr>
        <p:spPr>
          <a:xfrm>
            <a:off x="3657600" y="2194560"/>
            <a:ext cx="4846320" cy="77724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grey.size, all the pixels</a:t>
            </a:r>
            <a:endParaRPr lang="en-US" sz="1800" dirty="0"/>
          </a:p>
        </p:txBody>
      </p:sp>
      <p:sp>
        <p:nvSpPr>
          <p:cNvPr id="11" name="@3 Card"/>
          <p:cNvSpPr/>
          <p:nvPr/>
        </p:nvSpPr>
        <p:spPr>
          <a:xfrm>
            <a:off x="457200" y="3108960"/>
            <a:ext cx="8229600" cy="777240"/>
          </a:xfrm>
          <a:prstGeom prst="roundRect">
            <a:avLst>
              <a:gd name="adj" fmla="val 14118"/>
            </a:avLst>
          </a:prstGeom>
          <a:solidFill>
            <a:srgbClr val="EEF2F7"/>
          </a:solidFill>
          <a:ln w="9525">
            <a:solidFill>
              <a:srgbClr val="C5D1E3"/>
            </a:solidFill>
            <a:prstDash val="solid"/>
          </a:ln>
        </p:spPr>
        <p:txBody>
          <a:bodyPr/>
          <a:lstStyle/>
          <a:p>
            <a:endParaRPr lang="en-GB"/>
          </a:p>
        </p:txBody>
      </p:sp>
      <p:sp>
        <p:nvSpPr>
          <p:cNvPr id="12" name="@3 addText"/>
          <p:cNvSpPr txBox="1"/>
          <p:nvPr/>
        </p:nvSpPr>
        <p:spPr>
          <a:xfrm>
            <a:off x="731520" y="3108960"/>
            <a:ext cx="2743200" cy="777240"/>
          </a:xfrm>
          <a:prstGeom prst="rect">
            <a:avLst/>
          </a:prstGeom>
          <a:noFill/>
          <a:ln/>
        </p:spPr>
        <p:txBody>
          <a:bodyPr wrap="square" lIns="0" tIns="0" rIns="0" bIns="0" rtlCol="0" anchor="ctr"/>
          <a:lstStyle/>
          <a:p>
            <a:pPr marL="0" indent="0">
              <a:buNone/>
            </a:pPr>
            <a:r>
              <a:rPr lang="en-US" sz="2800" b="1" dirty="0">
                <a:solidFill>
                  <a:srgbClr val="002D6A"/>
                </a:solidFill>
                <a:latin typeface="Courier New" pitchFamily="34" charset="0"/>
                <a:ea typeface="Courier New" pitchFamily="34" charset="-122"/>
                <a:cs typeface="Courier New" pitchFamily="34" charset="-120"/>
              </a:rPr>
              <a:t>0.335...</a:t>
            </a:r>
            <a:endParaRPr lang="en-US" sz="2800" dirty="0"/>
          </a:p>
        </p:txBody>
      </p:sp>
      <p:sp>
        <p:nvSpPr>
          <p:cNvPr id="13" name="@3 addText"/>
          <p:cNvSpPr txBox="1"/>
          <p:nvPr/>
        </p:nvSpPr>
        <p:spPr>
          <a:xfrm>
            <a:off x="3657600" y="3108960"/>
            <a:ext cx="4846320" cy="77724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about a third</a:t>
            </a:r>
            <a:endParaRPr lang="en-US" sz="18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8: Red, Green and Blue</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Three histograms of the red, green and blue channels side by side"/>
          <p:cNvPicPr>
            <a:picLocks noChangeAspect="1"/>
          </p:cNvPicPr>
          <p:nvPr/>
        </p:nvPicPr>
        <p:blipFill>
          <a:blip r:embed="rId3"/>
          <a:stretch>
            <a:fillRect/>
          </a:stretch>
        </p:blipFill>
        <p:spPr>
          <a:xfrm>
            <a:off x="457200" y="1197033"/>
            <a:ext cx="8229600" cy="2543695"/>
          </a:xfrm>
          <a:prstGeom prst="rect">
            <a:avLst/>
          </a:prstGeom>
        </p:spPr>
      </p:pic>
      <p:sp>
        <p:nvSpPr>
          <p:cNvPr id="6" name="@1 Callout"/>
          <p:cNvSpPr/>
          <p:nvPr/>
        </p:nvSpPr>
        <p:spPr>
          <a:xfrm>
            <a:off x="457200" y="3840480"/>
            <a:ext cx="8229600" cy="731520"/>
          </a:xfrm>
          <a:prstGeom prst="roundRect">
            <a:avLst>
              <a:gd name="adj" fmla="val 12500"/>
            </a:avLst>
          </a:prstGeom>
          <a:solidFill>
            <a:srgbClr val="FFFFFF"/>
          </a:solidFill>
          <a:ln w="15875">
            <a:solidFill>
              <a:srgbClr val="002D6A"/>
            </a:solidFill>
            <a:prstDash val="solid"/>
          </a:ln>
        </p:spPr>
        <p:txBody>
          <a:bodyPr/>
          <a:lstStyle/>
          <a:p>
            <a:endParaRPr lang="en-GB"/>
          </a:p>
        </p:txBody>
      </p:sp>
      <p:sp>
        <p:nvSpPr>
          <p:cNvPr id="7" name="@1 addText"/>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Red: tall bar middle-right (the wall). Green and blue: tallest on the left.</a:t>
            </a:r>
            <a:endParaRPr lang="en-US" sz="12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Solutions: Tasks 7 and 8</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35</a:t>
            </a:fld>
            <a:endParaRPr lang="en-US"/>
          </a:p>
        </p:txBody>
      </p:sp>
      <p:sp>
        <p:nvSpPr>
          <p:cNvPr id="6" name="Code box"/>
          <p:cNvSpPr/>
          <p:nvPr/>
        </p:nvSpPr>
        <p:spPr>
          <a:xfrm>
            <a:off x="457200" y="1097280"/>
            <a:ext cx="8229600" cy="2139696"/>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2139696"/>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bright = (grey &gt; </a:t>
            </a:r>
            <a:r>
              <a:rPr sz="1700" b="0" i="0">
                <a:solidFill>
                  <a:srgbClr val="F2C879"/>
                </a:solidFill>
                <a:latin typeface="Courier New"/>
              </a:rPr>
              <a:t>100</a:t>
            </a:r>
            <a:r>
              <a:rPr sz="1700" b="0" i="0">
                <a:solidFill>
                  <a:srgbClr val="E6ECF5"/>
                </a:solidFill>
                <a:latin typeface="Courier New"/>
              </a:rPr>
              <a:t>).sum()</a:t>
            </a:r>
          </a:p>
        </p:txBody>
      </p:sp>
      <p:sp>
        <p:nvSpPr>
          <p:cNvPr id="9" name="Code line"/>
          <p:cNvSpPr txBox="1"/>
          <p:nvPr/>
        </p:nvSpPr>
        <p:spPr>
          <a:xfrm>
            <a:off x="640080" y="1545336"/>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print(bright)                </a:t>
            </a:r>
            <a:r>
              <a:rPr sz="1700" b="0" i="0">
                <a:solidFill>
                  <a:srgbClr val="8EA3C0"/>
                </a:solidFill>
                <a:latin typeface="Courier New"/>
              </a:rPr>
              <a:t># 34315</a:t>
            </a:r>
          </a:p>
        </p:txBody>
      </p:sp>
      <p:sp>
        <p:nvSpPr>
          <p:cNvPr id="10" name="Code line"/>
          <p:cNvSpPr txBox="1"/>
          <p:nvPr/>
        </p:nvSpPr>
        <p:spPr>
          <a:xfrm>
            <a:off x="640080" y="1856231"/>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print(bright / grey.size)    </a:t>
            </a:r>
            <a:r>
              <a:rPr sz="1700" b="0" i="0">
                <a:solidFill>
                  <a:srgbClr val="8EA3C0"/>
                </a:solidFill>
                <a:latin typeface="Courier New"/>
              </a:rPr>
              <a:t># 0.335...</a:t>
            </a:r>
          </a:p>
        </p:txBody>
      </p:sp>
      <p:sp>
        <p:nvSpPr>
          <p:cNvPr id="11" name="Code line"/>
          <p:cNvSpPr txBox="1"/>
          <p:nvPr/>
        </p:nvSpPr>
        <p:spPr>
          <a:xfrm>
            <a:off x="640080" y="2478024"/>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plt.hist(red.flatten(), bins=</a:t>
            </a:r>
            <a:r>
              <a:rPr sz="1700" b="0" i="0">
                <a:solidFill>
                  <a:srgbClr val="F2C879"/>
                </a:solidFill>
                <a:latin typeface="Courier New"/>
              </a:rPr>
              <a:t>16</a:t>
            </a:r>
            <a:r>
              <a:rPr sz="1700" b="0" i="0">
                <a:solidFill>
                  <a:srgbClr val="E6ECF5"/>
                </a:solidFill>
                <a:latin typeface="Courier New"/>
              </a:rPr>
              <a:t>)</a:t>
            </a:r>
          </a:p>
        </p:txBody>
      </p:sp>
      <p:sp>
        <p:nvSpPr>
          <p:cNvPr id="12" name="Code line"/>
          <p:cNvSpPr txBox="1"/>
          <p:nvPr/>
        </p:nvSpPr>
        <p:spPr>
          <a:xfrm>
            <a:off x="640080" y="2788920"/>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plt.show()                   </a:t>
            </a:r>
            <a:r>
              <a:rPr sz="1700" b="0" i="0">
                <a:solidFill>
                  <a:srgbClr val="8EA3C0"/>
                </a:solidFill>
                <a:latin typeface="Courier New"/>
              </a:rPr>
              <a:t># same idea for green and blue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Go Backwards: ::-1</a:t>
            </a:r>
            <a:endParaRPr lang="en-US" sz="3000" dirty="0"/>
          </a:p>
        </p:txBody>
      </p:sp>
      <p:sp>
        <p:nvSpPr>
          <p:cNvPr id="3" name="STRETCH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STRETCH</a:t>
            </a:r>
            <a:endParaRPr lang="en-US" sz="1200" dirty="0"/>
          </a:p>
        </p:txBody>
      </p:sp>
      <p:sp>
        <p:nvSpPr>
          <p:cNvPr id="5" name="code bg"/>
          <p:cNvSpPr/>
          <p:nvPr/>
        </p:nvSpPr>
        <p:spPr>
          <a:xfrm>
            <a:off x="457200" y="1143000"/>
            <a:ext cx="8229600" cy="89154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43000"/>
            <a:ext cx="54864" cy="89154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show(pixels[:, ::-1])   </a:t>
            </a:r>
            <a:r>
              <a:rPr lang="en-US" sz="1800" dirty="0">
                <a:solidFill>
                  <a:srgbClr val="8EA3C0"/>
                </a:solidFill>
                <a:latin typeface="Courier New" pitchFamily="34" charset="0"/>
                <a:ea typeface="Courier New" pitchFamily="34" charset="-122"/>
                <a:cs typeface="Courier New" pitchFamily="34" charset="-120"/>
              </a:rPr>
              <a:t># mirror</a:t>
            </a:r>
            <a:endParaRPr lang="en-US" sz="1800" dirty="0"/>
          </a:p>
        </p:txBody>
      </p:sp>
      <p:sp>
        <p:nvSpPr>
          <p:cNvPr id="8" name="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show(pixels[::-1])      </a:t>
            </a:r>
            <a:r>
              <a:rPr lang="en-US" sz="1800" dirty="0">
                <a:solidFill>
                  <a:srgbClr val="8EA3C0"/>
                </a:solidFill>
                <a:latin typeface="Courier New" pitchFamily="34" charset="0"/>
                <a:ea typeface="Courier New" pitchFamily="34" charset="-122"/>
                <a:cs typeface="Courier New" pitchFamily="34" charset="-120"/>
              </a:rPr>
              <a:t># upside down</a:t>
            </a:r>
            <a:endParaRPr lang="en-US" sz="1800" dirty="0"/>
          </a:p>
        </p:txBody>
      </p:sp>
      <p:pic>
        <p:nvPicPr>
          <p:cNvPr id="9" name="Image 0" descr="The cow photo mirrored left to right"/>
          <p:cNvPicPr>
            <a:picLocks noChangeAspect="1"/>
          </p:cNvPicPr>
          <p:nvPr/>
        </p:nvPicPr>
        <p:blipFill>
          <a:blip r:embed="rId3"/>
          <a:stretch>
            <a:fillRect/>
          </a:stretch>
        </p:blipFill>
        <p:spPr>
          <a:xfrm>
            <a:off x="1188720" y="2468880"/>
            <a:ext cx="1828800" cy="1828800"/>
          </a:xfrm>
          <a:prstGeom prst="rect">
            <a:avLst/>
          </a:prstGeom>
        </p:spPr>
      </p:pic>
      <p:sp>
        <p:nvSpPr>
          <p:cNvPr id="10" name="Text 7"/>
          <p:cNvSpPr txBox="1"/>
          <p:nvPr/>
        </p:nvSpPr>
        <p:spPr>
          <a:xfrm>
            <a:off x="640080" y="4343400"/>
            <a:ext cx="292608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mirror: columns backwards</a:t>
            </a:r>
            <a:endParaRPr lang="en-US" sz="1400" dirty="0"/>
          </a:p>
        </p:txBody>
      </p:sp>
      <p:pic>
        <p:nvPicPr>
          <p:cNvPr id="11" name="Image 1" descr="The cow photo flipped upside down"/>
          <p:cNvPicPr>
            <a:picLocks noChangeAspect="1"/>
          </p:cNvPicPr>
          <p:nvPr/>
        </p:nvPicPr>
        <p:blipFill>
          <a:blip r:embed="rId4"/>
          <a:stretch>
            <a:fillRect/>
          </a:stretch>
        </p:blipFill>
        <p:spPr>
          <a:xfrm>
            <a:off x="5760720" y="2468880"/>
            <a:ext cx="1828800" cy="1828800"/>
          </a:xfrm>
          <a:prstGeom prst="rect">
            <a:avLst/>
          </a:prstGeom>
        </p:spPr>
      </p:pic>
      <p:sp>
        <p:nvSpPr>
          <p:cNvPr id="12" name="Text 8"/>
          <p:cNvSpPr txBox="1"/>
          <p:nvPr/>
        </p:nvSpPr>
        <p:spPr>
          <a:xfrm>
            <a:off x="5212080" y="4343400"/>
            <a:ext cx="292608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upside down: rows backwards</a:t>
            </a:r>
            <a:endParaRPr lang="en-US" sz="14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Finished Part 1?</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STRETCH</a:t>
            </a:r>
            <a:endParaRPr lang="en-US" sz="2200" dirty="0"/>
          </a:p>
        </p:txBody>
      </p:sp>
      <p:sp>
        <p:nvSpPr>
          <p:cNvPr id="4" name="Text 2"/>
          <p:cNvSpPr txBox="1"/>
          <p:nvPr/>
        </p:nvSpPr>
        <p:spPr>
          <a:xfrm>
            <a:off x="548640" y="2743200"/>
            <a:ext cx="5852160" cy="118872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Try both ::-1 lines. Brighten the picture: add 60 to every number. Careful, what happens above 255? Predict first.</a:t>
            </a:r>
            <a:endParaRPr lang="en-US" sz="1800" dirty="0"/>
          </a:p>
        </p:txBody>
      </p:sp>
      <p:pic>
        <p:nvPicPr>
          <p:cNvPr id="5" name="Image 0" descr="The cow photo after adding 60 to every number, with colours wrapped around"/>
          <p:cNvPicPr>
            <a:picLocks noChangeAspect="1"/>
          </p:cNvPicPr>
          <p:nvPr/>
        </p:nvPicPr>
        <p:blipFill>
          <a:blip r:embed="rId3"/>
          <a:stretch>
            <a:fillRect/>
          </a:stretch>
        </p:blipFill>
        <p:spPr>
          <a:xfrm>
            <a:off x="6766560" y="2194560"/>
            <a:ext cx="1737360" cy="1737360"/>
          </a:xfrm>
          <a:prstGeom prst="rect">
            <a:avLst/>
          </a:prstGeom>
        </p:spPr>
      </p:pic>
      <p:sp>
        <p:nvSpPr>
          <p:cNvPr id="6" name="Text 3"/>
          <p:cNvSpPr txBox="1"/>
          <p:nvPr/>
        </p:nvSpPr>
        <p:spPr>
          <a:xfrm>
            <a:off x="6309360" y="4023360"/>
            <a:ext cx="2651760" cy="27432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+ 60 (200 + 60 wraps to 4)</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Messages Hidden in Pictures</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38</a:t>
            </a:fld>
            <a:endParaRPr lang="en-US"/>
          </a:p>
        </p:txBody>
      </p:sp>
      <p:sp>
        <p:nvSpPr>
          <p:cNvPr id="4" name="@1 Bar"/>
          <p:cNvSpPr/>
          <p:nvPr/>
        </p:nvSpPr>
        <p:spPr>
          <a:xfrm>
            <a:off x="457200" y="1143000"/>
            <a:ext cx="64008" cy="548640"/>
          </a:xfrm>
          <a:prstGeom prst="rect">
            <a:avLst/>
          </a:prstGeom>
          <a:solidFill>
            <a:srgbClr val="002D6A"/>
          </a:solidFill>
          <a:ln w="9525">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1 Idea 1"/>
          <p:cNvSpPr txBox="1"/>
          <p:nvPr/>
        </p:nvSpPr>
        <p:spPr>
          <a:xfrm>
            <a:off x="685800" y="1143000"/>
            <a:ext cx="7955279" cy="548640"/>
          </a:xfrm>
          <a:prstGeom prst="rect">
            <a:avLst/>
          </a:prstGeom>
          <a:noFill/>
        </p:spPr>
        <p:txBody>
          <a:bodyPr wrap="square" lIns="0" tIns="0" rIns="0" bIns="0" anchor="ctr">
            <a:spAutoFit/>
          </a:bodyPr>
          <a:lstStyle/>
          <a:p>
            <a:pPr algn="l"/>
            <a:r>
              <a:rPr sz="2200" b="1" i="0">
                <a:solidFill>
                  <a:srgbClr val="002D6A"/>
                </a:solidFill>
                <a:latin typeface="Arial"/>
              </a:rPr>
              <a:t>Cryptography</a:t>
            </a:r>
            <a:r>
              <a:rPr sz="2200" b="0" i="0">
                <a:solidFill>
                  <a:srgbClr val="22262E"/>
                </a:solidFill>
                <a:latin typeface="Arial"/>
              </a:rPr>
              <a:t> hides what a message says.</a:t>
            </a:r>
          </a:p>
        </p:txBody>
      </p:sp>
      <p:sp>
        <p:nvSpPr>
          <p:cNvPr id="6" name="@2 Bar"/>
          <p:cNvSpPr/>
          <p:nvPr/>
        </p:nvSpPr>
        <p:spPr>
          <a:xfrm>
            <a:off x="457200" y="1828800"/>
            <a:ext cx="64008" cy="548640"/>
          </a:xfrm>
          <a:prstGeom prst="rect">
            <a:avLst/>
          </a:prstGeom>
          <a:solidFill>
            <a:srgbClr val="002D6A"/>
          </a:solidFill>
          <a:ln w="9525">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2 Idea 2"/>
          <p:cNvSpPr txBox="1"/>
          <p:nvPr/>
        </p:nvSpPr>
        <p:spPr>
          <a:xfrm>
            <a:off x="685800" y="1828800"/>
            <a:ext cx="7955279" cy="548640"/>
          </a:xfrm>
          <a:prstGeom prst="rect">
            <a:avLst/>
          </a:prstGeom>
          <a:noFill/>
        </p:spPr>
        <p:txBody>
          <a:bodyPr wrap="square" lIns="0" tIns="0" rIns="0" bIns="0" anchor="ctr">
            <a:spAutoFit/>
          </a:bodyPr>
          <a:lstStyle/>
          <a:p>
            <a:pPr algn="l"/>
            <a:r>
              <a:rPr sz="2200" b="1" i="0">
                <a:solidFill>
                  <a:srgbClr val="002D6A"/>
                </a:solidFill>
                <a:latin typeface="Arial"/>
              </a:rPr>
              <a:t>Steganography</a:t>
            </a:r>
            <a:r>
              <a:rPr sz="2200" b="0" i="0">
                <a:solidFill>
                  <a:srgbClr val="22262E"/>
                </a:solidFill>
                <a:latin typeface="Arial"/>
              </a:rPr>
              <a:t> hides that there is a message at all.</a:t>
            </a:r>
          </a:p>
        </p:txBody>
      </p:sp>
      <p:sp>
        <p:nvSpPr>
          <p:cNvPr id="8" name="@3 Swatch"/>
          <p:cNvSpPr/>
          <p:nvPr/>
        </p:nvSpPr>
        <p:spPr>
          <a:xfrm>
            <a:off x="1097280" y="2651760"/>
            <a:ext cx="2377440" cy="914400"/>
          </a:xfrm>
          <a:prstGeom prst="rect">
            <a:avLst/>
          </a:prstGeom>
          <a:solidFill>
            <a:srgbClr val="C8503C"/>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3 Swatch label"/>
          <p:cNvSpPr txBox="1"/>
          <p:nvPr/>
        </p:nvSpPr>
        <p:spPr>
          <a:xfrm>
            <a:off x="1097280" y="3611880"/>
            <a:ext cx="2377440" cy="320040"/>
          </a:xfrm>
          <a:prstGeom prst="rect">
            <a:avLst/>
          </a:prstGeom>
          <a:noFill/>
        </p:spPr>
        <p:txBody>
          <a:bodyPr wrap="square" lIns="0" tIns="0" rIns="0" bIns="0" anchor="ctr">
            <a:spAutoFit/>
          </a:bodyPr>
          <a:lstStyle/>
          <a:p>
            <a:pPr algn="ctr"/>
            <a:r>
              <a:rPr sz="1500" b="1" i="0">
                <a:solidFill>
                  <a:srgbClr val="002D6A"/>
                </a:solidFill>
                <a:latin typeface="Courier New"/>
              </a:rPr>
              <a:t>R 200   G 80   B 60</a:t>
            </a:r>
          </a:p>
        </p:txBody>
      </p:sp>
      <p:sp>
        <p:nvSpPr>
          <p:cNvPr id="10" name="@3 Swatch"/>
          <p:cNvSpPr/>
          <p:nvPr/>
        </p:nvSpPr>
        <p:spPr>
          <a:xfrm>
            <a:off x="4389120" y="2651760"/>
            <a:ext cx="2377440" cy="914400"/>
          </a:xfrm>
          <a:prstGeom prst="rect">
            <a:avLst/>
          </a:prstGeom>
          <a:solidFill>
            <a:srgbClr val="C9503C"/>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3 Swatch label"/>
          <p:cNvSpPr txBox="1"/>
          <p:nvPr/>
        </p:nvSpPr>
        <p:spPr>
          <a:xfrm>
            <a:off x="4389120" y="3611880"/>
            <a:ext cx="2377440" cy="320040"/>
          </a:xfrm>
          <a:prstGeom prst="rect">
            <a:avLst/>
          </a:prstGeom>
          <a:noFill/>
        </p:spPr>
        <p:txBody>
          <a:bodyPr wrap="square" lIns="0" tIns="0" rIns="0" bIns="0" anchor="ctr">
            <a:spAutoFit/>
          </a:bodyPr>
          <a:lstStyle/>
          <a:p>
            <a:pPr algn="ctr"/>
            <a:r>
              <a:rPr sz="1500" b="1" i="0">
                <a:solidFill>
                  <a:srgbClr val="002D6A"/>
                </a:solidFill>
                <a:latin typeface="Courier New"/>
              </a:rPr>
              <a:t>R 201   G 80   B 60</a:t>
            </a:r>
          </a:p>
        </p:txBody>
      </p:sp>
      <p:sp>
        <p:nvSpPr>
          <p:cNvPr id="12" name="@4 Callout"/>
          <p:cNvSpPr/>
          <p:nvPr/>
        </p:nvSpPr>
        <p:spPr>
          <a:xfrm>
            <a:off x="457200" y="4023360"/>
            <a:ext cx="8229600" cy="64008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4 Callout text"/>
          <p:cNvSpPr txBox="1"/>
          <p:nvPr/>
        </p:nvSpPr>
        <p:spPr>
          <a:xfrm>
            <a:off x="685800" y="4023360"/>
            <a:ext cx="7772400" cy="640080"/>
          </a:xfrm>
          <a:prstGeom prst="rect">
            <a:avLst/>
          </a:prstGeom>
          <a:noFill/>
        </p:spPr>
        <p:txBody>
          <a:bodyPr wrap="square" lIns="0" tIns="0" rIns="0" bIns="0" anchor="ctr">
            <a:spAutoFit/>
          </a:bodyPr>
          <a:lstStyle/>
          <a:p>
            <a:pPr algn="l"/>
            <a:r>
              <a:rPr sz="1600" b="1" i="0">
                <a:solidFill>
                  <a:srgbClr val="5D79A0"/>
                </a:solidFill>
                <a:latin typeface="Arial"/>
              </a:rPr>
              <a:t>TIP  </a:t>
            </a:r>
            <a:r>
              <a:rPr sz="1600" b="0" i="0">
                <a:solidFill>
                  <a:srgbClr val="22262E"/>
                </a:solidFill>
                <a:latin typeface="Arial"/>
              </a:rPr>
              <a:t>One number changed by 1. You cannot see it. A program can read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2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People Really Do This</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39</a:t>
            </a:fld>
            <a:endParaRPr lang="en-US"/>
          </a:p>
        </p:txBody>
      </p:sp>
      <p:sp>
        <p:nvSpPr>
          <p:cNvPr id="4" name="@1 Card"/>
          <p:cNvSpPr/>
          <p:nvPr/>
        </p:nvSpPr>
        <p:spPr>
          <a:xfrm>
            <a:off x="457200" y="1143000"/>
            <a:ext cx="8229600" cy="93268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1 Year pill"/>
          <p:cNvSpPr/>
          <p:nvPr/>
        </p:nvSpPr>
        <p:spPr>
          <a:xfrm>
            <a:off x="640080" y="1371600"/>
            <a:ext cx="1005840" cy="457200"/>
          </a:xfrm>
          <a:prstGeom prst="roundRect">
            <a:avLst>
              <a:gd name="adj" fmla="val 12000"/>
            </a:avLst>
          </a:prstGeom>
          <a:solidFill>
            <a:srgbClr val="002D6A"/>
          </a:solidFill>
          <a:ln w="9525">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1 Year"/>
          <p:cNvSpPr txBox="1"/>
          <p:nvPr/>
        </p:nvSpPr>
        <p:spPr>
          <a:xfrm>
            <a:off x="640080" y="1371600"/>
            <a:ext cx="1005840" cy="457200"/>
          </a:xfrm>
          <a:prstGeom prst="rect">
            <a:avLst/>
          </a:prstGeom>
          <a:noFill/>
        </p:spPr>
        <p:txBody>
          <a:bodyPr wrap="square" lIns="0" tIns="0" rIns="0" bIns="0" anchor="ctr">
            <a:spAutoFit/>
          </a:bodyPr>
          <a:lstStyle/>
          <a:p>
            <a:pPr algn="ctr"/>
            <a:r>
              <a:rPr sz="2000" b="1" i="0">
                <a:solidFill>
                  <a:srgbClr val="FFFFFF"/>
                </a:solidFill>
                <a:latin typeface="Arial"/>
              </a:rPr>
              <a:t>2010</a:t>
            </a:r>
          </a:p>
        </p:txBody>
      </p:sp>
      <p:sp>
        <p:nvSpPr>
          <p:cNvPr id="7" name="@1 Case"/>
          <p:cNvSpPr txBox="1"/>
          <p:nvPr/>
        </p:nvSpPr>
        <p:spPr>
          <a:xfrm>
            <a:off x="1874519" y="1143000"/>
            <a:ext cx="6675120" cy="932688"/>
          </a:xfrm>
          <a:prstGeom prst="rect">
            <a:avLst/>
          </a:prstGeom>
          <a:noFill/>
        </p:spPr>
        <p:txBody>
          <a:bodyPr wrap="square" lIns="0" tIns="0" rIns="0" bIns="0" anchor="ctr">
            <a:spAutoFit/>
          </a:bodyPr>
          <a:lstStyle/>
          <a:p>
            <a:pPr algn="l"/>
            <a:r>
              <a:rPr sz="1600" b="0" i="0">
                <a:solidFill>
                  <a:srgbClr val="22262E"/>
                </a:solidFill>
                <a:latin typeface="Arial"/>
              </a:rPr>
              <a:t>Russian agents living in the USA hid messages inside ordinary pictures on public websites. The FBI found out.</a:t>
            </a:r>
          </a:p>
        </p:txBody>
      </p:sp>
      <p:sp>
        <p:nvSpPr>
          <p:cNvPr id="8" name="@2 Card"/>
          <p:cNvSpPr/>
          <p:nvPr/>
        </p:nvSpPr>
        <p:spPr>
          <a:xfrm>
            <a:off x="457200" y="2212848"/>
            <a:ext cx="8229600" cy="93268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2 Year pill"/>
          <p:cNvSpPr/>
          <p:nvPr/>
        </p:nvSpPr>
        <p:spPr>
          <a:xfrm>
            <a:off x="640080" y="2441448"/>
            <a:ext cx="1005840" cy="457200"/>
          </a:xfrm>
          <a:prstGeom prst="roundRect">
            <a:avLst>
              <a:gd name="adj" fmla="val 12000"/>
            </a:avLst>
          </a:prstGeom>
          <a:solidFill>
            <a:srgbClr val="002D6A"/>
          </a:solidFill>
          <a:ln w="9525">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2 Year"/>
          <p:cNvSpPr txBox="1"/>
          <p:nvPr/>
        </p:nvSpPr>
        <p:spPr>
          <a:xfrm>
            <a:off x="640080" y="2441448"/>
            <a:ext cx="1005840" cy="457200"/>
          </a:xfrm>
          <a:prstGeom prst="rect">
            <a:avLst/>
          </a:prstGeom>
          <a:noFill/>
        </p:spPr>
        <p:txBody>
          <a:bodyPr wrap="square" lIns="0" tIns="0" rIns="0" bIns="0" anchor="ctr">
            <a:spAutoFit/>
          </a:bodyPr>
          <a:lstStyle/>
          <a:p>
            <a:pPr algn="ctr"/>
            <a:r>
              <a:rPr sz="2000" b="1" i="0">
                <a:solidFill>
                  <a:srgbClr val="FFFFFF"/>
                </a:solidFill>
                <a:latin typeface="Arial"/>
              </a:rPr>
              <a:t>2017</a:t>
            </a:r>
          </a:p>
        </p:txBody>
      </p:sp>
      <p:sp>
        <p:nvSpPr>
          <p:cNvPr id="11" name="@2 Case"/>
          <p:cNvSpPr txBox="1"/>
          <p:nvPr/>
        </p:nvSpPr>
        <p:spPr>
          <a:xfrm>
            <a:off x="1874519" y="2212848"/>
            <a:ext cx="6675120" cy="932688"/>
          </a:xfrm>
          <a:prstGeom prst="rect">
            <a:avLst/>
          </a:prstGeom>
          <a:noFill/>
        </p:spPr>
        <p:txBody>
          <a:bodyPr wrap="square" lIns="0" tIns="0" rIns="0" bIns="0" anchor="ctr">
            <a:spAutoFit/>
          </a:bodyPr>
          <a:lstStyle/>
          <a:p>
            <a:pPr algn="l"/>
            <a:r>
              <a:rPr sz="1600" b="0" i="0">
                <a:solidFill>
                  <a:srgbClr val="22262E"/>
                </a:solidFill>
                <a:latin typeface="Arial"/>
              </a:rPr>
              <a:t>A Russian hacking group, Turla, hid instructions in the comments under a pop star's Instagram photo. Security researchers at ESET worked out the trick.</a:t>
            </a:r>
          </a:p>
        </p:txBody>
      </p:sp>
      <p:sp>
        <p:nvSpPr>
          <p:cNvPr id="12" name="@3 Card"/>
          <p:cNvSpPr/>
          <p:nvPr/>
        </p:nvSpPr>
        <p:spPr>
          <a:xfrm>
            <a:off x="457200" y="3282696"/>
            <a:ext cx="8229600" cy="93268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3 Year pill"/>
          <p:cNvSpPr/>
          <p:nvPr/>
        </p:nvSpPr>
        <p:spPr>
          <a:xfrm>
            <a:off x="640080" y="3511296"/>
            <a:ext cx="1005840" cy="457200"/>
          </a:xfrm>
          <a:prstGeom prst="roundRect">
            <a:avLst>
              <a:gd name="adj" fmla="val 12000"/>
            </a:avLst>
          </a:prstGeom>
          <a:solidFill>
            <a:srgbClr val="002D6A"/>
          </a:solidFill>
          <a:ln w="9525">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3 Year"/>
          <p:cNvSpPr txBox="1"/>
          <p:nvPr/>
        </p:nvSpPr>
        <p:spPr>
          <a:xfrm>
            <a:off x="640080" y="3511296"/>
            <a:ext cx="1005840" cy="457200"/>
          </a:xfrm>
          <a:prstGeom prst="rect">
            <a:avLst/>
          </a:prstGeom>
          <a:noFill/>
        </p:spPr>
        <p:txBody>
          <a:bodyPr wrap="square" lIns="0" tIns="0" rIns="0" bIns="0" anchor="ctr">
            <a:spAutoFit/>
          </a:bodyPr>
          <a:lstStyle/>
          <a:p>
            <a:pPr algn="ctr"/>
            <a:r>
              <a:rPr sz="2000" b="1" i="0">
                <a:solidFill>
                  <a:srgbClr val="FFFFFF"/>
                </a:solidFill>
                <a:latin typeface="Arial"/>
              </a:rPr>
              <a:t>2022</a:t>
            </a:r>
          </a:p>
        </p:txBody>
      </p:sp>
      <p:sp>
        <p:nvSpPr>
          <p:cNvPr id="15" name="@3 Case"/>
          <p:cNvSpPr txBox="1"/>
          <p:nvPr/>
        </p:nvSpPr>
        <p:spPr>
          <a:xfrm>
            <a:off x="1874519" y="3282696"/>
            <a:ext cx="6675120" cy="932688"/>
          </a:xfrm>
          <a:prstGeom prst="rect">
            <a:avLst/>
          </a:prstGeom>
          <a:noFill/>
        </p:spPr>
        <p:txBody>
          <a:bodyPr wrap="square" lIns="0" tIns="0" rIns="0" bIns="0" anchor="ctr">
            <a:spAutoFit/>
          </a:bodyPr>
          <a:lstStyle/>
          <a:p>
            <a:pPr algn="l"/>
            <a:r>
              <a:rPr sz="1600" b="0" i="0">
                <a:solidFill>
                  <a:srgbClr val="22262E"/>
                </a:solidFill>
                <a:latin typeface="Arial"/>
              </a:rPr>
              <a:t>Malware was hidden inside a real picture from the James Webb Space Telescope. Security researchers at Securonix spotted it.</a:t>
            </a:r>
          </a:p>
        </p:txBody>
      </p:sp>
      <p:sp>
        <p:nvSpPr>
          <p:cNvPr id="16" name="@4 Caption"/>
          <p:cNvSpPr txBox="1"/>
          <p:nvPr/>
        </p:nvSpPr>
        <p:spPr>
          <a:xfrm>
            <a:off x="457200" y="4434840"/>
            <a:ext cx="8229600" cy="320040"/>
          </a:xfrm>
          <a:prstGeom prst="rect">
            <a:avLst/>
          </a:prstGeom>
          <a:noFill/>
        </p:spPr>
        <p:txBody>
          <a:bodyPr wrap="square" lIns="0" tIns="0" rIns="0" bIns="0" anchor="ctr">
            <a:spAutoFit/>
          </a:bodyPr>
          <a:lstStyle/>
          <a:p>
            <a:pPr algn="l"/>
            <a:r>
              <a:rPr sz="1400" b="0" i="1">
                <a:solidFill>
                  <a:srgbClr val="5D6B80"/>
                </a:solidFill>
                <a:latin typeface="Arial"/>
              </a:rPr>
              <a:t>Hidden in plain sight: nobody looks twice at a photo.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2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2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2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2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How Researchers Find Them</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40</a:t>
            </a:fld>
            <a:endParaRPr lang="en-US"/>
          </a:p>
        </p:txBody>
      </p:sp>
      <p:sp>
        <p:nvSpPr>
          <p:cNvPr id="4" name="@1 Point"/>
          <p:cNvSpPr txBox="1"/>
          <p:nvPr/>
        </p:nvSpPr>
        <p:spPr>
          <a:xfrm>
            <a:off x="548640" y="1097280"/>
            <a:ext cx="8138160" cy="566928"/>
          </a:xfrm>
          <a:prstGeom prst="rect">
            <a:avLst/>
          </a:prstGeom>
          <a:noFill/>
        </p:spPr>
        <p:txBody>
          <a:bodyPr wrap="square" lIns="0" tIns="0" rIns="0" bIns="0" anchor="t">
            <a:spAutoFit/>
          </a:bodyPr>
          <a:lstStyle/>
          <a:p>
            <a:pPr algn="l"/>
            <a:r>
              <a:rPr sz="1500" b="1" i="0">
                <a:solidFill>
                  <a:srgbClr val="002D6A"/>
                </a:solidFill>
                <a:latin typeface="Arial"/>
              </a:rPr>
              <a:t>•  Look at the numbers. </a:t>
            </a:r>
            <a:r>
              <a:rPr sz="1500" b="0" i="0">
                <a:solidFill>
                  <a:srgbClr val="22262E"/>
                </a:solidFill>
                <a:latin typeface="Arial"/>
              </a:rPr>
              <a:t>A normal photo has a pattern in its histogram. Hidden data can make it look odd.</a:t>
            </a:r>
          </a:p>
        </p:txBody>
      </p:sp>
      <p:sp>
        <p:nvSpPr>
          <p:cNvPr id="5" name="@2 Point"/>
          <p:cNvSpPr txBox="1"/>
          <p:nvPr/>
        </p:nvSpPr>
        <p:spPr>
          <a:xfrm>
            <a:off x="548640" y="1773936"/>
            <a:ext cx="8138160" cy="566928"/>
          </a:xfrm>
          <a:prstGeom prst="rect">
            <a:avLst/>
          </a:prstGeom>
          <a:noFill/>
        </p:spPr>
        <p:txBody>
          <a:bodyPr wrap="square" lIns="0" tIns="0" rIns="0" bIns="0" anchor="t">
            <a:spAutoFit/>
          </a:bodyPr>
          <a:lstStyle/>
          <a:p>
            <a:pPr algn="l"/>
            <a:r>
              <a:rPr sz="1500" b="1" i="0">
                <a:solidFill>
                  <a:srgbClr val="002D6A"/>
                </a:solidFill>
                <a:latin typeface="Arial"/>
              </a:rPr>
              <a:t>•  Compare with the original. </a:t>
            </a:r>
            <a:r>
              <a:rPr sz="1500" b="0" i="0">
                <a:solidFill>
                  <a:srgbClr val="22262E"/>
                </a:solidFill>
                <a:latin typeface="Arial"/>
              </a:rPr>
              <a:t>Subtract one picture from the other. Any change shows up.</a:t>
            </a:r>
          </a:p>
        </p:txBody>
      </p:sp>
      <p:sp>
        <p:nvSpPr>
          <p:cNvPr id="6" name="@3 Point"/>
          <p:cNvSpPr txBox="1"/>
          <p:nvPr/>
        </p:nvSpPr>
        <p:spPr>
          <a:xfrm>
            <a:off x="548640" y="2450591"/>
            <a:ext cx="8138160" cy="822960"/>
          </a:xfrm>
          <a:prstGeom prst="rect">
            <a:avLst/>
          </a:prstGeom>
          <a:noFill/>
        </p:spPr>
        <p:txBody>
          <a:bodyPr wrap="square" lIns="0" tIns="0" rIns="0" bIns="0" anchor="t">
            <a:spAutoFit/>
          </a:bodyPr>
          <a:lstStyle/>
          <a:p>
            <a:pPr algn="l"/>
            <a:r>
              <a:rPr sz="1500" b="1" i="0">
                <a:solidFill>
                  <a:srgbClr val="002D6A"/>
                </a:solidFill>
                <a:latin typeface="Arial"/>
              </a:rPr>
              <a:t>•  UK research. </a:t>
            </a:r>
            <a:r>
              <a:rPr sz="1500" b="0" i="0">
                <a:solidFill>
                  <a:srgbClr val="22262E"/>
                </a:solidFill>
                <a:latin typeface="Arial"/>
              </a:rPr>
              <a:t>Cambridge University's Computer Laboratory wrote some of the first papers on hiding information, and showed messages can hide inside ordinary internet traffic.</a:t>
            </a:r>
          </a:p>
        </p:txBody>
      </p:sp>
      <p:sp>
        <p:nvSpPr>
          <p:cNvPr id="7" name="@4 Point"/>
          <p:cNvSpPr txBox="1"/>
          <p:nvPr/>
        </p:nvSpPr>
        <p:spPr>
          <a:xfrm>
            <a:off x="548640" y="3383279"/>
            <a:ext cx="8138160" cy="566928"/>
          </a:xfrm>
          <a:prstGeom prst="rect">
            <a:avLst/>
          </a:prstGeom>
          <a:noFill/>
        </p:spPr>
        <p:txBody>
          <a:bodyPr wrap="square" lIns="0" tIns="0" rIns="0" bIns="0" anchor="t">
            <a:spAutoFit/>
          </a:bodyPr>
          <a:lstStyle/>
          <a:p>
            <a:pPr algn="l"/>
            <a:r>
              <a:rPr sz="1500" b="1" i="0">
                <a:solidFill>
                  <a:srgbClr val="002D6A"/>
                </a:solidFill>
                <a:latin typeface="Arial"/>
              </a:rPr>
              <a:t>•  UK defence. </a:t>
            </a:r>
            <a:r>
              <a:rPr sz="1500" b="0" i="0">
                <a:solidFill>
                  <a:srgbClr val="22262E"/>
                </a:solidFill>
                <a:latin typeface="Arial"/>
              </a:rPr>
              <a:t>The National Cyber Security Centre, part of GCHQ, helps protect the UK from hidden threats.</a:t>
            </a:r>
          </a:p>
        </p:txBody>
      </p:sp>
      <p:sp>
        <p:nvSpPr>
          <p:cNvPr id="8" name="@5 Point"/>
          <p:cNvSpPr txBox="1"/>
          <p:nvPr/>
        </p:nvSpPr>
        <p:spPr>
          <a:xfrm>
            <a:off x="548640" y="4059935"/>
            <a:ext cx="8138160" cy="566928"/>
          </a:xfrm>
          <a:prstGeom prst="rect">
            <a:avLst/>
          </a:prstGeom>
          <a:noFill/>
        </p:spPr>
        <p:txBody>
          <a:bodyPr wrap="square" lIns="0" tIns="0" rIns="0" bIns="0" anchor="t">
            <a:spAutoFit/>
          </a:bodyPr>
          <a:lstStyle/>
          <a:p>
            <a:pPr algn="l"/>
            <a:r>
              <a:rPr sz="1500" b="1" i="0">
                <a:solidFill>
                  <a:srgbClr val="002D6A"/>
                </a:solidFill>
                <a:latin typeface="Arial"/>
              </a:rPr>
              <a:t>•  History. </a:t>
            </a:r>
            <a:r>
              <a:rPr sz="1500" b="0" i="0">
                <a:solidFill>
                  <a:srgbClr val="22262E"/>
                </a:solidFill>
                <a:latin typeface="Arial"/>
              </a:rPr>
              <a:t>In World War 2, British censors checked letters for invisible ink and hidden writing.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You Are the Analyst</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41</a:t>
            </a:fld>
            <a:endParaRPr lang="en-US"/>
          </a:p>
        </p:txBody>
      </p:sp>
      <p:sp>
        <p:nvSpPr>
          <p:cNvPr id="4" name="@1 Card"/>
          <p:cNvSpPr/>
          <p:nvPr/>
        </p:nvSpPr>
        <p:spPr>
          <a:xfrm>
            <a:off x="457200" y="1188720"/>
            <a:ext cx="8229600" cy="73152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1 Scenario"/>
          <p:cNvSpPr txBox="1"/>
          <p:nvPr/>
        </p:nvSpPr>
        <p:spPr>
          <a:xfrm>
            <a:off x="731520" y="1188720"/>
            <a:ext cx="7680960" cy="731520"/>
          </a:xfrm>
          <a:prstGeom prst="rect">
            <a:avLst/>
          </a:prstGeom>
          <a:noFill/>
        </p:spPr>
        <p:txBody>
          <a:bodyPr wrap="square" lIns="0" tIns="0" rIns="0" bIns="0" anchor="ctr">
            <a:spAutoFit/>
          </a:bodyPr>
          <a:lstStyle/>
          <a:p>
            <a:pPr algn="l"/>
            <a:r>
              <a:rPr sz="1900" b="0" i="0">
                <a:solidFill>
                  <a:srgbClr val="22262E"/>
                </a:solidFill>
                <a:latin typeface="Arial"/>
              </a:rPr>
              <a:t>Imagine you work for a security team.</a:t>
            </a:r>
          </a:p>
        </p:txBody>
      </p:sp>
      <p:sp>
        <p:nvSpPr>
          <p:cNvPr id="6" name="@2 Card"/>
          <p:cNvSpPr/>
          <p:nvPr/>
        </p:nvSpPr>
        <p:spPr>
          <a:xfrm>
            <a:off x="457200" y="2057400"/>
            <a:ext cx="8229600" cy="73152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2 Scenario"/>
          <p:cNvSpPr txBox="1"/>
          <p:nvPr/>
        </p:nvSpPr>
        <p:spPr>
          <a:xfrm>
            <a:off x="731520" y="2057400"/>
            <a:ext cx="7680960" cy="731520"/>
          </a:xfrm>
          <a:prstGeom prst="rect">
            <a:avLst/>
          </a:prstGeom>
          <a:noFill/>
        </p:spPr>
        <p:txBody>
          <a:bodyPr wrap="square" lIns="0" tIns="0" rIns="0" bIns="0" anchor="ctr">
            <a:spAutoFit/>
          </a:bodyPr>
          <a:lstStyle/>
          <a:p>
            <a:pPr algn="l"/>
            <a:r>
              <a:rPr sz="1900" b="0" i="0">
                <a:solidFill>
                  <a:srgbClr val="22262E"/>
                </a:solidFill>
                <a:latin typeface="Arial"/>
              </a:rPr>
              <a:t>A website is posting 37 photos of cows. Nobody needs 37 cow photos... unless they are a message.</a:t>
            </a:r>
          </a:p>
        </p:txBody>
      </p:sp>
      <p:sp>
        <p:nvSpPr>
          <p:cNvPr id="8" name="@3 Card"/>
          <p:cNvSpPr/>
          <p:nvPr/>
        </p:nvSpPr>
        <p:spPr>
          <a:xfrm>
            <a:off x="457200" y="2926080"/>
            <a:ext cx="8229600" cy="73152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3 Scenario"/>
          <p:cNvSpPr txBox="1"/>
          <p:nvPr/>
        </p:nvSpPr>
        <p:spPr>
          <a:xfrm>
            <a:off x="731520" y="2926080"/>
            <a:ext cx="7680960" cy="731520"/>
          </a:xfrm>
          <a:prstGeom prst="rect">
            <a:avLst/>
          </a:prstGeom>
          <a:noFill/>
        </p:spPr>
        <p:txBody>
          <a:bodyPr wrap="square" lIns="0" tIns="0" rIns="0" bIns="0" anchor="ctr">
            <a:spAutoFit/>
          </a:bodyPr>
          <a:lstStyle/>
          <a:p>
            <a:pPr algn="l"/>
            <a:r>
              <a:rPr sz="1900" b="0" i="0">
                <a:solidFill>
                  <a:srgbClr val="22262E"/>
                </a:solidFill>
                <a:latin typeface="Arial"/>
              </a:rPr>
              <a:t>Each photo hides one letter in its pixel numbers.</a:t>
            </a:r>
          </a:p>
        </p:txBody>
      </p:sp>
      <p:sp>
        <p:nvSpPr>
          <p:cNvPr id="10" name="@4 Card"/>
          <p:cNvSpPr/>
          <p:nvPr/>
        </p:nvSpPr>
        <p:spPr>
          <a:xfrm>
            <a:off x="457200" y="3794759"/>
            <a:ext cx="8229600" cy="73152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4 Scenario"/>
          <p:cNvSpPr txBox="1"/>
          <p:nvPr/>
        </p:nvSpPr>
        <p:spPr>
          <a:xfrm>
            <a:off x="731520" y="3794759"/>
            <a:ext cx="7680960" cy="731520"/>
          </a:xfrm>
          <a:prstGeom prst="rect">
            <a:avLst/>
          </a:prstGeom>
          <a:noFill/>
        </p:spPr>
        <p:txBody>
          <a:bodyPr wrap="square" lIns="0" tIns="0" rIns="0" bIns="0" anchor="ctr">
            <a:spAutoFit/>
          </a:bodyPr>
          <a:lstStyle/>
          <a:p>
            <a:pPr algn="l"/>
            <a:r>
              <a:rPr sz="1900" b="1" i="0">
                <a:solidFill>
                  <a:srgbClr val="002D6A"/>
                </a:solidFill>
                <a:latin typeface="Arial"/>
              </a:rPr>
              <a:t>Your job: work out the rule, then decode all 37 letters.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The Puzzle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PART 2</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37 photos. One letter is hidden in each. Together they spell a sentence.</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7 min talk</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Rule</a:t>
            </a:r>
            <a:endParaRPr lang="en-US" sz="3000" dirty="0"/>
          </a:p>
        </p:txBody>
      </p:sp>
      <p:sp>
        <p:nvSpPr>
          <p:cNvPr id="3" name="@1 num"/>
          <p:cNvSpPr/>
          <p:nvPr/>
        </p:nvSpPr>
        <p:spPr>
          <a:xfrm>
            <a:off x="548640" y="1234440"/>
            <a:ext cx="457200" cy="457200"/>
          </a:xfrm>
          <a:prstGeom prst="ellipse">
            <a:avLst/>
          </a:prstGeom>
          <a:solidFill>
            <a:srgbClr val="002D6A"/>
          </a:solidFill>
          <a:ln w="12700">
            <a:solidFill>
              <a:srgbClr val="002D6A"/>
            </a:solidFill>
            <a:prstDash val="solid"/>
          </a:ln>
        </p:spPr>
        <p:txBody>
          <a:bodyPr/>
          <a:lstStyle/>
          <a:p>
            <a:endParaRPr lang="en-GB"/>
          </a:p>
        </p:txBody>
      </p:sp>
      <p:sp>
        <p:nvSpPr>
          <p:cNvPr id="4" name="@1 addText"/>
          <p:cNvSpPr txBox="1"/>
          <p:nvPr/>
        </p:nvSpPr>
        <p:spPr>
          <a:xfrm>
            <a:off x="548640" y="1234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1 addText"/>
          <p:cNvSpPr txBox="1"/>
          <p:nvPr/>
        </p:nvSpPr>
        <p:spPr>
          <a:xfrm>
            <a:off x="1280160" y="1234440"/>
            <a:ext cx="7315200" cy="4572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Open a photo.</a:t>
            </a:r>
            <a:endParaRPr lang="en-US" sz="2000" dirty="0"/>
          </a:p>
        </p:txBody>
      </p:sp>
      <p:sp>
        <p:nvSpPr>
          <p:cNvPr id="6" name="@2 num"/>
          <p:cNvSpPr/>
          <p:nvPr/>
        </p:nvSpPr>
        <p:spPr>
          <a:xfrm>
            <a:off x="548640" y="1920240"/>
            <a:ext cx="457200" cy="457200"/>
          </a:xfrm>
          <a:prstGeom prst="ellipse">
            <a:avLst/>
          </a:prstGeom>
          <a:solidFill>
            <a:srgbClr val="002D6A"/>
          </a:solidFill>
          <a:ln w="12700">
            <a:solidFill>
              <a:srgbClr val="002D6A"/>
            </a:solidFill>
            <a:prstDash val="solid"/>
          </a:ln>
        </p:spPr>
        <p:txBody>
          <a:bodyPr/>
          <a:lstStyle/>
          <a:p>
            <a:endParaRPr lang="en-GB"/>
          </a:p>
        </p:txBody>
      </p:sp>
      <p:sp>
        <p:nvSpPr>
          <p:cNvPr id="7" name="@2 addText"/>
          <p:cNvSpPr txBox="1"/>
          <p:nvPr/>
        </p:nvSpPr>
        <p:spPr>
          <a:xfrm>
            <a:off x="548640" y="19202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8" name="@2 addText"/>
          <p:cNvSpPr txBox="1"/>
          <p:nvPr/>
        </p:nvSpPr>
        <p:spPr>
          <a:xfrm>
            <a:off x="1280160" y="1920240"/>
            <a:ext cx="7315200" cy="4572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Add up every red value in it.</a:t>
            </a:r>
            <a:endParaRPr lang="en-US" sz="2000" dirty="0"/>
          </a:p>
        </p:txBody>
      </p:sp>
      <p:sp>
        <p:nvSpPr>
          <p:cNvPr id="9" name="@3 num"/>
          <p:cNvSpPr/>
          <p:nvPr/>
        </p:nvSpPr>
        <p:spPr>
          <a:xfrm>
            <a:off x="548640" y="2606040"/>
            <a:ext cx="457200" cy="457200"/>
          </a:xfrm>
          <a:prstGeom prst="ellipse">
            <a:avLst/>
          </a:prstGeom>
          <a:solidFill>
            <a:srgbClr val="002D6A"/>
          </a:solidFill>
          <a:ln w="12700">
            <a:solidFill>
              <a:srgbClr val="002D6A"/>
            </a:solidFill>
            <a:prstDash val="solid"/>
          </a:ln>
        </p:spPr>
        <p:txBody>
          <a:bodyPr/>
          <a:lstStyle/>
          <a:p>
            <a:endParaRPr lang="en-GB"/>
          </a:p>
        </p:txBody>
      </p:sp>
      <p:sp>
        <p:nvSpPr>
          <p:cNvPr id="10" name="@3 addText"/>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3 addText"/>
          <p:cNvSpPr txBox="1"/>
          <p:nvPr/>
        </p:nvSpPr>
        <p:spPr>
          <a:xfrm>
            <a:off x="1280160" y="2606040"/>
            <a:ext cx="7315200" cy="4572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Take that total % 26.</a:t>
            </a:r>
            <a:endParaRPr lang="en-US" sz="2000" dirty="0"/>
          </a:p>
        </p:txBody>
      </p:sp>
      <p:sp>
        <p:nvSpPr>
          <p:cNvPr id="12" name="@4 num"/>
          <p:cNvSpPr/>
          <p:nvPr/>
        </p:nvSpPr>
        <p:spPr>
          <a:xfrm>
            <a:off x="548640" y="3291840"/>
            <a:ext cx="457200" cy="457200"/>
          </a:xfrm>
          <a:prstGeom prst="ellipse">
            <a:avLst/>
          </a:prstGeom>
          <a:solidFill>
            <a:srgbClr val="002D6A"/>
          </a:solidFill>
          <a:ln w="12700">
            <a:solidFill>
              <a:srgbClr val="002D6A"/>
            </a:solidFill>
            <a:prstDash val="solid"/>
          </a:ln>
        </p:spPr>
        <p:txBody>
          <a:bodyPr/>
          <a:lstStyle/>
          <a:p>
            <a:endParaRPr lang="en-GB"/>
          </a:p>
        </p:txBody>
      </p:sp>
      <p:sp>
        <p:nvSpPr>
          <p:cNvPr id="13" name="@4 addText"/>
          <p:cNvSpPr txBox="1"/>
          <p:nvPr/>
        </p:nvSpPr>
        <p:spPr>
          <a:xfrm>
            <a:off x="548640" y="3291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4" name="@4 addText"/>
          <p:cNvSpPr txBox="1"/>
          <p:nvPr/>
        </p:nvSpPr>
        <p:spPr>
          <a:xfrm>
            <a:off x="1280160" y="3291840"/>
            <a:ext cx="7315200" cy="4572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Use the result to pick a letter: A=0, B=1, ... Z=25.</a:t>
            </a:r>
            <a:endParaRPr lang="en-US" sz="2000" dirty="0"/>
          </a:p>
        </p:txBody>
      </p:sp>
      <p:sp>
        <p:nvSpPr>
          <p:cNvPr id="15" name="@5 Callout"/>
          <p:cNvSpPr/>
          <p:nvPr/>
        </p:nvSpPr>
        <p:spPr>
          <a:xfrm>
            <a:off x="457200" y="4023360"/>
            <a:ext cx="8229600" cy="548640"/>
          </a:xfrm>
          <a:prstGeom prst="roundRect">
            <a:avLst>
              <a:gd name="adj" fmla="val 16667"/>
            </a:avLst>
          </a:prstGeom>
          <a:solidFill>
            <a:srgbClr val="FFFFFF"/>
          </a:solidFill>
          <a:ln w="15875">
            <a:solidFill>
              <a:srgbClr val="002D6A"/>
            </a:solidFill>
            <a:prstDash val="solid"/>
          </a:ln>
        </p:spPr>
        <p:txBody>
          <a:bodyPr/>
          <a:lstStyle/>
          <a:p>
            <a:endParaRPr lang="en-GB"/>
          </a:p>
        </p:txBody>
      </p:sp>
      <p:sp>
        <p:nvSpPr>
          <p:cNvPr id="16" name="@5 addText"/>
          <p:cNvSpPr txBox="1"/>
          <p:nvPr/>
        </p:nvSpPr>
        <p:spPr>
          <a:xfrm>
            <a:off x="685800" y="4023360"/>
            <a:ext cx="7772400" cy="54864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Do it for every photo, in order.</a:t>
            </a:r>
            <a:endParaRPr lang="en-US" sz="12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2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2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2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200"/>
                                        <p:tgtEl>
                                          <p:spTgt spid="1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Adding Them All Up</a:t>
            </a:r>
            <a:endParaRPr lang="en-US" sz="3000" dirty="0"/>
          </a:p>
        </p:txBody>
      </p:sp>
      <p:sp>
        <p:nvSpPr>
          <p:cNvPr id="3" name="code bg"/>
          <p:cNvSpPr/>
          <p:nvPr/>
        </p:nvSpPr>
        <p:spPr>
          <a:xfrm>
            <a:off x="457200" y="1143000"/>
            <a:ext cx="8229600" cy="140589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1405890"/>
          </a:xfrm>
          <a:prstGeom prst="rect">
            <a:avLst/>
          </a:prstGeom>
          <a:solidFill>
            <a:srgbClr val="A9C4E8"/>
          </a:solidFill>
          <a:ln w="12700">
            <a:solidFill>
              <a:srgbClr val="5D79A0"/>
            </a:solidFill>
            <a:prstDash val="solid"/>
          </a:ln>
        </p:spPr>
        <p:txBody>
          <a:bodyPr/>
          <a:lstStyle/>
          <a:p>
            <a:endParaRPr lang="en-GB"/>
          </a:p>
        </p:txBody>
      </p:sp>
      <p:sp>
        <p:nvSpPr>
          <p:cNvPr id="5" name="code line 1"/>
          <p:cNvSpPr txBox="1"/>
          <p:nvPr/>
        </p:nvSpPr>
        <p:spPr>
          <a:xfrm>
            <a:off x="640080" y="1280160"/>
            <a:ext cx="7955280" cy="377190"/>
          </a:xfrm>
          <a:prstGeom prst="rect">
            <a:avLst/>
          </a:prstGeom>
          <a:noFill/>
          <a:ln/>
        </p:spPr>
        <p:txBody>
          <a:bodyPr wrap="squar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&gt;&gt;&gt; </a:t>
            </a:r>
            <a:r>
              <a:rPr lang="en-US" sz="2200" dirty="0">
                <a:solidFill>
                  <a:srgbClr val="E6ECF5"/>
                </a:solidFill>
                <a:latin typeface="Courier New" pitchFamily="34" charset="0"/>
                <a:ea typeface="Courier New" pitchFamily="34" charset="-122"/>
                <a:cs typeface="Courier New" pitchFamily="34" charset="-120"/>
              </a:rPr>
              <a:t>red = pixels[:, :, 0]</a:t>
            </a:r>
            <a:endParaRPr lang="en-US" sz="2200" dirty="0"/>
          </a:p>
        </p:txBody>
      </p:sp>
      <p:sp>
        <p:nvSpPr>
          <p:cNvPr id="6" name="code line 2"/>
          <p:cNvSpPr txBox="1"/>
          <p:nvPr/>
        </p:nvSpPr>
        <p:spPr>
          <a:xfrm>
            <a:off x="640080" y="1657350"/>
            <a:ext cx="7955280" cy="377190"/>
          </a:xfrm>
          <a:prstGeom prst="rect">
            <a:avLst/>
          </a:prstGeom>
          <a:noFill/>
          <a:ln/>
        </p:spPr>
        <p:txBody>
          <a:bodyPr wrap="squar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&gt;&gt;&gt; </a:t>
            </a:r>
            <a:r>
              <a:rPr lang="en-US" sz="2200" dirty="0">
                <a:solidFill>
                  <a:srgbClr val="E6ECF5"/>
                </a:solidFill>
                <a:latin typeface="Courier New" pitchFamily="34" charset="0"/>
                <a:ea typeface="Courier New" pitchFamily="34" charset="-122"/>
                <a:cs typeface="Courier New" pitchFamily="34" charset="-120"/>
              </a:rPr>
              <a:t>red.sum()</a:t>
            </a:r>
            <a:endParaRPr lang="en-US" sz="2200" dirty="0"/>
          </a:p>
        </p:txBody>
      </p:sp>
      <p:sp>
        <p:nvSpPr>
          <p:cNvPr id="7" name="@1 code line 3"/>
          <p:cNvSpPr txBox="1"/>
          <p:nvPr/>
        </p:nvSpPr>
        <p:spPr>
          <a:xfrm>
            <a:off x="640080" y="2034540"/>
            <a:ext cx="7955280" cy="377190"/>
          </a:xfrm>
          <a:prstGeom prst="rect">
            <a:avLst/>
          </a:prstGeom>
          <a:noFill/>
          <a:ln/>
        </p:spPr>
        <p:txBody>
          <a:bodyPr wrap="square" lIns="0" tIns="0" rIns="0" bIns="0" rtlCol="0" anchor="ctr"/>
          <a:lstStyle/>
          <a:p>
            <a:pPr marL="0" indent="0">
              <a:buNone/>
            </a:pPr>
            <a:r>
              <a:rPr lang="en-US" sz="2200" dirty="0">
                <a:solidFill>
                  <a:srgbClr val="B8E0B0"/>
                </a:solidFill>
                <a:latin typeface="Courier New" pitchFamily="34" charset="0"/>
                <a:ea typeface="Courier New" pitchFamily="34" charset="-122"/>
                <a:cs typeface="Courier New" pitchFamily="34" charset="-120"/>
              </a:rPr>
              <a:t>10218857</a:t>
            </a:r>
            <a:endParaRPr lang="en-US" sz="2200" dirty="0"/>
          </a:p>
        </p:txBody>
      </p:sp>
      <p:sp>
        <p:nvSpPr>
          <p:cNvPr id="8" name="@1 addText"/>
          <p:cNvSpPr txBox="1"/>
          <p:nvPr/>
        </p:nvSpPr>
        <p:spPr>
          <a:xfrm>
            <a:off x="457200" y="32918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one number: the total "redness" of all 102,400 pixels of cow-demo.jpg</a:t>
            </a:r>
            <a:endParaRPr lang="en-US" sz="14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 and Letters</a:t>
            </a:r>
            <a:endParaRPr lang="en-US" sz="3000" dirty="0"/>
          </a:p>
        </p:txBody>
      </p:sp>
      <p:sp>
        <p:nvSpPr>
          <p:cNvPr id="3" name="code bg"/>
          <p:cNvSpPr/>
          <p:nvPr/>
        </p:nvSpPr>
        <p:spPr>
          <a:xfrm>
            <a:off x="457200" y="1143000"/>
            <a:ext cx="8229600" cy="164592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1645920"/>
          </a:xfrm>
          <a:prstGeom prst="rect">
            <a:avLst/>
          </a:prstGeom>
          <a:solidFill>
            <a:srgbClr val="A9C4E8"/>
          </a:solidFill>
          <a:ln w="12700">
            <a:solidFill>
              <a:srgbClr val="5D79A0"/>
            </a:solidFill>
            <a:prstDash val="solid"/>
          </a:ln>
        </p:spPr>
        <p:txBody>
          <a:bodyPr/>
          <a:lstStyle/>
          <a:p>
            <a:endParaRPr lang="en-GB"/>
          </a:p>
        </p:txBody>
      </p:sp>
      <p:sp>
        <p:nvSpPr>
          <p:cNvPr id="5" name="code line 1"/>
          <p:cNvSpPr txBox="1"/>
          <p:nvPr/>
        </p:nvSpPr>
        <p:spPr>
          <a:xfrm>
            <a:off x="640080" y="12801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&gt;&gt;&gt; </a:t>
            </a:r>
            <a:r>
              <a:rPr lang="en-US" sz="1600" dirty="0">
                <a:solidFill>
                  <a:srgbClr val="E6ECF5"/>
                </a:solidFill>
                <a:latin typeface="Courier New" pitchFamily="34" charset="0"/>
                <a:ea typeface="Courier New" pitchFamily="34" charset="-122"/>
                <a:cs typeface="Courier New" pitchFamily="34" charset="-120"/>
              </a:rPr>
              <a:t>10218857 % 26</a:t>
            </a:r>
            <a:endParaRPr lang="en-US" sz="1600" dirty="0"/>
          </a:p>
        </p:txBody>
      </p:sp>
      <p:sp>
        <p:nvSpPr>
          <p:cNvPr id="6" name="@1 code line 2"/>
          <p:cNvSpPr txBox="1"/>
          <p:nvPr/>
        </p:nvSpPr>
        <p:spPr>
          <a:xfrm>
            <a:off x="640080" y="1554480"/>
            <a:ext cx="7955280" cy="274320"/>
          </a:xfrm>
          <a:prstGeom prst="rect">
            <a:avLst/>
          </a:prstGeom>
          <a:noFill/>
          <a:ln/>
        </p:spPr>
        <p:txBody>
          <a:bodyPr wrap="square" lIns="0" tIns="0" rIns="0" bIns="0" rtlCol="0" anchor="ctr"/>
          <a:lstStyle/>
          <a:p>
            <a:pPr marL="0" indent="0">
              <a:buNone/>
            </a:pPr>
            <a:r>
              <a:rPr lang="en-US" sz="1600" dirty="0">
                <a:solidFill>
                  <a:srgbClr val="B8E0B0"/>
                </a:solidFill>
                <a:latin typeface="Courier New" pitchFamily="34" charset="0"/>
                <a:ea typeface="Courier New" pitchFamily="34" charset="-122"/>
                <a:cs typeface="Courier New" pitchFamily="34" charset="-120"/>
              </a:rPr>
              <a:t>25</a:t>
            </a:r>
            <a:endParaRPr lang="en-US" sz="1600" dirty="0"/>
          </a:p>
        </p:txBody>
      </p:sp>
      <p:sp>
        <p:nvSpPr>
          <p:cNvPr id="7" name="code line 3"/>
          <p:cNvSpPr txBox="1"/>
          <p:nvPr/>
        </p:nvSpPr>
        <p:spPr>
          <a:xfrm>
            <a:off x="640080" y="182880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&gt;&gt;&gt; </a:t>
            </a:r>
            <a:r>
              <a:rPr lang="en-US" sz="1600" dirty="0">
                <a:solidFill>
                  <a:srgbClr val="E6ECF5"/>
                </a:solidFill>
                <a:latin typeface="Courier New" pitchFamily="34" charset="0"/>
                <a:ea typeface="Courier New" pitchFamily="34" charset="-122"/>
                <a:cs typeface="Courier New" pitchFamily="34" charset="-120"/>
              </a:rPr>
              <a:t>alphabet = "ABCDEFGHIJKLMNOPQRSTUVWXYZ"</a:t>
            </a:r>
            <a:endParaRPr lang="en-US" sz="1600" dirty="0"/>
          </a:p>
        </p:txBody>
      </p:sp>
      <p:sp>
        <p:nvSpPr>
          <p:cNvPr id="8" name="code line 4"/>
          <p:cNvSpPr txBox="1"/>
          <p:nvPr/>
        </p:nvSpPr>
        <p:spPr>
          <a:xfrm>
            <a:off x="640080" y="21031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&gt;&gt;&gt; </a:t>
            </a:r>
            <a:r>
              <a:rPr lang="en-US" sz="1600" dirty="0">
                <a:solidFill>
                  <a:srgbClr val="E6ECF5"/>
                </a:solidFill>
                <a:latin typeface="Courier New" pitchFamily="34" charset="0"/>
                <a:ea typeface="Courier New" pitchFamily="34" charset="-122"/>
                <a:cs typeface="Courier New" pitchFamily="34" charset="-120"/>
              </a:rPr>
              <a:t>alphabet[2]</a:t>
            </a:r>
            <a:endParaRPr lang="en-US" sz="1600" dirty="0"/>
          </a:p>
        </p:txBody>
      </p:sp>
      <p:sp>
        <p:nvSpPr>
          <p:cNvPr id="9" name="@2 code line 5"/>
          <p:cNvSpPr txBox="1"/>
          <p:nvPr/>
        </p:nvSpPr>
        <p:spPr>
          <a:xfrm>
            <a:off x="640080" y="2377440"/>
            <a:ext cx="7955280" cy="274320"/>
          </a:xfrm>
          <a:prstGeom prst="rect">
            <a:avLst/>
          </a:prstGeom>
          <a:noFill/>
          <a:ln/>
        </p:spPr>
        <p:txBody>
          <a:bodyPr wrap="square" lIns="0" tIns="0" rIns="0" bIns="0" rtlCol="0" anchor="ctr"/>
          <a:lstStyle/>
          <a:p>
            <a:pPr marL="0" indent="0">
              <a:buNone/>
            </a:pPr>
            <a:r>
              <a:rPr lang="en-US" sz="1600" dirty="0">
                <a:solidFill>
                  <a:srgbClr val="B8E0B0"/>
                </a:solidFill>
                <a:latin typeface="Courier New" pitchFamily="34" charset="0"/>
                <a:ea typeface="Courier New" pitchFamily="34" charset="-122"/>
                <a:cs typeface="Courier New" pitchFamily="34" charset="-120"/>
              </a:rPr>
              <a:t>'C'</a:t>
            </a:r>
            <a:endParaRPr lang="en-US" sz="1600" dirty="0"/>
          </a:p>
        </p:txBody>
      </p:sp>
      <p:sp>
        <p:nvSpPr>
          <p:cNvPr id="10" name="@3 Callout"/>
          <p:cNvSpPr/>
          <p:nvPr/>
        </p:nvSpPr>
        <p:spPr>
          <a:xfrm>
            <a:off x="457200" y="3383280"/>
            <a:ext cx="8229600" cy="640080"/>
          </a:xfrm>
          <a:prstGeom prst="roundRect">
            <a:avLst>
              <a:gd name="adj" fmla="val 14286"/>
            </a:avLst>
          </a:prstGeom>
          <a:solidFill>
            <a:srgbClr val="FFFFFF"/>
          </a:solidFill>
          <a:ln w="15875">
            <a:solidFill>
              <a:srgbClr val="002D6A"/>
            </a:solidFill>
            <a:prstDash val="solid"/>
          </a:ln>
        </p:spPr>
        <p:txBody>
          <a:bodyPr/>
          <a:lstStyle/>
          <a:p>
            <a:endParaRPr lang="en-GB"/>
          </a:p>
        </p:txBody>
      </p:sp>
      <p:sp>
        <p:nvSpPr>
          <p:cNvPr id="11" name="@3 addText"/>
          <p:cNvSpPr txBox="1"/>
          <p:nvPr/>
        </p:nvSpPr>
        <p:spPr>
          <a:xfrm>
            <a:off x="685800" y="3383280"/>
            <a:ext cx="7772400" cy="64008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Our cow gave 25. Which letter is that?</a:t>
            </a:r>
            <a:endParaRPr lang="en-US" sz="1200" dirty="0"/>
          </a:p>
        </p:txBody>
      </p:sp>
      <p:sp>
        <p:nvSpPr>
          <p:cNvPr id="12" name="@4 code bg"/>
          <p:cNvSpPr/>
          <p:nvPr/>
        </p:nvSpPr>
        <p:spPr>
          <a:xfrm>
            <a:off x="457200" y="4069080"/>
            <a:ext cx="8229600" cy="822960"/>
          </a:xfrm>
          <a:prstGeom prst="rect">
            <a:avLst/>
          </a:prstGeom>
          <a:solidFill>
            <a:srgbClr val="0B2A57"/>
          </a:solidFill>
          <a:ln w="12700">
            <a:solidFill>
              <a:srgbClr val="0B2A57"/>
            </a:solidFill>
            <a:prstDash val="solid"/>
          </a:ln>
        </p:spPr>
        <p:txBody>
          <a:bodyPr/>
          <a:lstStyle/>
          <a:p>
            <a:endParaRPr lang="en-GB"/>
          </a:p>
        </p:txBody>
      </p:sp>
      <p:sp>
        <p:nvSpPr>
          <p:cNvPr id="13" name="@4 code bar"/>
          <p:cNvSpPr/>
          <p:nvPr/>
        </p:nvSpPr>
        <p:spPr>
          <a:xfrm>
            <a:off x="457200" y="4069080"/>
            <a:ext cx="54864" cy="822960"/>
          </a:xfrm>
          <a:prstGeom prst="rect">
            <a:avLst/>
          </a:prstGeom>
          <a:solidFill>
            <a:srgbClr val="A9C4E8"/>
          </a:solidFill>
          <a:ln w="12700">
            <a:solidFill>
              <a:srgbClr val="5D79A0"/>
            </a:solidFill>
            <a:prstDash val="solid"/>
          </a:ln>
        </p:spPr>
        <p:txBody>
          <a:bodyPr/>
          <a:lstStyle/>
          <a:p>
            <a:endParaRPr lang="en-GB"/>
          </a:p>
        </p:txBody>
      </p:sp>
      <p:sp>
        <p:nvSpPr>
          <p:cNvPr id="14" name="@4 code line 1"/>
          <p:cNvSpPr txBox="1"/>
          <p:nvPr/>
        </p:nvSpPr>
        <p:spPr>
          <a:xfrm>
            <a:off x="640080" y="42062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&gt;&gt;&gt; </a:t>
            </a:r>
            <a:r>
              <a:rPr lang="en-US" sz="1600" dirty="0">
                <a:solidFill>
                  <a:srgbClr val="E6ECF5"/>
                </a:solidFill>
                <a:latin typeface="Courier New" pitchFamily="34" charset="0"/>
                <a:ea typeface="Courier New" pitchFamily="34" charset="-122"/>
                <a:cs typeface="Courier New" pitchFamily="34" charset="-120"/>
              </a:rPr>
              <a:t>alphabet[25]</a:t>
            </a:r>
            <a:endParaRPr lang="en-US" sz="1600" dirty="0"/>
          </a:p>
        </p:txBody>
      </p:sp>
      <p:sp>
        <p:nvSpPr>
          <p:cNvPr id="15" name="@4 code line 2"/>
          <p:cNvSpPr txBox="1"/>
          <p:nvPr/>
        </p:nvSpPr>
        <p:spPr>
          <a:xfrm>
            <a:off x="640080" y="4480560"/>
            <a:ext cx="7955280" cy="274320"/>
          </a:xfrm>
          <a:prstGeom prst="rect">
            <a:avLst/>
          </a:prstGeom>
          <a:noFill/>
          <a:ln/>
        </p:spPr>
        <p:txBody>
          <a:bodyPr wrap="square" lIns="0" tIns="0" rIns="0" bIns="0" rtlCol="0" anchor="ctr"/>
          <a:lstStyle/>
          <a:p>
            <a:pPr marL="0" indent="0">
              <a:buNone/>
            </a:pPr>
            <a:r>
              <a:rPr lang="en-US" sz="1600" dirty="0">
                <a:solidFill>
                  <a:srgbClr val="B8E0B0"/>
                </a:solidFill>
                <a:latin typeface="Courier New" pitchFamily="34" charset="0"/>
                <a:ea typeface="Courier New" pitchFamily="34" charset="-122"/>
                <a:cs typeface="Courier New" pitchFamily="34" charset="-120"/>
              </a:rPr>
              <a:t>'Z'</a:t>
            </a:r>
            <a:endParaRPr lang="en-US" sz="16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P spid="14" grpId="0" animBg="1"/>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Oh no.</a:t>
            </a:r>
            <a:endParaRPr lang="en-US" sz="3400" dirty="0"/>
          </a:p>
        </p:txBody>
      </p:sp>
      <p:sp>
        <p:nvSpPr>
          <p:cNvPr id="3" name="Text 1"/>
          <p:cNvSpPr txBox="1"/>
          <p:nvPr/>
        </p:nvSpPr>
        <p:spPr>
          <a:xfrm>
            <a:off x="548640" y="2468880"/>
            <a:ext cx="7315200" cy="457200"/>
          </a:xfrm>
          <a:prstGeom prst="rect">
            <a:avLst/>
          </a:prstGeom>
          <a:noFill/>
          <a:ln/>
        </p:spPr>
        <p:txBody>
          <a:bodyPr wrap="square" lIns="0" tIns="0" rIns="0" bIns="0" rtlCol="0" anchor="ctr"/>
          <a:lstStyle/>
          <a:p>
            <a:pPr marL="0" indent="0">
              <a:buNone/>
            </a:pPr>
            <a:r>
              <a:rPr lang="en-US" sz="2000" dirty="0">
                <a:solidFill>
                  <a:srgbClr val="C5D1E3"/>
                </a:solidFill>
                <a:latin typeface="Arial" pitchFamily="34" charset="0"/>
                <a:ea typeface="Arial" pitchFamily="34" charset="-122"/>
                <a:cs typeface="Arial" pitchFamily="34" charset="-120"/>
              </a:rPr>
              <a:t>Imagine adding up the red by hand.</a:t>
            </a:r>
            <a:endParaRPr lang="en-US" sz="2000" dirty="0"/>
          </a:p>
        </p:txBody>
      </p:sp>
      <p:sp>
        <p:nvSpPr>
          <p:cNvPr id="4" name="@1 Card"/>
          <p:cNvSpPr/>
          <p:nvPr/>
        </p:nvSpPr>
        <p:spPr>
          <a:xfrm>
            <a:off x="548640" y="3108960"/>
            <a:ext cx="5029200" cy="384048"/>
          </a:xfrm>
          <a:prstGeom prst="roundRect">
            <a:avLst>
              <a:gd name="adj" fmla="val 28571"/>
            </a:avLst>
          </a:prstGeom>
          <a:solidFill>
            <a:srgbClr val="002D6A"/>
          </a:solidFill>
          <a:ln w="9525">
            <a:solidFill>
              <a:srgbClr val="5D79A0"/>
            </a:solidFill>
            <a:prstDash val="solid"/>
          </a:ln>
        </p:spPr>
        <p:txBody>
          <a:bodyPr/>
          <a:lstStyle/>
          <a:p>
            <a:endParaRPr lang="en-GB"/>
          </a:p>
        </p:txBody>
      </p:sp>
      <p:sp>
        <p:nvSpPr>
          <p:cNvPr id="5" name="@1 addText"/>
          <p:cNvSpPr txBox="1"/>
          <p:nvPr/>
        </p:nvSpPr>
        <p:spPr>
          <a:xfrm>
            <a:off x="731520" y="3108960"/>
            <a:ext cx="4754880" cy="384048"/>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3 x 3: 9 red numbers</a:t>
            </a:r>
            <a:endParaRPr lang="en-US" sz="1600" dirty="0"/>
          </a:p>
        </p:txBody>
      </p:sp>
      <p:sp>
        <p:nvSpPr>
          <p:cNvPr id="6" name="@2 Card"/>
          <p:cNvSpPr/>
          <p:nvPr/>
        </p:nvSpPr>
        <p:spPr>
          <a:xfrm>
            <a:off x="548640" y="3566160"/>
            <a:ext cx="5029200" cy="384048"/>
          </a:xfrm>
          <a:prstGeom prst="roundRect">
            <a:avLst>
              <a:gd name="adj" fmla="val 28571"/>
            </a:avLst>
          </a:prstGeom>
          <a:solidFill>
            <a:srgbClr val="002D6A"/>
          </a:solidFill>
          <a:ln w="9525">
            <a:solidFill>
              <a:srgbClr val="5D79A0"/>
            </a:solidFill>
            <a:prstDash val="solid"/>
          </a:ln>
        </p:spPr>
        <p:txBody>
          <a:bodyPr/>
          <a:lstStyle/>
          <a:p>
            <a:endParaRPr lang="en-GB"/>
          </a:p>
        </p:txBody>
      </p:sp>
      <p:sp>
        <p:nvSpPr>
          <p:cNvPr id="7" name="@2 addText"/>
          <p:cNvSpPr txBox="1"/>
          <p:nvPr/>
        </p:nvSpPr>
        <p:spPr>
          <a:xfrm>
            <a:off x="731520" y="3566160"/>
            <a:ext cx="4754880" cy="384048"/>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puzzle photo: 640 x 640 = 409,600</a:t>
            </a:r>
            <a:endParaRPr lang="en-US" sz="1600" dirty="0"/>
          </a:p>
        </p:txBody>
      </p:sp>
      <p:sp>
        <p:nvSpPr>
          <p:cNvPr id="8" name="@3 Card"/>
          <p:cNvSpPr/>
          <p:nvPr/>
        </p:nvSpPr>
        <p:spPr>
          <a:xfrm>
            <a:off x="548640" y="4023360"/>
            <a:ext cx="5029200" cy="384048"/>
          </a:xfrm>
          <a:prstGeom prst="roundRect">
            <a:avLst>
              <a:gd name="adj" fmla="val 28571"/>
            </a:avLst>
          </a:prstGeom>
          <a:solidFill>
            <a:srgbClr val="002D6A"/>
          </a:solidFill>
          <a:ln w="9525">
            <a:solidFill>
              <a:srgbClr val="5D79A0"/>
            </a:solidFill>
            <a:prstDash val="solid"/>
          </a:ln>
        </p:spPr>
        <p:txBody>
          <a:bodyPr/>
          <a:lstStyle/>
          <a:p>
            <a:endParaRPr lang="en-GB"/>
          </a:p>
        </p:txBody>
      </p:sp>
      <p:sp>
        <p:nvSpPr>
          <p:cNvPr id="9" name="@3 addText"/>
          <p:cNvSpPr txBox="1"/>
          <p:nvPr/>
        </p:nvSpPr>
        <p:spPr>
          <a:xfrm>
            <a:off x="731520" y="4023360"/>
            <a:ext cx="4754880" cy="384048"/>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x 37 photos = 15,155,200</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Careful: Two Different Photos</a:t>
            </a:r>
            <a:endParaRPr lang="en-US" sz="3000" dirty="0"/>
          </a:p>
        </p:txBody>
      </p:sp>
      <p:sp>
        <p:nvSpPr>
          <p:cNvPr id="3" name="@1 Card"/>
          <p:cNvSpPr/>
          <p:nvPr/>
        </p:nvSpPr>
        <p:spPr>
          <a:xfrm>
            <a:off x="457200" y="1371600"/>
            <a:ext cx="4023360" cy="1463040"/>
          </a:xfrm>
          <a:prstGeom prst="roundRect">
            <a:avLst>
              <a:gd name="adj" fmla="val 7500"/>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457200" y="1463040"/>
            <a:ext cx="4023360" cy="640080"/>
          </a:xfrm>
          <a:prstGeom prst="rect">
            <a:avLst/>
          </a:prstGeom>
          <a:noFill/>
          <a:ln/>
        </p:spPr>
        <p:txBody>
          <a:bodyPr wrap="square" lIns="0" tIns="0" rIns="0" bIns="0" rtlCol="0" anchor="ctr"/>
          <a:lstStyle/>
          <a:p>
            <a:pPr marL="0" indent="0" algn="ctr">
              <a:buNone/>
            </a:pPr>
            <a:r>
              <a:rPr lang="en-US" sz="2200" b="1" dirty="0">
                <a:solidFill>
                  <a:srgbClr val="002D6A"/>
                </a:solidFill>
                <a:latin typeface="Courier New" pitchFamily="34" charset="0"/>
                <a:ea typeface="Courier New" pitchFamily="34" charset="-122"/>
                <a:cs typeface="Courier New" pitchFamily="34" charset="-120"/>
              </a:rPr>
              <a:t>cow-demo.jpg</a:t>
            </a:r>
            <a:endParaRPr lang="en-US" sz="2200" dirty="0"/>
          </a:p>
        </p:txBody>
      </p:sp>
      <p:sp>
        <p:nvSpPr>
          <p:cNvPr id="5" name="@1 addText"/>
          <p:cNvSpPr txBox="1"/>
          <p:nvPr/>
        </p:nvSpPr>
        <p:spPr>
          <a:xfrm>
            <a:off x="457200" y="2103120"/>
            <a:ext cx="4023360" cy="548640"/>
          </a:xfrm>
          <a:prstGeom prst="rect">
            <a:avLst/>
          </a:prstGeom>
          <a:noFill/>
          <a:ln/>
        </p:spPr>
        <p:txBody>
          <a:bodyPr wrap="square" lIns="0" tIns="0" rIns="0" bIns="0" rtlCol="0" anchor="ctr"/>
          <a:lstStyle/>
          <a:p>
            <a:pPr marL="0" indent="0" algn="ctr">
              <a:buNone/>
            </a:pPr>
            <a:r>
              <a:rPr lang="en-US" sz="1600" dirty="0">
                <a:solidFill>
                  <a:srgbClr val="22262E"/>
                </a:solidFill>
                <a:latin typeface="Arial" pitchFamily="34" charset="0"/>
                <a:ea typeface="Arial" pitchFamily="34" charset="-122"/>
                <a:cs typeface="Arial" pitchFamily="34" charset="-120"/>
              </a:rPr>
              <a:t>320 x 320, our practice photo</a:t>
            </a:r>
            <a:endParaRPr lang="en-US" sz="1600" dirty="0"/>
          </a:p>
        </p:txBody>
      </p:sp>
      <p:sp>
        <p:nvSpPr>
          <p:cNvPr id="6" name="@2 Card"/>
          <p:cNvSpPr/>
          <p:nvPr/>
        </p:nvSpPr>
        <p:spPr>
          <a:xfrm>
            <a:off x="4663440" y="1371600"/>
            <a:ext cx="4023360" cy="1463040"/>
          </a:xfrm>
          <a:prstGeom prst="roundRect">
            <a:avLst>
              <a:gd name="adj" fmla="val 7500"/>
            </a:avLst>
          </a:prstGeom>
          <a:solidFill>
            <a:srgbClr val="FFFFFF"/>
          </a:solidFill>
          <a:ln w="9525">
            <a:solidFill>
              <a:srgbClr val="C5D1E3"/>
            </a:solidFill>
            <a:prstDash val="solid"/>
          </a:ln>
        </p:spPr>
        <p:txBody>
          <a:bodyPr/>
          <a:lstStyle/>
          <a:p>
            <a:endParaRPr lang="en-GB"/>
          </a:p>
        </p:txBody>
      </p:sp>
      <p:sp>
        <p:nvSpPr>
          <p:cNvPr id="7" name="@2 addText"/>
          <p:cNvSpPr txBox="1"/>
          <p:nvPr/>
        </p:nvSpPr>
        <p:spPr>
          <a:xfrm>
            <a:off x="4663440" y="1463040"/>
            <a:ext cx="4023360" cy="640080"/>
          </a:xfrm>
          <a:prstGeom prst="rect">
            <a:avLst/>
          </a:prstGeom>
          <a:noFill/>
          <a:ln/>
        </p:spPr>
        <p:txBody>
          <a:bodyPr wrap="square" lIns="0" tIns="0" rIns="0" bIns="0" rtlCol="0" anchor="ctr"/>
          <a:lstStyle/>
          <a:p>
            <a:pPr marL="0" indent="0" algn="ctr">
              <a:buNone/>
            </a:pPr>
            <a:r>
              <a:rPr lang="en-US" sz="2200" b="1" dirty="0">
                <a:solidFill>
                  <a:srgbClr val="002D6A"/>
                </a:solidFill>
                <a:latin typeface="Courier New" pitchFamily="34" charset="0"/>
                <a:ea typeface="Courier New" pitchFamily="34" charset="-122"/>
                <a:cs typeface="Courier New" pitchFamily="34" charset="-120"/>
              </a:rPr>
              <a:t>cow_message/</a:t>
            </a:r>
            <a:endParaRPr lang="en-US" sz="2200" dirty="0"/>
          </a:p>
        </p:txBody>
      </p:sp>
      <p:sp>
        <p:nvSpPr>
          <p:cNvPr id="8" name="@2 addText"/>
          <p:cNvSpPr txBox="1"/>
          <p:nvPr/>
        </p:nvSpPr>
        <p:spPr>
          <a:xfrm>
            <a:off x="4663440" y="2103120"/>
            <a:ext cx="4023360" cy="548640"/>
          </a:xfrm>
          <a:prstGeom prst="rect">
            <a:avLst/>
          </a:prstGeom>
          <a:noFill/>
          <a:ln/>
        </p:spPr>
        <p:txBody>
          <a:bodyPr wrap="square" lIns="0" tIns="0" rIns="0" bIns="0" rtlCol="0" anchor="ctr"/>
          <a:lstStyle/>
          <a:p>
            <a:pPr marL="0" indent="0" algn="ctr">
              <a:buNone/>
            </a:pPr>
            <a:r>
              <a:rPr lang="en-US" sz="1600" dirty="0">
                <a:solidFill>
                  <a:srgbClr val="22262E"/>
                </a:solidFill>
                <a:latin typeface="Arial" pitchFamily="34" charset="0"/>
                <a:ea typeface="Arial" pitchFamily="34" charset="-122"/>
                <a:cs typeface="Arial" pitchFamily="34" charset="-120"/>
              </a:rPr>
              <a:t>37 photos, 640 x 640 each</a:t>
            </a:r>
            <a:endParaRPr lang="en-US" sz="1600" dirty="0"/>
          </a:p>
        </p:txBody>
      </p:sp>
      <p:sp>
        <p:nvSpPr>
          <p:cNvPr id="9" name="@3 addText"/>
          <p:cNvSpPr txBox="1"/>
          <p:nvPr/>
        </p:nvSpPr>
        <p:spPr>
          <a:xfrm>
            <a:off x="457200" y="32918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same code works on both. Practise on the demo, then solve the puzzle.</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Let the Computer Do It</a:t>
            </a:r>
            <a:endParaRPr lang="en-US" sz="3000" dirty="0"/>
          </a:p>
        </p:txBody>
      </p:sp>
      <p:sp>
        <p:nvSpPr>
          <p:cNvPr id="3" name="3 MIN TALK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5 MIN TALK</a:t>
            </a:r>
            <a:endParaRPr lang="en-US" sz="1200" dirty="0"/>
          </a:p>
        </p:txBody>
      </p:sp>
      <p:sp>
        <p:nvSpPr>
          <p:cNvPr id="5" name="Text 3"/>
          <p:cNvSpPr txBox="1"/>
          <p:nvPr/>
        </p:nvSpPr>
        <p:spPr>
          <a:xfrm>
            <a:off x="457200" y="1097280"/>
            <a:ext cx="8229600" cy="45720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You already know how: functions and loops.</a:t>
            </a:r>
            <a:endParaRPr lang="en-US" sz="2000" dirty="0"/>
          </a:p>
        </p:txBody>
      </p:sp>
      <p:sp>
        <p:nvSpPr>
          <p:cNvPr id="6" name="@1 Card"/>
          <p:cNvSpPr/>
          <p:nvPr/>
        </p:nvSpPr>
        <p:spPr>
          <a:xfrm>
            <a:off x="457200" y="1737360"/>
            <a:ext cx="8229600" cy="658368"/>
          </a:xfrm>
          <a:prstGeom prst="roundRect">
            <a:avLst>
              <a:gd name="adj" fmla="val 16667"/>
            </a:avLst>
          </a:prstGeom>
          <a:solidFill>
            <a:srgbClr val="FFFFFF"/>
          </a:solidFill>
          <a:ln w="9525">
            <a:solidFill>
              <a:srgbClr val="C5D1E3"/>
            </a:solidFill>
            <a:prstDash val="solid"/>
          </a:ln>
        </p:spPr>
        <p:txBody>
          <a:bodyPr/>
          <a:lstStyle/>
          <a:p>
            <a:endParaRPr lang="en-GB"/>
          </a:p>
        </p:txBody>
      </p:sp>
      <p:sp>
        <p:nvSpPr>
          <p:cNvPr id="7" name="@1 addText"/>
          <p:cNvSpPr txBox="1"/>
          <p:nvPr/>
        </p:nvSpPr>
        <p:spPr>
          <a:xfrm>
            <a:off x="731520" y="1737360"/>
            <a:ext cx="4572000" cy="658368"/>
          </a:xfrm>
          <a:prstGeom prst="rect">
            <a:avLst/>
          </a:prstGeom>
          <a:noFill/>
          <a:ln/>
        </p:spPr>
        <p:txBody>
          <a:bodyPr wrap="square" lIns="0" tIns="0" rIns="0" bIns="0" rtlCol="0" anchor="ctr"/>
          <a:lstStyle/>
          <a:p>
            <a:pPr marL="0" indent="0">
              <a:buNone/>
            </a:pPr>
            <a:r>
              <a:rPr lang="en-US" sz="1800" b="1" dirty="0">
                <a:solidFill>
                  <a:srgbClr val="002D6A"/>
                </a:solidFill>
                <a:latin typeface="Courier New" pitchFamily="34" charset="0"/>
                <a:ea typeface="Courier New" pitchFamily="34" charset="-122"/>
                <a:cs typeface="Courier New" pitchFamily="34" charset="-120"/>
              </a:rPr>
              <a:t>STEP 2: total_red(path)</a:t>
            </a:r>
            <a:endParaRPr lang="en-US" sz="1800" dirty="0"/>
          </a:p>
        </p:txBody>
      </p:sp>
      <p:sp>
        <p:nvSpPr>
          <p:cNvPr id="8" name="@1 addText"/>
          <p:cNvSpPr txBox="1"/>
          <p:nvPr/>
        </p:nvSpPr>
        <p:spPr>
          <a:xfrm>
            <a:off x="5486400" y="1737360"/>
            <a:ext cx="3017520" cy="658368"/>
          </a:xfrm>
          <a:prstGeom prst="rect">
            <a:avLst/>
          </a:prstGeom>
          <a:noFill/>
          <a:ln/>
        </p:spPr>
        <p:txBody>
          <a:bodyPr wrap="square" lIns="0" tIns="0" rIns="0" bIns="0" rtlCol="0" anchor="ctr"/>
          <a:lstStyle/>
          <a:p>
            <a:pPr marL="0" indent="0">
              <a:buNone/>
            </a:pPr>
            <a:r>
              <a:rPr lang="en-US" sz="1600" dirty="0">
                <a:solidFill>
                  <a:srgbClr val="22262E"/>
                </a:solidFill>
                <a:latin typeface="Arial" pitchFamily="34" charset="0"/>
                <a:ea typeface="Arial" pitchFamily="34" charset="-122"/>
                <a:cs typeface="Arial" pitchFamily="34" charset="-120"/>
              </a:rPr>
              <a:t>gives one number</a:t>
            </a:r>
            <a:endParaRPr lang="en-US" sz="1600" dirty="0"/>
          </a:p>
        </p:txBody>
      </p:sp>
      <p:sp>
        <p:nvSpPr>
          <p:cNvPr id="9" name="@2 Card"/>
          <p:cNvSpPr/>
          <p:nvPr/>
        </p:nvSpPr>
        <p:spPr>
          <a:xfrm>
            <a:off x="457200" y="2514600"/>
            <a:ext cx="8229600" cy="658368"/>
          </a:xfrm>
          <a:prstGeom prst="roundRect">
            <a:avLst>
              <a:gd name="adj" fmla="val 16667"/>
            </a:avLst>
          </a:prstGeom>
          <a:solidFill>
            <a:srgbClr val="FFFFFF"/>
          </a:solidFill>
          <a:ln w="9525">
            <a:solidFill>
              <a:srgbClr val="C5D1E3"/>
            </a:solidFill>
            <a:prstDash val="solid"/>
          </a:ln>
        </p:spPr>
        <p:txBody>
          <a:bodyPr/>
          <a:lstStyle/>
          <a:p>
            <a:endParaRPr lang="en-GB"/>
          </a:p>
        </p:txBody>
      </p:sp>
      <p:sp>
        <p:nvSpPr>
          <p:cNvPr id="10" name="@2 addText"/>
          <p:cNvSpPr txBox="1"/>
          <p:nvPr/>
        </p:nvSpPr>
        <p:spPr>
          <a:xfrm>
            <a:off x="731520" y="2514600"/>
            <a:ext cx="4572000" cy="658368"/>
          </a:xfrm>
          <a:prstGeom prst="rect">
            <a:avLst/>
          </a:prstGeom>
          <a:noFill/>
          <a:ln/>
        </p:spPr>
        <p:txBody>
          <a:bodyPr wrap="square" lIns="0" tIns="0" rIns="0" bIns="0" rtlCol="0" anchor="ctr"/>
          <a:lstStyle/>
          <a:p>
            <a:pPr marL="0" indent="0">
              <a:buNone/>
            </a:pPr>
            <a:r>
              <a:rPr lang="en-US" sz="1800" b="1" dirty="0">
                <a:solidFill>
                  <a:srgbClr val="002D6A"/>
                </a:solidFill>
                <a:latin typeface="Courier New" pitchFamily="34" charset="0"/>
                <a:ea typeface="Courier New" pitchFamily="34" charset="-122"/>
                <a:cs typeface="Courier New" pitchFamily="34" charset="-120"/>
              </a:rPr>
              <a:t>STEP 3: letter_for(path)</a:t>
            </a:r>
            <a:endParaRPr lang="en-US" sz="1800" dirty="0"/>
          </a:p>
        </p:txBody>
      </p:sp>
      <p:sp>
        <p:nvSpPr>
          <p:cNvPr id="11" name="@2 addText"/>
          <p:cNvSpPr txBox="1"/>
          <p:nvPr/>
        </p:nvSpPr>
        <p:spPr>
          <a:xfrm>
            <a:off x="5486400" y="2514600"/>
            <a:ext cx="3017520" cy="658368"/>
          </a:xfrm>
          <a:prstGeom prst="rect">
            <a:avLst/>
          </a:prstGeom>
          <a:noFill/>
          <a:ln/>
        </p:spPr>
        <p:txBody>
          <a:bodyPr wrap="square" lIns="0" tIns="0" rIns="0" bIns="0" rtlCol="0" anchor="ctr"/>
          <a:lstStyle/>
          <a:p>
            <a:pPr marL="0" indent="0">
              <a:buNone/>
            </a:pPr>
            <a:r>
              <a:rPr lang="en-US" sz="1600" dirty="0">
                <a:solidFill>
                  <a:srgbClr val="22262E"/>
                </a:solidFill>
                <a:latin typeface="Arial" pitchFamily="34" charset="0"/>
                <a:ea typeface="Arial" pitchFamily="34" charset="-122"/>
                <a:cs typeface="Arial" pitchFamily="34" charset="-120"/>
              </a:rPr>
              <a:t>gives one letter</a:t>
            </a:r>
            <a:endParaRPr lang="en-US" sz="1600" dirty="0"/>
          </a:p>
        </p:txBody>
      </p:sp>
      <p:sp>
        <p:nvSpPr>
          <p:cNvPr id="12" name="@3 Card"/>
          <p:cNvSpPr/>
          <p:nvPr/>
        </p:nvSpPr>
        <p:spPr>
          <a:xfrm>
            <a:off x="457200" y="3291840"/>
            <a:ext cx="8229600" cy="658368"/>
          </a:xfrm>
          <a:prstGeom prst="roundRect">
            <a:avLst>
              <a:gd name="adj" fmla="val 16667"/>
            </a:avLst>
          </a:prstGeom>
          <a:solidFill>
            <a:srgbClr val="FFFFFF"/>
          </a:solidFill>
          <a:ln w="9525">
            <a:solidFill>
              <a:srgbClr val="C5D1E3"/>
            </a:solidFill>
            <a:prstDash val="solid"/>
          </a:ln>
        </p:spPr>
        <p:txBody>
          <a:bodyPr/>
          <a:lstStyle/>
          <a:p>
            <a:endParaRPr lang="en-GB"/>
          </a:p>
        </p:txBody>
      </p:sp>
      <p:sp>
        <p:nvSpPr>
          <p:cNvPr id="13" name="@3 addText"/>
          <p:cNvSpPr txBox="1"/>
          <p:nvPr/>
        </p:nvSpPr>
        <p:spPr>
          <a:xfrm>
            <a:off x="731520" y="3291840"/>
            <a:ext cx="4572000" cy="658368"/>
          </a:xfrm>
          <a:prstGeom prst="rect">
            <a:avLst/>
          </a:prstGeom>
          <a:noFill/>
          <a:ln/>
        </p:spPr>
        <p:txBody>
          <a:bodyPr wrap="square" lIns="0" tIns="0" rIns="0" bIns="0" rtlCol="0" anchor="ctr"/>
          <a:lstStyle/>
          <a:p>
            <a:pPr marL="0" indent="0">
              <a:buNone/>
            </a:pPr>
            <a:r>
              <a:rPr lang="en-US" sz="1800" b="1" dirty="0">
                <a:solidFill>
                  <a:srgbClr val="002D6A"/>
                </a:solidFill>
                <a:latin typeface="Courier New" pitchFamily="34" charset="0"/>
                <a:ea typeface="Courier New" pitchFamily="34" charset="-122"/>
                <a:cs typeface="Courier New" pitchFamily="34" charset="-120"/>
              </a:rPr>
              <a:t>STEP 4: decode_message()</a:t>
            </a:r>
            <a:endParaRPr lang="en-US" sz="1800" dirty="0"/>
          </a:p>
        </p:txBody>
      </p:sp>
      <p:sp>
        <p:nvSpPr>
          <p:cNvPr id="14" name="@3 addText"/>
          <p:cNvSpPr txBox="1"/>
          <p:nvPr/>
        </p:nvSpPr>
        <p:spPr>
          <a:xfrm>
            <a:off x="5486400" y="3291840"/>
            <a:ext cx="3017520" cy="658368"/>
          </a:xfrm>
          <a:prstGeom prst="rect">
            <a:avLst/>
          </a:prstGeom>
          <a:noFill/>
          <a:ln/>
        </p:spPr>
        <p:txBody>
          <a:bodyPr wrap="square" lIns="0" tIns="0" rIns="0" bIns="0" rtlCol="0" anchor="ctr"/>
          <a:lstStyle/>
          <a:p>
            <a:pPr marL="0" indent="0">
              <a:buNone/>
            </a:pPr>
            <a:r>
              <a:rPr lang="en-US" sz="1600" dirty="0">
                <a:solidFill>
                  <a:srgbClr val="22262E"/>
                </a:solidFill>
                <a:latin typeface="Arial" pitchFamily="34" charset="0"/>
                <a:ea typeface="Arial" pitchFamily="34" charset="-122"/>
                <a:cs typeface="Arial" pitchFamily="34" charset="-120"/>
              </a:rPr>
              <a:t>gives the sentence</a:t>
            </a:r>
            <a:endParaRPr lang="en-US" sz="1600" dirty="0"/>
          </a:p>
        </p:txBody>
      </p:sp>
      <p:sp>
        <p:nvSpPr>
          <p:cNvPr id="15" name="@4 addText"/>
          <p:cNvSpPr txBox="1"/>
          <p:nvPr/>
        </p:nvSpPr>
        <p:spPr>
          <a:xfrm>
            <a:off x="457200" y="41148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in cow_message_starter.py. Each one uses the one before. Test each before you move on.</a:t>
            </a:r>
            <a:endParaRPr lang="en-US" sz="14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2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2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2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Open cow_message_starter.py</a:t>
            </a:r>
            <a:endParaRPr lang="en-US" sz="3000" dirty="0"/>
          </a:p>
        </p:txBody>
      </p:sp>
      <p:sp>
        <p:nvSpPr>
          <p:cNvPr id="5" name="Callout"/>
          <p:cNvSpPr/>
          <p:nvPr/>
        </p:nvSpPr>
        <p:spPr>
          <a:xfrm>
            <a:off x="457200" y="1280160"/>
            <a:ext cx="8229600" cy="914400"/>
          </a:xfrm>
          <a:prstGeom prst="roundRect">
            <a:avLst>
              <a:gd name="adj" fmla="val 10000"/>
            </a:avLst>
          </a:prstGeom>
          <a:solidFill>
            <a:srgbClr val="FFFFFF"/>
          </a:solidFill>
          <a:ln w="15875">
            <a:solidFill>
              <a:srgbClr val="5D79A0"/>
            </a:solidFill>
            <a:prstDash val="solid"/>
          </a:ln>
        </p:spPr>
        <p:txBody>
          <a:bodyPr/>
          <a:lstStyle/>
          <a:p>
            <a:endParaRPr lang="en-GB"/>
          </a:p>
        </p:txBody>
      </p:sp>
      <p:sp>
        <p:nvSpPr>
          <p:cNvPr id="6" name="Text 4"/>
          <p:cNvSpPr txBox="1"/>
          <p:nvPr/>
        </p:nvSpPr>
        <p:spPr>
          <a:xfrm>
            <a:off x="685800" y="1280160"/>
            <a:ext cx="7772400" cy="91440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STEP 1 is done for you. Run it: it prints size, shape and first pixel. The rule is at the top of the file.</a:t>
            </a:r>
            <a:endParaRPr lang="en-US" sz="1200" dirty="0"/>
          </a:p>
        </p:txBody>
      </p:sp>
      <p:sp>
        <p:nvSpPr>
          <p:cNvPr id="7" name="@1 addText"/>
          <p:cNvSpPr txBox="1"/>
          <p:nvPr/>
        </p:nvSpPr>
        <p:spPr>
          <a:xfrm>
            <a:off x="457200" y="256032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put it in the SAME folder as cow-demo.jpg and the cow_message folder</a:t>
            </a:r>
            <a:endParaRPr lang="en-US" sz="14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2: total_red</a:t>
            </a:r>
            <a:endParaRPr lang="en-US" sz="3000" dirty="0"/>
          </a:p>
        </p:txBody>
      </p:sp>
      <p:sp>
        <p:nvSpPr>
          <p:cNvPr id="5" name="code bg"/>
          <p:cNvSpPr/>
          <p:nvPr/>
        </p:nvSpPr>
        <p:spPr>
          <a:xfrm>
            <a:off x="457200" y="1051560"/>
            <a:ext cx="8229600" cy="329184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051560"/>
            <a:ext cx="54864" cy="329184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1887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1  </a:t>
            </a:r>
            <a:r>
              <a:rPr lang="en-US" sz="1600" dirty="0">
                <a:solidFill>
                  <a:srgbClr val="E6ECF5"/>
                </a:solidFill>
                <a:latin typeface="Courier New" pitchFamily="34" charset="0"/>
                <a:ea typeface="Courier New" pitchFamily="34" charset="-122"/>
                <a:cs typeface="Courier New" pitchFamily="34" charset="-120"/>
              </a:rPr>
              <a:t>def total_red(path):</a:t>
            </a:r>
            <a:endParaRPr lang="en-US" sz="1600" dirty="0"/>
          </a:p>
        </p:txBody>
      </p:sp>
      <p:sp>
        <p:nvSpPr>
          <p:cNvPr id="8" name="code line 2"/>
          <p:cNvSpPr txBox="1"/>
          <p:nvPr/>
        </p:nvSpPr>
        <p:spPr>
          <a:xfrm>
            <a:off x="640080" y="14630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2  </a:t>
            </a:r>
            <a:r>
              <a:rPr lang="en-US" sz="1600" dirty="0">
                <a:solidFill>
                  <a:srgbClr val="E6ECF5"/>
                </a:solidFill>
                <a:latin typeface="Courier New" pitchFamily="34" charset="0"/>
                <a:ea typeface="Courier New" pitchFamily="34" charset="-122"/>
                <a:cs typeface="Courier New" pitchFamily="34" charset="-120"/>
              </a:rPr>
              <a:t>    img = Image.open(path)</a:t>
            </a:r>
            <a:endParaRPr lang="en-US" sz="1600" dirty="0"/>
          </a:p>
        </p:txBody>
      </p:sp>
      <p:sp>
        <p:nvSpPr>
          <p:cNvPr id="9" name="code line 3"/>
          <p:cNvSpPr txBox="1"/>
          <p:nvPr/>
        </p:nvSpPr>
        <p:spPr>
          <a:xfrm>
            <a:off x="640080" y="17373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3  </a:t>
            </a:r>
            <a:r>
              <a:rPr lang="en-US" sz="1600" dirty="0">
                <a:solidFill>
                  <a:srgbClr val="E6ECF5"/>
                </a:solidFill>
                <a:latin typeface="Courier New" pitchFamily="34" charset="0"/>
                <a:ea typeface="Courier New" pitchFamily="34" charset="-122"/>
                <a:cs typeface="Courier New" pitchFamily="34" charset="-120"/>
              </a:rPr>
              <a:t>    pixels = np.array(img)</a:t>
            </a:r>
            <a:endParaRPr lang="en-US" sz="1600" dirty="0"/>
          </a:p>
        </p:txBody>
      </p:sp>
      <p:sp>
        <p:nvSpPr>
          <p:cNvPr id="10" name="code line 4"/>
          <p:cNvSpPr txBox="1"/>
          <p:nvPr/>
        </p:nvSpPr>
        <p:spPr>
          <a:xfrm>
            <a:off x="640080" y="201168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4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TODO: get just the red channel</a:t>
            </a:r>
            <a:endParaRPr lang="en-US" sz="1600" dirty="0"/>
          </a:p>
        </p:txBody>
      </p:sp>
      <p:sp>
        <p:nvSpPr>
          <p:cNvPr id="11" name="code line 5"/>
          <p:cNvSpPr txBox="1"/>
          <p:nvPr/>
        </p:nvSpPr>
        <p:spPr>
          <a:xfrm>
            <a:off x="640080" y="228600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5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hint: pixels[:, :, 0]</a:t>
            </a:r>
            <a:endParaRPr lang="en-US" sz="1600" dirty="0"/>
          </a:p>
        </p:txBody>
      </p:sp>
      <p:sp>
        <p:nvSpPr>
          <p:cNvPr id="12" name="code line 6"/>
          <p:cNvSpPr txBox="1"/>
          <p:nvPr/>
        </p:nvSpPr>
        <p:spPr>
          <a:xfrm>
            <a:off x="640080" y="25603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6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TODO: add up every red value</a:t>
            </a:r>
            <a:endParaRPr lang="en-US" sz="1600" dirty="0"/>
          </a:p>
        </p:txBody>
      </p:sp>
      <p:sp>
        <p:nvSpPr>
          <p:cNvPr id="13" name="code line 7"/>
          <p:cNvSpPr txBox="1"/>
          <p:nvPr/>
        </p:nvSpPr>
        <p:spPr>
          <a:xfrm>
            <a:off x="640080" y="28346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7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hint: .sum()</a:t>
            </a:r>
            <a:endParaRPr lang="en-US" sz="1600" dirty="0"/>
          </a:p>
        </p:txBody>
      </p:sp>
      <p:sp>
        <p:nvSpPr>
          <p:cNvPr id="14" name="code line 8"/>
          <p:cNvSpPr txBox="1"/>
          <p:nvPr/>
        </p:nvSpPr>
        <p:spPr>
          <a:xfrm>
            <a:off x="640080" y="31089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8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TODO: return that total</a:t>
            </a:r>
            <a:endParaRPr lang="en-US" sz="1600" dirty="0"/>
          </a:p>
        </p:txBody>
      </p:sp>
      <p:sp>
        <p:nvSpPr>
          <p:cNvPr id="15" name="code line 9"/>
          <p:cNvSpPr txBox="1"/>
          <p:nvPr/>
        </p:nvSpPr>
        <p:spPr>
          <a:xfrm>
            <a:off x="640080" y="338328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9  </a:t>
            </a:r>
            <a:r>
              <a:rPr lang="en-US" sz="1600" dirty="0">
                <a:solidFill>
                  <a:srgbClr val="E6ECF5"/>
                </a:solidFill>
                <a:latin typeface="Courier New" pitchFamily="34" charset="0"/>
                <a:ea typeface="Courier New" pitchFamily="34" charset="-122"/>
                <a:cs typeface="Courier New" pitchFamily="34" charset="-120"/>
              </a:rPr>
              <a:t>    return 0</a:t>
            </a:r>
            <a:endParaRPr lang="en-US" sz="1600" dirty="0"/>
          </a:p>
        </p:txBody>
      </p:sp>
      <p:sp>
        <p:nvSpPr>
          <p:cNvPr id="16" name="code line 11"/>
          <p:cNvSpPr txBox="1"/>
          <p:nvPr/>
        </p:nvSpPr>
        <p:spPr>
          <a:xfrm>
            <a:off x="640080" y="39319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11  </a:t>
            </a:r>
            <a:r>
              <a:rPr lang="en-US" sz="1600" dirty="0">
                <a:solidFill>
                  <a:srgbClr val="E6ECF5"/>
                </a:solidFill>
                <a:latin typeface="Courier New" pitchFamily="34" charset="0"/>
                <a:ea typeface="Courier New" pitchFamily="34" charset="-122"/>
                <a:cs typeface="Courier New" pitchFamily="34" charset="-120"/>
              </a:rPr>
              <a:t>print(total_red("cow-demo.jpg"))   </a:t>
            </a:r>
            <a:r>
              <a:rPr lang="en-US" sz="1600" dirty="0">
                <a:solidFill>
                  <a:srgbClr val="8EA3C0"/>
                </a:solidFill>
                <a:latin typeface="Courier New" pitchFamily="34" charset="0"/>
                <a:ea typeface="Courier New" pitchFamily="34" charset="-122"/>
                <a:cs typeface="Courier New" pitchFamily="34" charset="-120"/>
              </a:rPr>
              <a:t># should print 10218857</a:t>
            </a:r>
            <a:endParaRPr lang="en-US" sz="1600" dirty="0"/>
          </a:p>
        </p:txBody>
      </p:sp>
      <p:sp>
        <p:nvSpPr>
          <p:cNvPr id="17" name="Text 15"/>
          <p:cNvSpPr txBox="1"/>
          <p:nvPr/>
        </p:nvSpPr>
        <p:spPr>
          <a:xfrm>
            <a:off x="457200" y="448056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prints 0? You forgot to change return 0.</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51</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3: letter_for</a:t>
            </a:r>
            <a:endParaRPr lang="en-US" sz="3000" dirty="0"/>
          </a:p>
        </p:txBody>
      </p:sp>
      <p:sp>
        <p:nvSpPr>
          <p:cNvPr id="5" name="code bg"/>
          <p:cNvSpPr/>
          <p:nvPr/>
        </p:nvSpPr>
        <p:spPr>
          <a:xfrm>
            <a:off x="457200" y="1051560"/>
            <a:ext cx="8229600" cy="274320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051560"/>
            <a:ext cx="54864" cy="274320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1887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1  </a:t>
            </a:r>
            <a:r>
              <a:rPr lang="en-US" sz="1600" dirty="0">
                <a:solidFill>
                  <a:srgbClr val="E6ECF5"/>
                </a:solidFill>
                <a:latin typeface="Courier New" pitchFamily="34" charset="0"/>
                <a:ea typeface="Courier New" pitchFamily="34" charset="-122"/>
                <a:cs typeface="Courier New" pitchFamily="34" charset="-120"/>
              </a:rPr>
              <a:t>def letter_for(path):</a:t>
            </a:r>
            <a:endParaRPr lang="en-US" sz="1600" dirty="0"/>
          </a:p>
        </p:txBody>
      </p:sp>
      <p:sp>
        <p:nvSpPr>
          <p:cNvPr id="8" name="code line 2"/>
          <p:cNvSpPr txBox="1"/>
          <p:nvPr/>
        </p:nvSpPr>
        <p:spPr>
          <a:xfrm>
            <a:off x="640080" y="14630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2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TODO: 1. get the red total (you wrote a function!)</a:t>
            </a:r>
            <a:endParaRPr lang="en-US" sz="1600" dirty="0"/>
          </a:p>
        </p:txBody>
      </p:sp>
      <p:sp>
        <p:nvSpPr>
          <p:cNvPr id="9" name="code line 3"/>
          <p:cNvSpPr txBox="1"/>
          <p:nvPr/>
        </p:nvSpPr>
        <p:spPr>
          <a:xfrm>
            <a:off x="640080" y="17373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3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2. take it % 26</a:t>
            </a:r>
            <a:endParaRPr lang="en-US" sz="1600" dirty="0"/>
          </a:p>
        </p:txBody>
      </p:sp>
      <p:sp>
        <p:nvSpPr>
          <p:cNvPr id="10" name="code line 4"/>
          <p:cNvSpPr txBox="1"/>
          <p:nvPr/>
        </p:nvSpPr>
        <p:spPr>
          <a:xfrm>
            <a:off x="640080" y="201168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4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3. pick a letter from ALPHABET</a:t>
            </a:r>
            <a:endParaRPr lang="en-US" sz="1600" dirty="0"/>
          </a:p>
        </p:txBody>
      </p:sp>
      <p:sp>
        <p:nvSpPr>
          <p:cNvPr id="11" name="code line 5"/>
          <p:cNvSpPr txBox="1"/>
          <p:nvPr/>
        </p:nvSpPr>
        <p:spPr>
          <a:xfrm>
            <a:off x="640080" y="228600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5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hint: ALPHABET[2] is "C"</a:t>
            </a:r>
            <a:endParaRPr lang="en-US" sz="1600" dirty="0"/>
          </a:p>
        </p:txBody>
      </p:sp>
      <p:sp>
        <p:nvSpPr>
          <p:cNvPr id="12" name="code line 6"/>
          <p:cNvSpPr txBox="1"/>
          <p:nvPr/>
        </p:nvSpPr>
        <p:spPr>
          <a:xfrm>
            <a:off x="640080" y="25603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6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4. return the letter</a:t>
            </a:r>
            <a:endParaRPr lang="en-US" sz="1600" dirty="0"/>
          </a:p>
        </p:txBody>
      </p:sp>
      <p:sp>
        <p:nvSpPr>
          <p:cNvPr id="13" name="code line 7"/>
          <p:cNvSpPr txBox="1"/>
          <p:nvPr/>
        </p:nvSpPr>
        <p:spPr>
          <a:xfrm>
            <a:off x="640080" y="28346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7  </a:t>
            </a:r>
            <a:r>
              <a:rPr lang="en-US" sz="1600" dirty="0">
                <a:solidFill>
                  <a:srgbClr val="E6ECF5"/>
                </a:solidFill>
                <a:latin typeface="Courier New" pitchFamily="34" charset="0"/>
                <a:ea typeface="Courier New" pitchFamily="34" charset="-122"/>
                <a:cs typeface="Courier New" pitchFamily="34" charset="-120"/>
              </a:rPr>
              <a:t>    return ""</a:t>
            </a:r>
            <a:endParaRPr lang="en-US" sz="1600" dirty="0"/>
          </a:p>
        </p:txBody>
      </p:sp>
      <p:sp>
        <p:nvSpPr>
          <p:cNvPr id="14" name="code line 9"/>
          <p:cNvSpPr txBox="1"/>
          <p:nvPr/>
        </p:nvSpPr>
        <p:spPr>
          <a:xfrm>
            <a:off x="640080" y="338328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9  </a:t>
            </a:r>
            <a:r>
              <a:rPr lang="en-US" sz="1600" dirty="0">
                <a:solidFill>
                  <a:srgbClr val="E6ECF5"/>
                </a:solidFill>
                <a:latin typeface="Courier New" pitchFamily="34" charset="0"/>
                <a:ea typeface="Courier New" pitchFamily="34" charset="-122"/>
                <a:cs typeface="Courier New" pitchFamily="34" charset="-120"/>
              </a:rPr>
              <a:t>print(letter_for("cow-demo.jpg"))   </a:t>
            </a:r>
            <a:r>
              <a:rPr lang="en-US" sz="1600" dirty="0">
                <a:solidFill>
                  <a:srgbClr val="8EA3C0"/>
                </a:solidFill>
                <a:latin typeface="Courier New" pitchFamily="34" charset="0"/>
                <a:ea typeface="Courier New" pitchFamily="34" charset="-122"/>
                <a:cs typeface="Courier New" pitchFamily="34" charset="-120"/>
              </a:rPr>
              <a:t># should print Z</a:t>
            </a:r>
            <a:endParaRPr lang="en-US" sz="1600" dirty="0"/>
          </a:p>
        </p:txBody>
      </p:sp>
      <p:sp>
        <p:nvSpPr>
          <p:cNvPr id="15" name="Text 13"/>
          <p:cNvSpPr txBox="1"/>
          <p:nvPr/>
        </p:nvSpPr>
        <p:spPr>
          <a:xfrm>
            <a:off x="457200" y="393192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wrong letter? Test total_red again first. ALPHABET is at the top of your file.</a:t>
            </a:r>
            <a:endParaRPr lang="en-US" sz="14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4: decode_message</a:t>
            </a:r>
            <a:endParaRPr lang="en-US" sz="3000" dirty="0"/>
          </a:p>
        </p:txBody>
      </p:sp>
      <p:sp>
        <p:nvSpPr>
          <p:cNvPr id="5" name="code bg"/>
          <p:cNvSpPr/>
          <p:nvPr/>
        </p:nvSpPr>
        <p:spPr>
          <a:xfrm>
            <a:off x="457200" y="1188720"/>
            <a:ext cx="8229600" cy="102870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88720"/>
            <a:ext cx="54864" cy="1028700"/>
          </a:xfrm>
          <a:prstGeom prst="rect">
            <a:avLst/>
          </a:prstGeom>
          <a:solidFill>
            <a:srgbClr val="A9C4E8"/>
          </a:solidFill>
          <a:ln w="12700">
            <a:solidFill>
              <a:srgbClr val="5D79A0"/>
            </a:solidFill>
            <a:prstDash val="solid"/>
          </a:ln>
        </p:spPr>
        <p:txBody>
          <a:bodyPr/>
          <a:lstStyle/>
          <a:p>
            <a:endParaRPr lang="en-GB"/>
          </a:p>
        </p:txBody>
      </p:sp>
      <p:sp>
        <p:nvSpPr>
          <p:cNvPr id="7" name="code line 1"/>
          <p:cNvSpPr txBox="1"/>
          <p:nvPr/>
        </p:nvSpPr>
        <p:spPr>
          <a:xfrm>
            <a:off x="640080" y="1325880"/>
            <a:ext cx="7955280" cy="377190"/>
          </a:xfrm>
          <a:prstGeom prst="rect">
            <a:avLst/>
          </a:prstGeom>
          <a:noFill/>
          <a:ln/>
        </p:spPr>
        <p:txBody>
          <a:bodyPr wrap="square" lIns="0" tIns="0" rIns="0" bIns="0" rtlCol="0" anchor="ctr"/>
          <a:lstStyle/>
          <a:p>
            <a:pPr marL="0" indent="0">
              <a:buNone/>
            </a:pPr>
            <a:r>
              <a:rPr lang="en-US" sz="2200" dirty="0">
                <a:solidFill>
                  <a:srgbClr val="B8E0B0"/>
                </a:solidFill>
                <a:latin typeface="Courier New" pitchFamily="34" charset="0"/>
                <a:ea typeface="Courier New" pitchFamily="34" charset="-122"/>
                <a:cs typeface="Courier New" pitchFamily="34" charset="-120"/>
              </a:rPr>
              <a:t>decode_message()</a:t>
            </a:r>
            <a:endParaRPr lang="en-US" sz="2200" dirty="0"/>
          </a:p>
        </p:txBody>
      </p:sp>
      <p:sp>
        <p:nvSpPr>
          <p:cNvPr id="8" name="code line 2"/>
          <p:cNvSpPr txBox="1"/>
          <p:nvPr/>
        </p:nvSpPr>
        <p:spPr>
          <a:xfrm>
            <a:off x="640080" y="1703070"/>
            <a:ext cx="7955280" cy="377190"/>
          </a:xfrm>
          <a:prstGeom prst="rect">
            <a:avLst/>
          </a:prstGeom>
          <a:noFill/>
          <a:ln/>
        </p:spPr>
        <p:txBody>
          <a:bodyPr wrap="square" lIns="0" tIns="0" rIns="0" bIns="0" rtlCol="0" anchor="ctr"/>
          <a:lstStyle/>
          <a:p>
            <a:pPr marL="0" indent="0">
              <a:buNone/>
            </a:pPr>
            <a:r>
              <a:rPr lang="en-US" sz="2200" dirty="0">
                <a:solidFill>
                  <a:srgbClr val="B8E0B0"/>
                </a:solidFill>
                <a:latin typeface="Courier New" pitchFamily="34" charset="0"/>
                <a:ea typeface="Courier New" pitchFamily="34" charset="-122"/>
                <a:cs typeface="Courier New" pitchFamily="34" charset="-120"/>
              </a:rPr>
              <a:t>gives the sentence</a:t>
            </a:r>
            <a:endParaRPr lang="en-US" sz="2200" dirty="0"/>
          </a:p>
        </p:txBody>
      </p:sp>
      <p:sp>
        <p:nvSpPr>
          <p:cNvPr id="9" name="@1 addText"/>
          <p:cNvSpPr txBox="1"/>
          <p:nvPr/>
        </p:nvSpPr>
        <p:spPr>
          <a:xfrm>
            <a:off x="457200" y="265176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in cow_message_starter.py. It uses letter_for, once for each of the 37 photos.</a:t>
            </a:r>
            <a:endParaRPr lang="en-US" sz="1400" dirty="0"/>
          </a:p>
        </p:txBody>
      </p:sp>
      <p:sp>
        <p:nvSpPr>
          <p:cNvPr id="10" name="@2 Callout"/>
          <p:cNvSpPr/>
          <p:nvPr/>
        </p:nvSpPr>
        <p:spPr>
          <a:xfrm>
            <a:off x="457200" y="3291840"/>
            <a:ext cx="8229600" cy="640080"/>
          </a:xfrm>
          <a:prstGeom prst="roundRect">
            <a:avLst>
              <a:gd name="adj" fmla="val 14286"/>
            </a:avLst>
          </a:prstGeom>
          <a:solidFill>
            <a:srgbClr val="FFFFFF"/>
          </a:solidFill>
          <a:ln w="15875">
            <a:solidFill>
              <a:srgbClr val="5D79A0"/>
            </a:solidFill>
            <a:prstDash val="solid"/>
          </a:ln>
        </p:spPr>
        <p:txBody>
          <a:bodyPr/>
          <a:lstStyle/>
          <a:p>
            <a:endParaRPr lang="en-GB"/>
          </a:p>
        </p:txBody>
      </p:sp>
      <p:sp>
        <p:nvSpPr>
          <p:cNvPr id="11" name="@2 addText"/>
          <p:cNvSpPr txBox="1"/>
          <p:nvPr/>
        </p:nvSpPr>
        <p:spPr>
          <a:xfrm>
            <a:off x="685800" y="3291840"/>
            <a:ext cx="7772400" cy="64008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Does it read like English? Then it worked.</a:t>
            </a:r>
            <a:endParaRPr lang="en-US" sz="12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Function We Give You</a:t>
            </a:r>
            <a:endParaRPr lang="en-US" sz="3000" dirty="0"/>
          </a:p>
        </p:txBody>
      </p:sp>
      <p:sp>
        <p:nvSpPr>
          <p:cNvPr id="3" name="code bg"/>
          <p:cNvSpPr/>
          <p:nvPr/>
        </p:nvSpPr>
        <p:spPr>
          <a:xfrm>
            <a:off x="457200" y="1097280"/>
            <a:ext cx="8229600" cy="82296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097280"/>
            <a:ext cx="54864" cy="822960"/>
          </a:xfrm>
          <a:prstGeom prst="rect">
            <a:avLst/>
          </a:prstGeom>
          <a:solidFill>
            <a:srgbClr val="5D79A0"/>
          </a:solidFill>
          <a:ln w="12700">
            <a:solidFill>
              <a:srgbClr val="5D79A0"/>
            </a:solidFill>
            <a:prstDash val="solid"/>
          </a:ln>
        </p:spPr>
        <p:txBody>
          <a:bodyPr/>
          <a:lstStyle/>
          <a:p>
            <a:endParaRPr lang="en-GB"/>
          </a:p>
        </p:txBody>
      </p:sp>
      <p:sp>
        <p:nvSpPr>
          <p:cNvPr id="5" name="code line 1"/>
          <p:cNvSpPr txBox="1"/>
          <p:nvPr/>
        </p:nvSpPr>
        <p:spPr>
          <a:xfrm>
            <a:off x="640080" y="12344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1  </a:t>
            </a:r>
            <a:r>
              <a:rPr lang="en-US" sz="1600" dirty="0">
                <a:solidFill>
                  <a:srgbClr val="E6ECF5"/>
                </a:solidFill>
                <a:latin typeface="Courier New" pitchFamily="34" charset="0"/>
                <a:ea typeface="Courier New" pitchFamily="34" charset="-122"/>
                <a:cs typeface="Courier New" pitchFamily="34" charset="-120"/>
              </a:rPr>
              <a:t>def image_path(number):</a:t>
            </a:r>
            <a:endParaRPr lang="en-US" sz="1600" dirty="0"/>
          </a:p>
        </p:txBody>
      </p:sp>
      <p:sp>
        <p:nvSpPr>
          <p:cNvPr id="6" name="code line 2"/>
          <p:cNvSpPr txBox="1"/>
          <p:nvPr/>
        </p:nvSpPr>
        <p:spPr>
          <a:xfrm>
            <a:off x="640080" y="15087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2  </a:t>
            </a:r>
            <a:r>
              <a:rPr lang="en-US" sz="1600" dirty="0">
                <a:solidFill>
                  <a:srgbClr val="E6ECF5"/>
                </a:solidFill>
                <a:latin typeface="Courier New" pitchFamily="34" charset="0"/>
                <a:ea typeface="Courier New" pitchFamily="34" charset="-122"/>
                <a:cs typeface="Courier New" pitchFamily="34" charset="-120"/>
              </a:rPr>
              <a:t>    return "cow_message/" + str(number).zfill(2) + ".png"</a:t>
            </a:r>
            <a:endParaRPr lang="en-US" sz="1600" dirty="0"/>
          </a:p>
        </p:txBody>
      </p:sp>
      <p:sp>
        <p:nvSpPr>
          <p:cNvPr id="7" name="code bg"/>
          <p:cNvSpPr/>
          <p:nvPr/>
        </p:nvSpPr>
        <p:spPr>
          <a:xfrm>
            <a:off x="457200" y="2286000"/>
            <a:ext cx="8229600" cy="1508760"/>
          </a:xfrm>
          <a:prstGeom prst="rect">
            <a:avLst/>
          </a:prstGeom>
          <a:solidFill>
            <a:srgbClr val="0B2A57"/>
          </a:solidFill>
          <a:ln w="12700">
            <a:solidFill>
              <a:srgbClr val="0B2A57"/>
            </a:solidFill>
            <a:prstDash val="solid"/>
          </a:ln>
        </p:spPr>
        <p:txBody>
          <a:bodyPr/>
          <a:lstStyle/>
          <a:p>
            <a:endParaRPr lang="en-GB"/>
          </a:p>
        </p:txBody>
      </p:sp>
      <p:sp>
        <p:nvSpPr>
          <p:cNvPr id="8" name="code bar"/>
          <p:cNvSpPr/>
          <p:nvPr/>
        </p:nvSpPr>
        <p:spPr>
          <a:xfrm>
            <a:off x="457200" y="2286000"/>
            <a:ext cx="54864" cy="1508760"/>
          </a:xfrm>
          <a:prstGeom prst="rect">
            <a:avLst/>
          </a:prstGeom>
          <a:solidFill>
            <a:srgbClr val="A9C4E8"/>
          </a:solidFill>
          <a:ln w="12700">
            <a:solidFill>
              <a:srgbClr val="5D79A0"/>
            </a:solidFill>
            <a:prstDash val="solid"/>
          </a:ln>
        </p:spPr>
        <p:txBody>
          <a:bodyPr/>
          <a:lstStyle/>
          <a:p>
            <a:endParaRPr lang="en-GB"/>
          </a:p>
        </p:txBody>
      </p:sp>
      <p:sp>
        <p:nvSpPr>
          <p:cNvPr id="9" name="code line 1"/>
          <p:cNvSpPr txBox="1"/>
          <p:nvPr/>
        </p:nvSpPr>
        <p:spPr>
          <a:xfrm>
            <a:off x="640080" y="2423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image_path(1)</a:t>
            </a:r>
            <a:endParaRPr lang="en-US" sz="1800" dirty="0"/>
          </a:p>
        </p:txBody>
      </p:sp>
      <p:sp>
        <p:nvSpPr>
          <p:cNvPr id="10" name="@1 code line 2"/>
          <p:cNvSpPr txBox="1"/>
          <p:nvPr/>
        </p:nvSpPr>
        <p:spPr>
          <a:xfrm>
            <a:off x="640080" y="2731770"/>
            <a:ext cx="795528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'cow_message/01.png'</a:t>
            </a:r>
            <a:endParaRPr lang="en-US" sz="1800" dirty="0"/>
          </a:p>
        </p:txBody>
      </p:sp>
      <p:sp>
        <p:nvSpPr>
          <p:cNvPr id="11" name="code line 3"/>
          <p:cNvSpPr txBox="1"/>
          <p:nvPr/>
        </p:nvSpPr>
        <p:spPr>
          <a:xfrm>
            <a:off x="640080" y="304038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image_path(12)</a:t>
            </a:r>
            <a:endParaRPr lang="en-US" sz="1800" dirty="0"/>
          </a:p>
        </p:txBody>
      </p:sp>
      <p:sp>
        <p:nvSpPr>
          <p:cNvPr id="12" name="@2 code line 4"/>
          <p:cNvSpPr txBox="1"/>
          <p:nvPr/>
        </p:nvSpPr>
        <p:spPr>
          <a:xfrm>
            <a:off x="640080" y="3348990"/>
            <a:ext cx="795528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'cow_message/12.png'</a:t>
            </a:r>
            <a:endParaRPr lang="en-US" sz="1800" dirty="0"/>
          </a:p>
        </p:txBody>
      </p:sp>
      <p:sp>
        <p:nvSpPr>
          <p:cNvPr id="13" name="@2 addText"/>
          <p:cNvSpPr txBox="1"/>
          <p:nvPr/>
        </p:nvSpPr>
        <p:spPr>
          <a:xfrm>
            <a:off x="457200" y="393192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number in, file name out. You do not need to understand the zfill line. Just use it.</a:t>
            </a:r>
            <a:endParaRPr lang="en-US" sz="14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2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Building a String: +=</a:t>
            </a:r>
            <a:endParaRPr lang="en-US" sz="3000" dirty="0"/>
          </a:p>
        </p:txBody>
      </p:sp>
      <p:sp>
        <p:nvSpPr>
          <p:cNvPr id="3" name="code bg"/>
          <p:cNvSpPr/>
          <p:nvPr/>
        </p:nvSpPr>
        <p:spPr>
          <a:xfrm>
            <a:off x="457200" y="1143000"/>
            <a:ext cx="8229600" cy="181737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1817370"/>
          </a:xfrm>
          <a:prstGeom prst="rect">
            <a:avLst/>
          </a:prstGeom>
          <a:solidFill>
            <a:srgbClr val="A9C4E8"/>
          </a:solidFill>
          <a:ln w="12700">
            <a:solidFill>
              <a:srgbClr val="5D79A0"/>
            </a:solidFill>
            <a:prstDash val="solid"/>
          </a:ln>
        </p:spPr>
        <p:txBody>
          <a:bodyPr/>
          <a:lstStyle/>
          <a:p>
            <a:endParaRPr lang="en-GB"/>
          </a:p>
        </p:txBody>
      </p:sp>
      <p:sp>
        <p:nvSpPr>
          <p:cNvPr id="5"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message = ""</a:t>
            </a:r>
            <a:endParaRPr lang="en-US" sz="1800" dirty="0"/>
          </a:p>
        </p:txBody>
      </p:sp>
      <p:sp>
        <p:nvSpPr>
          <p:cNvPr id="6" name="@1 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message += "C"</a:t>
            </a:r>
            <a:endParaRPr lang="en-US" sz="1800" dirty="0"/>
          </a:p>
        </p:txBody>
      </p:sp>
      <p:sp>
        <p:nvSpPr>
          <p:cNvPr id="7" name="@2 code line 3"/>
          <p:cNvSpPr txBox="1"/>
          <p:nvPr/>
        </p:nvSpPr>
        <p:spPr>
          <a:xfrm>
            <a:off x="640080" y="189738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message += "A"</a:t>
            </a:r>
            <a:endParaRPr lang="en-US" sz="1800" dirty="0"/>
          </a:p>
        </p:txBody>
      </p:sp>
      <p:sp>
        <p:nvSpPr>
          <p:cNvPr id="8" name="@3 code line 4"/>
          <p:cNvSpPr txBox="1"/>
          <p:nvPr/>
        </p:nvSpPr>
        <p:spPr>
          <a:xfrm>
            <a:off x="640080" y="220599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&gt;&gt;&gt; </a:t>
            </a:r>
            <a:r>
              <a:rPr lang="en-US" sz="1800" dirty="0">
                <a:solidFill>
                  <a:srgbClr val="E6ECF5"/>
                </a:solidFill>
                <a:latin typeface="Courier New" pitchFamily="34" charset="0"/>
                <a:ea typeface="Courier New" pitchFamily="34" charset="-122"/>
                <a:cs typeface="Courier New" pitchFamily="34" charset="-120"/>
              </a:rPr>
              <a:t>message</a:t>
            </a:r>
            <a:endParaRPr lang="en-US" sz="1800" dirty="0"/>
          </a:p>
        </p:txBody>
      </p:sp>
      <p:sp>
        <p:nvSpPr>
          <p:cNvPr id="9" name="@3 code line 5"/>
          <p:cNvSpPr txBox="1"/>
          <p:nvPr/>
        </p:nvSpPr>
        <p:spPr>
          <a:xfrm>
            <a:off x="640080" y="2514600"/>
            <a:ext cx="7955280" cy="308610"/>
          </a:xfrm>
          <a:prstGeom prst="rect">
            <a:avLst/>
          </a:prstGeom>
          <a:noFill/>
          <a:ln/>
        </p:spPr>
        <p:txBody>
          <a:bodyPr wrap="square" lIns="0" tIns="0" rIns="0" bIns="0" rtlCol="0" anchor="ctr"/>
          <a:lstStyle/>
          <a:p>
            <a:pPr marL="0" indent="0">
              <a:buNone/>
            </a:pPr>
            <a:r>
              <a:rPr lang="en-US" sz="1800" dirty="0">
                <a:solidFill>
                  <a:srgbClr val="B8E0B0"/>
                </a:solidFill>
                <a:latin typeface="Courier New" pitchFamily="34" charset="0"/>
                <a:ea typeface="Courier New" pitchFamily="34" charset="-122"/>
                <a:cs typeface="Courier New" pitchFamily="34" charset="-120"/>
              </a:rPr>
              <a:t>'CA'</a:t>
            </a:r>
            <a:endParaRPr lang="en-US" sz="1800" dirty="0"/>
          </a:p>
        </p:txBody>
      </p:sp>
      <p:sp>
        <p:nvSpPr>
          <p:cNvPr id="10" name="@4 addText"/>
          <p:cNvSpPr txBox="1"/>
          <p:nvPr/>
        </p:nvSpPr>
        <p:spPr>
          <a:xfrm>
            <a:off x="457200" y="338328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start empty, stick one letter on the end each time</a:t>
            </a:r>
            <a:endParaRPr lang="en-US" sz="14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2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2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Building a String in a Loop</a:t>
            </a:r>
            <a:endParaRPr lang="en-US" sz="3000" dirty="0"/>
          </a:p>
        </p:txBody>
      </p:sp>
      <p:sp>
        <p:nvSpPr>
          <p:cNvPr id="3" name="code bg"/>
          <p:cNvSpPr/>
          <p:nvPr/>
        </p:nvSpPr>
        <p:spPr>
          <a:xfrm>
            <a:off x="457200" y="1143000"/>
            <a:ext cx="8229600" cy="150876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43000"/>
            <a:ext cx="54864" cy="1508760"/>
          </a:xfrm>
          <a:prstGeom prst="rect">
            <a:avLst/>
          </a:prstGeom>
          <a:solidFill>
            <a:srgbClr val="5D79A0"/>
          </a:solidFill>
          <a:ln w="12700">
            <a:solidFill>
              <a:srgbClr val="5D79A0"/>
            </a:solidFill>
            <a:prstDash val="solid"/>
          </a:ln>
        </p:spPr>
        <p:txBody>
          <a:bodyPr/>
          <a:lstStyle/>
          <a:p>
            <a:endParaRPr lang="en-GB"/>
          </a:p>
        </p:txBody>
      </p:sp>
      <p:sp>
        <p:nvSpPr>
          <p:cNvPr id="5" name="code line 1"/>
          <p:cNvSpPr txBox="1"/>
          <p:nvPr/>
        </p:nvSpPr>
        <p:spPr>
          <a:xfrm>
            <a:off x="640080" y="128016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message = ""</a:t>
            </a:r>
            <a:endParaRPr lang="en-US" sz="1800" dirty="0"/>
          </a:p>
        </p:txBody>
      </p:sp>
      <p:sp>
        <p:nvSpPr>
          <p:cNvPr id="6" name="code line 2"/>
          <p:cNvSpPr txBox="1"/>
          <p:nvPr/>
        </p:nvSpPr>
        <p:spPr>
          <a:xfrm>
            <a:off x="640080" y="158877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for letter in ["C", "A", "T"]:</a:t>
            </a:r>
            <a:endParaRPr lang="en-US" sz="1800" dirty="0"/>
          </a:p>
        </p:txBody>
      </p:sp>
      <p:sp>
        <p:nvSpPr>
          <p:cNvPr id="7" name="code line 3"/>
          <p:cNvSpPr txBox="1"/>
          <p:nvPr/>
        </p:nvSpPr>
        <p:spPr>
          <a:xfrm>
            <a:off x="640080" y="189738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    message += letter</a:t>
            </a:r>
            <a:endParaRPr lang="en-US" sz="1800" dirty="0"/>
          </a:p>
        </p:txBody>
      </p:sp>
      <p:sp>
        <p:nvSpPr>
          <p:cNvPr id="8" name="code line 4"/>
          <p:cNvSpPr txBox="1"/>
          <p:nvPr/>
        </p:nvSpPr>
        <p:spPr>
          <a:xfrm>
            <a:off x="640080" y="2205990"/>
            <a:ext cx="7955280" cy="308610"/>
          </a:xfrm>
          <a:prstGeom prst="rect">
            <a:avLst/>
          </a:prstGeom>
          <a:noFill/>
          <a:ln/>
        </p:spPr>
        <p:txBody>
          <a:bodyPr wrap="squar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4  </a:t>
            </a:r>
            <a:r>
              <a:rPr lang="en-US" sz="1800" dirty="0">
                <a:solidFill>
                  <a:srgbClr val="E6ECF5"/>
                </a:solidFill>
                <a:latin typeface="Courier New" pitchFamily="34" charset="0"/>
                <a:ea typeface="Courier New" pitchFamily="34" charset="-122"/>
                <a:cs typeface="Courier New" pitchFamily="34" charset="-120"/>
              </a:rPr>
              <a:t>print(message)   </a:t>
            </a:r>
            <a:r>
              <a:rPr lang="en-US" sz="1800" dirty="0">
                <a:solidFill>
                  <a:srgbClr val="8EA3C0"/>
                </a:solidFill>
                <a:latin typeface="Courier New" pitchFamily="34" charset="0"/>
                <a:ea typeface="Courier New" pitchFamily="34" charset="-122"/>
                <a:cs typeface="Courier New" pitchFamily="34" charset="-120"/>
              </a:rPr>
              <a:t># CAT</a:t>
            </a:r>
            <a:endParaRPr lang="en-US" sz="1800" dirty="0"/>
          </a:p>
        </p:txBody>
      </p:sp>
      <p:sp>
        <p:nvSpPr>
          <p:cNvPr id="9" name="@1 addText"/>
          <p:cNvSpPr txBox="1"/>
          <p:nvPr/>
        </p:nvSpPr>
        <p:spPr>
          <a:xfrm>
            <a:off x="457200" y="320040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range(1, 38) counts 1 to 37: it stops before 38.</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4: decode_message</a:t>
            </a:r>
            <a:endParaRPr lang="en-US" sz="3000" dirty="0"/>
          </a:p>
        </p:txBody>
      </p:sp>
      <p:sp>
        <p:nvSpPr>
          <p:cNvPr id="5" name="code bg"/>
          <p:cNvSpPr/>
          <p:nvPr/>
        </p:nvSpPr>
        <p:spPr>
          <a:xfrm>
            <a:off x="457200" y="1051560"/>
            <a:ext cx="8229600" cy="301752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051560"/>
            <a:ext cx="54864" cy="3017520"/>
          </a:xfrm>
          <a:prstGeom prst="rect">
            <a:avLst/>
          </a:prstGeom>
          <a:solidFill>
            <a:srgbClr val="5D79A0"/>
          </a:solidFill>
          <a:ln w="12700">
            <a:solidFill>
              <a:srgbClr val="5D79A0"/>
            </a:solidFill>
            <a:prstDash val="solid"/>
          </a:ln>
        </p:spPr>
        <p:txBody>
          <a:bodyPr/>
          <a:lstStyle/>
          <a:p>
            <a:endParaRPr lang="en-GB"/>
          </a:p>
        </p:txBody>
      </p:sp>
      <p:sp>
        <p:nvSpPr>
          <p:cNvPr id="7" name="code line 1"/>
          <p:cNvSpPr txBox="1"/>
          <p:nvPr/>
        </p:nvSpPr>
        <p:spPr>
          <a:xfrm>
            <a:off x="640080" y="11887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1  </a:t>
            </a:r>
            <a:r>
              <a:rPr lang="en-US" sz="1600" dirty="0">
                <a:solidFill>
                  <a:srgbClr val="E6ECF5"/>
                </a:solidFill>
                <a:latin typeface="Courier New" pitchFamily="34" charset="0"/>
                <a:ea typeface="Courier New" pitchFamily="34" charset="-122"/>
                <a:cs typeface="Courier New" pitchFamily="34" charset="-120"/>
              </a:rPr>
              <a:t>def decode_message():</a:t>
            </a:r>
            <a:endParaRPr lang="en-US" sz="1600" dirty="0"/>
          </a:p>
        </p:txBody>
      </p:sp>
      <p:sp>
        <p:nvSpPr>
          <p:cNvPr id="8" name="code line 2"/>
          <p:cNvSpPr txBox="1"/>
          <p:nvPr/>
        </p:nvSpPr>
        <p:spPr>
          <a:xfrm>
            <a:off x="640080" y="14630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2  </a:t>
            </a:r>
            <a:r>
              <a:rPr lang="en-US" sz="1600" dirty="0">
                <a:solidFill>
                  <a:srgbClr val="E6ECF5"/>
                </a:solidFill>
                <a:latin typeface="Courier New" pitchFamily="34" charset="0"/>
                <a:ea typeface="Courier New" pitchFamily="34" charset="-122"/>
                <a:cs typeface="Courier New" pitchFamily="34" charset="-120"/>
              </a:rPr>
              <a:t>    message = ""   </a:t>
            </a:r>
            <a:r>
              <a:rPr lang="en-US" sz="1600" dirty="0">
                <a:solidFill>
                  <a:srgbClr val="8EA3C0"/>
                </a:solidFill>
                <a:latin typeface="Courier New" pitchFamily="34" charset="0"/>
                <a:ea typeface="Courier New" pitchFamily="34" charset="-122"/>
                <a:cs typeface="Courier New" pitchFamily="34" charset="-120"/>
              </a:rPr>
              <a:t># starts empty</a:t>
            </a:r>
            <a:endParaRPr lang="en-US" sz="1600" dirty="0"/>
          </a:p>
        </p:txBody>
      </p:sp>
      <p:sp>
        <p:nvSpPr>
          <p:cNvPr id="9" name="code line 3"/>
          <p:cNvSpPr txBox="1"/>
          <p:nvPr/>
        </p:nvSpPr>
        <p:spPr>
          <a:xfrm>
            <a:off x="640080" y="17373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3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TODO: for each number 1 to 37</a:t>
            </a:r>
            <a:endParaRPr lang="en-US" sz="1600" dirty="0"/>
          </a:p>
        </p:txBody>
      </p:sp>
      <p:sp>
        <p:nvSpPr>
          <p:cNvPr id="10" name="code line 4"/>
          <p:cNvSpPr txBox="1"/>
          <p:nvPr/>
        </p:nvSpPr>
        <p:spPr>
          <a:xfrm>
            <a:off x="640080" y="201168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4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(hint: range(1, 38))</a:t>
            </a:r>
            <a:endParaRPr lang="en-US" sz="1600" dirty="0"/>
          </a:p>
        </p:txBody>
      </p:sp>
      <p:sp>
        <p:nvSpPr>
          <p:cNvPr id="11" name="code line 5"/>
          <p:cNvSpPr txBox="1"/>
          <p:nvPr/>
        </p:nvSpPr>
        <p:spPr>
          <a:xfrm>
            <a:off x="640080" y="228600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5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1. find the picture: image_path(number)</a:t>
            </a:r>
            <a:endParaRPr lang="en-US" sz="1600" dirty="0"/>
          </a:p>
        </p:txBody>
      </p:sp>
      <p:sp>
        <p:nvSpPr>
          <p:cNvPr id="12" name="code line 6"/>
          <p:cNvSpPr txBox="1"/>
          <p:nvPr/>
        </p:nvSpPr>
        <p:spPr>
          <a:xfrm>
            <a:off x="640080" y="256032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6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2. work out its letter</a:t>
            </a:r>
            <a:endParaRPr lang="en-US" sz="1600" dirty="0"/>
          </a:p>
        </p:txBody>
      </p:sp>
      <p:sp>
        <p:nvSpPr>
          <p:cNvPr id="13" name="code line 7"/>
          <p:cNvSpPr txBox="1"/>
          <p:nvPr/>
        </p:nvSpPr>
        <p:spPr>
          <a:xfrm>
            <a:off x="640080" y="283464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7  </a:t>
            </a:r>
            <a:r>
              <a:rPr lang="en-US" sz="1600" dirty="0">
                <a:solidFill>
                  <a:srgbClr val="E6ECF5"/>
                </a:solidFill>
                <a:latin typeface="Courier New" pitchFamily="34" charset="0"/>
                <a:ea typeface="Courier New" pitchFamily="34" charset="-122"/>
                <a:cs typeface="Courier New" pitchFamily="34" charset="-120"/>
              </a:rPr>
              <a:t>    </a:t>
            </a:r>
            <a:r>
              <a:rPr lang="en-US" sz="1600" dirty="0">
                <a:solidFill>
                  <a:srgbClr val="8EA3C0"/>
                </a:solidFill>
                <a:latin typeface="Courier New" pitchFamily="34" charset="0"/>
                <a:ea typeface="Courier New" pitchFamily="34" charset="-122"/>
                <a:cs typeface="Courier New" pitchFamily="34" charset="-120"/>
              </a:rPr>
              <a:t>#   3. message += letter</a:t>
            </a:r>
            <a:endParaRPr lang="en-US" sz="1600" dirty="0"/>
          </a:p>
        </p:txBody>
      </p:sp>
      <p:sp>
        <p:nvSpPr>
          <p:cNvPr id="14" name="code line 8"/>
          <p:cNvSpPr txBox="1"/>
          <p:nvPr/>
        </p:nvSpPr>
        <p:spPr>
          <a:xfrm>
            <a:off x="640080" y="310896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 8  </a:t>
            </a:r>
            <a:r>
              <a:rPr lang="en-US" sz="1600" dirty="0">
                <a:solidFill>
                  <a:srgbClr val="E6ECF5"/>
                </a:solidFill>
                <a:latin typeface="Courier New" pitchFamily="34" charset="0"/>
                <a:ea typeface="Courier New" pitchFamily="34" charset="-122"/>
                <a:cs typeface="Courier New" pitchFamily="34" charset="-120"/>
              </a:rPr>
              <a:t>    return message</a:t>
            </a:r>
            <a:endParaRPr lang="en-US" sz="1600" dirty="0"/>
          </a:p>
        </p:txBody>
      </p:sp>
      <p:sp>
        <p:nvSpPr>
          <p:cNvPr id="15" name="code line 10"/>
          <p:cNvSpPr txBox="1"/>
          <p:nvPr/>
        </p:nvSpPr>
        <p:spPr>
          <a:xfrm>
            <a:off x="640080" y="3657600"/>
            <a:ext cx="7955280" cy="274320"/>
          </a:xfrm>
          <a:prstGeom prst="rect">
            <a:avLst/>
          </a:prstGeom>
          <a:noFill/>
          <a:ln/>
        </p:spPr>
        <p:txBody>
          <a:bodyPr wrap="square" lIns="0" tIns="0" rIns="0" bIns="0" rtlCol="0" anchor="ctr"/>
          <a:lstStyle/>
          <a:p>
            <a:pPr marL="0" indent="0">
              <a:buNone/>
            </a:pPr>
            <a:r>
              <a:rPr lang="en-US" sz="1600" dirty="0">
                <a:solidFill>
                  <a:srgbClr val="6F86A8"/>
                </a:solidFill>
                <a:latin typeface="Courier New" pitchFamily="34" charset="0"/>
                <a:ea typeface="Courier New" pitchFamily="34" charset="-122"/>
                <a:cs typeface="Courier New" pitchFamily="34" charset="-120"/>
              </a:rPr>
              <a:t>10  </a:t>
            </a:r>
            <a:r>
              <a:rPr lang="en-US" sz="1600" dirty="0">
                <a:solidFill>
                  <a:srgbClr val="E6ECF5"/>
                </a:solidFill>
                <a:latin typeface="Courier New" pitchFamily="34" charset="0"/>
                <a:ea typeface="Courier New" pitchFamily="34" charset="-122"/>
                <a:cs typeface="Courier New" pitchFamily="34" charset="-120"/>
              </a:rPr>
              <a:t>print(decode_message())   </a:t>
            </a:r>
            <a:r>
              <a:rPr lang="en-US" sz="1600" dirty="0">
                <a:solidFill>
                  <a:srgbClr val="8EA3C0"/>
                </a:solidFill>
                <a:latin typeface="Courier New" pitchFamily="34" charset="0"/>
                <a:ea typeface="Courier New" pitchFamily="34" charset="-122"/>
                <a:cs typeface="Courier New" pitchFamily="34" charset="-120"/>
              </a:rPr>
              <a:t># remove the # to run</a:t>
            </a:r>
            <a:endParaRPr lang="en-US" sz="1600" dirty="0"/>
          </a:p>
        </p:txBody>
      </p:sp>
      <p:sp>
        <p:nvSpPr>
          <p:cNvPr id="16" name="Text 14"/>
          <p:cNvSpPr txBox="1"/>
          <p:nvPr/>
        </p:nvSpPr>
        <p:spPr>
          <a:xfrm>
            <a:off x="457200" y="4206240"/>
            <a:ext cx="8229600" cy="548640"/>
          </a:xfrm>
          <a:prstGeom prst="rect">
            <a:avLst/>
          </a:prstGeom>
          <a:noFill/>
          <a:ln/>
        </p:spPr>
        <p:txBody>
          <a:bodyPr wrap="square" lIns="0" tIns="0" rIns="0" bIns="0" rtlCol="0" anchor="t"/>
          <a:lstStyle/>
          <a:p>
            <a:pPr marL="0" indent="0">
              <a:buNone/>
            </a:pPr>
            <a:r>
              <a:rPr lang="en-US" sz="1400" i="1" dirty="0">
                <a:solidFill>
                  <a:srgbClr val="5D6B80"/>
                </a:solidFill>
                <a:latin typeface="Arial" pitchFamily="34" charset="0"/>
                <a:ea typeface="Arial" pitchFamily="34" charset="-122"/>
                <a:cs typeface="Arial" pitchFamily="34" charset="-120"/>
              </a:rPr>
              <a:t>Does it read like English? Then it worked. Gibberish? Check STEP 2 and STEP 3.</a:t>
            </a:r>
            <a:endParaRPr lang="en-US" sz="14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57</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Solve the Puzzle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COMPUTER TIME</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Booklet Steps 2, 3 and 4 in cow_message_starter.py. Test each step before the next.</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12 min</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STEP 2: total_red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59</a:t>
            </a:fld>
            <a:endParaRPr lang="en-US"/>
          </a:p>
        </p:txBody>
      </p:sp>
      <p:sp>
        <p:nvSpPr>
          <p:cNvPr id="6" name="Code box"/>
          <p:cNvSpPr/>
          <p:nvPr/>
        </p:nvSpPr>
        <p:spPr>
          <a:xfrm>
            <a:off x="457200" y="1097280"/>
            <a:ext cx="8229600" cy="2761488"/>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2761488"/>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310896"/>
          </a:xfrm>
          <a:prstGeom prst="rect">
            <a:avLst/>
          </a:prstGeom>
          <a:noFill/>
        </p:spPr>
        <p:txBody>
          <a:bodyPr wrap="square" lIns="0" tIns="0" rIns="0" bIns="0" anchor="ctr">
            <a:spAutoFit/>
          </a:bodyPr>
          <a:lstStyle/>
          <a:p>
            <a:pPr algn="l"/>
            <a:r>
              <a:rPr sz="1700" b="1" i="0">
                <a:solidFill>
                  <a:srgbClr val="8FB8FF"/>
                </a:solidFill>
                <a:latin typeface="Courier New"/>
              </a:rPr>
              <a:t>def</a:t>
            </a:r>
            <a:r>
              <a:rPr sz="1700" b="0" i="0">
                <a:solidFill>
                  <a:srgbClr val="E6ECF5"/>
                </a:solidFill>
                <a:latin typeface="Courier New"/>
              </a:rPr>
              <a:t> total_red(path):</a:t>
            </a:r>
          </a:p>
        </p:txBody>
      </p:sp>
      <p:sp>
        <p:nvSpPr>
          <p:cNvPr id="9" name="Code line"/>
          <p:cNvSpPr txBox="1"/>
          <p:nvPr/>
        </p:nvSpPr>
        <p:spPr>
          <a:xfrm>
            <a:off x="640080" y="1545336"/>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img = Image.open(path)</a:t>
            </a:r>
          </a:p>
        </p:txBody>
      </p:sp>
      <p:sp>
        <p:nvSpPr>
          <p:cNvPr id="10" name="Code line"/>
          <p:cNvSpPr txBox="1"/>
          <p:nvPr/>
        </p:nvSpPr>
        <p:spPr>
          <a:xfrm>
            <a:off x="640080" y="1856231"/>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pixels = np.array(img)</a:t>
            </a:r>
          </a:p>
        </p:txBody>
      </p:sp>
      <p:sp>
        <p:nvSpPr>
          <p:cNvPr id="11" name="Code line"/>
          <p:cNvSpPr txBox="1"/>
          <p:nvPr/>
        </p:nvSpPr>
        <p:spPr>
          <a:xfrm>
            <a:off x="640080" y="2167128"/>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red = pixels[:, :, </a:t>
            </a:r>
            <a:r>
              <a:rPr sz="1700" b="0" i="0">
                <a:solidFill>
                  <a:srgbClr val="F2C879"/>
                </a:solidFill>
                <a:latin typeface="Courier New"/>
              </a:rPr>
              <a:t>0</a:t>
            </a:r>
            <a:r>
              <a:rPr sz="1700" b="0" i="0">
                <a:solidFill>
                  <a:srgbClr val="E6ECF5"/>
                </a:solidFill>
                <a:latin typeface="Courier New"/>
              </a:rPr>
              <a:t>]</a:t>
            </a:r>
          </a:p>
        </p:txBody>
      </p:sp>
      <p:sp>
        <p:nvSpPr>
          <p:cNvPr id="12" name="Code line"/>
          <p:cNvSpPr txBox="1"/>
          <p:nvPr/>
        </p:nvSpPr>
        <p:spPr>
          <a:xfrm>
            <a:off x="640080" y="2478024"/>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total = red.sum()</a:t>
            </a:r>
          </a:p>
        </p:txBody>
      </p:sp>
      <p:sp>
        <p:nvSpPr>
          <p:cNvPr id="13" name="Code line"/>
          <p:cNvSpPr txBox="1"/>
          <p:nvPr/>
        </p:nvSpPr>
        <p:spPr>
          <a:xfrm>
            <a:off x="640080" y="2788920"/>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a:t>
            </a:r>
            <a:r>
              <a:rPr sz="1700" b="1" i="0">
                <a:solidFill>
                  <a:srgbClr val="8FB8FF"/>
                </a:solidFill>
                <a:latin typeface="Courier New"/>
              </a:rPr>
              <a:t>return</a:t>
            </a:r>
            <a:r>
              <a:rPr sz="1700" b="0" i="0">
                <a:solidFill>
                  <a:srgbClr val="E6ECF5"/>
                </a:solidFill>
                <a:latin typeface="Courier New"/>
              </a:rPr>
              <a:t> total</a:t>
            </a:r>
          </a:p>
        </p:txBody>
      </p:sp>
      <p:sp>
        <p:nvSpPr>
          <p:cNvPr id="14" name="Code line"/>
          <p:cNvSpPr txBox="1"/>
          <p:nvPr/>
        </p:nvSpPr>
        <p:spPr>
          <a:xfrm>
            <a:off x="640080" y="3410712"/>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print(total_red(</a:t>
            </a:r>
            <a:r>
              <a:rPr sz="1700" b="0" i="0">
                <a:solidFill>
                  <a:srgbClr val="B8E0B0"/>
                </a:solidFill>
                <a:latin typeface="Courier New"/>
              </a:rPr>
              <a:t>"cow-demo.jpg"</a:t>
            </a:r>
            <a:r>
              <a:rPr sz="1700" b="0" i="0">
                <a:solidFill>
                  <a:srgbClr val="E6ECF5"/>
                </a:solidFill>
                <a:latin typeface="Courier New"/>
              </a:rPr>
              <a:t>))   </a:t>
            </a:r>
            <a:r>
              <a:rPr sz="1700" b="0" i="0">
                <a:solidFill>
                  <a:srgbClr val="8EA3C0"/>
                </a:solidFill>
                <a:latin typeface="Courier New"/>
              </a:rPr>
              <a:t># 10218857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STEP 3: letter_for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60</a:t>
            </a:fld>
            <a:endParaRPr lang="en-US"/>
          </a:p>
        </p:txBody>
      </p:sp>
      <p:sp>
        <p:nvSpPr>
          <p:cNvPr id="6" name="Code box"/>
          <p:cNvSpPr/>
          <p:nvPr/>
        </p:nvSpPr>
        <p:spPr>
          <a:xfrm>
            <a:off x="457200" y="1097280"/>
            <a:ext cx="8229600" cy="2450592"/>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2450592"/>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310896"/>
          </a:xfrm>
          <a:prstGeom prst="rect">
            <a:avLst/>
          </a:prstGeom>
          <a:noFill/>
        </p:spPr>
        <p:txBody>
          <a:bodyPr wrap="square" lIns="0" tIns="0" rIns="0" bIns="0" anchor="ctr">
            <a:spAutoFit/>
          </a:bodyPr>
          <a:lstStyle/>
          <a:p>
            <a:pPr algn="l"/>
            <a:r>
              <a:rPr sz="1700" b="1" i="0">
                <a:solidFill>
                  <a:srgbClr val="8FB8FF"/>
                </a:solidFill>
                <a:latin typeface="Courier New"/>
              </a:rPr>
              <a:t>def</a:t>
            </a:r>
            <a:r>
              <a:rPr sz="1700" b="0" i="0">
                <a:solidFill>
                  <a:srgbClr val="E6ECF5"/>
                </a:solidFill>
                <a:latin typeface="Courier New"/>
              </a:rPr>
              <a:t> letter_for(path):</a:t>
            </a:r>
          </a:p>
        </p:txBody>
      </p:sp>
      <p:sp>
        <p:nvSpPr>
          <p:cNvPr id="9" name="Code line"/>
          <p:cNvSpPr txBox="1"/>
          <p:nvPr/>
        </p:nvSpPr>
        <p:spPr>
          <a:xfrm>
            <a:off x="640080" y="1545336"/>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total = total_red(path)</a:t>
            </a:r>
          </a:p>
        </p:txBody>
      </p:sp>
      <p:sp>
        <p:nvSpPr>
          <p:cNvPr id="10" name="Code line"/>
          <p:cNvSpPr txBox="1"/>
          <p:nvPr/>
        </p:nvSpPr>
        <p:spPr>
          <a:xfrm>
            <a:off x="640080" y="1856231"/>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position = total % </a:t>
            </a:r>
            <a:r>
              <a:rPr sz="1700" b="0" i="0">
                <a:solidFill>
                  <a:srgbClr val="F2C879"/>
                </a:solidFill>
                <a:latin typeface="Courier New"/>
              </a:rPr>
              <a:t>26</a:t>
            </a:r>
          </a:p>
        </p:txBody>
      </p:sp>
      <p:sp>
        <p:nvSpPr>
          <p:cNvPr id="11" name="Code line"/>
          <p:cNvSpPr txBox="1"/>
          <p:nvPr/>
        </p:nvSpPr>
        <p:spPr>
          <a:xfrm>
            <a:off x="640080" y="2167128"/>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letter = ALPHABET[position]</a:t>
            </a:r>
          </a:p>
        </p:txBody>
      </p:sp>
      <p:sp>
        <p:nvSpPr>
          <p:cNvPr id="12" name="Code line"/>
          <p:cNvSpPr txBox="1"/>
          <p:nvPr/>
        </p:nvSpPr>
        <p:spPr>
          <a:xfrm>
            <a:off x="640080" y="2478024"/>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a:t>
            </a:r>
            <a:r>
              <a:rPr sz="1700" b="1" i="0">
                <a:solidFill>
                  <a:srgbClr val="8FB8FF"/>
                </a:solidFill>
                <a:latin typeface="Courier New"/>
              </a:rPr>
              <a:t>return</a:t>
            </a:r>
            <a:r>
              <a:rPr sz="1700" b="0" i="0">
                <a:solidFill>
                  <a:srgbClr val="E6ECF5"/>
                </a:solidFill>
                <a:latin typeface="Courier New"/>
              </a:rPr>
              <a:t> letter</a:t>
            </a:r>
          </a:p>
        </p:txBody>
      </p:sp>
      <p:sp>
        <p:nvSpPr>
          <p:cNvPr id="13" name="Code line"/>
          <p:cNvSpPr txBox="1"/>
          <p:nvPr/>
        </p:nvSpPr>
        <p:spPr>
          <a:xfrm>
            <a:off x="640080" y="3099815"/>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print(letter_for(</a:t>
            </a:r>
            <a:r>
              <a:rPr sz="1700" b="0" i="0">
                <a:solidFill>
                  <a:srgbClr val="B8E0B0"/>
                </a:solidFill>
                <a:latin typeface="Courier New"/>
              </a:rPr>
              <a:t>"cow-demo.jpg"</a:t>
            </a:r>
            <a:r>
              <a:rPr sz="1700" b="0" i="0">
                <a:solidFill>
                  <a:srgbClr val="E6ECF5"/>
                </a:solidFill>
                <a:latin typeface="Courier New"/>
              </a:rPr>
              <a:t>))   </a:t>
            </a:r>
            <a:r>
              <a:rPr sz="1700" b="0" i="0">
                <a:solidFill>
                  <a:srgbClr val="8EA3C0"/>
                </a:solidFill>
                <a:latin typeface="Courier New"/>
              </a:rPr>
              <a:t># Z</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STEP 4: decode_message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61</a:t>
            </a:fld>
            <a:endParaRPr lang="en-US"/>
          </a:p>
        </p:txBody>
      </p:sp>
      <p:sp>
        <p:nvSpPr>
          <p:cNvPr id="6" name="Code box"/>
          <p:cNvSpPr/>
          <p:nvPr/>
        </p:nvSpPr>
        <p:spPr>
          <a:xfrm>
            <a:off x="457200" y="1097280"/>
            <a:ext cx="8229600" cy="2761488"/>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bar"/>
          <p:cNvSpPr/>
          <p:nvPr/>
        </p:nvSpPr>
        <p:spPr>
          <a:xfrm>
            <a:off x="457200" y="1097280"/>
            <a:ext cx="54864" cy="2761488"/>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line"/>
          <p:cNvSpPr txBox="1"/>
          <p:nvPr/>
        </p:nvSpPr>
        <p:spPr>
          <a:xfrm>
            <a:off x="640080" y="1234439"/>
            <a:ext cx="7955279" cy="310896"/>
          </a:xfrm>
          <a:prstGeom prst="rect">
            <a:avLst/>
          </a:prstGeom>
          <a:noFill/>
        </p:spPr>
        <p:txBody>
          <a:bodyPr wrap="square" lIns="0" tIns="0" rIns="0" bIns="0" anchor="ctr">
            <a:spAutoFit/>
          </a:bodyPr>
          <a:lstStyle/>
          <a:p>
            <a:pPr algn="l"/>
            <a:r>
              <a:rPr sz="1700" b="1" i="0">
                <a:solidFill>
                  <a:srgbClr val="8FB8FF"/>
                </a:solidFill>
                <a:latin typeface="Courier New"/>
              </a:rPr>
              <a:t>def</a:t>
            </a:r>
            <a:r>
              <a:rPr sz="1700" b="0" i="0">
                <a:solidFill>
                  <a:srgbClr val="E6ECF5"/>
                </a:solidFill>
                <a:latin typeface="Courier New"/>
              </a:rPr>
              <a:t> decode_message():</a:t>
            </a:r>
          </a:p>
        </p:txBody>
      </p:sp>
      <p:sp>
        <p:nvSpPr>
          <p:cNvPr id="9" name="Code line"/>
          <p:cNvSpPr txBox="1"/>
          <p:nvPr/>
        </p:nvSpPr>
        <p:spPr>
          <a:xfrm>
            <a:off x="640080" y="1545336"/>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message = </a:t>
            </a:r>
            <a:r>
              <a:rPr sz="1700" b="0" i="0">
                <a:solidFill>
                  <a:srgbClr val="B8E0B0"/>
                </a:solidFill>
                <a:latin typeface="Courier New"/>
              </a:rPr>
              <a:t>""</a:t>
            </a:r>
          </a:p>
        </p:txBody>
      </p:sp>
      <p:sp>
        <p:nvSpPr>
          <p:cNvPr id="10" name="Code line"/>
          <p:cNvSpPr txBox="1"/>
          <p:nvPr/>
        </p:nvSpPr>
        <p:spPr>
          <a:xfrm>
            <a:off x="640080" y="1856231"/>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a:t>
            </a:r>
            <a:r>
              <a:rPr sz="1700" b="1" i="0">
                <a:solidFill>
                  <a:srgbClr val="8FB8FF"/>
                </a:solidFill>
                <a:latin typeface="Courier New"/>
              </a:rPr>
              <a:t>for</a:t>
            </a:r>
            <a:r>
              <a:rPr sz="1700" b="0" i="0">
                <a:solidFill>
                  <a:srgbClr val="E6ECF5"/>
                </a:solidFill>
                <a:latin typeface="Courier New"/>
              </a:rPr>
              <a:t> number </a:t>
            </a:r>
            <a:r>
              <a:rPr sz="1700" b="1" i="0">
                <a:solidFill>
                  <a:srgbClr val="8FB8FF"/>
                </a:solidFill>
                <a:latin typeface="Courier New"/>
              </a:rPr>
              <a:t>in</a:t>
            </a:r>
            <a:r>
              <a:rPr sz="1700" b="0" i="0">
                <a:solidFill>
                  <a:srgbClr val="E6ECF5"/>
                </a:solidFill>
                <a:latin typeface="Courier New"/>
              </a:rPr>
              <a:t> </a:t>
            </a:r>
            <a:r>
              <a:rPr sz="1700" b="1" i="0">
                <a:solidFill>
                  <a:srgbClr val="8FB8FF"/>
                </a:solidFill>
                <a:latin typeface="Courier New"/>
              </a:rPr>
              <a:t>range</a:t>
            </a:r>
            <a:r>
              <a:rPr sz="1700" b="0" i="0">
                <a:solidFill>
                  <a:srgbClr val="E6ECF5"/>
                </a:solidFill>
                <a:latin typeface="Courier New"/>
              </a:rPr>
              <a:t>(</a:t>
            </a:r>
            <a:r>
              <a:rPr sz="1700" b="0" i="0">
                <a:solidFill>
                  <a:srgbClr val="F2C879"/>
                </a:solidFill>
                <a:latin typeface="Courier New"/>
              </a:rPr>
              <a:t>1</a:t>
            </a:r>
            <a:r>
              <a:rPr sz="1700" b="0" i="0">
                <a:solidFill>
                  <a:srgbClr val="E6ECF5"/>
                </a:solidFill>
                <a:latin typeface="Courier New"/>
              </a:rPr>
              <a:t>, </a:t>
            </a:r>
            <a:r>
              <a:rPr sz="1700" b="0" i="0">
                <a:solidFill>
                  <a:srgbClr val="F2C879"/>
                </a:solidFill>
                <a:latin typeface="Courier New"/>
              </a:rPr>
              <a:t>38</a:t>
            </a:r>
            <a:r>
              <a:rPr sz="1700" b="0" i="0">
                <a:solidFill>
                  <a:srgbClr val="E6ECF5"/>
                </a:solidFill>
                <a:latin typeface="Courier New"/>
              </a:rPr>
              <a:t>):</a:t>
            </a:r>
          </a:p>
        </p:txBody>
      </p:sp>
      <p:sp>
        <p:nvSpPr>
          <p:cNvPr id="11" name="Code line"/>
          <p:cNvSpPr txBox="1"/>
          <p:nvPr/>
        </p:nvSpPr>
        <p:spPr>
          <a:xfrm>
            <a:off x="640080" y="2167128"/>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letter = letter_for(image_path(number))</a:t>
            </a:r>
          </a:p>
        </p:txBody>
      </p:sp>
      <p:sp>
        <p:nvSpPr>
          <p:cNvPr id="12" name="Code line"/>
          <p:cNvSpPr txBox="1"/>
          <p:nvPr/>
        </p:nvSpPr>
        <p:spPr>
          <a:xfrm>
            <a:off x="640080" y="2478024"/>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message += letter</a:t>
            </a:r>
          </a:p>
        </p:txBody>
      </p:sp>
      <p:sp>
        <p:nvSpPr>
          <p:cNvPr id="13" name="Code line"/>
          <p:cNvSpPr txBox="1"/>
          <p:nvPr/>
        </p:nvSpPr>
        <p:spPr>
          <a:xfrm>
            <a:off x="640080" y="2788920"/>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    </a:t>
            </a:r>
            <a:r>
              <a:rPr sz="1700" b="1" i="0">
                <a:solidFill>
                  <a:srgbClr val="8FB8FF"/>
                </a:solidFill>
                <a:latin typeface="Courier New"/>
              </a:rPr>
              <a:t>return</a:t>
            </a:r>
            <a:r>
              <a:rPr sz="1700" b="0" i="0">
                <a:solidFill>
                  <a:srgbClr val="E6ECF5"/>
                </a:solidFill>
                <a:latin typeface="Courier New"/>
              </a:rPr>
              <a:t> message</a:t>
            </a:r>
          </a:p>
        </p:txBody>
      </p:sp>
      <p:sp>
        <p:nvSpPr>
          <p:cNvPr id="14" name="Code line"/>
          <p:cNvSpPr txBox="1"/>
          <p:nvPr/>
        </p:nvSpPr>
        <p:spPr>
          <a:xfrm>
            <a:off x="640080" y="3410712"/>
            <a:ext cx="7955279" cy="310896"/>
          </a:xfrm>
          <a:prstGeom prst="rect">
            <a:avLst/>
          </a:prstGeom>
          <a:noFill/>
        </p:spPr>
        <p:txBody>
          <a:bodyPr wrap="square" lIns="0" tIns="0" rIns="0" bIns="0" anchor="ctr">
            <a:spAutoFit/>
          </a:bodyPr>
          <a:lstStyle/>
          <a:p>
            <a:pPr algn="l"/>
            <a:r>
              <a:rPr sz="1700" b="0" i="0">
                <a:solidFill>
                  <a:srgbClr val="E6ECF5"/>
                </a:solidFill>
                <a:latin typeface="Courier New"/>
              </a:rPr>
              <a:t>print(decode_message())   </a:t>
            </a:r>
            <a:r>
              <a:rPr sz="1700" b="0" i="0">
                <a:solidFill>
                  <a:srgbClr val="8EA3C0"/>
                </a:solidFill>
                <a:latin typeface="Courier New"/>
              </a:rPr>
              <a:t># reads like English</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Stuck? Use the Booklet</a:t>
            </a:r>
            <a:endParaRPr lang="en-US" sz="3000" dirty="0"/>
          </a:p>
        </p:txBody>
      </p:sp>
      <p:sp>
        <p:nvSpPr>
          <p:cNvPr id="3" name="@1 Card"/>
          <p:cNvSpPr/>
          <p:nvPr/>
        </p:nvSpPr>
        <p:spPr>
          <a:xfrm>
            <a:off x="457200" y="1280160"/>
            <a:ext cx="4023360" cy="1188720"/>
          </a:xfrm>
          <a:prstGeom prst="roundRect">
            <a:avLst>
              <a:gd name="adj" fmla="val 9231"/>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457200" y="1417320"/>
            <a:ext cx="4023360" cy="50292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Read the rule</a:t>
            </a:r>
            <a:endParaRPr lang="en-US" sz="1800" dirty="0"/>
          </a:p>
        </p:txBody>
      </p:sp>
      <p:sp>
        <p:nvSpPr>
          <p:cNvPr id="5" name="@1 addText"/>
          <p:cNvSpPr txBox="1"/>
          <p:nvPr/>
        </p:nvSpPr>
        <p:spPr>
          <a:xfrm>
            <a:off x="457200" y="1920240"/>
            <a:ext cx="402336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at the top of cow_message_starter.py</a:t>
            </a:r>
            <a:endParaRPr lang="en-US" sz="1400" dirty="0"/>
          </a:p>
        </p:txBody>
      </p:sp>
      <p:sp>
        <p:nvSpPr>
          <p:cNvPr id="6" name="@2 Card"/>
          <p:cNvSpPr/>
          <p:nvPr/>
        </p:nvSpPr>
        <p:spPr>
          <a:xfrm>
            <a:off x="4663440" y="1280160"/>
            <a:ext cx="4023360" cy="1188720"/>
          </a:xfrm>
          <a:prstGeom prst="roundRect">
            <a:avLst>
              <a:gd name="adj" fmla="val 9231"/>
            </a:avLst>
          </a:prstGeom>
          <a:solidFill>
            <a:srgbClr val="FFFFFF"/>
          </a:solidFill>
          <a:ln w="9525">
            <a:solidFill>
              <a:srgbClr val="C5D1E3"/>
            </a:solidFill>
            <a:prstDash val="solid"/>
          </a:ln>
        </p:spPr>
        <p:txBody>
          <a:bodyPr/>
          <a:lstStyle/>
          <a:p>
            <a:endParaRPr lang="en-GB"/>
          </a:p>
        </p:txBody>
      </p:sp>
      <p:sp>
        <p:nvSpPr>
          <p:cNvPr id="7" name="@2 addText"/>
          <p:cNvSpPr txBox="1"/>
          <p:nvPr/>
        </p:nvSpPr>
        <p:spPr>
          <a:xfrm>
            <a:off x="4663440" y="1417320"/>
            <a:ext cx="4023360" cy="50292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Hints in the booklet</a:t>
            </a:r>
            <a:endParaRPr lang="en-US" sz="1800" dirty="0"/>
          </a:p>
        </p:txBody>
      </p:sp>
      <p:sp>
        <p:nvSpPr>
          <p:cNvPr id="8" name="@2 addText"/>
          <p:cNvSpPr txBox="1"/>
          <p:nvPr/>
        </p:nvSpPr>
        <p:spPr>
          <a:xfrm>
            <a:off x="4663440" y="1920240"/>
            <a:ext cx="402336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Hint 1, then Hint 2, for each STEP</a:t>
            </a:r>
            <a:endParaRPr lang="en-US" sz="1400" dirty="0"/>
          </a:p>
        </p:txBody>
      </p:sp>
      <p:sp>
        <p:nvSpPr>
          <p:cNvPr id="9" name="@3 Card"/>
          <p:cNvSpPr/>
          <p:nvPr/>
        </p:nvSpPr>
        <p:spPr>
          <a:xfrm>
            <a:off x="457200" y="2651760"/>
            <a:ext cx="4023360" cy="1188720"/>
          </a:xfrm>
          <a:prstGeom prst="roundRect">
            <a:avLst>
              <a:gd name="adj" fmla="val 9231"/>
            </a:avLst>
          </a:prstGeom>
          <a:solidFill>
            <a:srgbClr val="FFFFFF"/>
          </a:solidFill>
          <a:ln w="9525">
            <a:solidFill>
              <a:srgbClr val="C5D1E3"/>
            </a:solidFill>
            <a:prstDash val="solid"/>
          </a:ln>
        </p:spPr>
        <p:txBody>
          <a:bodyPr/>
          <a:lstStyle/>
          <a:p>
            <a:endParaRPr lang="en-GB"/>
          </a:p>
        </p:txBody>
      </p:sp>
      <p:sp>
        <p:nvSpPr>
          <p:cNvPr id="10" name="@3 addText"/>
          <p:cNvSpPr txBox="1"/>
          <p:nvPr/>
        </p:nvSpPr>
        <p:spPr>
          <a:xfrm>
            <a:off x="457200" y="2788920"/>
            <a:ext cx="4023360" cy="50292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Hints in the file</a:t>
            </a:r>
            <a:endParaRPr lang="en-US" sz="1800" dirty="0"/>
          </a:p>
        </p:txBody>
      </p:sp>
      <p:sp>
        <p:nvSpPr>
          <p:cNvPr id="11" name="@3 addText"/>
          <p:cNvSpPr txBox="1"/>
          <p:nvPr/>
        </p:nvSpPr>
        <p:spPr>
          <a:xfrm>
            <a:off x="457200" y="3291840"/>
            <a:ext cx="402336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the same hints sit under each STEP</a:t>
            </a:r>
            <a:endParaRPr lang="en-US" sz="1400" dirty="0"/>
          </a:p>
        </p:txBody>
      </p:sp>
      <p:sp>
        <p:nvSpPr>
          <p:cNvPr id="12" name="@4 Card"/>
          <p:cNvSpPr/>
          <p:nvPr/>
        </p:nvSpPr>
        <p:spPr>
          <a:xfrm>
            <a:off x="4663440" y="2651760"/>
            <a:ext cx="4023360" cy="1188720"/>
          </a:xfrm>
          <a:prstGeom prst="roundRect">
            <a:avLst>
              <a:gd name="adj" fmla="val 9231"/>
            </a:avLst>
          </a:prstGeom>
          <a:solidFill>
            <a:srgbClr val="FFFFFF"/>
          </a:solidFill>
          <a:ln w="9525">
            <a:solidFill>
              <a:srgbClr val="C5D1E3"/>
            </a:solidFill>
            <a:prstDash val="solid"/>
          </a:ln>
        </p:spPr>
        <p:txBody>
          <a:bodyPr/>
          <a:lstStyle/>
          <a:p>
            <a:endParaRPr lang="en-GB"/>
          </a:p>
        </p:txBody>
      </p:sp>
      <p:sp>
        <p:nvSpPr>
          <p:cNvPr id="13" name="@4 addText"/>
          <p:cNvSpPr txBox="1"/>
          <p:nvPr/>
        </p:nvSpPr>
        <p:spPr>
          <a:xfrm>
            <a:off x="4663440" y="2788920"/>
            <a:ext cx="4023360" cy="50292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Message tracker</a:t>
            </a:r>
            <a:endParaRPr lang="en-US" sz="1800" dirty="0"/>
          </a:p>
        </p:txBody>
      </p:sp>
      <p:sp>
        <p:nvSpPr>
          <p:cNvPr id="14" name="@4 addText"/>
          <p:cNvSpPr txBox="1"/>
          <p:nvPr/>
        </p:nvSpPr>
        <p:spPr>
          <a:xfrm>
            <a:off x="4663440" y="3291840"/>
            <a:ext cx="402336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write down each letter</a:t>
            </a:r>
            <a:endParaRPr lang="en-US" sz="1400" dirty="0"/>
          </a:p>
        </p:txBody>
      </p:sp>
      <p:sp>
        <p:nvSpPr>
          <p:cNvPr id="1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2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2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Stretch</a:t>
            </a:r>
            <a:endParaRPr lang="en-US" sz="3400" dirty="0"/>
          </a:p>
        </p:txBody>
      </p:sp>
      <p:sp>
        <p:nvSpPr>
          <p:cNvPr id="3" name="Text 1"/>
          <p:cNvSpPr txBox="1"/>
          <p:nvPr/>
        </p:nvSpPr>
        <p:spPr>
          <a:xfrm>
            <a:off x="548640" y="640080"/>
            <a:ext cx="45720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FINISHED EARLY?</a:t>
            </a:r>
            <a:endParaRPr lang="en-US" sz="2200" dirty="0"/>
          </a:p>
        </p:txBody>
      </p:sp>
      <p:sp>
        <p:nvSpPr>
          <p:cNvPr id="4" name="Text 2"/>
          <p:cNvSpPr txBox="1"/>
          <p:nvPr/>
        </p:nvSpPr>
        <p:spPr>
          <a:xfrm>
            <a:off x="548640" y="2743200"/>
            <a:ext cx="6766560" cy="12801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Add up green (channel 1) or blue (channel 2) instead. What message do you get? If a red total went up by 1, which letter comes next? By 26?</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You Learned Today</a:t>
            </a:r>
            <a:endParaRPr lang="en-US" sz="3000" dirty="0"/>
          </a:p>
        </p:txBody>
      </p:sp>
      <p:sp>
        <p:nvSpPr>
          <p:cNvPr id="3" name="2 MIN pill"/>
          <p:cNvSpPr/>
          <p:nvPr/>
        </p:nvSpPr>
        <p:spPr>
          <a:xfrm>
            <a:off x="7132320" y="411480"/>
            <a:ext cx="15544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132320" y="411480"/>
            <a:ext cx="15544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2 MIN</a:t>
            </a:r>
            <a:endParaRPr lang="en-US" sz="1200" dirty="0"/>
          </a:p>
        </p:txBody>
      </p:sp>
      <p:sp>
        <p:nvSpPr>
          <p:cNvPr id="5" name="@1 dot"/>
          <p:cNvSpPr/>
          <p:nvPr/>
        </p:nvSpPr>
        <p:spPr>
          <a:xfrm>
            <a:off x="457200" y="1316736"/>
            <a:ext cx="109728" cy="109728"/>
          </a:xfrm>
          <a:prstGeom prst="ellipse">
            <a:avLst/>
          </a:prstGeom>
          <a:solidFill>
            <a:srgbClr val="002D6A"/>
          </a:solidFill>
          <a:ln w="12700">
            <a:solidFill>
              <a:srgbClr val="002D6A"/>
            </a:solidFill>
            <a:prstDash val="solid"/>
          </a:ln>
        </p:spPr>
        <p:txBody>
          <a:bodyPr/>
          <a:lstStyle/>
          <a:p>
            <a:endParaRPr lang="en-GB"/>
          </a:p>
        </p:txBody>
      </p:sp>
      <p:sp>
        <p:nvSpPr>
          <p:cNvPr id="6" name="@1 addText"/>
          <p:cNvSpPr txBox="1"/>
          <p:nvPr/>
        </p:nvSpPr>
        <p:spPr>
          <a:xfrm>
            <a:off x="731520" y="1188720"/>
            <a:ext cx="7955280" cy="612648"/>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a picture is a grid of numbers: rows x columns x 3</a:t>
            </a:r>
            <a:endParaRPr lang="en-US" sz="1800" dirty="0"/>
          </a:p>
        </p:txBody>
      </p:sp>
      <p:sp>
        <p:nvSpPr>
          <p:cNvPr id="7" name="@2 dot"/>
          <p:cNvSpPr/>
          <p:nvPr/>
        </p:nvSpPr>
        <p:spPr>
          <a:xfrm>
            <a:off x="457200" y="1975104"/>
            <a:ext cx="109728" cy="109728"/>
          </a:xfrm>
          <a:prstGeom prst="ellipse">
            <a:avLst/>
          </a:prstGeom>
          <a:solidFill>
            <a:srgbClr val="002D6A"/>
          </a:solidFill>
          <a:ln w="12700">
            <a:solidFill>
              <a:srgbClr val="002D6A"/>
            </a:solidFill>
            <a:prstDash val="solid"/>
          </a:ln>
        </p:spPr>
        <p:txBody>
          <a:bodyPr/>
          <a:lstStyle/>
          <a:p>
            <a:endParaRPr lang="en-GB"/>
          </a:p>
        </p:txBody>
      </p:sp>
      <p:sp>
        <p:nvSpPr>
          <p:cNvPr id="8" name="@2 addText"/>
          <p:cNvSpPr txBox="1"/>
          <p:nvPr/>
        </p:nvSpPr>
        <p:spPr>
          <a:xfrm>
            <a:off x="731520" y="1847088"/>
            <a:ext cx="7955280" cy="612648"/>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one pixel, a crop, channels, switching off, grey, negative</a:t>
            </a:r>
            <a:endParaRPr lang="en-US" sz="1800" dirty="0"/>
          </a:p>
        </p:txBody>
      </p:sp>
      <p:sp>
        <p:nvSpPr>
          <p:cNvPr id="9" name="@3 dot"/>
          <p:cNvSpPr/>
          <p:nvPr/>
        </p:nvSpPr>
        <p:spPr>
          <a:xfrm>
            <a:off x="457200" y="2633472"/>
            <a:ext cx="109728" cy="109728"/>
          </a:xfrm>
          <a:prstGeom prst="ellipse">
            <a:avLst/>
          </a:prstGeom>
          <a:solidFill>
            <a:srgbClr val="002D6A"/>
          </a:solidFill>
          <a:ln w="12700">
            <a:solidFill>
              <a:srgbClr val="002D6A"/>
            </a:solidFill>
            <a:prstDash val="solid"/>
          </a:ln>
        </p:spPr>
        <p:txBody>
          <a:bodyPr/>
          <a:lstStyle/>
          <a:p>
            <a:endParaRPr lang="en-GB"/>
          </a:p>
        </p:txBody>
      </p:sp>
      <p:sp>
        <p:nvSpPr>
          <p:cNvPr id="10" name="@3 addText"/>
          <p:cNvSpPr txBox="1"/>
          <p:nvPr/>
        </p:nvSpPr>
        <p:spPr>
          <a:xfrm>
            <a:off x="731520" y="2505456"/>
            <a:ext cx="7955280" cy="612648"/>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counting, averages and histograms</a:t>
            </a:r>
            <a:endParaRPr lang="en-US" sz="1800" dirty="0"/>
          </a:p>
        </p:txBody>
      </p:sp>
      <p:sp>
        <p:nvSpPr>
          <p:cNvPr id="11" name="@4 dot"/>
          <p:cNvSpPr/>
          <p:nvPr/>
        </p:nvSpPr>
        <p:spPr>
          <a:xfrm>
            <a:off x="457200" y="3291840"/>
            <a:ext cx="109728" cy="109728"/>
          </a:xfrm>
          <a:prstGeom prst="ellipse">
            <a:avLst/>
          </a:prstGeom>
          <a:solidFill>
            <a:srgbClr val="002D6A"/>
          </a:solidFill>
          <a:ln w="12700">
            <a:solidFill>
              <a:srgbClr val="002D6A"/>
            </a:solidFill>
            <a:prstDash val="solid"/>
          </a:ln>
        </p:spPr>
        <p:txBody>
          <a:bodyPr/>
          <a:lstStyle/>
          <a:p>
            <a:endParaRPr lang="en-GB"/>
          </a:p>
        </p:txBody>
      </p:sp>
      <p:sp>
        <p:nvSpPr>
          <p:cNvPr id="12" name="@4 addText"/>
          <p:cNvSpPr txBox="1"/>
          <p:nvPr/>
        </p:nvSpPr>
        <p:spPr>
          <a:xfrm>
            <a:off x="731520" y="3163824"/>
            <a:ext cx="7955280" cy="612648"/>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red total % 26 gives a letter: you solved a puzzle</a:t>
            </a:r>
            <a:endParaRPr lang="en-US" sz="1800" dirty="0"/>
          </a:p>
        </p:txBody>
      </p:sp>
      <p:sp>
        <p:nvSpPr>
          <p:cNvPr id="13" name="@5 dot"/>
          <p:cNvSpPr/>
          <p:nvPr/>
        </p:nvSpPr>
        <p:spPr>
          <a:xfrm>
            <a:off x="457200" y="3950208"/>
            <a:ext cx="109728" cy="109728"/>
          </a:xfrm>
          <a:prstGeom prst="ellipse">
            <a:avLst/>
          </a:prstGeom>
          <a:solidFill>
            <a:srgbClr val="002D6A"/>
          </a:solidFill>
          <a:ln w="12700">
            <a:solidFill>
              <a:srgbClr val="002D6A"/>
            </a:solidFill>
            <a:prstDash val="solid"/>
          </a:ln>
        </p:spPr>
        <p:txBody>
          <a:bodyPr/>
          <a:lstStyle/>
          <a:p>
            <a:endParaRPr lang="en-GB"/>
          </a:p>
        </p:txBody>
      </p:sp>
      <p:sp>
        <p:nvSpPr>
          <p:cNvPr id="14" name="@5 addText"/>
          <p:cNvSpPr txBox="1"/>
          <p:nvPr/>
        </p:nvSpPr>
        <p:spPr>
          <a:xfrm>
            <a:off x="731520" y="3822192"/>
            <a:ext cx="7955280" cy="612648"/>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functions that call functions, and building a string</a:t>
            </a:r>
            <a:endParaRPr lang="en-US" sz="1800" dirty="0"/>
          </a:p>
        </p:txBody>
      </p:sp>
      <p:sp>
        <p:nvSpPr>
          <p:cNvPr id="1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2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Think, Then Share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REFLECT</a:t>
            </a:r>
            <a:endParaRPr lang="en-US" sz="2200" dirty="0"/>
          </a:p>
        </p:txBody>
      </p:sp>
      <p:sp>
        <p:nvSpPr>
          <p:cNvPr id="4" name="Text 2"/>
          <p:cNvSpPr txBox="1"/>
          <p:nvPr/>
        </p:nvSpPr>
        <p:spPr>
          <a:xfrm>
            <a:off x="548640" y="2743200"/>
            <a:ext cx="6766560" cy="109728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Adding up 37 photos by hand, or with Python: how long would each take? Which task was hardest? Why?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6649</Words>
  <Application>Microsoft Macintosh PowerPoint</Application>
  <PresentationFormat>On-screen Show (16:9)</PresentationFormat>
  <Paragraphs>610</Paragraphs>
  <Slides>65</Slides>
  <Notes>65</Notes>
  <HiddenSlides>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Courier New</vt:lpstr>
      <vt:lpstr>Office Theme</vt:lpstr>
      <vt:lpstr>5-A-DAY: Knowledge Recall</vt:lpstr>
      <vt:lpstr>What Do You See?</vt:lpstr>
      <vt:lpstr>You See a Cow. Python Sees...</vt:lpstr>
      <vt:lpstr>Predict: What Numbers?</vt:lpstr>
      <vt:lpstr>Image Analysis</vt:lpstr>
      <vt:lpstr>Explore a Picture</vt:lpstr>
      <vt:lpstr>Nobody Writes It All</vt:lpstr>
      <vt:lpstr>A Library for Pictures</vt:lpstr>
      <vt:lpstr>Open It, Check It</vt:lpstr>
      <vt:lpstr>A Picture Is a Grid of Numbers</vt:lpstr>
      <vt:lpstr>Rows and Columns</vt:lpstr>
      <vt:lpstr>Crop: a Block of Pixels</vt:lpstr>
      <vt:lpstr>Look Inside a Picture</vt:lpstr>
      <vt:lpstr>Task 1: Check</vt:lpstr>
      <vt:lpstr>Task 2: Check</vt:lpstr>
      <vt:lpstr>Solutions: Tasks 2 and 3</vt:lpstr>
      <vt:lpstr>Every Pixel: 3 Numbers</vt:lpstr>
      <vt:lpstr>A 4 x 4 Crop in Numbers</vt:lpstr>
      <vt:lpstr>Paper: the 4 x 4 Patch</vt:lpstr>
      <vt:lpstr>Take One Pixel: (113, 73, 63)</vt:lpstr>
      <vt:lpstr>Split Into Three Pictures</vt:lpstr>
      <vt:lpstr>Switch Red Off</vt:lpstr>
      <vt:lpstr>Colours and Channels</vt:lpstr>
      <vt:lpstr>Task 4: All Three Channels</vt:lpstr>
      <vt:lpstr>Task 5: Check Your Pictures</vt:lpstr>
      <vt:lpstr>Solutions: Colour and Channels</vt:lpstr>
      <vt:lpstr>Grey and Negative</vt:lpstr>
      <vt:lpstr>Maths on the Whole Picture</vt:lpstr>
      <vt:lpstr>A Different Question</vt:lpstr>
      <vt:lpstr>Our Photo, in 16 Buckets</vt:lpstr>
      <vt:lpstr>Grey, Count, Histogram</vt:lpstr>
      <vt:lpstr>Task 6: Check</vt:lpstr>
      <vt:lpstr>Task 7: Check</vt:lpstr>
      <vt:lpstr>Task 8: Red, Green and Blue</vt:lpstr>
      <vt:lpstr>Solutions: Tasks 7 and 8</vt:lpstr>
      <vt:lpstr>Go Backwards: ::-1</vt:lpstr>
      <vt:lpstr>Finished Part 1?</vt:lpstr>
      <vt:lpstr>Messages Hidden in Pictures</vt:lpstr>
      <vt:lpstr>People Really Do This</vt:lpstr>
      <vt:lpstr>How Researchers Find Them</vt:lpstr>
      <vt:lpstr>You Are the Analyst</vt:lpstr>
      <vt:lpstr>The Puzzle</vt:lpstr>
      <vt:lpstr>The Rule</vt:lpstr>
      <vt:lpstr>Adding Them All Up</vt:lpstr>
      <vt:lpstr>% and Letters</vt:lpstr>
      <vt:lpstr>Be the Computer</vt:lpstr>
      <vt:lpstr>Oh no.</vt:lpstr>
      <vt:lpstr>Careful: Two Different Photos</vt:lpstr>
      <vt:lpstr>Let the Computer Do It</vt:lpstr>
      <vt:lpstr>Open image_starter.py</vt:lpstr>
      <vt:lpstr>STEP 2: total_red</vt:lpstr>
      <vt:lpstr>STEP 3: letter_for</vt:lpstr>
      <vt:lpstr>STEP 4: decode_message</vt:lpstr>
      <vt:lpstr>A Function We Give You</vt:lpstr>
      <vt:lpstr>Building a String: +=</vt:lpstr>
      <vt:lpstr>Building a String in a Loop</vt:lpstr>
      <vt:lpstr>STEP 4: decode_message</vt:lpstr>
      <vt:lpstr>Solve the Puzzle</vt:lpstr>
      <vt:lpstr>STEP 2: total_red (solution)</vt:lpstr>
      <vt:lpstr>STEP 3: letter_for (solution)</vt:lpstr>
      <vt:lpstr>STEP 4: decode_message (solution)</vt:lpstr>
      <vt:lpstr>Stuck? Use the Booklet</vt:lpstr>
      <vt:lpstr>Stretch</vt:lpstr>
      <vt:lpstr>What You Learned Today</vt:lpstr>
      <vt:lpstr>Think, Then Share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Analysis Challenge</dc:title>
  <dc:subject>PptxGenJS Presentation</dc:subject>
  <dc:creator>Dr. Hughes</dc:creator>
  <cp:lastModifiedBy>AXH</cp:lastModifiedBy>
  <cp:revision>6</cp:revision>
  <dcterms:created xsi:type="dcterms:W3CDTF">2026-10-15T16:28:59Z</dcterms:created>
  <dcterms:modified xsi:type="dcterms:W3CDTF">2026-10-26T21:28:32Z</dcterms:modified>
</cp:coreProperties>
</file>