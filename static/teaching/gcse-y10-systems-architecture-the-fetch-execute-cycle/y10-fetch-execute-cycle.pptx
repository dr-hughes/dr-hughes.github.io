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esson 1" id="{283646A1-D8F2-C3AB-1688-C948EC6AE6FD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Key Terms 1" id="{8B1E5D77-3FCE-537D-423C-3F4E3294387E}">
          <p14:sldIdLst>
            <p14:sldId id="272"/>
          </p14:sldIdLst>
        </p14:section>
        <p14:section name="Lesson 2" id="{3E5FA140-7C40-67F3-EB93-D648CF69FF4E}">
          <p14:sldIdLst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</p14:sldIdLst>
        </p14:section>
        <p14:section name="Key Terms 2" id="{376A898B-E110-7964-DF36-A1E9DD1126C5}">
          <p14:sldIdLst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81" d="100"/>
          <a:sy n="181" d="100"/>
        </p:scale>
        <p:origin x="184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60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01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234440"/>
            <a:ext cx="65836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Y10 Computer Science  |  Fetch-Execute Cycle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NSW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Y10 Computer Science  |  Fetch-Execute Cycle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2344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Fetch-Execute Cycle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400" dirty="0">
                <a:solidFill>
                  <a:srgbClr val="A9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J277  1.1.1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C5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Systems architecture </a:t>
            </a:r>
            <a:r>
              <a:rPr lang="en-US" dirty="0">
                <a:solidFill>
                  <a:srgbClr val="C5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r>
              <a:rPr lang="en-US" sz="1800" dirty="0">
                <a:solidFill>
                  <a:srgbClr val="C5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1 of 6.</a:t>
            </a:r>
            <a:endParaRPr lang="en-US" sz="1800" dirty="0"/>
          </a:p>
        </p:txBody>
      </p:sp>
      <p:sp>
        <p:nvSpPr>
          <p:cNvPr id="5" name="CPU icon circle"/>
          <p:cNvSpPr/>
          <p:nvPr/>
        </p:nvSpPr>
        <p:spPr>
          <a:xfrm>
            <a:off x="7680960" y="457200"/>
            <a:ext cx="822960" cy="822960"/>
          </a:xfrm>
          <a:prstGeom prst="ellipse">
            <a:avLst/>
          </a:prstGeom>
          <a:solidFill>
            <a:srgbClr val="5D79A0"/>
          </a:solidFill>
          <a:ln w="12700">
            <a:solidFill>
              <a:srgbClr val="5D79A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6" name="Image 0" descr="CPU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3159" y="679399"/>
            <a:ext cx="378562" cy="37856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 objectives</a:t>
            </a:r>
            <a:endParaRPr lang="en-US" sz="3000" dirty="0"/>
          </a:p>
        </p:txBody>
      </p:sp>
      <p:sp>
        <p:nvSpPr>
          <p:cNvPr id="3" name="LESSON 1 pill"/>
          <p:cNvSpPr/>
          <p:nvPr/>
        </p:nvSpPr>
        <p:spPr>
          <a:xfrm>
            <a:off x="7205472" y="411480"/>
            <a:ext cx="1481328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7205472" y="41148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</a:t>
            </a:r>
            <a:endParaRPr lang="en-US" sz="1200" dirty="0"/>
          </a:p>
        </p:txBody>
      </p:sp>
      <p:sp>
        <p:nvSpPr>
          <p:cNvPr id="5" name="Card"/>
          <p:cNvSpPr/>
          <p:nvPr/>
        </p:nvSpPr>
        <p:spPr>
          <a:xfrm>
            <a:off x="457200" y="1188720"/>
            <a:ext cx="822960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Number 1"/>
          <p:cNvSpPr/>
          <p:nvPr/>
        </p:nvSpPr>
        <p:spPr>
          <a:xfrm>
            <a:off x="640080" y="1371600"/>
            <a:ext cx="365760" cy="365760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 txBox="1"/>
          <p:nvPr/>
        </p:nvSpPr>
        <p:spPr>
          <a:xfrm>
            <a:off x="64008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1887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the purpose of the CPU.</a:t>
            </a:r>
            <a:endParaRPr lang="en-US" sz="1700" dirty="0"/>
          </a:p>
        </p:txBody>
      </p:sp>
      <p:sp>
        <p:nvSpPr>
          <p:cNvPr id="9" name="Card"/>
          <p:cNvSpPr/>
          <p:nvPr/>
        </p:nvSpPr>
        <p:spPr>
          <a:xfrm>
            <a:off x="457200" y="2057400"/>
            <a:ext cx="822960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Number 2"/>
          <p:cNvSpPr/>
          <p:nvPr/>
        </p:nvSpPr>
        <p:spPr>
          <a:xfrm>
            <a:off x="640080" y="2240280"/>
            <a:ext cx="365760" cy="365760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 txBox="1"/>
          <p:nvPr/>
        </p:nvSpPr>
        <p:spPr>
          <a:xfrm>
            <a:off x="64008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2057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what a program and an instruction are.</a:t>
            </a:r>
            <a:endParaRPr lang="en-US" sz="1700" dirty="0"/>
          </a:p>
        </p:txBody>
      </p:sp>
      <p:sp>
        <p:nvSpPr>
          <p:cNvPr id="13" name="Card"/>
          <p:cNvSpPr/>
          <p:nvPr/>
        </p:nvSpPr>
        <p:spPr>
          <a:xfrm>
            <a:off x="457200" y="2926080"/>
            <a:ext cx="822960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Number 3"/>
          <p:cNvSpPr/>
          <p:nvPr/>
        </p:nvSpPr>
        <p:spPr>
          <a:xfrm>
            <a:off x="640080" y="3108960"/>
            <a:ext cx="365760" cy="365760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 txBox="1"/>
          <p:nvPr/>
        </p:nvSpPr>
        <p:spPr>
          <a:xfrm>
            <a:off x="64008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2926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and describe the three stages of the fetch-execute cycle.</a:t>
            </a:r>
            <a:endParaRPr lang="en-US" sz="1700" dirty="0"/>
          </a:p>
        </p:txBody>
      </p:sp>
      <p:sp>
        <p:nvSpPr>
          <p:cNvPr id="17" name="Card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Number 4"/>
          <p:cNvSpPr/>
          <p:nvPr/>
        </p:nvSpPr>
        <p:spPr>
          <a:xfrm>
            <a:off x="640080" y="3977640"/>
            <a:ext cx="365760" cy="365760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 txBox="1"/>
          <p:nvPr/>
        </p:nvSpPr>
        <p:spPr>
          <a:xfrm>
            <a:off x="640080" y="3977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3794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 your workbook and make your first entry.</a:t>
            </a:r>
            <a:endParaRPr lang="en-US" sz="1700" dirty="0"/>
          </a:p>
        </p:txBody>
      </p:sp>
      <p:sp>
        <p:nvSpPr>
          <p:cNvPr id="2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back</a:t>
            </a:r>
            <a:endParaRPr lang="en-US" sz="3000" dirty="0"/>
          </a:p>
        </p:txBody>
      </p:sp>
      <p:sp>
        <p:nvSpPr>
          <p:cNvPr id="3" name="RECALL pill"/>
          <p:cNvSpPr/>
          <p:nvPr/>
        </p:nvSpPr>
        <p:spPr>
          <a:xfrm>
            <a:off x="7461504" y="411480"/>
            <a:ext cx="1225296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7461504" y="411480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1200" dirty="0"/>
          </a:p>
        </p:txBody>
      </p:sp>
      <p:sp>
        <p:nvSpPr>
          <p:cNvPr id="5" name="Card"/>
          <p:cNvSpPr/>
          <p:nvPr/>
        </p:nvSpPr>
        <p:spPr>
          <a:xfrm>
            <a:off x="457200" y="1097280"/>
            <a:ext cx="3749040" cy="1100328"/>
          </a:xfrm>
          <a:prstGeom prst="roundRect">
            <a:avLst>
              <a:gd name="adj" fmla="val 9972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 txBox="1"/>
          <p:nvPr/>
        </p:nvSpPr>
        <p:spPr>
          <a:xfrm>
            <a:off x="594360" y="1097280"/>
            <a:ext cx="352044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the three stages the CPU repeats?</a:t>
            </a:r>
            <a:endParaRPr lang="en-US" sz="1400" dirty="0"/>
          </a:p>
        </p:txBody>
      </p:sp>
      <p:sp>
        <p:nvSpPr>
          <p:cNvPr id="7" name="@1 Answer card"/>
          <p:cNvSpPr/>
          <p:nvPr/>
        </p:nvSpPr>
        <p:spPr>
          <a:xfrm>
            <a:off x="4343400" y="1097280"/>
            <a:ext cx="4343400" cy="1100328"/>
          </a:xfrm>
          <a:prstGeom prst="roundRect">
            <a:avLst>
              <a:gd name="adj" fmla="val 9972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@1 addText"/>
          <p:cNvSpPr txBox="1"/>
          <p:nvPr/>
        </p:nvSpPr>
        <p:spPr>
          <a:xfrm>
            <a:off x="4480560" y="1097280"/>
            <a:ext cx="411480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Fetch, decode, execute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457200" y="2307336"/>
            <a:ext cx="3749040" cy="1100328"/>
          </a:xfrm>
          <a:prstGeom prst="roundRect">
            <a:avLst>
              <a:gd name="adj" fmla="val 9972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594360" y="2307336"/>
            <a:ext cx="352044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are programs held while they are running?</a:t>
            </a:r>
            <a:endParaRPr lang="en-US" sz="1400" dirty="0"/>
          </a:p>
        </p:txBody>
      </p:sp>
      <p:sp>
        <p:nvSpPr>
          <p:cNvPr id="11" name="@2 Answer card"/>
          <p:cNvSpPr/>
          <p:nvPr/>
        </p:nvSpPr>
        <p:spPr>
          <a:xfrm>
            <a:off x="4343400" y="2307336"/>
            <a:ext cx="4343400" cy="1100328"/>
          </a:xfrm>
          <a:prstGeom prst="roundRect">
            <a:avLst>
              <a:gd name="adj" fmla="val 9972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@2 addText"/>
          <p:cNvSpPr txBox="1"/>
          <p:nvPr/>
        </p:nvSpPr>
        <p:spPr>
          <a:xfrm>
            <a:off x="4480560" y="2307336"/>
            <a:ext cx="411480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RAM (copied there from storage)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457200" y="3517392"/>
            <a:ext cx="3749040" cy="1100328"/>
          </a:xfrm>
          <a:prstGeom prst="roundRect">
            <a:avLst>
              <a:gd name="adj" fmla="val 9972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 txBox="1"/>
          <p:nvPr/>
        </p:nvSpPr>
        <p:spPr>
          <a:xfrm>
            <a:off x="594360" y="3517392"/>
            <a:ext cx="352044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 RAM needed as well as storage?</a:t>
            </a:r>
            <a:endParaRPr lang="en-US" sz="1400" dirty="0"/>
          </a:p>
        </p:txBody>
      </p:sp>
      <p:sp>
        <p:nvSpPr>
          <p:cNvPr id="15" name="@3 Answer card"/>
          <p:cNvSpPr/>
          <p:nvPr/>
        </p:nvSpPr>
        <p:spPr>
          <a:xfrm>
            <a:off x="4343400" y="3517392"/>
            <a:ext cx="4343400" cy="1100328"/>
          </a:xfrm>
          <a:prstGeom prst="roundRect">
            <a:avLst>
              <a:gd name="adj" fmla="val 9972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@3 addText"/>
          <p:cNvSpPr txBox="1"/>
          <p:nvPr/>
        </p:nvSpPr>
        <p:spPr>
          <a:xfrm>
            <a:off x="4480560" y="3517392"/>
            <a:ext cx="411480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 is much faster to access, so the CPU is not left waiting</a:t>
            </a:r>
            <a:endParaRPr lang="en-US" sz="130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1" grpId="0" animBg="1"/>
      <p:bldP spid="12" grpId="0" animBg="1"/>
      <p:bldP spid="15" grpId="0" animBg="1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words</a:t>
            </a:r>
            <a:endParaRPr lang="en-US" sz="3000" dirty="0"/>
          </a:p>
        </p:txBody>
      </p:sp>
      <p:sp>
        <p:nvSpPr>
          <p:cNvPr id="3" name="KEY WORDS pill"/>
          <p:cNvSpPr/>
          <p:nvPr/>
        </p:nvSpPr>
        <p:spPr>
          <a:xfrm>
            <a:off x="7077456" y="411480"/>
            <a:ext cx="1609344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7077456" y="41148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WORDS</a:t>
            </a:r>
            <a:endParaRPr lang="en-US" sz="1200" dirty="0"/>
          </a:p>
        </p:txBody>
      </p:sp>
      <p:sp>
        <p:nvSpPr>
          <p:cNvPr id="5" name="@1 Term"/>
          <p:cNvSpPr/>
          <p:nvPr/>
        </p:nvSpPr>
        <p:spPr>
          <a:xfrm>
            <a:off x="457200" y="1097280"/>
            <a:ext cx="2011680" cy="630936"/>
          </a:xfrm>
          <a:prstGeom prst="roundRect">
            <a:avLst>
              <a:gd name="adj" fmla="val 17391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@1 addText"/>
          <p:cNvSpPr txBox="1"/>
          <p:nvPr/>
        </p:nvSpPr>
        <p:spPr>
          <a:xfrm>
            <a:off x="548640" y="1097280"/>
            <a:ext cx="18288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</a:t>
            </a:r>
            <a:endParaRPr lang="en-US" sz="1500" dirty="0"/>
          </a:p>
        </p:txBody>
      </p:sp>
      <p:sp>
        <p:nvSpPr>
          <p:cNvPr id="7" name="@1 Definition"/>
          <p:cNvSpPr/>
          <p:nvPr/>
        </p:nvSpPr>
        <p:spPr>
          <a:xfrm>
            <a:off x="2560320" y="1097280"/>
            <a:ext cx="6126480" cy="630936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@1 addText"/>
          <p:cNvSpPr txBox="1"/>
          <p:nvPr/>
        </p:nvSpPr>
        <p:spPr>
          <a:xfrm>
            <a:off x="2697480" y="1097280"/>
            <a:ext cx="58521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Processing Unit. Processes data and runs instructions.</a:t>
            </a:r>
            <a:endParaRPr lang="en-US" sz="1400" dirty="0"/>
          </a:p>
        </p:txBody>
      </p:sp>
      <p:sp>
        <p:nvSpPr>
          <p:cNvPr id="9" name="@2 Term"/>
          <p:cNvSpPr/>
          <p:nvPr/>
        </p:nvSpPr>
        <p:spPr>
          <a:xfrm>
            <a:off x="457200" y="1819656"/>
            <a:ext cx="2011680" cy="630936"/>
          </a:xfrm>
          <a:prstGeom prst="roundRect">
            <a:avLst>
              <a:gd name="adj" fmla="val 17391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@2 addText"/>
          <p:cNvSpPr txBox="1"/>
          <p:nvPr/>
        </p:nvSpPr>
        <p:spPr>
          <a:xfrm>
            <a:off x="548640" y="1819656"/>
            <a:ext cx="18288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</a:t>
            </a:r>
            <a:endParaRPr lang="en-US" sz="1500" dirty="0"/>
          </a:p>
        </p:txBody>
      </p:sp>
      <p:sp>
        <p:nvSpPr>
          <p:cNvPr id="11" name="@2 Definition"/>
          <p:cNvSpPr/>
          <p:nvPr/>
        </p:nvSpPr>
        <p:spPr>
          <a:xfrm>
            <a:off x="2560320" y="1819656"/>
            <a:ext cx="6126480" cy="630936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@2 addText"/>
          <p:cNvSpPr txBox="1"/>
          <p:nvPr/>
        </p:nvSpPr>
        <p:spPr>
          <a:xfrm>
            <a:off x="2697480" y="1819656"/>
            <a:ext cx="58521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small step the CPU can carry out, such as add two numbers.</a:t>
            </a:r>
            <a:endParaRPr lang="en-US" sz="1400" dirty="0"/>
          </a:p>
        </p:txBody>
      </p:sp>
      <p:sp>
        <p:nvSpPr>
          <p:cNvPr id="13" name="@3 Term"/>
          <p:cNvSpPr/>
          <p:nvPr/>
        </p:nvSpPr>
        <p:spPr>
          <a:xfrm>
            <a:off x="457200" y="2542032"/>
            <a:ext cx="2011680" cy="630936"/>
          </a:xfrm>
          <a:prstGeom prst="roundRect">
            <a:avLst>
              <a:gd name="adj" fmla="val 17391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@3 addText"/>
          <p:cNvSpPr txBox="1"/>
          <p:nvPr/>
        </p:nvSpPr>
        <p:spPr>
          <a:xfrm>
            <a:off x="548640" y="2542032"/>
            <a:ext cx="18288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</a:t>
            </a:r>
            <a:endParaRPr lang="en-US" sz="1500" dirty="0"/>
          </a:p>
        </p:txBody>
      </p:sp>
      <p:sp>
        <p:nvSpPr>
          <p:cNvPr id="15" name="@3 Definition"/>
          <p:cNvSpPr/>
          <p:nvPr/>
        </p:nvSpPr>
        <p:spPr>
          <a:xfrm>
            <a:off x="2560320" y="2542032"/>
            <a:ext cx="6126480" cy="630936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@3 addText"/>
          <p:cNvSpPr txBox="1"/>
          <p:nvPr/>
        </p:nvSpPr>
        <p:spPr>
          <a:xfrm>
            <a:off x="2697480" y="2542032"/>
            <a:ext cx="58521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list of instructions, held in memory in order.</a:t>
            </a:r>
            <a:endParaRPr lang="en-US" sz="1400" dirty="0"/>
          </a:p>
        </p:txBody>
      </p:sp>
      <p:sp>
        <p:nvSpPr>
          <p:cNvPr id="17" name="@4 Term"/>
          <p:cNvSpPr/>
          <p:nvPr/>
        </p:nvSpPr>
        <p:spPr>
          <a:xfrm>
            <a:off x="457200" y="3264408"/>
            <a:ext cx="2011680" cy="630936"/>
          </a:xfrm>
          <a:prstGeom prst="roundRect">
            <a:avLst>
              <a:gd name="adj" fmla="val 17391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@4 addText"/>
          <p:cNvSpPr txBox="1"/>
          <p:nvPr/>
        </p:nvSpPr>
        <p:spPr>
          <a:xfrm>
            <a:off x="548640" y="3264408"/>
            <a:ext cx="18288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</a:t>
            </a:r>
            <a:endParaRPr lang="en-US" sz="1500" dirty="0"/>
          </a:p>
        </p:txBody>
      </p:sp>
      <p:sp>
        <p:nvSpPr>
          <p:cNvPr id="19" name="@4 Definition"/>
          <p:cNvSpPr/>
          <p:nvPr/>
        </p:nvSpPr>
        <p:spPr>
          <a:xfrm>
            <a:off x="2560320" y="3264408"/>
            <a:ext cx="6126480" cy="630936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@4 addText"/>
          <p:cNvSpPr txBox="1"/>
          <p:nvPr/>
        </p:nvSpPr>
        <p:spPr>
          <a:xfrm>
            <a:off x="2697480" y="3264408"/>
            <a:ext cx="58521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number that says where an item is held in memory.</a:t>
            </a:r>
            <a:endParaRPr lang="en-US" sz="1400" dirty="0"/>
          </a:p>
        </p:txBody>
      </p:sp>
      <p:sp>
        <p:nvSpPr>
          <p:cNvPr id="21" name="@5 Term"/>
          <p:cNvSpPr/>
          <p:nvPr/>
        </p:nvSpPr>
        <p:spPr>
          <a:xfrm>
            <a:off x="457200" y="3986784"/>
            <a:ext cx="2011680" cy="630936"/>
          </a:xfrm>
          <a:prstGeom prst="roundRect">
            <a:avLst>
              <a:gd name="adj" fmla="val 17391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@5 addText"/>
          <p:cNvSpPr txBox="1"/>
          <p:nvPr/>
        </p:nvSpPr>
        <p:spPr>
          <a:xfrm>
            <a:off x="548640" y="3986784"/>
            <a:ext cx="18288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Fetch-execute cycle</a:t>
            </a:r>
            <a:endParaRPr lang="en-US" sz="1500" dirty="0"/>
          </a:p>
        </p:txBody>
      </p:sp>
      <p:sp>
        <p:nvSpPr>
          <p:cNvPr id="23" name="@5 Definition"/>
          <p:cNvSpPr/>
          <p:nvPr/>
        </p:nvSpPr>
        <p:spPr>
          <a:xfrm>
            <a:off x="2560320" y="3986784"/>
            <a:ext cx="6126480" cy="630936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@5 addText"/>
          <p:cNvSpPr txBox="1"/>
          <p:nvPr/>
        </p:nvSpPr>
        <p:spPr>
          <a:xfrm>
            <a:off x="2697480" y="3986784"/>
            <a:ext cx="58521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repeating process the CPU uses to run each instruction.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purpose of the CPU</a:t>
            </a:r>
            <a:endParaRPr lang="en-US" sz="3000" dirty="0"/>
          </a:p>
        </p:txBody>
      </p:sp>
      <p:sp>
        <p:nvSpPr>
          <p:cNvPr id="3" name="1.1.1 pill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1.1.1</a:t>
            </a:r>
            <a:endParaRPr lang="en-US" sz="1200" dirty="0"/>
          </a:p>
        </p:txBody>
      </p:sp>
      <p:sp>
        <p:nvSpPr>
          <p:cNvPr id="5" name="@1 Term"/>
          <p:cNvSpPr/>
          <p:nvPr/>
        </p:nvSpPr>
        <p:spPr>
          <a:xfrm>
            <a:off x="457200" y="1097280"/>
            <a:ext cx="2377440" cy="617220"/>
          </a:xfrm>
          <a:prstGeom prst="roundRect">
            <a:avLst>
              <a:gd name="adj" fmla="val 17778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@1 addText"/>
          <p:cNvSpPr txBox="1"/>
          <p:nvPr/>
        </p:nvSpPr>
        <p:spPr>
          <a:xfrm>
            <a:off x="548640" y="1097280"/>
            <a:ext cx="219456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programs</a:t>
            </a:r>
            <a:endParaRPr lang="en-US" sz="1500" dirty="0"/>
          </a:p>
        </p:txBody>
      </p:sp>
      <p:sp>
        <p:nvSpPr>
          <p:cNvPr id="7" name="@1 Definition"/>
          <p:cNvSpPr/>
          <p:nvPr/>
        </p:nvSpPr>
        <p:spPr>
          <a:xfrm>
            <a:off x="2926080" y="1097280"/>
            <a:ext cx="5760720" cy="61722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@1 addText"/>
          <p:cNvSpPr txBox="1"/>
          <p:nvPr/>
        </p:nvSpPr>
        <p:spPr>
          <a:xfrm>
            <a:off x="3063240" y="1097280"/>
            <a:ext cx="548640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carries out the instructions of a program, one after another.</a:t>
            </a:r>
            <a:endParaRPr lang="en-US" sz="1400" dirty="0"/>
          </a:p>
        </p:txBody>
      </p:sp>
      <p:sp>
        <p:nvSpPr>
          <p:cNvPr id="9" name="@2 Term"/>
          <p:cNvSpPr/>
          <p:nvPr/>
        </p:nvSpPr>
        <p:spPr>
          <a:xfrm>
            <a:off x="457200" y="1805940"/>
            <a:ext cx="2377440" cy="617220"/>
          </a:xfrm>
          <a:prstGeom prst="roundRect">
            <a:avLst>
              <a:gd name="adj" fmla="val 17778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@2 addText"/>
          <p:cNvSpPr txBox="1"/>
          <p:nvPr/>
        </p:nvSpPr>
        <p:spPr>
          <a:xfrm>
            <a:off x="548640" y="1805940"/>
            <a:ext cx="219456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Processes data</a:t>
            </a:r>
            <a:endParaRPr lang="en-US" sz="1500" dirty="0"/>
          </a:p>
        </p:txBody>
      </p:sp>
      <p:sp>
        <p:nvSpPr>
          <p:cNvPr id="11" name="@2 Definition"/>
          <p:cNvSpPr/>
          <p:nvPr/>
        </p:nvSpPr>
        <p:spPr>
          <a:xfrm>
            <a:off x="2926080" y="1805940"/>
            <a:ext cx="5760720" cy="61722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@2 addText"/>
          <p:cNvSpPr txBox="1"/>
          <p:nvPr/>
        </p:nvSpPr>
        <p:spPr>
          <a:xfrm>
            <a:off x="3063240" y="1805940"/>
            <a:ext cx="548640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does the calculations and makes the decisions.</a:t>
            </a:r>
            <a:endParaRPr lang="en-US" sz="1400" dirty="0"/>
          </a:p>
        </p:txBody>
      </p:sp>
      <p:sp>
        <p:nvSpPr>
          <p:cNvPr id="13" name="@3 Term"/>
          <p:cNvSpPr/>
          <p:nvPr/>
        </p:nvSpPr>
        <p:spPr>
          <a:xfrm>
            <a:off x="457200" y="2514600"/>
            <a:ext cx="2377440" cy="617220"/>
          </a:xfrm>
          <a:prstGeom prst="roundRect">
            <a:avLst>
              <a:gd name="adj" fmla="val 17778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@3 addText"/>
          <p:cNvSpPr txBox="1"/>
          <p:nvPr/>
        </p:nvSpPr>
        <p:spPr>
          <a:xfrm>
            <a:off x="548640" y="2514600"/>
            <a:ext cx="219456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 the computer</a:t>
            </a:r>
            <a:endParaRPr lang="en-US" sz="1500" dirty="0"/>
          </a:p>
        </p:txBody>
      </p:sp>
      <p:sp>
        <p:nvSpPr>
          <p:cNvPr id="15" name="@3 Definition"/>
          <p:cNvSpPr/>
          <p:nvPr/>
        </p:nvSpPr>
        <p:spPr>
          <a:xfrm>
            <a:off x="2926080" y="2514600"/>
            <a:ext cx="5760720" cy="61722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@3 addText"/>
          <p:cNvSpPr txBox="1"/>
          <p:nvPr/>
        </p:nvSpPr>
        <p:spPr>
          <a:xfrm>
            <a:off x="3063240" y="2514600"/>
            <a:ext cx="548640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coordinates the other parts so they work together.</a:t>
            </a:r>
            <a:endParaRPr lang="en-US" sz="1400" dirty="0"/>
          </a:p>
        </p:txBody>
      </p:sp>
      <p:sp>
        <p:nvSpPr>
          <p:cNvPr id="17" name="@4 Term"/>
          <p:cNvSpPr/>
          <p:nvPr/>
        </p:nvSpPr>
        <p:spPr>
          <a:xfrm>
            <a:off x="457200" y="3223260"/>
            <a:ext cx="2377440" cy="617220"/>
          </a:xfrm>
          <a:prstGeom prst="roundRect">
            <a:avLst>
              <a:gd name="adj" fmla="val 17778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@4 addText"/>
          <p:cNvSpPr txBox="1"/>
          <p:nvPr/>
        </p:nvSpPr>
        <p:spPr>
          <a:xfrm>
            <a:off x="548640" y="3223260"/>
            <a:ext cx="219456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very fast</a:t>
            </a:r>
            <a:endParaRPr lang="en-US" sz="1500" dirty="0"/>
          </a:p>
        </p:txBody>
      </p:sp>
      <p:sp>
        <p:nvSpPr>
          <p:cNvPr id="19" name="@4 Definition"/>
          <p:cNvSpPr/>
          <p:nvPr/>
        </p:nvSpPr>
        <p:spPr>
          <a:xfrm>
            <a:off x="2926080" y="3223260"/>
            <a:ext cx="5760720" cy="61722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@4 addText"/>
          <p:cNvSpPr txBox="1"/>
          <p:nvPr/>
        </p:nvSpPr>
        <p:spPr>
          <a:xfrm>
            <a:off x="3063240" y="3223260"/>
            <a:ext cx="548640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Billions of instructions every second.</a:t>
            </a:r>
            <a:endParaRPr lang="en-US" sz="1400" dirty="0"/>
          </a:p>
        </p:txBody>
      </p:sp>
      <p:sp>
        <p:nvSpPr>
          <p:cNvPr id="21" name="@5 Callout"/>
          <p:cNvSpPr/>
          <p:nvPr/>
        </p:nvSpPr>
        <p:spPr>
          <a:xfrm>
            <a:off x="457200" y="393192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@5 addText"/>
          <p:cNvSpPr txBox="1"/>
          <p:nvPr/>
        </p:nvSpPr>
        <p:spPr>
          <a:xfrm>
            <a:off x="685800" y="39319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OUT  </a:t>
            </a: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CPU is not where files are kept. That is storage.</a:t>
            </a:r>
            <a:endParaRPr lang="en-US" sz="1200" dirty="0"/>
          </a:p>
        </p:txBody>
      </p:sp>
      <p:sp>
        <p:nvSpPr>
          <p:cNvPr id="2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Programs live in memory</a:t>
            </a:r>
            <a:endParaRPr lang="en-US" sz="3000" dirty="0"/>
          </a:p>
        </p:txBody>
      </p:sp>
      <p:sp>
        <p:nvSpPr>
          <p:cNvPr id="3" name="INSTRUCTIONS pill"/>
          <p:cNvSpPr/>
          <p:nvPr/>
        </p:nvSpPr>
        <p:spPr>
          <a:xfrm>
            <a:off x="6693408" y="411480"/>
            <a:ext cx="1993392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6693408" y="41148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INSTRUCTIONS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20472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Address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Contents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Instruction or data?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Get the number from address 20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Instruction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 the number from address 21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Instruction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Save the answer in address 22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Instruction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Stop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Instruction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Callout"/>
          <p:cNvSpPr/>
          <p:nvPr/>
        </p:nvSpPr>
        <p:spPr>
          <a:xfrm>
            <a:off x="457200" y="397764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5D79A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 txBox="1"/>
          <p:nvPr/>
        </p:nvSpPr>
        <p:spPr>
          <a:xfrm>
            <a:off x="685800" y="3977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D7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 </a:t>
            </a: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item in memory has an address, like a house number.</a:t>
            </a:r>
            <a:endParaRPr lang="en-US" sz="12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fetch-execute cycle</a:t>
            </a:r>
            <a:endParaRPr lang="en-US" sz="3000" dirty="0"/>
          </a:p>
        </p:txBody>
      </p:sp>
      <p:sp>
        <p:nvSpPr>
          <p:cNvPr id="3" name="DIAGRAM pill"/>
          <p:cNvSpPr/>
          <p:nvPr/>
        </p:nvSpPr>
        <p:spPr>
          <a:xfrm>
            <a:off x="7333488" y="411480"/>
            <a:ext cx="1353312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7333488" y="411480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</a:t>
            </a:r>
            <a:endParaRPr lang="en-US" sz="1200" dirty="0"/>
          </a:p>
        </p:txBody>
      </p:sp>
      <p:sp>
        <p:nvSpPr>
          <p:cNvPr id="5" name="@1 RAM"/>
          <p:cNvSpPr/>
          <p:nvPr/>
        </p:nvSpPr>
        <p:spPr>
          <a:xfrm>
            <a:off x="457200" y="1188720"/>
            <a:ext cx="2194560" cy="640080"/>
          </a:xfrm>
          <a:prstGeom prst="roundRect">
            <a:avLst>
              <a:gd name="adj" fmla="val 17143"/>
            </a:avLst>
          </a:prstGeom>
          <a:solidFill>
            <a:srgbClr val="EEF2F7"/>
          </a:solidFill>
          <a:ln w="1905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@1 addText"/>
          <p:cNvSpPr txBox="1"/>
          <p:nvPr/>
        </p:nvSpPr>
        <p:spPr>
          <a:xfrm>
            <a:off x="457200" y="11887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</a:t>
            </a:r>
            <a:endParaRPr lang="en-US" sz="1400" dirty="0"/>
          </a:p>
        </p:txBody>
      </p:sp>
      <p:sp>
        <p:nvSpPr>
          <p:cNvPr id="7" name="@1 RAM to fetch"/>
          <p:cNvSpPr/>
          <p:nvPr/>
        </p:nvSpPr>
        <p:spPr>
          <a:xfrm>
            <a:off x="1554480" y="1828800"/>
            <a:ext cx="0" cy="502920"/>
          </a:xfrm>
          <a:prstGeom prst="line">
            <a:avLst/>
          </a:prstGeom>
          <a:noFill/>
          <a:ln w="38100">
            <a:solidFill>
              <a:srgbClr val="002D6A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8" name="@1 addText"/>
          <p:cNvSpPr txBox="1"/>
          <p:nvPr/>
        </p:nvSpPr>
        <p:spPr>
          <a:xfrm>
            <a:off x="1691640" y="1874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</a:t>
            </a:r>
            <a:endParaRPr lang="en-US" sz="1200" dirty="0"/>
          </a:p>
        </p:txBody>
      </p:sp>
      <p:sp>
        <p:nvSpPr>
          <p:cNvPr id="9" name="@1 FETCH"/>
          <p:cNvSpPr/>
          <p:nvPr/>
        </p:nvSpPr>
        <p:spPr>
          <a:xfrm>
            <a:off x="457200" y="2331720"/>
            <a:ext cx="2194560" cy="1005840"/>
          </a:xfrm>
          <a:prstGeom prst="roundRect">
            <a:avLst>
              <a:gd name="adj" fmla="val 10909"/>
            </a:avLst>
          </a:prstGeom>
          <a:solidFill>
            <a:srgbClr val="002D6A"/>
          </a:solidFill>
          <a:ln w="1905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@1 addText"/>
          <p:cNvSpPr txBox="1"/>
          <p:nvPr/>
        </p:nvSpPr>
        <p:spPr>
          <a:xfrm>
            <a:off x="457200" y="23317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the next instruction</a:t>
            </a:r>
            <a:endParaRPr lang="en-US" sz="1400" dirty="0"/>
          </a:p>
        </p:txBody>
      </p:sp>
      <p:sp>
        <p:nvSpPr>
          <p:cNvPr id="11" name="@2 to decode"/>
          <p:cNvSpPr/>
          <p:nvPr/>
        </p:nvSpPr>
        <p:spPr>
          <a:xfrm>
            <a:off x="2651760" y="2834640"/>
            <a:ext cx="822960" cy="0"/>
          </a:xfrm>
          <a:prstGeom prst="line">
            <a:avLst/>
          </a:prstGeom>
          <a:noFill/>
          <a:ln w="38100">
            <a:solidFill>
              <a:srgbClr val="002D6A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2" name="@2 DECODE"/>
          <p:cNvSpPr/>
          <p:nvPr/>
        </p:nvSpPr>
        <p:spPr>
          <a:xfrm>
            <a:off x="3474720" y="2331720"/>
            <a:ext cx="2194560" cy="1005840"/>
          </a:xfrm>
          <a:prstGeom prst="roundRect">
            <a:avLst>
              <a:gd name="adj" fmla="val 10909"/>
            </a:avLst>
          </a:prstGeom>
          <a:solidFill>
            <a:srgbClr val="002D6A"/>
          </a:solidFill>
          <a:ln w="1905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@2 addText"/>
          <p:cNvSpPr txBox="1"/>
          <p:nvPr/>
        </p:nvSpPr>
        <p:spPr>
          <a:xfrm>
            <a:off x="3474720" y="23317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out what it means</a:t>
            </a:r>
            <a:endParaRPr lang="en-US" sz="1400" dirty="0"/>
          </a:p>
        </p:txBody>
      </p:sp>
      <p:sp>
        <p:nvSpPr>
          <p:cNvPr id="14" name="@3 to execute"/>
          <p:cNvSpPr/>
          <p:nvPr/>
        </p:nvSpPr>
        <p:spPr>
          <a:xfrm>
            <a:off x="5669280" y="2834640"/>
            <a:ext cx="822960" cy="0"/>
          </a:xfrm>
          <a:prstGeom prst="line">
            <a:avLst/>
          </a:prstGeom>
          <a:noFill/>
          <a:ln w="38100">
            <a:solidFill>
              <a:srgbClr val="002D6A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5" name="@3 EXECUTE"/>
          <p:cNvSpPr/>
          <p:nvPr/>
        </p:nvSpPr>
        <p:spPr>
          <a:xfrm>
            <a:off x="6492240" y="2331720"/>
            <a:ext cx="2194560" cy="1005840"/>
          </a:xfrm>
          <a:prstGeom prst="roundRect">
            <a:avLst>
              <a:gd name="adj" fmla="val 10909"/>
            </a:avLst>
          </a:prstGeom>
          <a:solidFill>
            <a:srgbClr val="002D6A"/>
          </a:solidFill>
          <a:ln w="1905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@3 addText"/>
          <p:cNvSpPr txBox="1"/>
          <p:nvPr/>
        </p:nvSpPr>
        <p:spPr>
          <a:xfrm>
            <a:off x="6492240" y="23317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carry it out</a:t>
            </a:r>
            <a:endParaRPr lang="en-US" sz="1400" dirty="0"/>
          </a:p>
        </p:txBody>
      </p:sp>
      <p:sp>
        <p:nvSpPr>
          <p:cNvPr id="17" name="@4 loop down"/>
          <p:cNvSpPr/>
          <p:nvPr/>
        </p:nvSpPr>
        <p:spPr>
          <a:xfrm>
            <a:off x="7589520" y="3337560"/>
            <a:ext cx="0" cy="777240"/>
          </a:xfrm>
          <a:prstGeom prst="line">
            <a:avLst/>
          </a:prstGeom>
          <a:noFill/>
          <a:ln w="28575">
            <a:solidFill>
              <a:srgbClr val="5D79A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@4 loop across"/>
          <p:cNvSpPr/>
          <p:nvPr/>
        </p:nvSpPr>
        <p:spPr>
          <a:xfrm>
            <a:off x="1554480" y="4114800"/>
            <a:ext cx="6035040" cy="0"/>
          </a:xfrm>
          <a:prstGeom prst="line">
            <a:avLst/>
          </a:prstGeom>
          <a:noFill/>
          <a:ln w="28575">
            <a:solidFill>
              <a:srgbClr val="5D79A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@4 loop up"/>
          <p:cNvSpPr/>
          <p:nvPr/>
        </p:nvSpPr>
        <p:spPr>
          <a:xfrm flipV="1">
            <a:off x="1554480" y="3337560"/>
            <a:ext cx="0" cy="777240"/>
          </a:xfrm>
          <a:prstGeom prst="line">
            <a:avLst/>
          </a:prstGeom>
          <a:noFill/>
          <a:ln w="38100">
            <a:solidFill>
              <a:srgbClr val="5D79A0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0" name="@4 addText"/>
          <p:cNvSpPr txBox="1"/>
          <p:nvPr/>
        </p:nvSpPr>
        <p:spPr>
          <a:xfrm>
            <a:off x="3566160" y="4160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cycle repeats</a:t>
            </a:r>
            <a:endParaRPr lang="en-US" sz="1300" dirty="0"/>
          </a:p>
        </p:txBody>
      </p:sp>
      <p:sp>
        <p:nvSpPr>
          <p:cNvPr id="2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at each stage</a:t>
            </a:r>
            <a:endParaRPr lang="en-US" sz="3000" dirty="0"/>
          </a:p>
        </p:txBody>
      </p:sp>
      <p:sp>
        <p:nvSpPr>
          <p:cNvPr id="3" name="THE CYCLE pill"/>
          <p:cNvSpPr/>
          <p:nvPr/>
        </p:nvSpPr>
        <p:spPr>
          <a:xfrm>
            <a:off x="7077456" y="411480"/>
            <a:ext cx="1609344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7077456" y="41148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CYCLE</a:t>
            </a:r>
            <a:endParaRPr lang="en-US" sz="1200" dirty="0"/>
          </a:p>
        </p:txBody>
      </p:sp>
      <p:sp>
        <p:nvSpPr>
          <p:cNvPr id="5" name="@1 Step header"/>
          <p:cNvSpPr/>
          <p:nvPr/>
        </p:nvSpPr>
        <p:spPr>
          <a:xfrm>
            <a:off x="457200" y="1143000"/>
            <a:ext cx="2438400" cy="594360"/>
          </a:xfrm>
          <a:prstGeom prst="roundRect">
            <a:avLst>
              <a:gd name="adj" fmla="val 18462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@1 addText"/>
          <p:cNvSpPr txBox="1"/>
          <p:nvPr/>
        </p:nvSpPr>
        <p:spPr>
          <a:xfrm>
            <a:off x="457200" y="1143000"/>
            <a:ext cx="243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</a:t>
            </a:r>
            <a:endParaRPr lang="en-US" sz="2000" dirty="0"/>
          </a:p>
        </p:txBody>
      </p:sp>
      <p:sp>
        <p:nvSpPr>
          <p:cNvPr id="7" name="@1 Step body"/>
          <p:cNvSpPr/>
          <p:nvPr/>
        </p:nvSpPr>
        <p:spPr>
          <a:xfrm>
            <a:off x="457200" y="1828800"/>
            <a:ext cx="243840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@1 addText"/>
          <p:cNvSpPr txBox="1"/>
          <p:nvPr/>
        </p:nvSpPr>
        <p:spPr>
          <a:xfrm>
            <a:off x="566928" y="1901952"/>
            <a:ext cx="221894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Program Counter holds the address of the next instruction.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instruction is copied from memory (RAM) into the CPU.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Program Counter increments (goes up by 1).</a:t>
            </a:r>
            <a:endParaRPr lang="en-US" sz="1400" dirty="0"/>
          </a:p>
        </p:txBody>
      </p:sp>
      <p:sp>
        <p:nvSpPr>
          <p:cNvPr id="9" name="@2 Step header"/>
          <p:cNvSpPr/>
          <p:nvPr/>
        </p:nvSpPr>
        <p:spPr>
          <a:xfrm>
            <a:off x="3352800" y="1143000"/>
            <a:ext cx="2438400" cy="594360"/>
          </a:xfrm>
          <a:prstGeom prst="roundRect">
            <a:avLst>
              <a:gd name="adj" fmla="val 18462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@2 addText"/>
          <p:cNvSpPr txBox="1"/>
          <p:nvPr/>
        </p:nvSpPr>
        <p:spPr>
          <a:xfrm>
            <a:off x="3352800" y="1143000"/>
            <a:ext cx="243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</a:t>
            </a:r>
            <a:endParaRPr lang="en-US" sz="2000" dirty="0"/>
          </a:p>
        </p:txBody>
      </p:sp>
      <p:sp>
        <p:nvSpPr>
          <p:cNvPr id="11" name="@2 Step body"/>
          <p:cNvSpPr/>
          <p:nvPr/>
        </p:nvSpPr>
        <p:spPr>
          <a:xfrm>
            <a:off x="3352800" y="1828800"/>
            <a:ext cx="243840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@2 addText"/>
          <p:cNvSpPr txBox="1"/>
          <p:nvPr/>
        </p:nvSpPr>
        <p:spPr>
          <a:xfrm>
            <a:off x="3462528" y="1901952"/>
            <a:ext cx="221894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Control Unit works out what the instruction means.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then knows what to do and which data to use.</a:t>
            </a:r>
            <a:endParaRPr lang="en-US" sz="1400" dirty="0"/>
          </a:p>
        </p:txBody>
      </p:sp>
      <p:sp>
        <p:nvSpPr>
          <p:cNvPr id="13" name="@2 step arrow"/>
          <p:cNvSpPr/>
          <p:nvPr/>
        </p:nvSpPr>
        <p:spPr>
          <a:xfrm>
            <a:off x="2941320" y="1440180"/>
            <a:ext cx="365760" cy="0"/>
          </a:xfrm>
          <a:prstGeom prst="line">
            <a:avLst/>
          </a:prstGeom>
          <a:noFill/>
          <a:ln w="38100">
            <a:solidFill>
              <a:srgbClr val="5D79A0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4" name="@3 Step header"/>
          <p:cNvSpPr/>
          <p:nvPr/>
        </p:nvSpPr>
        <p:spPr>
          <a:xfrm>
            <a:off x="6248400" y="1143000"/>
            <a:ext cx="2438400" cy="594360"/>
          </a:xfrm>
          <a:prstGeom prst="roundRect">
            <a:avLst>
              <a:gd name="adj" fmla="val 18462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@3 addText"/>
          <p:cNvSpPr txBox="1"/>
          <p:nvPr/>
        </p:nvSpPr>
        <p:spPr>
          <a:xfrm>
            <a:off x="6248400" y="1143000"/>
            <a:ext cx="243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</a:t>
            </a:r>
            <a:endParaRPr lang="en-US" sz="2000" dirty="0"/>
          </a:p>
        </p:txBody>
      </p:sp>
      <p:sp>
        <p:nvSpPr>
          <p:cNvPr id="16" name="@3 Step body"/>
          <p:cNvSpPr/>
          <p:nvPr/>
        </p:nvSpPr>
        <p:spPr>
          <a:xfrm>
            <a:off x="6248400" y="1828800"/>
            <a:ext cx="243840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@3 addText"/>
          <p:cNvSpPr txBox="1"/>
          <p:nvPr/>
        </p:nvSpPr>
        <p:spPr>
          <a:xfrm>
            <a:off x="6358128" y="1901952"/>
            <a:ext cx="221894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instruction is carried out.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example the ALU does a calculation, or a result is stored.</a:t>
            </a:r>
            <a:endParaRPr lang="en-US" sz="1400" dirty="0"/>
          </a:p>
        </p:txBody>
      </p:sp>
      <p:sp>
        <p:nvSpPr>
          <p:cNvPr id="18" name="@3 step arrow"/>
          <p:cNvSpPr/>
          <p:nvPr/>
        </p:nvSpPr>
        <p:spPr>
          <a:xfrm>
            <a:off x="5836920" y="1440180"/>
            <a:ext cx="365760" cy="0"/>
          </a:xfrm>
          <a:prstGeom prst="line">
            <a:avLst/>
          </a:prstGeom>
          <a:noFill/>
          <a:ln w="38100">
            <a:solidFill>
              <a:srgbClr val="5D79A0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9" name="@4 Callout"/>
          <p:cNvSpPr/>
          <p:nvPr/>
        </p:nvSpPr>
        <p:spPr>
          <a:xfrm>
            <a:off x="457200" y="416052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5D79A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@4 addText"/>
          <p:cNvSpPr txBox="1"/>
          <p:nvPr/>
        </p:nvSpPr>
        <p:spPr>
          <a:xfrm>
            <a:off x="685800" y="41605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D7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 </a:t>
            </a: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the cycle repeats with the next instruction.</a:t>
            </a:r>
            <a:endParaRPr lang="en-US" sz="1200" dirty="0"/>
          </a:p>
        </p:txBody>
      </p:sp>
      <p:sp>
        <p:nvSpPr>
          <p:cNvPr id="2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understanding</a:t>
            </a:r>
            <a:endParaRPr lang="en-US" sz="3000" dirty="0"/>
          </a:p>
        </p:txBody>
      </p:sp>
      <p:sp>
        <p:nvSpPr>
          <p:cNvPr id="3" name="CHECK pill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</a:t>
            </a:r>
            <a:endParaRPr lang="en-US" sz="1200" dirty="0"/>
          </a:p>
        </p:txBody>
      </p:sp>
      <p:sp>
        <p:nvSpPr>
          <p:cNvPr id="5" name="Card"/>
          <p:cNvSpPr/>
          <p:nvPr/>
        </p:nvSpPr>
        <p:spPr>
          <a:xfrm>
            <a:off x="457200" y="1097280"/>
            <a:ext cx="3749040" cy="797814"/>
          </a:xfrm>
          <a:prstGeom prst="roundRect">
            <a:avLst>
              <a:gd name="adj" fmla="val 13754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 txBox="1"/>
          <p:nvPr/>
        </p:nvSpPr>
        <p:spPr>
          <a:xfrm>
            <a:off x="594360" y="1097280"/>
            <a:ext cx="352044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the three stages of the cycle in order.</a:t>
            </a:r>
            <a:endParaRPr lang="en-US" sz="1400" dirty="0"/>
          </a:p>
        </p:txBody>
      </p:sp>
      <p:sp>
        <p:nvSpPr>
          <p:cNvPr id="7" name="@1 Answer card"/>
          <p:cNvSpPr/>
          <p:nvPr/>
        </p:nvSpPr>
        <p:spPr>
          <a:xfrm>
            <a:off x="4343400" y="1097280"/>
            <a:ext cx="4343400" cy="797814"/>
          </a:xfrm>
          <a:prstGeom prst="roundRect">
            <a:avLst>
              <a:gd name="adj" fmla="val 13754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@1 addText"/>
          <p:cNvSpPr txBox="1"/>
          <p:nvPr/>
        </p:nvSpPr>
        <p:spPr>
          <a:xfrm>
            <a:off x="4480560" y="1097280"/>
            <a:ext cx="411480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Fetch, decode, execute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457200" y="2004822"/>
            <a:ext cx="3749040" cy="797814"/>
          </a:xfrm>
          <a:prstGeom prst="roundRect">
            <a:avLst>
              <a:gd name="adj" fmla="val 13754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594360" y="2004822"/>
            <a:ext cx="352044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the Program Counter hold?</a:t>
            </a:r>
            <a:endParaRPr lang="en-US" sz="1400" dirty="0"/>
          </a:p>
        </p:txBody>
      </p:sp>
      <p:sp>
        <p:nvSpPr>
          <p:cNvPr id="11" name="@2 Answer card"/>
          <p:cNvSpPr/>
          <p:nvPr/>
        </p:nvSpPr>
        <p:spPr>
          <a:xfrm>
            <a:off x="4343400" y="2004822"/>
            <a:ext cx="4343400" cy="797814"/>
          </a:xfrm>
          <a:prstGeom prst="roundRect">
            <a:avLst>
              <a:gd name="adj" fmla="val 13754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@2 addText"/>
          <p:cNvSpPr txBox="1"/>
          <p:nvPr/>
        </p:nvSpPr>
        <p:spPr>
          <a:xfrm>
            <a:off x="4480560" y="2004822"/>
            <a:ext cx="411480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address of the next instruction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457200" y="2912364"/>
            <a:ext cx="3749040" cy="797814"/>
          </a:xfrm>
          <a:prstGeom prst="roundRect">
            <a:avLst>
              <a:gd name="adj" fmla="val 13754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 txBox="1"/>
          <p:nvPr/>
        </p:nvSpPr>
        <p:spPr>
          <a:xfrm>
            <a:off x="594360" y="2912364"/>
            <a:ext cx="352044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is the instruction fetched from?</a:t>
            </a:r>
            <a:endParaRPr lang="en-US" sz="1400" dirty="0"/>
          </a:p>
        </p:txBody>
      </p:sp>
      <p:sp>
        <p:nvSpPr>
          <p:cNvPr id="15" name="@3 Answer card"/>
          <p:cNvSpPr/>
          <p:nvPr/>
        </p:nvSpPr>
        <p:spPr>
          <a:xfrm>
            <a:off x="4343400" y="2912364"/>
            <a:ext cx="4343400" cy="797814"/>
          </a:xfrm>
          <a:prstGeom prst="roundRect">
            <a:avLst>
              <a:gd name="adj" fmla="val 13754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@3 addText"/>
          <p:cNvSpPr txBox="1"/>
          <p:nvPr/>
        </p:nvSpPr>
        <p:spPr>
          <a:xfrm>
            <a:off x="4480560" y="2912364"/>
            <a:ext cx="411480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(RAM)</a:t>
            </a:r>
            <a:endParaRPr lang="en-US" sz="1300" dirty="0"/>
          </a:p>
        </p:txBody>
      </p:sp>
      <p:sp>
        <p:nvSpPr>
          <p:cNvPr id="17" name="Card"/>
          <p:cNvSpPr/>
          <p:nvPr/>
        </p:nvSpPr>
        <p:spPr>
          <a:xfrm>
            <a:off x="457200" y="3819906"/>
            <a:ext cx="3749040" cy="797814"/>
          </a:xfrm>
          <a:prstGeom prst="roundRect">
            <a:avLst>
              <a:gd name="adj" fmla="val 13754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 txBox="1"/>
          <p:nvPr/>
        </p:nvSpPr>
        <p:spPr>
          <a:xfrm>
            <a:off x="594360" y="3819906"/>
            <a:ext cx="352044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must the cycle repeat?</a:t>
            </a:r>
            <a:endParaRPr lang="en-US" sz="1400" dirty="0"/>
          </a:p>
        </p:txBody>
      </p:sp>
      <p:sp>
        <p:nvSpPr>
          <p:cNvPr id="19" name="@4 Answer card"/>
          <p:cNvSpPr/>
          <p:nvPr/>
        </p:nvSpPr>
        <p:spPr>
          <a:xfrm>
            <a:off x="4343400" y="3819906"/>
            <a:ext cx="4343400" cy="797814"/>
          </a:xfrm>
          <a:prstGeom prst="roundRect">
            <a:avLst>
              <a:gd name="adj" fmla="val 13754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@4 addText"/>
          <p:cNvSpPr txBox="1"/>
          <p:nvPr/>
        </p:nvSpPr>
        <p:spPr>
          <a:xfrm>
            <a:off x="4480560" y="3819906"/>
            <a:ext cx="411480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program has many instructions. Each pass runs only one.</a:t>
            </a:r>
            <a:endParaRPr lang="en-US" sz="1300" dirty="0"/>
          </a:p>
        </p:txBody>
      </p:sp>
      <p:sp>
        <p:nvSpPr>
          <p:cNvPr id="2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1" grpId="0" animBg="1"/>
      <p:bldP spid="12" grpId="0" animBg="1"/>
      <p:bldP spid="15" grpId="0" animBg="1"/>
      <p:bldP spid="16" grpId="0" animBg="1"/>
      <p:bldP spid="19" grpId="0" animBg="1"/>
      <p:bldP spid="2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Crack the Vault: your jobs</a:t>
            </a:r>
            <a:endParaRPr lang="en-US" sz="3000" dirty="0"/>
          </a:p>
        </p:txBody>
      </p:sp>
      <p:sp>
        <p:nvSpPr>
          <p:cNvPr id="3" name="3 VOLUNTEERS pill"/>
          <p:cNvSpPr/>
          <p:nvPr/>
        </p:nvSpPr>
        <p:spPr>
          <a:xfrm>
            <a:off x="6693408" y="411480"/>
            <a:ext cx="1993392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6693408" y="41148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VOLUNTEERS</a:t>
            </a:r>
            <a:endParaRPr lang="en-US" sz="1200" dirty="0"/>
          </a:p>
        </p:txBody>
      </p:sp>
      <p:sp>
        <p:nvSpPr>
          <p:cNvPr id="5" name="@1 Step header"/>
          <p:cNvSpPr/>
          <p:nvPr/>
        </p:nvSpPr>
        <p:spPr>
          <a:xfrm>
            <a:off x="457200" y="1143000"/>
            <a:ext cx="2438400" cy="594360"/>
          </a:xfrm>
          <a:prstGeom prst="roundRect">
            <a:avLst>
              <a:gd name="adj" fmla="val 18462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@1 addText"/>
          <p:cNvSpPr txBox="1"/>
          <p:nvPr/>
        </p:nvSpPr>
        <p:spPr>
          <a:xfrm>
            <a:off x="457200" y="1143000"/>
            <a:ext cx="243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FETCHER</a:t>
            </a:r>
            <a:endParaRPr lang="en-US" sz="2000" dirty="0"/>
          </a:p>
        </p:txBody>
      </p:sp>
      <p:sp>
        <p:nvSpPr>
          <p:cNvPr id="7" name="@1 Step body"/>
          <p:cNvSpPr/>
          <p:nvPr/>
        </p:nvSpPr>
        <p:spPr>
          <a:xfrm>
            <a:off x="457200" y="1828800"/>
            <a:ext cx="243840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@1 addText"/>
          <p:cNvSpPr txBox="1"/>
          <p:nvPr/>
        </p:nvSpPr>
        <p:spPr>
          <a:xfrm>
            <a:off x="566928" y="1901952"/>
            <a:ext cx="221894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FETCH.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the card with the same number as the Program Counter (PC).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1 to the PC.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the card to the Decoder.</a:t>
            </a:r>
            <a:endParaRPr lang="en-US" sz="1400" dirty="0"/>
          </a:p>
        </p:txBody>
      </p:sp>
      <p:sp>
        <p:nvSpPr>
          <p:cNvPr id="9" name="@2 Step header"/>
          <p:cNvSpPr/>
          <p:nvPr/>
        </p:nvSpPr>
        <p:spPr>
          <a:xfrm>
            <a:off x="3352800" y="1143000"/>
            <a:ext cx="2438400" cy="594360"/>
          </a:xfrm>
          <a:prstGeom prst="roundRect">
            <a:avLst>
              <a:gd name="adj" fmla="val 18462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@2 addText"/>
          <p:cNvSpPr txBox="1"/>
          <p:nvPr/>
        </p:nvSpPr>
        <p:spPr>
          <a:xfrm>
            <a:off x="3352800" y="1143000"/>
            <a:ext cx="243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2000" dirty="0"/>
          </a:p>
        </p:txBody>
      </p:sp>
      <p:sp>
        <p:nvSpPr>
          <p:cNvPr id="11" name="@2 Step body"/>
          <p:cNvSpPr/>
          <p:nvPr/>
        </p:nvSpPr>
        <p:spPr>
          <a:xfrm>
            <a:off x="3352800" y="1828800"/>
            <a:ext cx="243840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@2 addText"/>
          <p:cNvSpPr txBox="1"/>
          <p:nvPr/>
        </p:nvSpPr>
        <p:spPr>
          <a:xfrm>
            <a:off x="3462528" y="1901952"/>
            <a:ext cx="221894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DECODE.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out what the card says.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the Executor.</a:t>
            </a:r>
            <a:endParaRPr lang="en-US" sz="1400" dirty="0"/>
          </a:p>
        </p:txBody>
      </p:sp>
      <p:sp>
        <p:nvSpPr>
          <p:cNvPr id="13" name="@2 step arrow"/>
          <p:cNvSpPr/>
          <p:nvPr/>
        </p:nvSpPr>
        <p:spPr>
          <a:xfrm>
            <a:off x="2941320" y="1440180"/>
            <a:ext cx="365760" cy="0"/>
          </a:xfrm>
          <a:prstGeom prst="line">
            <a:avLst/>
          </a:prstGeom>
          <a:noFill/>
          <a:ln w="38100">
            <a:solidFill>
              <a:srgbClr val="5D79A0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4" name="@3 Step header"/>
          <p:cNvSpPr/>
          <p:nvPr/>
        </p:nvSpPr>
        <p:spPr>
          <a:xfrm>
            <a:off x="6248400" y="1143000"/>
            <a:ext cx="2438400" cy="594360"/>
          </a:xfrm>
          <a:prstGeom prst="roundRect">
            <a:avLst>
              <a:gd name="adj" fmla="val 18462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@3 addText"/>
          <p:cNvSpPr txBox="1"/>
          <p:nvPr/>
        </p:nvSpPr>
        <p:spPr>
          <a:xfrm>
            <a:off x="6248400" y="1143000"/>
            <a:ext cx="243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EXECUTOR</a:t>
            </a:r>
            <a:endParaRPr lang="en-US" sz="2000" dirty="0"/>
          </a:p>
        </p:txBody>
      </p:sp>
      <p:sp>
        <p:nvSpPr>
          <p:cNvPr id="16" name="@3 Step body"/>
          <p:cNvSpPr/>
          <p:nvPr/>
        </p:nvSpPr>
        <p:spPr>
          <a:xfrm>
            <a:off x="6248400" y="1828800"/>
            <a:ext cx="243840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@3 addText"/>
          <p:cNvSpPr txBox="1"/>
          <p:nvPr/>
        </p:nvSpPr>
        <p:spPr>
          <a:xfrm>
            <a:off x="6358128" y="1901952"/>
            <a:ext cx="221894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EXECUTE.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the maths on the calculator.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the answer. It is the password.</a:t>
            </a:r>
            <a:endParaRPr lang="en-US" sz="1400" dirty="0"/>
          </a:p>
        </p:txBody>
      </p:sp>
      <p:sp>
        <p:nvSpPr>
          <p:cNvPr id="18" name="@3 step arrow"/>
          <p:cNvSpPr/>
          <p:nvPr/>
        </p:nvSpPr>
        <p:spPr>
          <a:xfrm>
            <a:off x="5836920" y="1440180"/>
            <a:ext cx="365760" cy="0"/>
          </a:xfrm>
          <a:prstGeom prst="line">
            <a:avLst/>
          </a:prstGeom>
          <a:noFill/>
          <a:ln w="38100">
            <a:solidFill>
              <a:srgbClr val="5D79A0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9" name="@4 Callout"/>
          <p:cNvSpPr/>
          <p:nvPr/>
        </p:nvSpPr>
        <p:spPr>
          <a:xfrm>
            <a:off x="457200" y="416052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5D79A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@4 addText"/>
          <p:cNvSpPr txBox="1"/>
          <p:nvPr/>
        </p:nvSpPr>
        <p:spPr>
          <a:xfrm>
            <a:off x="685800" y="41605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D7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 </a:t>
            </a: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vaults. Each answer is a password.</a:t>
            </a:r>
            <a:endParaRPr lang="en-US" sz="1200" dirty="0"/>
          </a:p>
        </p:txBody>
      </p:sp>
      <p:sp>
        <p:nvSpPr>
          <p:cNvPr id="2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do: vault 1</a:t>
            </a:r>
            <a:endParaRPr lang="en-US" sz="3000" dirty="0"/>
          </a:p>
        </p:txBody>
      </p:sp>
      <p:sp>
        <p:nvSpPr>
          <p:cNvPr id="3" name="@1 Card chip"/>
          <p:cNvSpPr/>
          <p:nvPr/>
        </p:nvSpPr>
        <p:spPr>
          <a:xfrm>
            <a:off x="6492240" y="365760"/>
            <a:ext cx="2194560" cy="548640"/>
          </a:xfrm>
          <a:prstGeom prst="roundRect">
            <a:avLst>
              <a:gd name="adj" fmla="val 20000"/>
            </a:avLst>
          </a:prstGeom>
          <a:solidFill>
            <a:srgbClr val="D32F2F"/>
          </a:solidFill>
          <a:ln w="9525">
            <a:solidFill>
              <a:srgbClr val="D32F2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@1 addText"/>
          <p:cNvSpPr txBox="1"/>
          <p:nvPr/>
        </p:nvSpPr>
        <p:spPr>
          <a:xfrm>
            <a:off x="6492240" y="365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0  RED</a:t>
            </a:r>
            <a:endParaRPr lang="en-US" sz="1600" dirty="0"/>
          </a:p>
        </p:txBody>
      </p:sp>
      <p:sp>
        <p:nvSpPr>
          <p:cNvPr id="5" name="@1 FETCH"/>
          <p:cNvSpPr/>
          <p:nvPr/>
        </p:nvSpPr>
        <p:spPr>
          <a:xfrm>
            <a:off x="457200" y="1234440"/>
            <a:ext cx="1737360" cy="640080"/>
          </a:xfrm>
          <a:prstGeom prst="roundRect">
            <a:avLst>
              <a:gd name="adj" fmla="val 17143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@1 addText"/>
          <p:cNvSpPr txBox="1"/>
          <p:nvPr/>
        </p:nvSpPr>
        <p:spPr>
          <a:xfrm>
            <a:off x="457200" y="12344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</a:t>
            </a:r>
            <a:endParaRPr lang="en-US" sz="1800" dirty="0"/>
          </a:p>
        </p:txBody>
      </p:sp>
      <p:sp>
        <p:nvSpPr>
          <p:cNvPr id="7" name="@1 Step"/>
          <p:cNvSpPr/>
          <p:nvPr/>
        </p:nvSpPr>
        <p:spPr>
          <a:xfrm>
            <a:off x="2286000" y="1234440"/>
            <a:ext cx="640080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@1 addText"/>
          <p:cNvSpPr txBox="1"/>
          <p:nvPr/>
        </p:nvSpPr>
        <p:spPr>
          <a:xfrm>
            <a:off x="2423160" y="1234440"/>
            <a:ext cx="6172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Program Counter (PC) is 0. Get card 0 from the pile. The PC is now 1.</a:t>
            </a:r>
            <a:endParaRPr lang="en-US" sz="1700" dirty="0"/>
          </a:p>
        </p:txBody>
      </p:sp>
      <p:sp>
        <p:nvSpPr>
          <p:cNvPr id="9" name="@2 DECODE"/>
          <p:cNvSpPr/>
          <p:nvPr/>
        </p:nvSpPr>
        <p:spPr>
          <a:xfrm>
            <a:off x="457200" y="2057400"/>
            <a:ext cx="1737360" cy="640080"/>
          </a:xfrm>
          <a:prstGeom prst="roundRect">
            <a:avLst>
              <a:gd name="adj" fmla="val 17143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@2 addText"/>
          <p:cNvSpPr txBox="1"/>
          <p:nvPr/>
        </p:nvSpPr>
        <p:spPr>
          <a:xfrm>
            <a:off x="457200" y="20574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</a:t>
            </a:r>
            <a:endParaRPr lang="en-US" sz="1800" dirty="0"/>
          </a:p>
        </p:txBody>
      </p:sp>
      <p:sp>
        <p:nvSpPr>
          <p:cNvPr id="11" name="@2 Step"/>
          <p:cNvSpPr/>
          <p:nvPr/>
        </p:nvSpPr>
        <p:spPr>
          <a:xfrm>
            <a:off x="2286000" y="2057400"/>
            <a:ext cx="640080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@2 addText"/>
          <p:cNvSpPr txBox="1"/>
          <p:nvPr/>
        </p:nvSpPr>
        <p:spPr>
          <a:xfrm>
            <a:off x="2423160" y="2057400"/>
            <a:ext cx="6172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the card say? </a:t>
            </a:r>
            <a:endParaRPr lang="en-US" sz="1700" dirty="0"/>
          </a:p>
        </p:txBody>
      </p:sp>
      <p:sp>
        <p:nvSpPr>
          <p:cNvPr id="13" name="@3 EXECUTE"/>
          <p:cNvSpPr/>
          <p:nvPr/>
        </p:nvSpPr>
        <p:spPr>
          <a:xfrm>
            <a:off x="457200" y="2880360"/>
            <a:ext cx="1737360" cy="640080"/>
          </a:xfrm>
          <a:prstGeom prst="roundRect">
            <a:avLst>
              <a:gd name="adj" fmla="val 17143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@3 addText"/>
          <p:cNvSpPr txBox="1"/>
          <p:nvPr/>
        </p:nvSpPr>
        <p:spPr>
          <a:xfrm>
            <a:off x="457200" y="28803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</a:t>
            </a:r>
            <a:endParaRPr lang="en-US" sz="1800" dirty="0"/>
          </a:p>
        </p:txBody>
      </p:sp>
      <p:sp>
        <p:nvSpPr>
          <p:cNvPr id="15" name="@3 Step"/>
          <p:cNvSpPr/>
          <p:nvPr/>
        </p:nvSpPr>
        <p:spPr>
          <a:xfrm>
            <a:off x="2286000" y="2880360"/>
            <a:ext cx="640080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@3 addText"/>
          <p:cNvSpPr txBox="1"/>
          <p:nvPr/>
        </p:nvSpPr>
        <p:spPr>
          <a:xfrm>
            <a:off x="2423160" y="2880360"/>
            <a:ext cx="6172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calculator:  73 × 21.</a:t>
            </a:r>
            <a:endParaRPr lang="en-US" sz="1700" dirty="0"/>
          </a:p>
        </p:txBody>
      </p:sp>
      <p:sp>
        <p:nvSpPr>
          <p:cNvPr id="17" name="@4 Callout"/>
          <p:cNvSpPr/>
          <p:nvPr/>
        </p:nvSpPr>
        <p:spPr>
          <a:xfrm>
            <a:off x="457200" y="384048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@4 addText"/>
          <p:cNvSpPr txBox="1"/>
          <p:nvPr/>
        </p:nvSpPr>
        <p:spPr>
          <a:xfrm>
            <a:off x="685800" y="38404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  </a:t>
            </a: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 × 21 = 1533. Type 1533 as the password for vault 1.</a:t>
            </a:r>
            <a:endParaRPr lang="en-US" sz="1200" dirty="0"/>
          </a:p>
        </p:txBody>
      </p:sp>
      <p:sp>
        <p:nvSpPr>
          <p:cNvPr id="1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do: vault 2</a:t>
            </a:r>
            <a:endParaRPr lang="en-US" sz="3000" dirty="0"/>
          </a:p>
        </p:txBody>
      </p:sp>
      <p:sp>
        <p:nvSpPr>
          <p:cNvPr id="3" name="@1 Card chip"/>
          <p:cNvSpPr/>
          <p:nvPr/>
        </p:nvSpPr>
        <p:spPr>
          <a:xfrm>
            <a:off x="6492240" y="365760"/>
            <a:ext cx="2194560" cy="54864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 w="9525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@1 addText"/>
          <p:cNvSpPr txBox="1"/>
          <p:nvPr/>
        </p:nvSpPr>
        <p:spPr>
          <a:xfrm>
            <a:off x="6492240" y="365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1  BLUE</a:t>
            </a:r>
            <a:endParaRPr lang="en-US" sz="1600" dirty="0"/>
          </a:p>
        </p:txBody>
      </p:sp>
      <p:sp>
        <p:nvSpPr>
          <p:cNvPr id="5" name="@1 FETCH"/>
          <p:cNvSpPr/>
          <p:nvPr/>
        </p:nvSpPr>
        <p:spPr>
          <a:xfrm>
            <a:off x="457200" y="1234440"/>
            <a:ext cx="1737360" cy="640080"/>
          </a:xfrm>
          <a:prstGeom prst="roundRect">
            <a:avLst>
              <a:gd name="adj" fmla="val 17143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@1 addText"/>
          <p:cNvSpPr txBox="1"/>
          <p:nvPr/>
        </p:nvSpPr>
        <p:spPr>
          <a:xfrm>
            <a:off x="457200" y="12344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</a:t>
            </a:r>
            <a:endParaRPr lang="en-US" sz="1800" dirty="0"/>
          </a:p>
        </p:txBody>
      </p:sp>
      <p:sp>
        <p:nvSpPr>
          <p:cNvPr id="7" name="@1 Step"/>
          <p:cNvSpPr/>
          <p:nvPr/>
        </p:nvSpPr>
        <p:spPr>
          <a:xfrm>
            <a:off x="2286000" y="1234440"/>
            <a:ext cx="640080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@1 addText"/>
          <p:cNvSpPr txBox="1"/>
          <p:nvPr/>
        </p:nvSpPr>
        <p:spPr>
          <a:xfrm>
            <a:off x="2423160" y="1234440"/>
            <a:ext cx="6172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Program Counter (PC) is 1. Get card 1 from the pile. The PC is now 2.</a:t>
            </a:r>
            <a:endParaRPr lang="en-US" sz="1700" dirty="0"/>
          </a:p>
        </p:txBody>
      </p:sp>
      <p:sp>
        <p:nvSpPr>
          <p:cNvPr id="9" name="@2 DECODE"/>
          <p:cNvSpPr/>
          <p:nvPr/>
        </p:nvSpPr>
        <p:spPr>
          <a:xfrm>
            <a:off x="457200" y="2057400"/>
            <a:ext cx="1737360" cy="640080"/>
          </a:xfrm>
          <a:prstGeom prst="roundRect">
            <a:avLst>
              <a:gd name="adj" fmla="val 17143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@2 addText"/>
          <p:cNvSpPr txBox="1"/>
          <p:nvPr/>
        </p:nvSpPr>
        <p:spPr>
          <a:xfrm>
            <a:off x="457200" y="20574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</a:t>
            </a:r>
            <a:endParaRPr lang="en-US" sz="1800" dirty="0"/>
          </a:p>
        </p:txBody>
      </p:sp>
      <p:sp>
        <p:nvSpPr>
          <p:cNvPr id="11" name="@2 Step"/>
          <p:cNvSpPr/>
          <p:nvPr/>
        </p:nvSpPr>
        <p:spPr>
          <a:xfrm>
            <a:off x="2286000" y="2057400"/>
            <a:ext cx="640080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@2 addText"/>
          <p:cNvSpPr txBox="1"/>
          <p:nvPr/>
        </p:nvSpPr>
        <p:spPr>
          <a:xfrm>
            <a:off x="2423160" y="2057400"/>
            <a:ext cx="6172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the card say?  </a:t>
            </a:r>
            <a:endParaRPr lang="en-US" sz="1700" dirty="0"/>
          </a:p>
        </p:txBody>
      </p:sp>
      <p:sp>
        <p:nvSpPr>
          <p:cNvPr id="13" name="@3 EXECUTE"/>
          <p:cNvSpPr/>
          <p:nvPr/>
        </p:nvSpPr>
        <p:spPr>
          <a:xfrm>
            <a:off x="457200" y="2880360"/>
            <a:ext cx="1737360" cy="640080"/>
          </a:xfrm>
          <a:prstGeom prst="roundRect">
            <a:avLst>
              <a:gd name="adj" fmla="val 17143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@3 addText"/>
          <p:cNvSpPr txBox="1"/>
          <p:nvPr/>
        </p:nvSpPr>
        <p:spPr>
          <a:xfrm>
            <a:off x="457200" y="28803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</a:t>
            </a:r>
            <a:endParaRPr lang="en-US" sz="1800" dirty="0"/>
          </a:p>
        </p:txBody>
      </p:sp>
      <p:sp>
        <p:nvSpPr>
          <p:cNvPr id="15" name="@3 Step"/>
          <p:cNvSpPr/>
          <p:nvPr/>
        </p:nvSpPr>
        <p:spPr>
          <a:xfrm>
            <a:off x="2286000" y="2880360"/>
            <a:ext cx="640080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@3 addText"/>
          <p:cNvSpPr txBox="1"/>
          <p:nvPr/>
        </p:nvSpPr>
        <p:spPr>
          <a:xfrm>
            <a:off x="2423160" y="2880360"/>
            <a:ext cx="6172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calculator:  4286 + 3917.</a:t>
            </a:r>
            <a:endParaRPr lang="en-US" sz="1700" dirty="0"/>
          </a:p>
        </p:txBody>
      </p:sp>
      <p:sp>
        <p:nvSpPr>
          <p:cNvPr id="17" name="@4 Callout"/>
          <p:cNvSpPr/>
          <p:nvPr/>
        </p:nvSpPr>
        <p:spPr>
          <a:xfrm>
            <a:off x="457200" y="384048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@4 addText"/>
          <p:cNvSpPr txBox="1"/>
          <p:nvPr/>
        </p:nvSpPr>
        <p:spPr>
          <a:xfrm>
            <a:off x="685800" y="38404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  </a:t>
            </a: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4286 + 3917 = 8203. Type 8203 as the password for vault 2.</a:t>
            </a:r>
            <a:endParaRPr lang="en-US" sz="1200" dirty="0"/>
          </a:p>
        </p:txBody>
      </p:sp>
      <p:sp>
        <p:nvSpPr>
          <p:cNvPr id="1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your workbook</a:t>
            </a:r>
            <a:endParaRPr lang="en-US" sz="3000" dirty="0"/>
          </a:p>
        </p:txBody>
      </p:sp>
      <p:sp>
        <p:nvSpPr>
          <p:cNvPr id="3" name="WORKBOOK pill"/>
          <p:cNvSpPr/>
          <p:nvPr/>
        </p:nvSpPr>
        <p:spPr>
          <a:xfrm>
            <a:off x="7205472" y="411480"/>
            <a:ext cx="1481328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7205472" y="41148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WORKBOOK</a:t>
            </a:r>
            <a:endParaRPr lang="en-US" sz="1200" dirty="0"/>
          </a:p>
        </p:txBody>
      </p:sp>
      <p:sp>
        <p:nvSpPr>
          <p:cNvPr id="5" name="@1 Dot"/>
          <p:cNvSpPr/>
          <p:nvPr/>
        </p:nvSpPr>
        <p:spPr>
          <a:xfrm>
            <a:off x="548640" y="1371600"/>
            <a:ext cx="164592" cy="164592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@1 addText"/>
          <p:cNvSpPr txBox="1"/>
          <p:nvPr/>
        </p:nvSpPr>
        <p:spPr>
          <a:xfrm>
            <a:off x="914400" y="114300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a copy of the Y10 Computer Science Workbook.</a:t>
            </a:r>
            <a:endParaRPr lang="en-US" sz="1800" dirty="0"/>
          </a:p>
        </p:txBody>
      </p:sp>
      <p:sp>
        <p:nvSpPr>
          <p:cNvPr id="7" name="@2 Dot"/>
          <p:cNvSpPr/>
          <p:nvPr/>
        </p:nvSpPr>
        <p:spPr>
          <a:xfrm>
            <a:off x="548640" y="2048256"/>
            <a:ext cx="164592" cy="164592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@2 addText"/>
          <p:cNvSpPr txBox="1"/>
          <p:nvPr/>
        </p:nvSpPr>
        <p:spPr>
          <a:xfrm>
            <a:off x="914400" y="1819656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it in your Documents.</a:t>
            </a:r>
            <a:endParaRPr lang="en-US" sz="1800" dirty="0"/>
          </a:p>
        </p:txBody>
      </p:sp>
      <p:sp>
        <p:nvSpPr>
          <p:cNvPr id="9" name="@3 Dot"/>
          <p:cNvSpPr/>
          <p:nvPr/>
        </p:nvSpPr>
        <p:spPr>
          <a:xfrm>
            <a:off x="548640" y="2724912"/>
            <a:ext cx="164592" cy="164592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@3 addText"/>
          <p:cNvSpPr txBox="1"/>
          <p:nvPr/>
        </p:nvSpPr>
        <p:spPr>
          <a:xfrm>
            <a:off x="914400" y="2496312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it and type your name on the cover.</a:t>
            </a:r>
            <a:endParaRPr lang="en-US" sz="1800" dirty="0"/>
          </a:p>
        </p:txBody>
      </p:sp>
      <p:sp>
        <p:nvSpPr>
          <p:cNvPr id="1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it to OneDrive</a:t>
            </a:r>
            <a:endParaRPr lang="en-US" sz="3000" dirty="0"/>
          </a:p>
        </p:txBody>
      </p:sp>
      <p:sp>
        <p:nvSpPr>
          <p:cNvPr id="3" name="WORKBOOK pill"/>
          <p:cNvSpPr/>
          <p:nvPr/>
        </p:nvSpPr>
        <p:spPr>
          <a:xfrm>
            <a:off x="7205472" y="411480"/>
            <a:ext cx="1481328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7205472" y="41148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WORKBOOK</a:t>
            </a:r>
            <a:endParaRPr lang="en-US" sz="1200" dirty="0"/>
          </a:p>
        </p:txBody>
      </p:sp>
      <p:sp>
        <p:nvSpPr>
          <p:cNvPr id="5" name="Step card"/>
          <p:cNvSpPr/>
          <p:nvPr/>
        </p:nvSpPr>
        <p:spPr>
          <a:xfrm>
            <a:off x="457200" y="1143000"/>
            <a:ext cx="33832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tep number 1"/>
          <p:cNvSpPr/>
          <p:nvPr/>
        </p:nvSpPr>
        <p:spPr>
          <a:xfrm>
            <a:off x="594360" y="1389888"/>
            <a:ext cx="457200" cy="457200"/>
          </a:xfrm>
          <a:prstGeom prst="ellipse">
            <a:avLst/>
          </a:prstGeom>
          <a:solidFill>
            <a:srgbClr val="E83E1C"/>
          </a:solidFill>
          <a:ln w="12700">
            <a:solidFill>
              <a:srgbClr val="E83E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 txBox="1"/>
          <p:nvPr/>
        </p:nvSpPr>
        <p:spPr>
          <a:xfrm>
            <a:off x="594360" y="1389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14300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Share, at the top right.</a:t>
            </a:r>
            <a:endParaRPr lang="en-US" sz="1700" dirty="0"/>
          </a:p>
        </p:txBody>
      </p:sp>
      <p:sp>
        <p:nvSpPr>
          <p:cNvPr id="9" name="Step card"/>
          <p:cNvSpPr/>
          <p:nvPr/>
        </p:nvSpPr>
        <p:spPr>
          <a:xfrm>
            <a:off x="457200" y="2240280"/>
            <a:ext cx="33832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tep number 2"/>
          <p:cNvSpPr/>
          <p:nvPr/>
        </p:nvSpPr>
        <p:spPr>
          <a:xfrm>
            <a:off x="594360" y="2487168"/>
            <a:ext cx="457200" cy="457200"/>
          </a:xfrm>
          <a:prstGeom prst="ellipse">
            <a:avLst/>
          </a:prstGeom>
          <a:solidFill>
            <a:srgbClr val="E83E1C"/>
          </a:solidFill>
          <a:ln w="12700">
            <a:solidFill>
              <a:srgbClr val="E83E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 txBox="1"/>
          <p:nvPr/>
        </p:nvSpPr>
        <p:spPr>
          <a:xfrm>
            <a:off x="594360" y="2487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224028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OneDrive as the place.</a:t>
            </a:r>
            <a:endParaRPr lang="en-US" sz="1700" dirty="0"/>
          </a:p>
        </p:txBody>
      </p:sp>
      <p:sp>
        <p:nvSpPr>
          <p:cNvPr id="13" name="Step card"/>
          <p:cNvSpPr/>
          <p:nvPr/>
        </p:nvSpPr>
        <p:spPr>
          <a:xfrm>
            <a:off x="457200" y="3337560"/>
            <a:ext cx="33832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tep number 3"/>
          <p:cNvSpPr/>
          <p:nvPr/>
        </p:nvSpPr>
        <p:spPr>
          <a:xfrm>
            <a:off x="594360" y="3584448"/>
            <a:ext cx="457200" cy="457200"/>
          </a:xfrm>
          <a:prstGeom prst="ellipse">
            <a:avLst/>
          </a:prstGeom>
          <a:solidFill>
            <a:srgbClr val="E83E1C"/>
          </a:solidFill>
          <a:ln w="12700">
            <a:solidFill>
              <a:srgbClr val="E83E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 txBox="1"/>
          <p:nvPr/>
        </p:nvSpPr>
        <p:spPr>
          <a:xfrm>
            <a:off x="594360" y="3584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33756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Upload.</a:t>
            </a:r>
            <a:endParaRPr lang="en-US" sz="1700" dirty="0"/>
          </a:p>
        </p:txBody>
      </p:sp>
      <p:pic>
        <p:nvPicPr>
          <p:cNvPr id="17" name="Image 0" descr="PowerPoint Share box: the name Y10 Computer Science Workbook, the place OneDrive - Churchdown School, and the Upload butt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1392909"/>
            <a:ext cx="4754880" cy="2837743"/>
          </a:xfrm>
          <a:prstGeom prst="rect">
            <a:avLst/>
          </a:prstGeom>
        </p:spPr>
      </p:pic>
      <p:sp>
        <p:nvSpPr>
          <p:cNvPr id="1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it with your teachers</a:t>
            </a:r>
            <a:endParaRPr lang="en-US" sz="3000" dirty="0"/>
          </a:p>
        </p:txBody>
      </p:sp>
      <p:sp>
        <p:nvSpPr>
          <p:cNvPr id="3" name="WORKBOOK pill"/>
          <p:cNvSpPr/>
          <p:nvPr/>
        </p:nvSpPr>
        <p:spPr>
          <a:xfrm>
            <a:off x="7205472" y="411480"/>
            <a:ext cx="1481328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7205472" y="41148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WORKBOOK</a:t>
            </a:r>
            <a:endParaRPr lang="en-US" sz="1200" dirty="0"/>
          </a:p>
        </p:txBody>
      </p:sp>
      <p:sp>
        <p:nvSpPr>
          <p:cNvPr id="5" name="Step card"/>
          <p:cNvSpPr/>
          <p:nvPr/>
        </p:nvSpPr>
        <p:spPr>
          <a:xfrm>
            <a:off x="457200" y="1143000"/>
            <a:ext cx="33832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tep number 1"/>
          <p:cNvSpPr/>
          <p:nvPr/>
        </p:nvSpPr>
        <p:spPr>
          <a:xfrm>
            <a:off x="594360" y="1389888"/>
            <a:ext cx="457200" cy="457200"/>
          </a:xfrm>
          <a:prstGeom prst="ellipse">
            <a:avLst/>
          </a:prstGeom>
          <a:solidFill>
            <a:srgbClr val="E83E1C"/>
          </a:solidFill>
          <a:ln w="12700">
            <a:solidFill>
              <a:srgbClr val="E83E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 txBox="1"/>
          <p:nvPr/>
        </p:nvSpPr>
        <p:spPr>
          <a:xfrm>
            <a:off x="594360" y="1389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14300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your teachers.</a:t>
            </a:r>
            <a:endParaRPr lang="en-US" sz="1700" dirty="0"/>
          </a:p>
        </p:txBody>
      </p:sp>
      <p:sp>
        <p:nvSpPr>
          <p:cNvPr id="9" name="Step card"/>
          <p:cNvSpPr/>
          <p:nvPr/>
        </p:nvSpPr>
        <p:spPr>
          <a:xfrm>
            <a:off x="457200" y="2240280"/>
            <a:ext cx="33832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tep number 2"/>
          <p:cNvSpPr/>
          <p:nvPr/>
        </p:nvSpPr>
        <p:spPr>
          <a:xfrm>
            <a:off x="594360" y="2487168"/>
            <a:ext cx="457200" cy="457200"/>
          </a:xfrm>
          <a:prstGeom prst="ellipse">
            <a:avLst/>
          </a:prstGeom>
          <a:solidFill>
            <a:srgbClr val="E83E1C"/>
          </a:solidFill>
          <a:ln w="12700">
            <a:solidFill>
              <a:srgbClr val="E83E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 txBox="1"/>
          <p:nvPr/>
        </p:nvSpPr>
        <p:spPr>
          <a:xfrm>
            <a:off x="594360" y="2487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224028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Send.</a:t>
            </a:r>
            <a:endParaRPr lang="en-US" sz="1700" dirty="0"/>
          </a:p>
        </p:txBody>
      </p:sp>
      <p:pic>
        <p:nvPicPr>
          <p:cNvPr id="13" name="Image 0" descr="PowerPoint sharing box with the two teachers added and the Send butt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6664" y="1051560"/>
            <a:ext cx="4645393" cy="3520440"/>
          </a:xfrm>
          <a:prstGeom prst="rect">
            <a:avLst/>
          </a:prstGeom>
        </p:spPr>
      </p:pic>
      <p:sp>
        <p:nvSpPr>
          <p:cNvPr id="1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first entry: draw the cycle</a:t>
            </a:r>
            <a:endParaRPr lang="en-US" sz="3000" dirty="0"/>
          </a:p>
        </p:txBody>
      </p:sp>
      <p:sp>
        <p:nvSpPr>
          <p:cNvPr id="3" name="15 MINUTES pill"/>
          <p:cNvSpPr/>
          <p:nvPr/>
        </p:nvSpPr>
        <p:spPr>
          <a:xfrm>
            <a:off x="6949440" y="4114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6949440" y="411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MINUTES</a:t>
            </a:r>
            <a:endParaRPr lang="en-US" sz="1200" dirty="0"/>
          </a:p>
        </p:txBody>
      </p:sp>
      <p:sp>
        <p:nvSpPr>
          <p:cNvPr id="5" name="RAM"/>
          <p:cNvSpPr/>
          <p:nvPr/>
        </p:nvSpPr>
        <p:spPr>
          <a:xfrm>
            <a:off x="1463040" y="1600200"/>
            <a:ext cx="1645920" cy="480060"/>
          </a:xfrm>
          <a:prstGeom prst="roundRect">
            <a:avLst>
              <a:gd name="adj" fmla="val 22857"/>
            </a:avLst>
          </a:prstGeom>
          <a:solidFill>
            <a:srgbClr val="EEF2F7"/>
          </a:solidFill>
          <a:ln w="1905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 txBox="1"/>
          <p:nvPr/>
        </p:nvSpPr>
        <p:spPr>
          <a:xfrm>
            <a:off x="1463040" y="1600200"/>
            <a:ext cx="16459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</a:t>
            </a:r>
            <a:endParaRPr lang="en-US" sz="1400" dirty="0"/>
          </a:p>
        </p:txBody>
      </p:sp>
      <p:sp>
        <p:nvSpPr>
          <p:cNvPr id="7" name="RAM to fetch"/>
          <p:cNvSpPr/>
          <p:nvPr/>
        </p:nvSpPr>
        <p:spPr>
          <a:xfrm>
            <a:off x="2286000" y="2080260"/>
            <a:ext cx="0" cy="377190"/>
          </a:xfrm>
          <a:prstGeom prst="line">
            <a:avLst/>
          </a:prstGeom>
          <a:noFill/>
          <a:ln w="38100">
            <a:solidFill>
              <a:srgbClr val="002D6A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 txBox="1"/>
          <p:nvPr/>
        </p:nvSpPr>
        <p:spPr>
          <a:xfrm>
            <a:off x="2388870" y="211455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</a:t>
            </a:r>
            <a:endParaRPr lang="en-US" sz="900" dirty="0"/>
          </a:p>
        </p:txBody>
      </p:sp>
      <p:sp>
        <p:nvSpPr>
          <p:cNvPr id="9" name="FETCH"/>
          <p:cNvSpPr/>
          <p:nvPr/>
        </p:nvSpPr>
        <p:spPr>
          <a:xfrm>
            <a:off x="1463040" y="2457450"/>
            <a:ext cx="1645920" cy="754380"/>
          </a:xfrm>
          <a:prstGeom prst="roundRect">
            <a:avLst>
              <a:gd name="adj" fmla="val 14545"/>
            </a:avLst>
          </a:prstGeom>
          <a:solidFill>
            <a:srgbClr val="002D6A"/>
          </a:solidFill>
          <a:ln w="1905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1463040" y="2457450"/>
            <a:ext cx="16459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</a:t>
            </a:r>
            <a:endParaRPr lang="en-US" sz="14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the next instruction</a:t>
            </a:r>
            <a:endParaRPr lang="en-US" sz="1400" dirty="0"/>
          </a:p>
        </p:txBody>
      </p:sp>
      <p:sp>
        <p:nvSpPr>
          <p:cNvPr id="11" name="to decode"/>
          <p:cNvSpPr/>
          <p:nvPr/>
        </p:nvSpPr>
        <p:spPr>
          <a:xfrm>
            <a:off x="3108960" y="2834640"/>
            <a:ext cx="617220" cy="0"/>
          </a:xfrm>
          <a:prstGeom prst="line">
            <a:avLst/>
          </a:prstGeom>
          <a:noFill/>
          <a:ln w="38100">
            <a:solidFill>
              <a:srgbClr val="002D6A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2" name="DECODE"/>
          <p:cNvSpPr/>
          <p:nvPr/>
        </p:nvSpPr>
        <p:spPr>
          <a:xfrm>
            <a:off x="3726180" y="2457450"/>
            <a:ext cx="1645920" cy="754380"/>
          </a:xfrm>
          <a:prstGeom prst="roundRect">
            <a:avLst>
              <a:gd name="adj" fmla="val 14545"/>
            </a:avLst>
          </a:prstGeom>
          <a:solidFill>
            <a:srgbClr val="002D6A"/>
          </a:solidFill>
          <a:ln w="1905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 txBox="1"/>
          <p:nvPr/>
        </p:nvSpPr>
        <p:spPr>
          <a:xfrm>
            <a:off x="3726180" y="2457450"/>
            <a:ext cx="16459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</a:t>
            </a:r>
            <a:endParaRPr lang="en-US" sz="14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out what it means</a:t>
            </a:r>
            <a:endParaRPr lang="en-US" sz="1400" dirty="0"/>
          </a:p>
        </p:txBody>
      </p:sp>
      <p:sp>
        <p:nvSpPr>
          <p:cNvPr id="14" name="to execute"/>
          <p:cNvSpPr/>
          <p:nvPr/>
        </p:nvSpPr>
        <p:spPr>
          <a:xfrm>
            <a:off x="5372100" y="2834640"/>
            <a:ext cx="617220" cy="0"/>
          </a:xfrm>
          <a:prstGeom prst="line">
            <a:avLst/>
          </a:prstGeom>
          <a:noFill/>
          <a:ln w="38100">
            <a:solidFill>
              <a:srgbClr val="002D6A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5" name="EXECUTE"/>
          <p:cNvSpPr/>
          <p:nvPr/>
        </p:nvSpPr>
        <p:spPr>
          <a:xfrm>
            <a:off x="5989320" y="2457450"/>
            <a:ext cx="1645920" cy="754380"/>
          </a:xfrm>
          <a:prstGeom prst="roundRect">
            <a:avLst>
              <a:gd name="adj" fmla="val 14545"/>
            </a:avLst>
          </a:prstGeom>
          <a:solidFill>
            <a:srgbClr val="002D6A"/>
          </a:solidFill>
          <a:ln w="1905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 txBox="1"/>
          <p:nvPr/>
        </p:nvSpPr>
        <p:spPr>
          <a:xfrm>
            <a:off x="5989320" y="2457450"/>
            <a:ext cx="16459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</a:t>
            </a:r>
            <a:endParaRPr lang="en-US" sz="14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carry it out</a:t>
            </a:r>
            <a:endParaRPr lang="en-US" sz="1400" dirty="0"/>
          </a:p>
        </p:txBody>
      </p:sp>
      <p:sp>
        <p:nvSpPr>
          <p:cNvPr id="17" name="loop down"/>
          <p:cNvSpPr/>
          <p:nvPr/>
        </p:nvSpPr>
        <p:spPr>
          <a:xfrm>
            <a:off x="6812280" y="3211830"/>
            <a:ext cx="0" cy="582930"/>
          </a:xfrm>
          <a:prstGeom prst="line">
            <a:avLst/>
          </a:prstGeom>
          <a:noFill/>
          <a:ln w="28575">
            <a:solidFill>
              <a:srgbClr val="5D79A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loop across"/>
          <p:cNvSpPr/>
          <p:nvPr/>
        </p:nvSpPr>
        <p:spPr>
          <a:xfrm>
            <a:off x="2286000" y="3794760"/>
            <a:ext cx="4526280" cy="0"/>
          </a:xfrm>
          <a:prstGeom prst="line">
            <a:avLst/>
          </a:prstGeom>
          <a:noFill/>
          <a:ln w="28575">
            <a:solidFill>
              <a:srgbClr val="5D79A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loop up"/>
          <p:cNvSpPr/>
          <p:nvPr/>
        </p:nvSpPr>
        <p:spPr>
          <a:xfrm flipV="1">
            <a:off x="2286000" y="3211830"/>
            <a:ext cx="0" cy="582930"/>
          </a:xfrm>
          <a:prstGeom prst="line">
            <a:avLst/>
          </a:prstGeom>
          <a:noFill/>
          <a:ln w="38100">
            <a:solidFill>
              <a:srgbClr val="5D79A0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 txBox="1"/>
          <p:nvPr/>
        </p:nvSpPr>
        <p:spPr>
          <a:xfrm>
            <a:off x="3794760" y="3829050"/>
            <a:ext cx="15087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5" i="1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cycle repeats</a:t>
            </a:r>
            <a:endParaRPr lang="en-US" sz="975" dirty="0"/>
          </a:p>
        </p:txBody>
      </p:sp>
      <p:sp>
        <p:nvSpPr>
          <p:cNvPr id="21" name="Sentence starter"/>
          <p:cNvSpPr/>
          <p:nvPr/>
        </p:nvSpPr>
        <p:spPr>
          <a:xfrm>
            <a:off x="1234440" y="1005840"/>
            <a:ext cx="210312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9050">
            <a:solidFill>
              <a:srgbClr val="5D79A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 txBox="1"/>
          <p:nvPr/>
        </p:nvSpPr>
        <p:spPr>
          <a:xfrm>
            <a:off x="1325880" y="1005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is when ...</a:t>
            </a:r>
            <a:endParaRPr lang="en-US" sz="1500" dirty="0"/>
          </a:p>
        </p:txBody>
      </p:sp>
      <p:sp>
        <p:nvSpPr>
          <p:cNvPr id="23" name="Sentence starter"/>
          <p:cNvSpPr/>
          <p:nvPr/>
        </p:nvSpPr>
        <p:spPr>
          <a:xfrm>
            <a:off x="3502152" y="1005840"/>
            <a:ext cx="210312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9050">
            <a:solidFill>
              <a:srgbClr val="5D79A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 txBox="1"/>
          <p:nvPr/>
        </p:nvSpPr>
        <p:spPr>
          <a:xfrm>
            <a:off x="3593592" y="1005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 is when ...</a:t>
            </a:r>
            <a:endParaRPr lang="en-US" sz="1500" dirty="0"/>
          </a:p>
        </p:txBody>
      </p:sp>
      <p:sp>
        <p:nvSpPr>
          <p:cNvPr id="25" name="Sentence starter"/>
          <p:cNvSpPr/>
          <p:nvPr/>
        </p:nvSpPr>
        <p:spPr>
          <a:xfrm>
            <a:off x="5760720" y="1005840"/>
            <a:ext cx="210312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9050">
            <a:solidFill>
              <a:srgbClr val="5D79A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 txBox="1"/>
          <p:nvPr/>
        </p:nvSpPr>
        <p:spPr>
          <a:xfrm>
            <a:off x="5852160" y="1005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is when ...</a:t>
            </a:r>
            <a:endParaRPr lang="en-US" sz="1500" dirty="0"/>
          </a:p>
        </p:txBody>
      </p:sp>
      <p:sp>
        <p:nvSpPr>
          <p:cNvPr id="27" name="Sentence starter"/>
          <p:cNvSpPr/>
          <p:nvPr/>
        </p:nvSpPr>
        <p:spPr>
          <a:xfrm>
            <a:off x="457200" y="4160520"/>
            <a:ext cx="402336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5D79A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 txBox="1"/>
          <p:nvPr/>
        </p:nvSpPr>
        <p:spPr>
          <a:xfrm>
            <a:off x="548640" y="41605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Program Counter ...</a:t>
            </a:r>
            <a:endParaRPr lang="en-US" sz="1500" dirty="0"/>
          </a:p>
        </p:txBody>
      </p:sp>
      <p:sp>
        <p:nvSpPr>
          <p:cNvPr id="29" name="Sentence starter"/>
          <p:cNvSpPr/>
          <p:nvPr/>
        </p:nvSpPr>
        <p:spPr>
          <a:xfrm>
            <a:off x="4663440" y="4160520"/>
            <a:ext cx="402336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5D79A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 txBox="1"/>
          <p:nvPr/>
        </p:nvSpPr>
        <p:spPr>
          <a:xfrm>
            <a:off x="4754880" y="41605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cycle repeats because ...</a:t>
            </a:r>
            <a:endParaRPr lang="en-US" sz="15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Terms Review</a:t>
            </a:r>
            <a:endParaRPr lang="en-US" sz="3000" dirty="0"/>
          </a:p>
        </p:txBody>
      </p:sp>
      <p:sp>
        <p:nvSpPr>
          <p:cNvPr id="3" name="KEY TERMS pill"/>
          <p:cNvSpPr/>
          <p:nvPr/>
        </p:nvSpPr>
        <p:spPr>
          <a:xfrm>
            <a:off x="7077456" y="411480"/>
            <a:ext cx="1609344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7077456" y="41148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TERMS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30428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1B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CPU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i="1" dirty="0">
                          <a:solidFill>
                            <a:srgbClr val="5D6B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runs programs, processes ...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1B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Instruction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i="1" dirty="0">
                          <a:solidFill>
                            <a:srgbClr val="5D6B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small ...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1B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Program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i="1" dirty="0">
                          <a:solidFill>
                            <a:srgbClr val="5D6B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list of ... held in memory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1B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Address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i="1" dirty="0">
                          <a:solidFill>
                            <a:srgbClr val="5D6B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where an item is ...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1B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Fetch-execute cycle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i="1" dirty="0">
                          <a:solidFill>
                            <a:srgbClr val="5D6B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fetch, decode, ... then repeat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Dot"/>
          <p:cNvSpPr/>
          <p:nvPr/>
        </p:nvSpPr>
        <p:spPr>
          <a:xfrm>
            <a:off x="548640" y="3739896"/>
            <a:ext cx="164592" cy="164592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 txBox="1"/>
          <p:nvPr/>
        </p:nvSpPr>
        <p:spPr>
          <a:xfrm>
            <a:off x="914400" y="363016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each meaning in your own words in your workbook.</a:t>
            </a:r>
            <a:endParaRPr lang="en-US" sz="18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2344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Following a program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400" dirty="0">
                <a:solidFill>
                  <a:srgbClr val="A9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2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C5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each pass of the cycle.</a:t>
            </a:r>
            <a:endParaRPr lang="en-US" sz="1800" dirty="0"/>
          </a:p>
        </p:txBody>
      </p:sp>
      <p:sp>
        <p:nvSpPr>
          <p:cNvPr id="5" name="Lesson icon circle"/>
          <p:cNvSpPr/>
          <p:nvPr/>
        </p:nvSpPr>
        <p:spPr>
          <a:xfrm>
            <a:off x="7680960" y="457200"/>
            <a:ext cx="822960" cy="822960"/>
          </a:xfrm>
          <a:prstGeom prst="ellipse">
            <a:avLst/>
          </a:prstGeom>
          <a:solidFill>
            <a:srgbClr val="5D79A0"/>
          </a:solidFill>
          <a:ln w="12700">
            <a:solidFill>
              <a:srgbClr val="5D79A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6" name="Image 0" descr="Lesson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3159" y="679399"/>
            <a:ext cx="378562" cy="37856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2 objectives</a:t>
            </a:r>
            <a:endParaRPr lang="en-US" sz="3000" dirty="0"/>
          </a:p>
        </p:txBody>
      </p:sp>
      <p:sp>
        <p:nvSpPr>
          <p:cNvPr id="3" name="LESSON 2 pill"/>
          <p:cNvSpPr/>
          <p:nvPr/>
        </p:nvSpPr>
        <p:spPr>
          <a:xfrm>
            <a:off x="7205472" y="411480"/>
            <a:ext cx="1481328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7205472" y="41148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2</a:t>
            </a:r>
            <a:endParaRPr lang="en-US" sz="1200" dirty="0"/>
          </a:p>
        </p:txBody>
      </p:sp>
      <p:sp>
        <p:nvSpPr>
          <p:cNvPr id="5" name="Card"/>
          <p:cNvSpPr/>
          <p:nvPr/>
        </p:nvSpPr>
        <p:spPr>
          <a:xfrm>
            <a:off x="457200" y="1188720"/>
            <a:ext cx="822960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Number 1"/>
          <p:cNvSpPr/>
          <p:nvPr/>
        </p:nvSpPr>
        <p:spPr>
          <a:xfrm>
            <a:off x="640080" y="1371600"/>
            <a:ext cx="365760" cy="365760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 txBox="1"/>
          <p:nvPr/>
        </p:nvSpPr>
        <p:spPr>
          <a:xfrm>
            <a:off x="64008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1887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what happens at each stage for each instruction of a short program.</a:t>
            </a:r>
            <a:endParaRPr lang="en-US" sz="1700" dirty="0"/>
          </a:p>
        </p:txBody>
      </p:sp>
      <p:sp>
        <p:nvSpPr>
          <p:cNvPr id="9" name="Card"/>
          <p:cNvSpPr/>
          <p:nvPr/>
        </p:nvSpPr>
        <p:spPr>
          <a:xfrm>
            <a:off x="457200" y="2057400"/>
            <a:ext cx="822960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Number 2"/>
          <p:cNvSpPr/>
          <p:nvPr/>
        </p:nvSpPr>
        <p:spPr>
          <a:xfrm>
            <a:off x="640080" y="2240280"/>
            <a:ext cx="365760" cy="365760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 txBox="1"/>
          <p:nvPr/>
        </p:nvSpPr>
        <p:spPr>
          <a:xfrm>
            <a:off x="64008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2057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how the Program Counter changes and why the cycle repeats.</a:t>
            </a:r>
            <a:endParaRPr lang="en-US" sz="1700" dirty="0"/>
          </a:p>
        </p:txBody>
      </p:sp>
      <p:sp>
        <p:nvSpPr>
          <p:cNvPr id="13" name="Card"/>
          <p:cNvSpPr/>
          <p:nvPr/>
        </p:nvSpPr>
        <p:spPr>
          <a:xfrm>
            <a:off x="457200" y="2926080"/>
            <a:ext cx="822960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Number 3"/>
          <p:cNvSpPr/>
          <p:nvPr/>
        </p:nvSpPr>
        <p:spPr>
          <a:xfrm>
            <a:off x="640080" y="3108960"/>
            <a:ext cx="365760" cy="365760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 txBox="1"/>
          <p:nvPr/>
        </p:nvSpPr>
        <p:spPr>
          <a:xfrm>
            <a:off x="64008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2926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real exam questions on the cycle.</a:t>
            </a:r>
            <a:endParaRPr lang="en-US" sz="170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back</a:t>
            </a:r>
            <a:endParaRPr lang="en-US" sz="3000" dirty="0"/>
          </a:p>
        </p:txBody>
      </p:sp>
      <p:sp>
        <p:nvSpPr>
          <p:cNvPr id="3" name="RECALL pill"/>
          <p:cNvSpPr/>
          <p:nvPr/>
        </p:nvSpPr>
        <p:spPr>
          <a:xfrm>
            <a:off x="7461504" y="411480"/>
            <a:ext cx="1225296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7461504" y="411480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1200" dirty="0"/>
          </a:p>
        </p:txBody>
      </p:sp>
      <p:sp>
        <p:nvSpPr>
          <p:cNvPr id="5" name="Card"/>
          <p:cNvSpPr/>
          <p:nvPr/>
        </p:nvSpPr>
        <p:spPr>
          <a:xfrm>
            <a:off x="457200" y="1097280"/>
            <a:ext cx="3749040" cy="1100328"/>
          </a:xfrm>
          <a:prstGeom prst="roundRect">
            <a:avLst>
              <a:gd name="adj" fmla="val 9972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 txBox="1"/>
          <p:nvPr/>
        </p:nvSpPr>
        <p:spPr>
          <a:xfrm>
            <a:off x="594360" y="1097280"/>
            <a:ext cx="352044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purpose of the CPU?</a:t>
            </a:r>
            <a:endParaRPr lang="en-US" sz="1400" dirty="0"/>
          </a:p>
        </p:txBody>
      </p:sp>
      <p:sp>
        <p:nvSpPr>
          <p:cNvPr id="7" name="@1 Answer card"/>
          <p:cNvSpPr/>
          <p:nvPr/>
        </p:nvSpPr>
        <p:spPr>
          <a:xfrm>
            <a:off x="4343400" y="1097280"/>
            <a:ext cx="4343400" cy="1100328"/>
          </a:xfrm>
          <a:prstGeom prst="roundRect">
            <a:avLst>
              <a:gd name="adj" fmla="val 9972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@1 addText"/>
          <p:cNvSpPr txBox="1"/>
          <p:nvPr/>
        </p:nvSpPr>
        <p:spPr>
          <a:xfrm>
            <a:off x="4480560" y="1097280"/>
            <a:ext cx="411480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run programs: process data and carry out instructions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457200" y="2307336"/>
            <a:ext cx="3749040" cy="1100328"/>
          </a:xfrm>
          <a:prstGeom prst="roundRect">
            <a:avLst>
              <a:gd name="adj" fmla="val 9972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594360" y="2307336"/>
            <a:ext cx="352044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in the fetch stage?</a:t>
            </a:r>
            <a:endParaRPr lang="en-US" sz="1400" dirty="0"/>
          </a:p>
        </p:txBody>
      </p:sp>
      <p:sp>
        <p:nvSpPr>
          <p:cNvPr id="11" name="@2 Answer card"/>
          <p:cNvSpPr/>
          <p:nvPr/>
        </p:nvSpPr>
        <p:spPr>
          <a:xfrm>
            <a:off x="4343400" y="2307336"/>
            <a:ext cx="4343400" cy="1100328"/>
          </a:xfrm>
          <a:prstGeom prst="roundRect">
            <a:avLst>
              <a:gd name="adj" fmla="val 9972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@2 addText"/>
          <p:cNvSpPr txBox="1"/>
          <p:nvPr/>
        </p:nvSpPr>
        <p:spPr>
          <a:xfrm>
            <a:off x="4480560" y="2307336"/>
            <a:ext cx="411480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next instruction is copied from memory (RAM) into the CPU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457200" y="3517392"/>
            <a:ext cx="3749040" cy="1100328"/>
          </a:xfrm>
          <a:prstGeom prst="roundRect">
            <a:avLst>
              <a:gd name="adj" fmla="val 9972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 txBox="1"/>
          <p:nvPr/>
        </p:nvSpPr>
        <p:spPr>
          <a:xfrm>
            <a:off x="594360" y="3517392"/>
            <a:ext cx="352044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the Program Counter hold?</a:t>
            </a:r>
            <a:endParaRPr lang="en-US" sz="1400" dirty="0"/>
          </a:p>
        </p:txBody>
      </p:sp>
      <p:sp>
        <p:nvSpPr>
          <p:cNvPr id="15" name="@3 Answer card"/>
          <p:cNvSpPr/>
          <p:nvPr/>
        </p:nvSpPr>
        <p:spPr>
          <a:xfrm>
            <a:off x="4343400" y="3517392"/>
            <a:ext cx="4343400" cy="1100328"/>
          </a:xfrm>
          <a:prstGeom prst="roundRect">
            <a:avLst>
              <a:gd name="adj" fmla="val 9972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@3 addText"/>
          <p:cNvSpPr txBox="1"/>
          <p:nvPr/>
        </p:nvSpPr>
        <p:spPr>
          <a:xfrm>
            <a:off x="4480560" y="3517392"/>
            <a:ext cx="411480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address of the next instruction</a:t>
            </a:r>
            <a:endParaRPr lang="en-US" sz="130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1" grpId="0" animBg="1"/>
      <p:bldP spid="12" grpId="0" animBg="1"/>
      <p:bldP spid="15" grpId="0" animBg="1"/>
      <p:bldP spid="1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program in memory</a:t>
            </a:r>
            <a:endParaRPr lang="en-US" sz="3000" dirty="0"/>
          </a:p>
        </p:txBody>
      </p:sp>
      <p:sp>
        <p:nvSpPr>
          <p:cNvPr id="3" name="WALK-THROUGH pill"/>
          <p:cNvSpPr/>
          <p:nvPr/>
        </p:nvSpPr>
        <p:spPr>
          <a:xfrm>
            <a:off x="6693408" y="411480"/>
            <a:ext cx="1993392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6693408" y="41148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WALK-THROUGH</a:t>
            </a:r>
            <a:endParaRPr lang="en-US" sz="1200" dirty="0"/>
          </a:p>
        </p:txBody>
      </p:sp>
      <p:sp>
        <p:nvSpPr>
          <p:cNvPr id="5" name="Address"/>
          <p:cNvSpPr/>
          <p:nvPr/>
        </p:nvSpPr>
        <p:spPr>
          <a:xfrm>
            <a:off x="457200" y="1097280"/>
            <a:ext cx="1097280" cy="420624"/>
          </a:xfrm>
          <a:prstGeom prst="roundRect">
            <a:avLst>
              <a:gd name="adj" fmla="val 26087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 txBox="1"/>
          <p:nvPr/>
        </p:nvSpPr>
        <p:spPr>
          <a:xfrm>
            <a:off x="457200" y="109728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500" dirty="0"/>
          </a:p>
        </p:txBody>
      </p:sp>
      <p:sp>
        <p:nvSpPr>
          <p:cNvPr id="7" name="Contents"/>
          <p:cNvSpPr/>
          <p:nvPr/>
        </p:nvSpPr>
        <p:spPr>
          <a:xfrm>
            <a:off x="1645920" y="1097280"/>
            <a:ext cx="274320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 txBox="1"/>
          <p:nvPr/>
        </p:nvSpPr>
        <p:spPr>
          <a:xfrm>
            <a:off x="1645920" y="109728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number from 20</a:t>
            </a:r>
            <a:endParaRPr lang="en-US" sz="1500" dirty="0"/>
          </a:p>
        </p:txBody>
      </p:sp>
      <p:sp>
        <p:nvSpPr>
          <p:cNvPr id="9" name="Address"/>
          <p:cNvSpPr/>
          <p:nvPr/>
        </p:nvSpPr>
        <p:spPr>
          <a:xfrm>
            <a:off x="457200" y="1572768"/>
            <a:ext cx="1097280" cy="420624"/>
          </a:xfrm>
          <a:prstGeom prst="roundRect">
            <a:avLst>
              <a:gd name="adj" fmla="val 26087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457200" y="157276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Contents"/>
          <p:cNvSpPr/>
          <p:nvPr/>
        </p:nvSpPr>
        <p:spPr>
          <a:xfrm>
            <a:off x="1645920" y="1572768"/>
            <a:ext cx="274320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 txBox="1"/>
          <p:nvPr/>
        </p:nvSpPr>
        <p:spPr>
          <a:xfrm>
            <a:off x="1645920" y="157276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number from 21</a:t>
            </a:r>
            <a:endParaRPr lang="en-US" sz="1500" dirty="0"/>
          </a:p>
        </p:txBody>
      </p:sp>
      <p:sp>
        <p:nvSpPr>
          <p:cNvPr id="13" name="Address"/>
          <p:cNvSpPr/>
          <p:nvPr/>
        </p:nvSpPr>
        <p:spPr>
          <a:xfrm>
            <a:off x="457200" y="2048256"/>
            <a:ext cx="1097280" cy="420624"/>
          </a:xfrm>
          <a:prstGeom prst="roundRect">
            <a:avLst>
              <a:gd name="adj" fmla="val 26087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 txBox="1"/>
          <p:nvPr/>
        </p:nvSpPr>
        <p:spPr>
          <a:xfrm>
            <a:off x="457200" y="204825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Contents"/>
          <p:cNvSpPr/>
          <p:nvPr/>
        </p:nvSpPr>
        <p:spPr>
          <a:xfrm>
            <a:off x="1645920" y="2048256"/>
            <a:ext cx="274320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 txBox="1"/>
          <p:nvPr/>
        </p:nvSpPr>
        <p:spPr>
          <a:xfrm>
            <a:off x="1645920" y="2048256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answer in 22</a:t>
            </a:r>
            <a:endParaRPr lang="en-US" sz="1500" dirty="0"/>
          </a:p>
        </p:txBody>
      </p:sp>
      <p:sp>
        <p:nvSpPr>
          <p:cNvPr id="17" name="Address"/>
          <p:cNvSpPr/>
          <p:nvPr/>
        </p:nvSpPr>
        <p:spPr>
          <a:xfrm>
            <a:off x="457200" y="2523744"/>
            <a:ext cx="1097280" cy="420624"/>
          </a:xfrm>
          <a:prstGeom prst="roundRect">
            <a:avLst>
              <a:gd name="adj" fmla="val 26087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 txBox="1"/>
          <p:nvPr/>
        </p:nvSpPr>
        <p:spPr>
          <a:xfrm>
            <a:off x="457200" y="2523744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Contents"/>
          <p:cNvSpPr/>
          <p:nvPr/>
        </p:nvSpPr>
        <p:spPr>
          <a:xfrm>
            <a:off x="1645920" y="2523744"/>
            <a:ext cx="274320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 txBox="1"/>
          <p:nvPr/>
        </p:nvSpPr>
        <p:spPr>
          <a:xfrm>
            <a:off x="1645920" y="2523744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</a:t>
            </a:r>
            <a:endParaRPr lang="en-US" sz="1500" dirty="0"/>
          </a:p>
        </p:txBody>
      </p:sp>
      <p:sp>
        <p:nvSpPr>
          <p:cNvPr id="21" name="Address"/>
          <p:cNvSpPr/>
          <p:nvPr/>
        </p:nvSpPr>
        <p:spPr>
          <a:xfrm>
            <a:off x="457200" y="2999232"/>
            <a:ext cx="1097280" cy="420624"/>
          </a:xfrm>
          <a:prstGeom prst="roundRect">
            <a:avLst>
              <a:gd name="adj" fmla="val 26087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 txBox="1"/>
          <p:nvPr/>
        </p:nvSpPr>
        <p:spPr>
          <a:xfrm>
            <a:off x="457200" y="2999232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500" dirty="0"/>
          </a:p>
        </p:txBody>
      </p:sp>
      <p:sp>
        <p:nvSpPr>
          <p:cNvPr id="23" name="Contents"/>
          <p:cNvSpPr/>
          <p:nvPr/>
        </p:nvSpPr>
        <p:spPr>
          <a:xfrm>
            <a:off x="1645920" y="2999232"/>
            <a:ext cx="274320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 txBox="1"/>
          <p:nvPr/>
        </p:nvSpPr>
        <p:spPr>
          <a:xfrm>
            <a:off x="1645920" y="299923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5" name="Address"/>
          <p:cNvSpPr/>
          <p:nvPr/>
        </p:nvSpPr>
        <p:spPr>
          <a:xfrm>
            <a:off x="457200" y="3474720"/>
            <a:ext cx="1097280" cy="420624"/>
          </a:xfrm>
          <a:prstGeom prst="roundRect">
            <a:avLst>
              <a:gd name="adj" fmla="val 26087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 txBox="1"/>
          <p:nvPr/>
        </p:nvSpPr>
        <p:spPr>
          <a:xfrm>
            <a:off x="457200" y="347472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500" dirty="0"/>
          </a:p>
        </p:txBody>
      </p:sp>
      <p:sp>
        <p:nvSpPr>
          <p:cNvPr id="27" name="Contents"/>
          <p:cNvSpPr/>
          <p:nvPr/>
        </p:nvSpPr>
        <p:spPr>
          <a:xfrm>
            <a:off x="1645920" y="3474720"/>
            <a:ext cx="274320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 txBox="1"/>
          <p:nvPr/>
        </p:nvSpPr>
        <p:spPr>
          <a:xfrm>
            <a:off x="1645920" y="347472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9" name="Address"/>
          <p:cNvSpPr/>
          <p:nvPr/>
        </p:nvSpPr>
        <p:spPr>
          <a:xfrm>
            <a:off x="457200" y="3950208"/>
            <a:ext cx="1097280" cy="420624"/>
          </a:xfrm>
          <a:prstGeom prst="roundRect">
            <a:avLst>
              <a:gd name="adj" fmla="val 26087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 txBox="1"/>
          <p:nvPr/>
        </p:nvSpPr>
        <p:spPr>
          <a:xfrm>
            <a:off x="457200" y="39502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500" dirty="0"/>
          </a:p>
        </p:txBody>
      </p:sp>
      <p:sp>
        <p:nvSpPr>
          <p:cNvPr id="31" name="Contents"/>
          <p:cNvSpPr/>
          <p:nvPr/>
        </p:nvSpPr>
        <p:spPr>
          <a:xfrm>
            <a:off x="1645920" y="3950208"/>
            <a:ext cx="274320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 txBox="1"/>
          <p:nvPr/>
        </p:nvSpPr>
        <p:spPr>
          <a:xfrm>
            <a:off x="1645920" y="395020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500" dirty="0"/>
          </a:p>
        </p:txBody>
      </p:sp>
      <p:sp>
        <p:nvSpPr>
          <p:cNvPr id="33" name="Prompt box"/>
          <p:cNvSpPr/>
          <p:nvPr/>
        </p:nvSpPr>
        <p:spPr>
          <a:xfrm>
            <a:off x="4663440" y="1097280"/>
            <a:ext cx="402336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 txBox="1"/>
          <p:nvPr/>
        </p:nvSpPr>
        <p:spPr>
          <a:xfrm>
            <a:off x="4937760" y="11887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4937760" y="17373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will be saved at address 22 when the program stops?</a:t>
            </a:r>
            <a:endParaRPr lang="en-US" sz="1800" dirty="0"/>
          </a:p>
        </p:txBody>
      </p:sp>
      <p:sp>
        <p:nvSpPr>
          <p:cNvPr id="36" name="@1 addText"/>
          <p:cNvSpPr txBox="1"/>
          <p:nvPr/>
        </p:nvSpPr>
        <p:spPr>
          <a:xfrm>
            <a:off x="4937760" y="31089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 (5 + 3)</a:t>
            </a:r>
            <a:endParaRPr lang="en-US" sz="28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Cycle 1: get the number</a:t>
            </a:r>
            <a:endParaRPr lang="en-US" sz="3000" dirty="0"/>
          </a:p>
        </p:txBody>
      </p:sp>
      <p:sp>
        <p:nvSpPr>
          <p:cNvPr id="3" name="TRACE pill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</a:t>
            </a:r>
            <a:endParaRPr lang="en-US" sz="1200" dirty="0"/>
          </a:p>
        </p:txBody>
      </p:sp>
      <p:sp>
        <p:nvSpPr>
          <p:cNvPr id="5" name="@1 Term"/>
          <p:cNvSpPr/>
          <p:nvPr/>
        </p:nvSpPr>
        <p:spPr>
          <a:xfrm>
            <a:off x="457200" y="1097280"/>
            <a:ext cx="1645920" cy="777240"/>
          </a:xfrm>
          <a:prstGeom prst="roundRect">
            <a:avLst>
              <a:gd name="adj" fmla="val 14118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@1 addText"/>
          <p:cNvSpPr txBox="1"/>
          <p:nvPr/>
        </p:nvSpPr>
        <p:spPr>
          <a:xfrm>
            <a:off x="548640" y="109728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</a:t>
            </a:r>
            <a:endParaRPr lang="en-US" sz="1500" dirty="0"/>
          </a:p>
        </p:txBody>
      </p:sp>
      <p:sp>
        <p:nvSpPr>
          <p:cNvPr id="7" name="@1 Definition"/>
          <p:cNvSpPr/>
          <p:nvPr/>
        </p:nvSpPr>
        <p:spPr>
          <a:xfrm>
            <a:off x="2194560" y="1097280"/>
            <a:ext cx="64922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@1 addText"/>
          <p:cNvSpPr txBox="1"/>
          <p:nvPr/>
        </p:nvSpPr>
        <p:spPr>
          <a:xfrm>
            <a:off x="2331720" y="109728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Program Counter holds 0, so the instruction at address 0 is copied from memory into the CPU. The Program Counter becomes 1.</a:t>
            </a:r>
            <a:endParaRPr lang="en-US" sz="1400" dirty="0"/>
          </a:p>
        </p:txBody>
      </p:sp>
      <p:sp>
        <p:nvSpPr>
          <p:cNvPr id="9" name="@2 Term"/>
          <p:cNvSpPr/>
          <p:nvPr/>
        </p:nvSpPr>
        <p:spPr>
          <a:xfrm>
            <a:off x="457200" y="1965960"/>
            <a:ext cx="1645920" cy="777240"/>
          </a:xfrm>
          <a:prstGeom prst="roundRect">
            <a:avLst>
              <a:gd name="adj" fmla="val 14118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@2 addText"/>
          <p:cNvSpPr txBox="1"/>
          <p:nvPr/>
        </p:nvSpPr>
        <p:spPr>
          <a:xfrm>
            <a:off x="548640" y="196596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</a:t>
            </a:r>
            <a:endParaRPr lang="en-US" sz="1500" dirty="0"/>
          </a:p>
        </p:txBody>
      </p:sp>
      <p:sp>
        <p:nvSpPr>
          <p:cNvPr id="11" name="@2 Definition"/>
          <p:cNvSpPr/>
          <p:nvPr/>
        </p:nvSpPr>
        <p:spPr>
          <a:xfrm>
            <a:off x="2194560" y="1965960"/>
            <a:ext cx="64922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@2 addText"/>
          <p:cNvSpPr txBox="1"/>
          <p:nvPr/>
        </p:nvSpPr>
        <p:spPr>
          <a:xfrm>
            <a:off x="2331720" y="196596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Control Unit works out what it means: get the number from address 20.</a:t>
            </a:r>
            <a:endParaRPr lang="en-US" sz="1400" dirty="0"/>
          </a:p>
        </p:txBody>
      </p:sp>
      <p:sp>
        <p:nvSpPr>
          <p:cNvPr id="13" name="@3 Term"/>
          <p:cNvSpPr/>
          <p:nvPr/>
        </p:nvSpPr>
        <p:spPr>
          <a:xfrm>
            <a:off x="457200" y="2834640"/>
            <a:ext cx="1645920" cy="777240"/>
          </a:xfrm>
          <a:prstGeom prst="roundRect">
            <a:avLst>
              <a:gd name="adj" fmla="val 14118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@3 addText"/>
          <p:cNvSpPr txBox="1"/>
          <p:nvPr/>
        </p:nvSpPr>
        <p:spPr>
          <a:xfrm>
            <a:off x="548640" y="283464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</a:t>
            </a:r>
            <a:endParaRPr lang="en-US" sz="1500" dirty="0"/>
          </a:p>
        </p:txBody>
      </p:sp>
      <p:sp>
        <p:nvSpPr>
          <p:cNvPr id="15" name="@3 Definition"/>
          <p:cNvSpPr/>
          <p:nvPr/>
        </p:nvSpPr>
        <p:spPr>
          <a:xfrm>
            <a:off x="2194560" y="2834640"/>
            <a:ext cx="64922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@3 addText"/>
          <p:cNvSpPr txBox="1"/>
          <p:nvPr/>
        </p:nvSpPr>
        <p:spPr>
          <a:xfrm>
            <a:off x="2331720" y="283464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number 5 is copied from address 20 into the CPU.</a:t>
            </a:r>
            <a:endParaRPr lang="en-US" sz="140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Cycles 2 to 4</a:t>
            </a:r>
            <a:endParaRPr lang="en-US" sz="3000" dirty="0"/>
          </a:p>
        </p:txBody>
      </p:sp>
      <p:sp>
        <p:nvSpPr>
          <p:cNvPr id="3" name="TRACE pill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</a:t>
            </a:r>
            <a:endParaRPr lang="en-US" sz="1200" dirty="0"/>
          </a:p>
        </p:txBody>
      </p:sp>
      <p:sp>
        <p:nvSpPr>
          <p:cNvPr id="5" name="@1 Term"/>
          <p:cNvSpPr/>
          <p:nvPr/>
        </p:nvSpPr>
        <p:spPr>
          <a:xfrm>
            <a:off x="457200" y="1097280"/>
            <a:ext cx="2011680" cy="777240"/>
          </a:xfrm>
          <a:prstGeom prst="roundRect">
            <a:avLst>
              <a:gd name="adj" fmla="val 14118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@1 addText"/>
          <p:cNvSpPr txBox="1"/>
          <p:nvPr/>
        </p:nvSpPr>
        <p:spPr>
          <a:xfrm>
            <a:off x="548640" y="10972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Cycle 2: add</a:t>
            </a:r>
            <a:endParaRPr lang="en-US" sz="1500" dirty="0"/>
          </a:p>
        </p:txBody>
      </p:sp>
      <p:sp>
        <p:nvSpPr>
          <p:cNvPr id="7" name="@1 Definition"/>
          <p:cNvSpPr/>
          <p:nvPr/>
        </p:nvSpPr>
        <p:spPr>
          <a:xfrm>
            <a:off x="2560320" y="1097280"/>
            <a:ext cx="612648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@1 addText"/>
          <p:cNvSpPr txBox="1"/>
          <p:nvPr/>
        </p:nvSpPr>
        <p:spPr>
          <a:xfrm>
            <a:off x="2697480" y="1097280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the instruction at address 1 (Program Counter becomes 2). Decode: add the number from address 21. Execute: the ALU adds 3 to 5. The answer is 8.</a:t>
            </a:r>
            <a:endParaRPr lang="en-US" sz="1400" dirty="0"/>
          </a:p>
        </p:txBody>
      </p:sp>
      <p:sp>
        <p:nvSpPr>
          <p:cNvPr id="9" name="@2 Term"/>
          <p:cNvSpPr/>
          <p:nvPr/>
        </p:nvSpPr>
        <p:spPr>
          <a:xfrm>
            <a:off x="457200" y="1965960"/>
            <a:ext cx="2011680" cy="777240"/>
          </a:xfrm>
          <a:prstGeom prst="roundRect">
            <a:avLst>
              <a:gd name="adj" fmla="val 14118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@2 addText"/>
          <p:cNvSpPr txBox="1"/>
          <p:nvPr/>
        </p:nvSpPr>
        <p:spPr>
          <a:xfrm>
            <a:off x="548640" y="19659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Cycle 3: save</a:t>
            </a:r>
            <a:endParaRPr lang="en-US" sz="1500" dirty="0"/>
          </a:p>
        </p:txBody>
      </p:sp>
      <p:sp>
        <p:nvSpPr>
          <p:cNvPr id="11" name="@2 Definition"/>
          <p:cNvSpPr/>
          <p:nvPr/>
        </p:nvSpPr>
        <p:spPr>
          <a:xfrm>
            <a:off x="2560320" y="1965960"/>
            <a:ext cx="612648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@2 addText"/>
          <p:cNvSpPr txBox="1"/>
          <p:nvPr/>
        </p:nvSpPr>
        <p:spPr>
          <a:xfrm>
            <a:off x="2697480" y="1965960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the instruction at address 2 (Program Counter becomes 3). Decode: save the answer. Execute: 8 is written to address 22.</a:t>
            </a:r>
            <a:endParaRPr lang="en-US" sz="1400" dirty="0"/>
          </a:p>
        </p:txBody>
      </p:sp>
      <p:sp>
        <p:nvSpPr>
          <p:cNvPr id="13" name="@3 Term"/>
          <p:cNvSpPr/>
          <p:nvPr/>
        </p:nvSpPr>
        <p:spPr>
          <a:xfrm>
            <a:off x="457200" y="2834640"/>
            <a:ext cx="2011680" cy="777240"/>
          </a:xfrm>
          <a:prstGeom prst="roundRect">
            <a:avLst>
              <a:gd name="adj" fmla="val 14118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@3 addText"/>
          <p:cNvSpPr txBox="1"/>
          <p:nvPr/>
        </p:nvSpPr>
        <p:spPr>
          <a:xfrm>
            <a:off x="548640" y="28346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Cycle 4: stop</a:t>
            </a:r>
            <a:endParaRPr lang="en-US" sz="1500" dirty="0"/>
          </a:p>
        </p:txBody>
      </p:sp>
      <p:sp>
        <p:nvSpPr>
          <p:cNvPr id="15" name="@3 Definition"/>
          <p:cNvSpPr/>
          <p:nvPr/>
        </p:nvSpPr>
        <p:spPr>
          <a:xfrm>
            <a:off x="2560320" y="2834640"/>
            <a:ext cx="612648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@3 addText"/>
          <p:cNvSpPr txBox="1"/>
          <p:nvPr/>
        </p:nvSpPr>
        <p:spPr>
          <a:xfrm>
            <a:off x="2697480" y="2834640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the instruction at address 3. Decode: stop. Execute: the program ends.</a:t>
            </a:r>
            <a:endParaRPr lang="en-US" sz="140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2344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400" dirty="0">
                <a:solidFill>
                  <a:srgbClr val="A9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C5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to be added here.</a:t>
            </a:r>
            <a:endParaRPr lang="en-US" sz="1800" dirty="0"/>
          </a:p>
        </p:txBody>
      </p:sp>
      <p:sp>
        <p:nvSpPr>
          <p:cNvPr id="5" name="Timer pill"/>
          <p:cNvSpPr/>
          <p:nvPr/>
        </p:nvSpPr>
        <p:spPr>
          <a:xfrm>
            <a:off x="548640" y="3840480"/>
            <a:ext cx="2194560" cy="64008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6" name="Image 0" descr="clo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9959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70432" y="38404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minutes</a:t>
            </a:r>
            <a:endParaRPr lang="en-US" sz="2000" dirty="0"/>
          </a:p>
        </p:txBody>
      </p:sp>
      <p:sp>
        <p:nvSpPr>
          <p:cNvPr id="8" name="Task icon circle"/>
          <p:cNvSpPr/>
          <p:nvPr/>
        </p:nvSpPr>
        <p:spPr>
          <a:xfrm>
            <a:off x="7680960" y="457200"/>
            <a:ext cx="822960" cy="822960"/>
          </a:xfrm>
          <a:prstGeom prst="ellipse">
            <a:avLst/>
          </a:prstGeom>
          <a:solidFill>
            <a:srgbClr val="5D79A0"/>
          </a:solidFill>
          <a:ln w="12700">
            <a:solidFill>
              <a:srgbClr val="5D79A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9" name="Image 1" descr="Task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3159" y="679399"/>
            <a:ext cx="378562" cy="37856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the cycle repeat?</a:t>
            </a:r>
            <a:endParaRPr lang="en-US" sz="3000" dirty="0"/>
          </a:p>
        </p:txBody>
      </p:sp>
      <p:sp>
        <p:nvSpPr>
          <p:cNvPr id="3" name="THE CYCLE pill"/>
          <p:cNvSpPr/>
          <p:nvPr/>
        </p:nvSpPr>
        <p:spPr>
          <a:xfrm>
            <a:off x="7077456" y="411480"/>
            <a:ext cx="1609344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7077456" y="41148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CYCLE</a:t>
            </a:r>
            <a:endParaRPr lang="en-US" sz="1200" dirty="0"/>
          </a:p>
        </p:txBody>
      </p:sp>
      <p:sp>
        <p:nvSpPr>
          <p:cNvPr id="5" name="@1 Dot"/>
          <p:cNvSpPr/>
          <p:nvPr/>
        </p:nvSpPr>
        <p:spPr>
          <a:xfrm>
            <a:off x="548640" y="1371600"/>
            <a:ext cx="164592" cy="164592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@1 addText"/>
          <p:cNvSpPr txBox="1"/>
          <p:nvPr/>
        </p:nvSpPr>
        <p:spPr>
          <a:xfrm>
            <a:off x="914400" y="114300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program is many instructions. One pass runs only one of them.</a:t>
            </a:r>
            <a:endParaRPr lang="en-US" sz="1800" dirty="0"/>
          </a:p>
        </p:txBody>
      </p:sp>
      <p:sp>
        <p:nvSpPr>
          <p:cNvPr id="7" name="@2 Dot"/>
          <p:cNvSpPr/>
          <p:nvPr/>
        </p:nvSpPr>
        <p:spPr>
          <a:xfrm>
            <a:off x="548640" y="2048256"/>
            <a:ext cx="164592" cy="164592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@2 addText"/>
          <p:cNvSpPr txBox="1"/>
          <p:nvPr/>
        </p:nvSpPr>
        <p:spPr>
          <a:xfrm>
            <a:off x="914400" y="1819656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Program Counter always points to the next instruction.</a:t>
            </a:r>
            <a:endParaRPr lang="en-US" sz="1800" dirty="0"/>
          </a:p>
        </p:txBody>
      </p:sp>
      <p:sp>
        <p:nvSpPr>
          <p:cNvPr id="9" name="@3 Dot"/>
          <p:cNvSpPr/>
          <p:nvPr/>
        </p:nvSpPr>
        <p:spPr>
          <a:xfrm>
            <a:off x="548640" y="2724912"/>
            <a:ext cx="164592" cy="164592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@3 addText"/>
          <p:cNvSpPr txBox="1"/>
          <p:nvPr/>
        </p:nvSpPr>
        <p:spPr>
          <a:xfrm>
            <a:off x="914400" y="2496312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keeps going until the program ends or the computer is switched off.</a:t>
            </a:r>
            <a:endParaRPr lang="en-US" sz="1800" dirty="0"/>
          </a:p>
        </p:txBody>
      </p:sp>
      <p:sp>
        <p:nvSpPr>
          <p:cNvPr id="11" name="@4 Callout"/>
          <p:cNvSpPr/>
          <p:nvPr/>
        </p:nvSpPr>
        <p:spPr>
          <a:xfrm>
            <a:off x="457200" y="393192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5D79A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@4 addText"/>
          <p:cNvSpPr txBox="1"/>
          <p:nvPr/>
        </p:nvSpPr>
        <p:spPr>
          <a:xfrm>
            <a:off x="685800" y="39319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D7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 </a:t>
            </a: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cycle runs again and again, billions of times a second.</a:t>
            </a:r>
            <a:endParaRPr lang="en-US" sz="12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mistakes</a:t>
            </a:r>
            <a:endParaRPr lang="en-US" sz="3000" dirty="0"/>
          </a:p>
        </p:txBody>
      </p:sp>
      <p:sp>
        <p:nvSpPr>
          <p:cNvPr id="3" name="WATCH OUT pill"/>
          <p:cNvSpPr/>
          <p:nvPr/>
        </p:nvSpPr>
        <p:spPr>
          <a:xfrm>
            <a:off x="7077456" y="411480"/>
            <a:ext cx="1609344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7077456" y="41148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OUT</a:t>
            </a:r>
            <a:endParaRPr lang="en-US" sz="1200" dirty="0"/>
          </a:p>
        </p:txBody>
      </p:sp>
      <p:sp>
        <p:nvSpPr>
          <p:cNvPr id="5" name="@1 Term"/>
          <p:cNvSpPr/>
          <p:nvPr/>
        </p:nvSpPr>
        <p:spPr>
          <a:xfrm>
            <a:off x="457200" y="1097280"/>
            <a:ext cx="2926080" cy="777240"/>
          </a:xfrm>
          <a:prstGeom prst="roundRect">
            <a:avLst>
              <a:gd name="adj" fmla="val 14118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@1 addText"/>
          <p:cNvSpPr txBox="1"/>
          <p:nvPr/>
        </p:nvSpPr>
        <p:spPr>
          <a:xfrm>
            <a:off x="548640" y="10972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CPU stores programs.</a:t>
            </a:r>
            <a:endParaRPr lang="en-US" sz="1500" dirty="0"/>
          </a:p>
        </p:txBody>
      </p:sp>
      <p:sp>
        <p:nvSpPr>
          <p:cNvPr id="7" name="@1 Definition"/>
          <p:cNvSpPr/>
          <p:nvPr/>
        </p:nvSpPr>
        <p:spPr>
          <a:xfrm>
            <a:off x="3474720" y="1097280"/>
            <a:ext cx="521208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@1 addText"/>
          <p:cNvSpPr txBox="1"/>
          <p:nvPr/>
        </p:nvSpPr>
        <p:spPr>
          <a:xfrm>
            <a:off x="3611880" y="10972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No. Storage keeps them. RAM holds the ones running.</a:t>
            </a:r>
            <a:endParaRPr lang="en-US" sz="1400" dirty="0"/>
          </a:p>
        </p:txBody>
      </p:sp>
      <p:sp>
        <p:nvSpPr>
          <p:cNvPr id="9" name="@2 Term"/>
          <p:cNvSpPr/>
          <p:nvPr/>
        </p:nvSpPr>
        <p:spPr>
          <a:xfrm>
            <a:off x="457200" y="1965960"/>
            <a:ext cx="2926080" cy="777240"/>
          </a:xfrm>
          <a:prstGeom prst="roundRect">
            <a:avLst>
              <a:gd name="adj" fmla="val 14118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@2 addText"/>
          <p:cNvSpPr txBox="1"/>
          <p:nvPr/>
        </p:nvSpPr>
        <p:spPr>
          <a:xfrm>
            <a:off x="548640" y="19659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Program Counter counts the instructions.</a:t>
            </a:r>
            <a:endParaRPr lang="en-US" sz="1500" dirty="0"/>
          </a:p>
        </p:txBody>
      </p:sp>
      <p:sp>
        <p:nvSpPr>
          <p:cNvPr id="11" name="@2 Definition"/>
          <p:cNvSpPr/>
          <p:nvPr/>
        </p:nvSpPr>
        <p:spPr>
          <a:xfrm>
            <a:off x="3474720" y="1965960"/>
            <a:ext cx="521208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@2 addText"/>
          <p:cNvSpPr txBox="1"/>
          <p:nvPr/>
        </p:nvSpPr>
        <p:spPr>
          <a:xfrm>
            <a:off x="3611880" y="196596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No. It holds the address of the next instruction.</a:t>
            </a:r>
            <a:endParaRPr lang="en-US" sz="1400" dirty="0"/>
          </a:p>
        </p:txBody>
      </p:sp>
      <p:sp>
        <p:nvSpPr>
          <p:cNvPr id="13" name="@3 Term"/>
          <p:cNvSpPr/>
          <p:nvPr/>
        </p:nvSpPr>
        <p:spPr>
          <a:xfrm>
            <a:off x="457200" y="2834640"/>
            <a:ext cx="2926080" cy="777240"/>
          </a:xfrm>
          <a:prstGeom prst="roundRect">
            <a:avLst>
              <a:gd name="adj" fmla="val 14118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@3 addText"/>
          <p:cNvSpPr txBox="1"/>
          <p:nvPr/>
        </p:nvSpPr>
        <p:spPr>
          <a:xfrm>
            <a:off x="548640" y="28346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Programs are fetched in the fetch stage.</a:t>
            </a:r>
            <a:endParaRPr lang="en-US" sz="1500" dirty="0"/>
          </a:p>
        </p:txBody>
      </p:sp>
      <p:sp>
        <p:nvSpPr>
          <p:cNvPr id="15" name="@3 Definition"/>
          <p:cNvSpPr/>
          <p:nvPr/>
        </p:nvSpPr>
        <p:spPr>
          <a:xfrm>
            <a:off x="3474720" y="2834640"/>
            <a:ext cx="521208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@3 addText"/>
          <p:cNvSpPr txBox="1"/>
          <p:nvPr/>
        </p:nvSpPr>
        <p:spPr>
          <a:xfrm>
            <a:off x="3611880" y="28346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No. One instruction at a time is fetched from memory.</a:t>
            </a:r>
            <a:endParaRPr lang="en-US" sz="1400" dirty="0"/>
          </a:p>
        </p:txBody>
      </p:sp>
      <p:sp>
        <p:nvSpPr>
          <p:cNvPr id="17" name="@4 Term"/>
          <p:cNvSpPr/>
          <p:nvPr/>
        </p:nvSpPr>
        <p:spPr>
          <a:xfrm>
            <a:off x="457200" y="3703320"/>
            <a:ext cx="2926080" cy="777240"/>
          </a:xfrm>
          <a:prstGeom prst="roundRect">
            <a:avLst>
              <a:gd name="adj" fmla="val 14118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@4 addText"/>
          <p:cNvSpPr txBox="1"/>
          <p:nvPr/>
        </p:nvSpPr>
        <p:spPr>
          <a:xfrm>
            <a:off x="548640" y="37033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always means calculate.</a:t>
            </a:r>
            <a:endParaRPr lang="en-US" sz="1500" dirty="0"/>
          </a:p>
        </p:txBody>
      </p:sp>
      <p:sp>
        <p:nvSpPr>
          <p:cNvPr id="19" name="@4 Definition"/>
          <p:cNvSpPr/>
          <p:nvPr/>
        </p:nvSpPr>
        <p:spPr>
          <a:xfrm>
            <a:off x="3474720" y="3703320"/>
            <a:ext cx="521208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@4 addText"/>
          <p:cNvSpPr txBox="1"/>
          <p:nvPr/>
        </p:nvSpPr>
        <p:spPr>
          <a:xfrm>
            <a:off x="3611880" y="37033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No. It might be a store, a load, or stopping.</a:t>
            </a:r>
            <a:endParaRPr lang="en-US" sz="1400" dirty="0"/>
          </a:p>
        </p:txBody>
      </p:sp>
      <p:sp>
        <p:nvSpPr>
          <p:cNvPr id="2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practice</a:t>
            </a:r>
            <a:endParaRPr lang="en-US" sz="3000" dirty="0"/>
          </a:p>
        </p:txBody>
      </p:sp>
      <p:sp>
        <p:nvSpPr>
          <p:cNvPr id="3" name="EXAM pill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OCR J277/01 past papers: June 2024 Q6(a); OCR sample paper Q1(d); June 2022 Q2</a:t>
            </a:r>
            <a:endParaRPr lang="en-US" sz="1000" dirty="0"/>
          </a:p>
        </p:txBody>
      </p:sp>
      <p:sp>
        <p:nvSpPr>
          <p:cNvPr id="6" name="Card"/>
          <p:cNvSpPr/>
          <p:nvPr/>
        </p:nvSpPr>
        <p:spPr>
          <a:xfrm>
            <a:off x="457200" y="1097280"/>
            <a:ext cx="3749040" cy="1024128"/>
          </a:xfrm>
          <a:prstGeom prst="roundRect">
            <a:avLst>
              <a:gd name="adj" fmla="val 10714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 txBox="1"/>
          <p:nvPr/>
        </p:nvSpPr>
        <p:spPr>
          <a:xfrm>
            <a:off x="594360" y="1097280"/>
            <a:ext cx="35204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what happens during the fetch-execute cycle.  </a:t>
            </a:r>
            <a:r>
              <a:rPr lang="en-US" sz="14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</a:t>
            </a:r>
            <a:endParaRPr lang="en-US" sz="1400" dirty="0"/>
          </a:p>
        </p:txBody>
      </p:sp>
      <p:sp>
        <p:nvSpPr>
          <p:cNvPr id="8" name="@1 Answer card"/>
          <p:cNvSpPr/>
          <p:nvPr/>
        </p:nvSpPr>
        <p:spPr>
          <a:xfrm>
            <a:off x="4343400" y="1097280"/>
            <a:ext cx="434340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@1 addText"/>
          <p:cNvSpPr txBox="1"/>
          <p:nvPr/>
        </p:nvSpPr>
        <p:spPr>
          <a:xfrm>
            <a:off x="4480560" y="1097280"/>
            <a:ext cx="41148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two: instruction fetched from memory; decoded; executed; ALU does the calculations</a:t>
            </a:r>
            <a:endParaRPr lang="en-US" sz="1300" dirty="0"/>
          </a:p>
        </p:txBody>
      </p:sp>
      <p:sp>
        <p:nvSpPr>
          <p:cNvPr id="10" name="Card"/>
          <p:cNvSpPr/>
          <p:nvPr/>
        </p:nvSpPr>
        <p:spPr>
          <a:xfrm>
            <a:off x="457200" y="2231136"/>
            <a:ext cx="3749040" cy="1024128"/>
          </a:xfrm>
          <a:prstGeom prst="roundRect">
            <a:avLst>
              <a:gd name="adj" fmla="val 10714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 txBox="1"/>
          <p:nvPr/>
        </p:nvSpPr>
        <p:spPr>
          <a:xfrm>
            <a:off x="594360" y="2231136"/>
            <a:ext cx="35204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two events that take place during the fetch-execute cycle.  </a:t>
            </a:r>
            <a:r>
              <a:rPr lang="en-US" sz="14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</a:t>
            </a:r>
            <a:endParaRPr lang="en-US" sz="1400" dirty="0"/>
          </a:p>
        </p:txBody>
      </p:sp>
      <p:sp>
        <p:nvSpPr>
          <p:cNvPr id="12" name="@2 Answer card"/>
          <p:cNvSpPr/>
          <p:nvPr/>
        </p:nvSpPr>
        <p:spPr>
          <a:xfrm>
            <a:off x="4343400" y="2231136"/>
            <a:ext cx="434340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@2 addText"/>
          <p:cNvSpPr txBox="1"/>
          <p:nvPr/>
        </p:nvSpPr>
        <p:spPr>
          <a:xfrm>
            <a:off x="4480560" y="2231136"/>
            <a:ext cx="41148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two: fetched; decoded; executed; the process repeats; program counter incremented</a:t>
            </a:r>
            <a:endParaRPr lang="en-US" sz="1300" dirty="0"/>
          </a:p>
        </p:txBody>
      </p:sp>
      <p:sp>
        <p:nvSpPr>
          <p:cNvPr id="14" name="Card"/>
          <p:cNvSpPr/>
          <p:nvPr/>
        </p:nvSpPr>
        <p:spPr>
          <a:xfrm>
            <a:off x="457200" y="3364992"/>
            <a:ext cx="3749040" cy="1024128"/>
          </a:xfrm>
          <a:prstGeom prst="roundRect">
            <a:avLst>
              <a:gd name="adj" fmla="val 10714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 txBox="1"/>
          <p:nvPr/>
        </p:nvSpPr>
        <p:spPr>
          <a:xfrm>
            <a:off x="594360" y="3364992"/>
            <a:ext cx="35204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the register that 'stores the address of the next instruction to be fetched and increments each cycle'.  </a:t>
            </a:r>
            <a:r>
              <a:rPr lang="en-US" sz="12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</a:t>
            </a:r>
            <a:endParaRPr lang="en-US" sz="1200" dirty="0"/>
          </a:p>
        </p:txBody>
      </p:sp>
      <p:sp>
        <p:nvSpPr>
          <p:cNvPr id="16" name="@3 Answer card"/>
          <p:cNvSpPr/>
          <p:nvPr/>
        </p:nvSpPr>
        <p:spPr>
          <a:xfrm>
            <a:off x="4343400" y="3364992"/>
            <a:ext cx="434340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@3 addText"/>
          <p:cNvSpPr txBox="1"/>
          <p:nvPr/>
        </p:nvSpPr>
        <p:spPr>
          <a:xfrm>
            <a:off x="4480560" y="3364992"/>
            <a:ext cx="41148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Counter (PC)</a:t>
            </a:r>
            <a:endParaRPr lang="en-US" sz="1300" dirty="0"/>
          </a:p>
        </p:txBody>
      </p:sp>
      <p:sp>
        <p:nvSpPr>
          <p:cNvPr id="1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2" grpId="0" animBg="1"/>
      <p:bldP spid="13" grpId="0" animBg="1"/>
      <p:bldP spid="16" grpId="0" animBg="1"/>
      <p:bldP spid="1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Terms Review</a:t>
            </a:r>
            <a:endParaRPr lang="en-US" sz="3000" dirty="0"/>
          </a:p>
        </p:txBody>
      </p:sp>
      <p:sp>
        <p:nvSpPr>
          <p:cNvPr id="3" name="KEY TERMS pill"/>
          <p:cNvSpPr/>
          <p:nvPr/>
        </p:nvSpPr>
        <p:spPr>
          <a:xfrm>
            <a:off x="7077456" y="411480"/>
            <a:ext cx="1609344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7077456" y="41148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TERMS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19202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1B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Fetch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i="1" dirty="0">
                          <a:solidFill>
                            <a:srgbClr val="5D6B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get the next instruction from ...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1B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Decode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i="1" dirty="0">
                          <a:solidFill>
                            <a:srgbClr val="5D6B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 out what it ...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1B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Execute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i="1" dirty="0">
                          <a:solidFill>
                            <a:srgbClr val="5D6B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carry ... out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1B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Program Counter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i="1" dirty="0">
                          <a:solidFill>
                            <a:srgbClr val="5D6B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holds the address of the ...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Dot"/>
          <p:cNvSpPr/>
          <p:nvPr/>
        </p:nvSpPr>
        <p:spPr>
          <a:xfrm>
            <a:off x="548640" y="3355848"/>
            <a:ext cx="164592" cy="164592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 txBox="1"/>
          <p:nvPr/>
        </p:nvSpPr>
        <p:spPr>
          <a:xfrm>
            <a:off x="914400" y="324612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each meaning in your own words in your workbook.</a:t>
            </a:r>
            <a:endParaRPr lang="en-US" sz="18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4114</Words>
  <Application>Microsoft Macintosh PowerPoint</Application>
  <PresentationFormat>On-screen Show (16:9)</PresentationFormat>
  <Paragraphs>363</Paragraphs>
  <Slides>28</Slides>
  <Notes>28</Notes>
  <HiddenSlides>12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0" baseType="lpstr">
      <vt:lpstr>Arial</vt:lpstr>
      <vt:lpstr>Office Theme</vt:lpstr>
      <vt:lpstr>The Fetch-Execute Cycle</vt:lpstr>
      <vt:lpstr>Lesson 1 objectives</vt:lpstr>
      <vt:lpstr>Think back</vt:lpstr>
      <vt:lpstr>Key words</vt:lpstr>
      <vt:lpstr>The purpose of the CPU</vt:lpstr>
      <vt:lpstr>Programs live in memory</vt:lpstr>
      <vt:lpstr>The fetch-execute cycle</vt:lpstr>
      <vt:lpstr>What happens at each stage</vt:lpstr>
      <vt:lpstr>Check understanding</vt:lpstr>
      <vt:lpstr>Crack the Vault: your jobs</vt:lpstr>
      <vt:lpstr>We do: vault 1</vt:lpstr>
      <vt:lpstr>We do: vault 2</vt:lpstr>
      <vt:lpstr>Get your workbook</vt:lpstr>
      <vt:lpstr>Save it to OneDrive</vt:lpstr>
      <vt:lpstr>Share it with your teachers</vt:lpstr>
      <vt:lpstr>Your first entry: draw the cycle</vt:lpstr>
      <vt:lpstr>Key Terms Review</vt:lpstr>
      <vt:lpstr>Following a program</vt:lpstr>
      <vt:lpstr>Lesson 2 objectives</vt:lpstr>
      <vt:lpstr>Think back</vt:lpstr>
      <vt:lpstr>Our program in memory</vt:lpstr>
      <vt:lpstr>Cycle 1: get the number</vt:lpstr>
      <vt:lpstr>Cycles 2 to 4</vt:lpstr>
      <vt:lpstr>Activity</vt:lpstr>
      <vt:lpstr>Why does the cycle repeat?</vt:lpstr>
      <vt:lpstr>Common mistakes</vt:lpstr>
      <vt:lpstr>Exam practice</vt:lpstr>
      <vt:lpstr>Key Terms Review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Y10 Fetch-Execute Cycle</dc:title>
  <dc:subject>PptxGenJS Presentation</dc:subject>
  <dc:creator/>
  <cp:lastModifiedBy/>
  <cp:revision>5</cp:revision>
  <dcterms:created xsi:type="dcterms:W3CDTF">2026-10-21T22:01:34Z</dcterms:created>
  <dcterms:modified xsi:type="dcterms:W3CDTF">2026-10-21T22:44:41Z</dcterms:modified>
</cp:coreProperties>
</file>