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d046e307-d8c7-da1d-adb1-ff23aca806ad}">
          <p14:sldIdLst>
            <p14:sldId id="256"/>
          </p14:sldIdLst>
        </p14:section>
        <p14:section name="Default-1" id="{bc5c1f69-c387-028e-9791-49c401c8a4d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L4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L4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 on SmartRevise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and complete today's 5-A-DAY.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L4: The TCP/IP stack and protocol layering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 Level Computer Science H446, 1.3.3 Networks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objective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describe the four layers of the TCP/IP stack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explain what each layer adds to the data</a:t>
            </a:r>
            <a:endParaRPr lang="en-US" sz="18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Layers from memory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four layers in order with one job each. No notes.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layers?</a:t>
            </a:r>
            <a:endParaRPr lang="en-US" sz="3000" dirty="0"/>
          </a:p>
        </p:txBody>
      </p:sp>
      <p:sp>
        <p:nvSpPr>
          <p:cNvPr id="3" name="@1 Card"/>
          <p:cNvSpPr/>
          <p:nvPr/>
        </p:nvSpPr>
        <p:spPr>
          <a:xfrm>
            <a:off x="457200" y="118872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594360" y="128016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</a:t>
            </a:r>
            <a:endParaRPr lang="en-US" sz="2000" dirty="0"/>
          </a:p>
        </p:txBody>
      </p:sp>
      <p:sp>
        <p:nvSpPr>
          <p:cNvPr id="5" name="@1 addText"/>
          <p:cNvSpPr txBox="1"/>
          <p:nvPr/>
        </p:nvSpPr>
        <p:spPr>
          <a:xfrm>
            <a:off x="594360" y="1783080"/>
            <a:ext cx="234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hard problem into smaller ones</a:t>
            </a:r>
            <a:endParaRPr lang="en-US" sz="1600" dirty="0"/>
          </a:p>
        </p:txBody>
      </p:sp>
      <p:sp>
        <p:nvSpPr>
          <p:cNvPr id="6" name="@2 Card"/>
          <p:cNvSpPr/>
          <p:nvPr/>
        </p:nvSpPr>
        <p:spPr>
          <a:xfrm>
            <a:off x="3261360" y="118872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7" name="@2 addText"/>
          <p:cNvSpPr txBox="1"/>
          <p:nvPr/>
        </p:nvSpPr>
        <p:spPr>
          <a:xfrm>
            <a:off x="3398520" y="128016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</a:t>
            </a:r>
            <a:endParaRPr lang="en-US" sz="2000" dirty="0"/>
          </a:p>
        </p:txBody>
      </p:sp>
      <p:sp>
        <p:nvSpPr>
          <p:cNvPr id="8" name="@2 addText"/>
          <p:cNvSpPr txBox="1"/>
          <p:nvPr/>
        </p:nvSpPr>
        <p:spPr>
          <a:xfrm>
            <a:off x="3398520" y="1783080"/>
            <a:ext cx="234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and software work at one layer</a:t>
            </a:r>
            <a:endParaRPr lang="en-US" sz="1600" dirty="0"/>
          </a:p>
        </p:txBody>
      </p:sp>
      <p:sp>
        <p:nvSpPr>
          <p:cNvPr id="9" name="@3 Card"/>
          <p:cNvSpPr/>
          <p:nvPr/>
        </p:nvSpPr>
        <p:spPr>
          <a:xfrm>
            <a:off x="6065520" y="1188720"/>
            <a:ext cx="2621280" cy="2743200"/>
          </a:xfrm>
          <a:prstGeom prst="roundRect">
            <a:avLst>
              <a:gd name="adj" fmla="val 4186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202680" y="128016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</a:t>
            </a:r>
            <a:endParaRPr lang="en-US" sz="2000" dirty="0"/>
          </a:p>
        </p:txBody>
      </p:sp>
      <p:sp>
        <p:nvSpPr>
          <p:cNvPr id="11" name="@3 addText"/>
          <p:cNvSpPr txBox="1"/>
          <p:nvPr/>
        </p:nvSpPr>
        <p:spPr>
          <a:xfrm>
            <a:off x="6202680" y="1783080"/>
            <a:ext cx="234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vendors' products work together</a:t>
            </a:r>
            <a:endParaRPr lang="en-US" sz="1600" dirty="0"/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TCP/IP stack</a:t>
            </a:r>
            <a:endParaRPr lang="en-US" sz="3000" dirty="0"/>
          </a:p>
        </p:txBody>
      </p:sp>
      <p:sp>
        <p:nvSpPr>
          <p:cNvPr id="3" name="@1 Card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" name="@1 Card"/>
          <p:cNvSpPr/>
          <p:nvPr/>
        </p:nvSpPr>
        <p:spPr>
          <a:xfrm>
            <a:off x="457200" y="11887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5" name="@1 addText"/>
          <p:cNvSpPr txBox="1"/>
          <p:nvPr/>
        </p:nvSpPr>
        <p:spPr>
          <a:xfrm>
            <a:off x="548640" y="1188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6" name="@1 addText"/>
          <p:cNvSpPr txBox="1"/>
          <p:nvPr/>
        </p:nvSpPr>
        <p:spPr>
          <a:xfrm>
            <a:off x="2651760" y="11887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FTP, SMTP: what the app wants to say</a:t>
            </a:r>
            <a:endParaRPr lang="en-US" sz="1600" dirty="0"/>
          </a:p>
        </p:txBody>
      </p:sp>
      <p:sp>
        <p:nvSpPr>
          <p:cNvPr id="7" name="@2 Card"/>
          <p:cNvSpPr/>
          <p:nvPr/>
        </p:nvSpPr>
        <p:spPr>
          <a:xfrm>
            <a:off x="457200" y="2075688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Card"/>
          <p:cNvSpPr/>
          <p:nvPr/>
        </p:nvSpPr>
        <p:spPr>
          <a:xfrm>
            <a:off x="457200" y="2075688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9" name="@2 addText"/>
          <p:cNvSpPr txBox="1"/>
          <p:nvPr/>
        </p:nvSpPr>
        <p:spPr>
          <a:xfrm>
            <a:off x="548640" y="20756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10" name="@2 addText"/>
          <p:cNvSpPr txBox="1"/>
          <p:nvPr/>
        </p:nvSpPr>
        <p:spPr>
          <a:xfrm>
            <a:off x="2651760" y="207568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TCP: splits into packets, numbers them, adds port numbers</a:t>
            </a:r>
            <a:endParaRPr lang="en-US" sz="1600" dirty="0"/>
          </a:p>
        </p:txBody>
      </p:sp>
      <p:sp>
        <p:nvSpPr>
          <p:cNvPr id="11" name="@3 Card"/>
          <p:cNvSpPr/>
          <p:nvPr/>
        </p:nvSpPr>
        <p:spPr>
          <a:xfrm>
            <a:off x="457200" y="2962656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3 Card"/>
          <p:cNvSpPr/>
          <p:nvPr/>
        </p:nvSpPr>
        <p:spPr>
          <a:xfrm>
            <a:off x="457200" y="2962656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3" name="@3 addText"/>
          <p:cNvSpPr txBox="1"/>
          <p:nvPr/>
        </p:nvSpPr>
        <p:spPr>
          <a:xfrm>
            <a:off x="548640" y="296265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800" dirty="0"/>
          </a:p>
        </p:txBody>
      </p:sp>
      <p:sp>
        <p:nvSpPr>
          <p:cNvPr id="14" name="@3 addText"/>
          <p:cNvSpPr txBox="1"/>
          <p:nvPr/>
        </p:nvSpPr>
        <p:spPr>
          <a:xfrm>
            <a:off x="2651760" y="296265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adds source and destination IP addresses, routers forward</a:t>
            </a:r>
            <a:endParaRPr lang="en-US" sz="1600" dirty="0"/>
          </a:p>
        </p:txBody>
      </p:sp>
      <p:sp>
        <p:nvSpPr>
          <p:cNvPr id="15" name="@4 Card"/>
          <p:cNvSpPr/>
          <p:nvPr/>
        </p:nvSpPr>
        <p:spPr>
          <a:xfrm>
            <a:off x="457200" y="3849624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6" name="@4 Card"/>
          <p:cNvSpPr/>
          <p:nvPr/>
        </p:nvSpPr>
        <p:spPr>
          <a:xfrm>
            <a:off x="457200" y="3849624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002D6A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7" name="@4 addText"/>
          <p:cNvSpPr txBox="1"/>
          <p:nvPr/>
        </p:nvSpPr>
        <p:spPr>
          <a:xfrm>
            <a:off x="548640" y="384962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800" dirty="0"/>
          </a:p>
        </p:txBody>
      </p:sp>
      <p:sp>
        <p:nvSpPr>
          <p:cNvPr id="18" name="@4 addText"/>
          <p:cNvSpPr txBox="1"/>
          <p:nvPr/>
        </p:nvSpPr>
        <p:spPr>
          <a:xfrm>
            <a:off x="2651760" y="384962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source and destination MAC addresses, sends frames</a:t>
            </a:r>
            <a:endParaRPr lang="en-US" sz="16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message going down the stack</a:t>
            </a:r>
            <a:endParaRPr lang="en-US" sz="3000" dirty="0"/>
          </a:p>
        </p:txBody>
      </p:sp>
      <p:sp>
        <p:nvSpPr>
          <p:cNvPr id="3" name="@4 Link (frame) box"/>
          <p:cNvSpPr/>
          <p:nvPr/>
        </p:nvSpPr>
        <p:spPr>
          <a:xfrm>
            <a:off x="457200" y="1097280"/>
            <a:ext cx="8229600" cy="3611880"/>
          </a:xfrm>
          <a:prstGeom prst="roundRect">
            <a:avLst>
              <a:gd name="adj" fmla="val 3038"/>
            </a:avLst>
          </a:prstGeom>
          <a:solidFill>
            <a:srgbClr val="C5D1E3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" name="@4 addText"/>
          <p:cNvSpPr txBox="1"/>
          <p:nvPr/>
        </p:nvSpPr>
        <p:spPr>
          <a:xfrm>
            <a:off x="594360" y="1133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(frame)</a:t>
            </a:r>
            <a:endParaRPr lang="en-US" sz="1400" dirty="0"/>
          </a:p>
        </p:txBody>
      </p:sp>
      <p:sp>
        <p:nvSpPr>
          <p:cNvPr id="5" name="@4 addText"/>
          <p:cNvSpPr txBox="1"/>
          <p:nvPr/>
        </p:nvSpPr>
        <p:spPr>
          <a:xfrm>
            <a:off x="2743200" y="1133856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MAC 00-B0-D0-86-BB-F7, destination MAC (the router) 00-30-B2-45-BB-E9</a:t>
            </a:r>
            <a:endParaRPr lang="en-US" sz="1200" dirty="0"/>
          </a:p>
        </p:txBody>
      </p:sp>
      <p:sp>
        <p:nvSpPr>
          <p:cNvPr id="6" name="@3 Internet (packet) box"/>
          <p:cNvSpPr/>
          <p:nvPr/>
        </p:nvSpPr>
        <p:spPr>
          <a:xfrm>
            <a:off x="914400" y="1554480"/>
            <a:ext cx="7315200" cy="2697480"/>
          </a:xfrm>
          <a:prstGeom prst="roundRect">
            <a:avLst>
              <a:gd name="adj" fmla="val 4068"/>
            </a:avLst>
          </a:prstGeom>
          <a:solidFill>
            <a:srgbClr val="A9C4E8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7" name="@3 addText"/>
          <p:cNvSpPr txBox="1"/>
          <p:nvPr/>
        </p:nvSpPr>
        <p:spPr>
          <a:xfrm>
            <a:off x="1051560" y="1591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(packet)</a:t>
            </a:r>
            <a:endParaRPr lang="en-US" sz="1400" dirty="0"/>
          </a:p>
        </p:txBody>
      </p:sp>
      <p:sp>
        <p:nvSpPr>
          <p:cNvPr id="8" name="@3 addText"/>
          <p:cNvSpPr txBox="1"/>
          <p:nvPr/>
        </p:nvSpPr>
        <p:spPr>
          <a:xfrm>
            <a:off x="3200400" y="159105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IP 192.168.0.2, destination IP 151.101.0.81, TTL 64</a:t>
            </a:r>
            <a:endParaRPr lang="en-US" sz="1200" dirty="0"/>
          </a:p>
        </p:txBody>
      </p:sp>
      <p:sp>
        <p:nvSpPr>
          <p:cNvPr id="9" name="@2 Transport box"/>
          <p:cNvSpPr/>
          <p:nvPr/>
        </p:nvSpPr>
        <p:spPr>
          <a:xfrm>
            <a:off x="1371600" y="2011680"/>
            <a:ext cx="6400800" cy="1783080"/>
          </a:xfrm>
          <a:prstGeom prst="roundRect">
            <a:avLst>
              <a:gd name="adj" fmla="val 6154"/>
            </a:avLst>
          </a:prstGeom>
          <a:solidFill>
            <a:srgbClr val="EEF2F7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2 addText"/>
          <p:cNvSpPr txBox="1"/>
          <p:nvPr/>
        </p:nvSpPr>
        <p:spPr>
          <a:xfrm>
            <a:off x="1508760" y="2048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1" name="@2 addText"/>
          <p:cNvSpPr txBox="1"/>
          <p:nvPr/>
        </p:nvSpPr>
        <p:spPr>
          <a:xfrm>
            <a:off x="3657600" y="204825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port 50000, destination port 80, packet 1 of 3, checksum</a:t>
            </a:r>
            <a:endParaRPr lang="en-US" sz="1200" dirty="0"/>
          </a:p>
        </p:txBody>
      </p:sp>
      <p:sp>
        <p:nvSpPr>
          <p:cNvPr id="12" name="@1 Application box"/>
          <p:cNvSpPr/>
          <p:nvPr/>
        </p:nvSpPr>
        <p:spPr>
          <a:xfrm>
            <a:off x="1828800" y="24688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3" name="@1 addText"/>
          <p:cNvSpPr txBox="1"/>
          <p:nvPr/>
        </p:nvSpPr>
        <p:spPr>
          <a:xfrm>
            <a:off x="1965960" y="2505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4" name="@1 addText"/>
          <p:cNvSpPr txBox="1"/>
          <p:nvPr/>
        </p:nvSpPr>
        <p:spPr>
          <a:xfrm>
            <a:off x="4114800" y="250545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 GET /index.html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9" grpId="0" animBg="1"/>
      <p:bldP spid="10" grpId="0" animBg="1"/>
      <p:bldP spid="11" grpId="0" animBg="1"/>
      <p:bldP spid="6" grpId="0" animBg="1"/>
      <p:bldP spid="7" grpId="0" animBg="1"/>
      <p:bldP spid="8" grpId="0" animBg="1"/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The envelope role play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role play of a message going down and up the stack, and record what each layer adds.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packet carries</a:t>
            </a:r>
            <a:endParaRPr lang="en-US" sz="3000" dirty="0"/>
          </a:p>
        </p:txBody>
      </p:sp>
      <p:sp>
        <p:nvSpPr>
          <p:cNvPr id="3" name="@1 Card"/>
          <p:cNvSpPr/>
          <p:nvPr/>
        </p:nvSpPr>
        <p:spPr>
          <a:xfrm>
            <a:off x="457200" y="1554480"/>
            <a:ext cx="2529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548640" y="164592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800" dirty="0"/>
          </a:p>
        </p:txBody>
      </p:sp>
      <p:sp>
        <p:nvSpPr>
          <p:cNvPr id="5" name="@1 addText"/>
          <p:cNvSpPr txBox="1"/>
          <p:nvPr/>
        </p:nvSpPr>
        <p:spPr>
          <a:xfrm>
            <a:off x="548640" y="2240280"/>
            <a:ext cx="234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and destination IP, protocol, packet number, TTL</a:t>
            </a:r>
            <a:endParaRPr lang="en-US" sz="1600" dirty="0"/>
          </a:p>
        </p:txBody>
      </p:sp>
      <p:sp>
        <p:nvSpPr>
          <p:cNvPr id="6" name="@1 arrow"/>
          <p:cNvSpPr/>
          <p:nvPr/>
        </p:nvSpPr>
        <p:spPr>
          <a:xfrm>
            <a:off x="3014472" y="2743200"/>
            <a:ext cx="265176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7" name="@2 Card"/>
          <p:cNvSpPr/>
          <p:nvPr/>
        </p:nvSpPr>
        <p:spPr>
          <a:xfrm>
            <a:off x="3307080" y="1554480"/>
            <a:ext cx="2529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3398520" y="164592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1800" dirty="0"/>
          </a:p>
        </p:txBody>
      </p:sp>
      <p:sp>
        <p:nvSpPr>
          <p:cNvPr id="9" name="@2 addText"/>
          <p:cNvSpPr txBox="1"/>
          <p:nvPr/>
        </p:nvSpPr>
        <p:spPr>
          <a:xfrm>
            <a:off x="3398520" y="2240280"/>
            <a:ext cx="234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being sent</a:t>
            </a:r>
            <a:endParaRPr lang="en-US" sz="1600" dirty="0"/>
          </a:p>
        </p:txBody>
      </p:sp>
      <p:sp>
        <p:nvSpPr>
          <p:cNvPr id="10" name="@2 arrow"/>
          <p:cNvSpPr/>
          <p:nvPr/>
        </p:nvSpPr>
        <p:spPr>
          <a:xfrm>
            <a:off x="5864352" y="2743200"/>
            <a:ext cx="265176" cy="0"/>
          </a:xfrm>
          <a:prstGeom prst="line">
            <a:avLst/>
          </a:prstGeom>
          <a:noFill/>
          <a:ln w="38100">
            <a:solidFill>
              <a:srgbClr val="002D6A"/>
            </a:solidFill>
            <a:prstDash val="solid"/>
            <a:tailEnd type="triangle"/>
          </a:ln>
        </p:spPr>
      </p:sp>
      <p:sp>
        <p:nvSpPr>
          <p:cNvPr id="11" name="@3 Card"/>
          <p:cNvSpPr/>
          <p:nvPr/>
        </p:nvSpPr>
        <p:spPr>
          <a:xfrm>
            <a:off x="6156960" y="1554480"/>
            <a:ext cx="25298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3 addText"/>
          <p:cNvSpPr txBox="1"/>
          <p:nvPr/>
        </p:nvSpPr>
        <p:spPr>
          <a:xfrm>
            <a:off x="6248400" y="164592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Trailer</a:t>
            </a:r>
            <a:endParaRPr lang="en-US" sz="1800" dirty="0"/>
          </a:p>
        </p:txBody>
      </p:sp>
      <p:sp>
        <p:nvSpPr>
          <p:cNvPr id="13" name="@3 addText"/>
          <p:cNvSpPr txBox="1"/>
          <p:nvPr/>
        </p:nvSpPr>
        <p:spPr>
          <a:xfrm>
            <a:off x="6248400" y="2240280"/>
            <a:ext cx="234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 or CRC to detect errors</a:t>
            </a:r>
            <a:endParaRPr lang="en-US" sz="160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or IP?</a:t>
            </a:r>
            <a:endParaRPr lang="en-US" sz="3000" dirty="0"/>
          </a:p>
        </p:txBody>
      </p:sp>
      <p:sp>
        <p:nvSpPr>
          <p:cNvPr id="3" name="@1 Card"/>
          <p:cNvSpPr/>
          <p:nvPr/>
        </p:nvSpPr>
        <p:spPr>
          <a:xfrm>
            <a:off x="457200" y="118872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731520" y="118872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MAC: unique to the network card, used between devices on the same LAN, changes at every hop</a:t>
            </a:r>
            <a:endParaRPr lang="en-US" sz="1800" dirty="0"/>
          </a:p>
        </p:txBody>
      </p:sp>
      <p:sp>
        <p:nvSpPr>
          <p:cNvPr id="5" name="@2 Card"/>
          <p:cNvSpPr/>
          <p:nvPr/>
        </p:nvSpPr>
        <p:spPr>
          <a:xfrm>
            <a:off x="457200" y="206883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@2 addText"/>
          <p:cNvSpPr txBox="1"/>
          <p:nvPr/>
        </p:nvSpPr>
        <p:spPr>
          <a:xfrm>
            <a:off x="731520" y="206883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identifies the device on the internet, used from end to end, stays the same</a:t>
            </a:r>
            <a:endParaRPr lang="en-US" sz="1800" dirty="0"/>
          </a:p>
        </p:txBody>
      </p:sp>
      <p:sp>
        <p:nvSpPr>
          <p:cNvPr id="7" name="@3 Card"/>
          <p:cNvSpPr/>
          <p:nvPr/>
        </p:nvSpPr>
        <p:spPr>
          <a:xfrm>
            <a:off x="457200" y="294894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@3 addText"/>
          <p:cNvSpPr txBox="1"/>
          <p:nvPr/>
        </p:nvSpPr>
        <p:spPr>
          <a:xfrm>
            <a:off x="731520" y="294894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MAC is the router's when the target is on another network</a:t>
            </a:r>
            <a:endParaRPr lang="en-US" sz="1800" dirty="0"/>
          </a:p>
        </p:txBody>
      </p:sp>
      <p:sp>
        <p:nvSpPr>
          <p:cNvPr id="9" name="@4 Card"/>
          <p:cNvSpPr/>
          <p:nvPr/>
        </p:nvSpPr>
        <p:spPr>
          <a:xfrm>
            <a:off x="457200" y="382905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@4 addText"/>
          <p:cNvSpPr txBox="1"/>
          <p:nvPr/>
        </p:nvSpPr>
        <p:spPr>
          <a:xfrm>
            <a:off x="731520" y="382905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Craig'n'Dave 58 analogy: the MAC tells you who someone is, the IP tells you where they are</a:t>
            </a:r>
            <a:endParaRPr lang="en-US" sz="1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Capture a real request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one web request in Wireshark and label every header.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the stack as dictionaries</a:t>
            </a:r>
            <a:endParaRPr lang="en-US" sz="3000" dirty="0"/>
          </a:p>
        </p:txBody>
      </p:sp>
      <p:sp>
        <p:nvSpPr>
          <p:cNvPr id="3" name="Code box"/>
          <p:cNvSpPr/>
          <p:nvPr/>
        </p:nvSpPr>
        <p:spPr>
          <a:xfrm>
            <a:off x="457200" y="1188720"/>
            <a:ext cx="8229600" cy="2834640"/>
          </a:xfrm>
          <a:prstGeom prst="roundRect">
            <a:avLst>
              <a:gd name="adj" fmla="val 3871"/>
            </a:avLst>
          </a:prstGeom>
          <a:solidFill>
            <a:srgbClr val="001B40"/>
          </a:solidFill>
          <a:ln w="9525">
            <a:solidFill>
              <a:srgbClr val="001B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application_layer(message):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 1: return a dictionary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"protocol" set to "HTTP" and "data" set to message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wraps the one above in a dictionary with a header.</a:t>
            </a:r>
            <a:endParaRPr lang="en-US" sz="1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4: Python: build the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layers_starter.py so a message passes down and up the stack.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5: Exam practice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four real exam questions, then the discussion question.</a:t>
            </a:r>
            <a:endParaRPr lang="en-US" sz="1800" dirty="0"/>
          </a:p>
        </p:txBody>
      </p:sp>
      <p:sp>
        <p:nvSpPr>
          <p:cNvPr id="5" name="Timer pill"/>
          <p:cNvSpPr/>
          <p:nvPr/>
        </p:nvSpPr>
        <p:spPr>
          <a:xfrm>
            <a:off x="548640" y="38404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OneNote: Lesson Tasks, Task 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Plenary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layers, top to bottom, with what each adds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206883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6883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versus IP in two sentences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57200" y="294894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94894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Craig'n'Dave practice: explain how the TCP/IP stack is a type of protocol, using layering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457200" y="3829050"/>
            <a:ext cx="8229600" cy="742950"/>
          </a:xfrm>
          <a:prstGeom prst="roundRect">
            <a:avLst>
              <a:gd name="adj" fmla="val 14769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29050"/>
            <a:ext cx="7680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lesson: DNS, routing and switching</a:t>
            </a:r>
            <a:endParaRPr lang="en-US" sz="1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and 2: layers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Chooses the protocol, presents the data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header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Splits into numbered packets, checks and resends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numbers, sequence, checksum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Addressing and routing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and destination IP, TTL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Sends frames between devices on the same network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and destination MAC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H046 June 2022, Q3 [2]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mark for each completed row up to a maximum of 2 marks: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8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in any order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Internet instead of Network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H046 June 2022, Q3 [2]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mark per bullet up to a maximum of 2 marks, e.g: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different layers to be worked on independently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layers to be replaced/upgraded without affecting others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for layers from different providers to be used interchangeably</a:t>
            </a:r>
            <a:endParaRPr lang="en-US" sz="1800" dirty="0"/>
          </a:p>
        </p:txBody>
      </p:sp>
      <p:sp>
        <p:nvSpPr>
          <p:cNvPr id="7" name="Guidance card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55448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Examiner: candidates that gained marks focused on the concept of layers being independent</a:t>
            </a:r>
            <a:endParaRPr lang="en-US" sz="12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H446 June 2023, Q1(d)(iv) [3] (1/2)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8229600" cy="3010662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2827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apply protocols in order / one after the other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provide independence of layers / Layers can be modified without affecting other layers / Layers are self-contained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details from previous or next layer(s) / is an abstraction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is well defined / does a specific job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tasks down into manageable units / Groups similar protocols together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troubleshooting (easier identification of the layer that causes the issue)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only communicates with adjacent layers/ simplifies interfacing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Hardware/software can be manufactured to fit into one specific layer</a:t>
            </a:r>
            <a:endParaRPr lang="en-US" sz="14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H446 June 2023, Q1(d)(iv) [3] (2/2)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for standards for individual tasks/layers to be developed / for compatibility</a:t>
            </a:r>
            <a:endParaRPr lang="en-US" sz="18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H046 June 2025, Q9(b) [2]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Mark scheme card"/>
          <p:cNvSpPr/>
          <p:nvPr/>
        </p:nvSpPr>
        <p:spPr>
          <a:xfrm>
            <a:off x="457200" y="1097280"/>
            <a:ext cx="82296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mark per bullet up to a maximum of 2 marks: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connection between two devices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Agrees the communication settings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error correction data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Agrees the size of the packets they will send /receive.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data into packets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 packet number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total number of packets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sequence of packets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the port number the packets should use</a:t>
            </a:r>
            <a:endParaRPr lang="en-US" sz="16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MAC versus IP (Craig and Dave)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addresses are used to route frames on a LAN</a:t>
            </a:r>
            <a:endParaRPr lang="en-US" sz="1600" dirty="0"/>
          </a:p>
        </p:txBody>
      </p:sp>
      <p:sp>
        <p:nvSpPr>
          <p:cNvPr id="7" name="@2 Card"/>
          <p:cNvSpPr/>
          <p:nvPr/>
        </p:nvSpPr>
        <p:spPr>
          <a:xfrm>
            <a:off x="457200" y="2039112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685800" y="203911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addresses are used to route packets on a WAN</a:t>
            </a:r>
            <a:endParaRPr lang="en-US" sz="1600" dirty="0"/>
          </a:p>
        </p:txBody>
      </p:sp>
      <p:sp>
        <p:nvSpPr>
          <p:cNvPr id="9" name="@3 Card"/>
          <p:cNvSpPr/>
          <p:nvPr/>
        </p:nvSpPr>
        <p:spPr>
          <a:xfrm>
            <a:off x="457200" y="2889504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85800" y="288950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packet is wrapped in a frame; the MAC changes at each hop, the IP stays the same</a:t>
            </a:r>
            <a:endParaRPr lang="en-US" sz="16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Y12 Networks L4</dc:title>
  <dc:subject>PptxGenJS Presentation</dc:subject>
  <dc:creator/>
  <cp:lastModifiedBy/>
  <cp:revision>1</cp:revision>
  <dcterms:created xsi:type="dcterms:W3CDTF">2026-10-21T13:01:44Z</dcterms:created>
  <dcterms:modified xsi:type="dcterms:W3CDTF">2026-10-21T13:01:44Z</dcterms:modified>
</cp:coreProperties>
</file>